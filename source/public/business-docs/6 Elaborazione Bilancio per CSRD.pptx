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635" r:id="rId3"/>
    <p:sldId id="260" r:id="rId4"/>
    <p:sldId id="268" r:id="rId5"/>
    <p:sldId id="2147472657" r:id="rId6"/>
    <p:sldId id="770" r:id="rId7"/>
    <p:sldId id="771" r:id="rId8"/>
    <p:sldId id="474" r:id="rId9"/>
    <p:sldId id="466" r:id="rId10"/>
    <p:sldId id="467" r:id="rId11"/>
    <p:sldId id="468" r:id="rId12"/>
    <p:sldId id="469" r:id="rId13"/>
    <p:sldId id="470" r:id="rId14"/>
    <p:sldId id="472" r:id="rId15"/>
    <p:sldId id="476" r:id="rId16"/>
    <p:sldId id="402" r:id="rId17"/>
    <p:sldId id="2147472656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5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https://www.ibm.com/docs/en/envizi-esg-suite?topic=modules-esg-reporting-frameworks</a:t>
            </a:r>
          </a:p>
          <a:p>
            <a:r>
              <a:rPr lang="it-IT"/>
              <a:t>https://www.ibm.com/products/envizi/esg-reporting-frameworks</a:t>
            </a:r>
          </a:p>
          <a:p>
            <a:r>
              <a:rPr lang="it-IT"/>
              <a:t>https://www.ibm.com/docs/en/envizi-esg-suite?topic=reference-sustainability-reporting-manager</a:t>
            </a:r>
          </a:p>
          <a:p>
            <a:r>
              <a:rPr lang="it-IT"/>
              <a:t>https://www.ibm.com/docs/en/envizi-esg-suite?topic=frameworks-creating-custom-framework-by-copying-managed-framework</a:t>
            </a:r>
          </a:p>
          <a:p>
            <a:r>
              <a:rPr lang="it-IT"/>
              <a:t>https://www.ibm.com/docs/en/envizi-esg-suite?topic=whats-new-in-2026</a:t>
            </a:r>
          </a:p>
          <a:p>
            <a:r>
              <a:rPr lang="it-IT"/>
              <a:t>https://www.ibm.com/docs/en/envizi-esg-suite?topic=powerreports-prebuilt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  <a:p>
            <a:r>
              <a:rPr lang="it-IT"/>
              <a:t>La documentazione IBM delle novità di agosto 2026 descrive il response generator come preview. Verificare disponibilità e condizioni nell’istanza utilizzata. La demo del capitolo usa un servizio di AI generativa esterno a Envizi per l’impaginazione editoriale. La selezione di domande ESRS non dimostra da sola la conformità normativa del bilancio.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modules-esg-reporting-frameworks</a:t>
            </a:r>
            <a:endParaRPr/>
          </a:p>
          <a:p>
            <a:r>
              <a:t>https://www.ibm.com/</a:t>
            </a:r>
            <a:r>
              <a:rPr lang="it-IT"/>
              <a:t>products</a:t>
            </a:r>
            <a:r>
              <a:t>/</a:t>
            </a:r>
            <a:r>
              <a:rPr lang="it-IT"/>
              <a:t>envizi</a:t>
            </a:r>
            <a:r>
              <a:t>/</a:t>
            </a:r>
            <a:r>
              <a:rPr lang="it-IT"/>
              <a:t>esg-reporting-frameworks</a:t>
            </a:r>
            <a:endParaRPr/>
          </a:p>
          <a:p>
            <a:r>
              <a:rPr lang="it-IT"/>
              <a:t>https://www.ibm.com/docs/en/envizi-esg-suite?topic=reference-sustainability-reporting-manager</a:t>
            </a:r>
          </a:p>
          <a:p>
            <a:r>
              <a:rPr lang="it-IT"/>
              <a:t>https://www.ibm.com/docs/en/envizi-esg-suite?topic=frameworks-creating-custom-framework-by-copying-managed-framework</a:t>
            </a:r>
          </a:p>
          <a:p>
            <a:r>
              <a:rPr lang="it-IT"/>
              <a:t>https://www.ibm.com/docs/en/envizi-esg-suite?topic=whats-new-in-2026</a:t>
            </a:r>
          </a:p>
          <a:p>
            <a:r>
              <a:rPr lang="it-IT"/>
              <a:t>https://www.ibm.com/docs/en/envizi-esg-suite?topic=powerreports-prebuilt</a:t>
            </a:r>
          </a:p>
          <a:p>
            <a:r>
              <a:t>Consultazione: 9 ottobre 2026</a:t>
            </a:r>
          </a:p>
          <a:p>
            <a:r>
              <a:t>[/Sources]</a:t>
            </a:r>
            <a:endParaRPr lang="it-IT"/>
          </a:p>
          <a:p>
            <a:r>
              <a:rPr lang="it-IT"/>
              <a:t>La documentazione IBM delle novità di agosto 2026 descrive il response generator come preview. Verificare disponibilità e condizioni nell’istanza utilizzata. La demo del capitolo usa un servizio di AI generativa esterno a Envizi per l’impaginazione editoriale. La selezione di domande ESRS non dimostra da sola la conformità normativa del bilancio.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modules-esg-reporting-frameworks</a:t>
            </a:r>
            <a:endParaRPr/>
          </a:p>
          <a:p>
            <a:r>
              <a:t>https://www.ibm.com/</a:t>
            </a:r>
            <a:r>
              <a:rPr lang="it-IT"/>
              <a:t>products</a:t>
            </a:r>
            <a:r>
              <a:t>/</a:t>
            </a:r>
            <a:r>
              <a:rPr lang="it-IT"/>
              <a:t>envizi</a:t>
            </a:r>
            <a:r>
              <a:t>/</a:t>
            </a:r>
            <a:r>
              <a:rPr lang="it-IT"/>
              <a:t>esg-reporting-frameworks</a:t>
            </a:r>
            <a:endParaRPr/>
          </a:p>
          <a:p>
            <a:r>
              <a:rPr lang="it-IT"/>
              <a:t>https://www.ibm.com/docs/en/envizi-esg-suite?topic=reference-sustainability-reporting-manager</a:t>
            </a:r>
          </a:p>
          <a:p>
            <a:r>
              <a:rPr lang="it-IT"/>
              <a:t>https://www.ibm.com/docs/en/envizi-esg-suite?topic=frameworks-creating-custom-framework-by-copying-managed-framework</a:t>
            </a:r>
          </a:p>
          <a:p>
            <a:r>
              <a:rPr lang="it-IT"/>
              <a:t>https://www.ibm.com/docs/en/envizi-esg-suite?topic=whats-new-in-2026</a:t>
            </a:r>
          </a:p>
          <a:p>
            <a:r>
              <a:rPr lang="it-IT"/>
              <a:t>https://www.ibm.com/docs/en/envizi-esg-suite?topic=powerreports-prebuilt</a:t>
            </a:r>
          </a:p>
          <a:p>
            <a:r>
              <a:t>Consultazione: 9 ottobre 2026</a:t>
            </a:r>
          </a:p>
          <a:p>
            <a:r>
              <a:t>[/Sources]</a:t>
            </a:r>
            <a:endParaRPr lang="it-IT"/>
          </a:p>
          <a:p>
            <a:r>
              <a:rPr lang="it-IT"/>
              <a:t>La documentazione IBM delle novità di agosto 2026 descrive il response generator come preview. Verificare disponibilità e condizioni nell’istanza utilizzata. La demo del capitolo usa un servizio di AI generativa esterno a Envizi per l’impaginazione editoriale. La selezione di domande ESRS non dimostra da sola la conformità normativa del bilancio.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https://www.ibm.com/docs/en/envizi-esg-suite?topic=modules-esg-reporting-frameworks</a:t>
            </a:r>
          </a:p>
          <a:p>
            <a:r>
              <a:rPr lang="it-IT"/>
              <a:t>https://www.ibm.com/products/envizi/esg-reporting-frameworks</a:t>
            </a:r>
          </a:p>
          <a:p>
            <a:r>
              <a:rPr lang="it-IT"/>
              <a:t>https://www.ibm.com/docs/en/envizi-esg-suite?topic=reference-sustainability-reporting-manager</a:t>
            </a:r>
          </a:p>
          <a:p>
            <a:r>
              <a:rPr lang="it-IT"/>
              <a:t>https://www.ibm.com/docs/en/envizi-esg-suite?topic=frameworks-creating-custom-framework-by-copying-managed-framework</a:t>
            </a:r>
          </a:p>
          <a:p>
            <a:r>
              <a:rPr lang="it-IT"/>
              <a:t>https://www.ibm.com/docs/en/envizi-esg-suite?topic=whats-new-in-2026</a:t>
            </a:r>
          </a:p>
          <a:p>
            <a:r>
              <a:rPr lang="it-IT"/>
              <a:t>https://www.ibm.com/docs/en/envizi-esg-suite?topic=powerreports-prebuilt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  <a:p>
            <a:r>
              <a:rPr lang="it-IT"/>
              <a:t>La documentazione IBM delle novità di agosto 2026 descrive il response generator come preview. Verificare disponibilità e condizioni nell’istanza utilizzata. La demo del capitolo usa un servizio di AI generativa esterno a Envizi per l’impaginazione editoriale. La selezione di domande ESRS non dimostra da sola la conformità normativa del bilancio.</a:t>
            </a:r>
          </a:p>
        </p:txBody>
      </p:sp>
    </p:spTree>
    <p:extLst>
      <p:ext uri="{BB962C8B-B14F-4D97-AF65-F5344CB8AC3E}">
        <p14:creationId xmlns:p14="http://schemas.microsoft.com/office/powerpoint/2010/main" val="222407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501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527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09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1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986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257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362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modules-esg-reporting-frameworks</a:t>
            </a:r>
            <a:endParaRPr/>
          </a:p>
          <a:p>
            <a:r>
              <a:t>https://www.ibm.com/</a:t>
            </a:r>
            <a:r>
              <a:rPr lang="it-IT"/>
              <a:t>products</a:t>
            </a:r>
            <a:r>
              <a:t>/</a:t>
            </a:r>
            <a:r>
              <a:rPr lang="it-IT"/>
              <a:t>envizi</a:t>
            </a:r>
            <a:r>
              <a:t>/</a:t>
            </a:r>
            <a:r>
              <a:rPr lang="it-IT"/>
              <a:t>esg-reporting-frameworks</a:t>
            </a:r>
            <a:endParaRPr/>
          </a:p>
          <a:p>
            <a:r>
              <a:t>https://www.ibm.com/docs/en/envizi-esg-suite?topic=</a:t>
            </a:r>
            <a:r>
              <a:rPr lang="it-IT"/>
              <a:t>reference-sustainability-reporting-manager</a:t>
            </a:r>
            <a:endParaRPr/>
          </a:p>
          <a:p>
            <a:r>
              <a:t>https://www.ibm.com/docs/en/envizi-esg-suite?topic=</a:t>
            </a:r>
            <a:r>
              <a:rPr lang="it-IT"/>
              <a:t>frameworks-creating-custom-framework-by-copying-managed-framework</a:t>
            </a:r>
          </a:p>
          <a:p>
            <a:r>
              <a:rPr lang="it-IT"/>
              <a:t>https://www.ibm.com/docs/en/envizi-esg-suite?topic=whats-new-in-2026</a:t>
            </a:r>
          </a:p>
          <a:p>
            <a:r>
              <a:rPr lang="it-IT"/>
              <a:t>https://www.ibm.com/docs/en/envizi-esg-suite?topic=powerreports-prebuilt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  <a:endParaRPr lang="it-IT"/>
          </a:p>
          <a:p>
            <a:r>
              <a:rPr lang="it-IT"/>
              <a:t>La documentazione IBM delle novità di agosto 2026 descrive il response generator come preview. Verificare disponibilità e condizioni nell’istanza utilizzata. La demo del capitolo usa un servizio di AI generativa esterno a Envizi per l’impaginazione editoriale. La selezione di domande ESRS non dimostra da sola la conformità normativa del bilancio.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powerreports-prebuilt" TargetMode="External"/><Relationship Id="rId3" Type="http://schemas.openxmlformats.org/officeDocument/2006/relationships/hyperlink" Target="https://www.ibm.com/docs/en/envizi-esg-suite?topic=modules-esg-reporting-frameworks" TargetMode="External"/><Relationship Id="rId7" Type="http://schemas.openxmlformats.org/officeDocument/2006/relationships/hyperlink" Target="https://www.ibm.com/docs/en/envizi-esg-suite?topic=whats-new-in-202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frameworks-creating-custom-framework-by-copying-managed-framework" TargetMode="External"/><Relationship Id="rId5" Type="http://schemas.openxmlformats.org/officeDocument/2006/relationships/hyperlink" Target="https://www.ibm.com/docs/en/envizi-esg-suite?topic=reference-sustainability-reporting-manager" TargetMode="External"/><Relationship Id="rId4" Type="http://schemas.openxmlformats.org/officeDocument/2006/relationships/hyperlink" Target="https://www.ibm.com/products/envizi/esg-reporting-framewor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Sustainability Reporting Manager e reporting ESG in IBM 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illustra il reporting ESG con Sustainability Reporting Manager (SRM): dalla selezione delle domande ESRS alla raccolta delle evidenze, fino alla revisione e all’esportazione delle risposte.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comprendere il ruolo di SRM nella gestione collaborativa delle disclosure</a:t>
            </a:r>
          </a:p>
          <a:p>
            <a:pPr lvl="0">
              <a:lnSpc>
                <a:spcPct val="150000"/>
              </a:lnSpc>
            </a:pPr>
            <a:r>
              <a:rPr lang="en-US"/>
              <a:t>selezionare le domande e distinguere responsabilità e fasi di approvazione</a:t>
            </a:r>
          </a:p>
          <a:p>
            <a:pPr lvl="0">
              <a:lnSpc>
                <a:spcPct val="150000"/>
              </a:lnSpc>
            </a:pPr>
            <a:r>
              <a:rPr lang="en-US"/>
              <a:t>collegare dati quantitativi e documenti alle risposte del questionario</a:t>
            </a:r>
          </a:p>
          <a:p>
            <a:pPr lvl="0">
              <a:lnSpc>
                <a:spcPct val="150000"/>
              </a:lnSpc>
            </a:pPr>
            <a:r>
              <a:rPr lang="en-US"/>
              <a:t>valutare le bozze prodotte dalla GenAI e verificarle rispetto alle fonti</a:t>
            </a:r>
          </a:p>
          <a:p>
            <a:pPr lvl="0">
              <a:lnSpc>
                <a:spcPct val="150000"/>
              </a:lnSpc>
            </a:pPr>
            <a:r>
              <a:rPr lang="en-US"/>
              <a:t>distinguere l’esportazione da SRM dall’impaginazione con strumenti esterni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Sustainability Reporting Manager e supporto al reporting CSRD/ESRS</a:t>
            </a:r>
          </a:p>
          <a:p>
            <a:pPr lvl="0">
              <a:lnSpc>
                <a:spcPct val="150000"/>
              </a:lnSpc>
            </a:pPr>
            <a:r>
              <a:rPr lang="en-US"/>
              <a:t>Responsabilità, workflow di revisione e approvazione</a:t>
            </a:r>
          </a:p>
          <a:p>
            <a:pPr lvl="0">
              <a:lnSpc>
                <a:spcPct val="150000"/>
              </a:lnSpc>
            </a:pPr>
            <a:r>
              <a:rPr lang="en-US"/>
              <a:t>Selezione delle domande dalle librerie ESRS</a:t>
            </a:r>
          </a:p>
          <a:p>
            <a:pPr lvl="0">
              <a:lnSpc>
                <a:spcPct val="150000"/>
              </a:lnSpc>
            </a:pPr>
            <a:r>
              <a:rPr lang="en-US"/>
              <a:t>Demo ESRS E1-5: fonti documentali e bozze con GenAI</a:t>
            </a:r>
          </a:p>
          <a:p>
            <a:pPr lvl="0">
              <a:lnSpc>
                <a:spcPct val="150000"/>
              </a:lnSpc>
            </a:pPr>
            <a:r>
              <a:rPr lang="en-US"/>
              <a:t>Dati quantitativi dai report Envizi e compilazione del questionario</a:t>
            </a:r>
          </a:p>
          <a:p>
            <a:pPr lvl="0">
              <a:lnSpc>
                <a:spcPct val="150000"/>
              </a:lnSpc>
            </a:pPr>
            <a:r>
              <a:rPr lang="en-US"/>
              <a:t>Allegati, evidenze ed esportazione delle risposte</a:t>
            </a:r>
          </a:p>
          <a:p>
            <a:pPr lvl="0">
              <a:lnSpc>
                <a:spcPct val="150000"/>
              </a:lnSpc>
            </a:pPr>
            <a:r>
              <a:rPr lang="en-US"/>
              <a:t>Impaginazione editoriale con uno strumento esterno a Envizi</a:t>
            </a:r>
          </a:p>
          <a:p>
            <a:pPr lvl="0">
              <a:lnSpc>
                <a:spcPct val="150000"/>
              </a:lnSpc>
            </a:pPr>
            <a:r>
              <a:rPr lang="en-US"/>
              <a:t>Conclusioni della demo per una PMI e riferimenti a VSME/ESRS</a:t>
            </a:r>
          </a:p>
          <a:p>
            <a:r>
              <a:rPr lang="en-US"/>
              <a:t>Documentazione e riferimenti ufficiali IBM</a:t>
            </a:r>
          </a:p>
          <a:p>
            <a:endParaRPr lang="en-US"/>
          </a:p>
          <a:p>
            <a:r>
              <a:rPr lang="en-US" b="1"/>
              <a:t>La GenAI produce bozze da verificare ed è documentata in preview. Nella demo, l’impaginazione editoriale usa un servizio esterno a Envizi.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47D0A59-0720-7C7A-DA48-0A0A9E275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995" y="1255776"/>
            <a:ext cx="3152877" cy="4729316"/>
          </a:xfrm>
          <a:prstGeom prst="rect">
            <a:avLst/>
          </a:prstGeom>
        </p:spPr>
      </p:pic>
      <p:sp>
        <p:nvSpPr>
          <p:cNvPr id="5" name="Testo originale sotto il titolo">
            <a:extLst>
              <a:ext uri="{FF2B5EF4-FFF2-40B4-BE49-F238E27FC236}">
                <a16:creationId xmlns:a16="http://schemas.microsoft.com/office/drawing/2014/main" id="{3EB1E54F-27F7-779D-0A56-B0107FEEDB4A}"/>
              </a:ext>
            </a:extLst>
          </p:cNvPr>
          <p:cNvSpPr txBox="1"/>
          <p:nvPr/>
        </p:nvSpPr>
        <p:spPr>
          <a:xfrm>
            <a:off x="640080" y="1107934"/>
            <a:ext cx="79936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it-IT" b="1"/>
              <a:t>Team di reporting e responsabili delle disclosure</a:t>
            </a:r>
            <a:endParaRPr lang="it-IT" dirty="0"/>
          </a:p>
          <a:p>
            <a:pPr>
              <a:buNone/>
              <a:defRPr/>
            </a:pPr>
            <a:endParaRPr lang="it-IT" b="1" dirty="0"/>
          </a:p>
          <a:p>
            <a:pPr>
              <a:buNone/>
              <a:defRPr/>
            </a:pPr>
            <a:endParaRPr lang="it-IT" b="1" dirty="0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Selezione delle domande dai framework disponibili</a:t>
            </a: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Assegnazione di ruoli e responsabilità</a:t>
            </a: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Raccolta </a:t>
            </a:r>
            <a:r>
              <a:rPr lang="it-IT" dirty="0"/>
              <a:t>di </a:t>
            </a:r>
            <a:r>
              <a:rPr lang="it-IT"/>
              <a:t>risposte, dati ed evidenze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Revisione e approvazione con workflow dedicati</a:t>
            </a: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 dirty="0"/>
              <a:t>Monitoraggio </a:t>
            </a:r>
            <a:r>
              <a:rPr lang="it-IT"/>
              <a:t>dell’avanzamento delle disclosure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Riutilizzo </a:t>
            </a:r>
            <a:r>
              <a:rPr lang="it-IT" dirty="0"/>
              <a:t>delle </a:t>
            </a:r>
            <a:r>
              <a:rPr lang="it-IT"/>
              <a:t>risposte tra framework</a:t>
            </a: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it-IT"/>
              <a:t>Esportazione </a:t>
            </a:r>
            <a:r>
              <a:rPr lang="it-IT" dirty="0"/>
              <a:t>dei </a:t>
            </a:r>
            <a:r>
              <a:rPr lang="it-IT"/>
              <a:t>contenuti per il reporting</a:t>
            </a:r>
            <a:endParaRPr lang="it-IT" dirty="0"/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EB1E54F-27F7-779D-0A56-B0107FEEDB4A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Sustainability Reporting Manager (SRM)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89DC8ADF-1F42-9BB2-4B79-D2614D66703F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4844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IBM Envizi Sustainability Reporting Manager (SRM)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00000"/>
                </a:solidFill>
                <a:latin typeface="Calibri"/>
              </a:defRPr>
            </a:pPr>
            <a:r>
              <a:t>Gestione collaborativa del reporting ESG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93392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000000"/>
                </a:solidFill>
                <a:latin typeface="Calibri"/>
              </a:defRPr>
            </a:pPr>
            <a:r>
              <a:t>SRM coordina la preparazione del reporting: raccoglie informazioni, assegna responsabilità e governa revisioni e approvazioni.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19272"/>
            <a:ext cx="33375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Processo e responsabilità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9624"/>
            <a:ext cx="33375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Un unico ambiente per dati, persone, workflow ed evidenze tracciabili.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319272"/>
            <a:ext cx="33375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Framework aggiornati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849624"/>
            <a:ext cx="33375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CSRD/ESRS, CDP e altri standard collegati ai dati della Data Foundation di Envizi.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319272"/>
            <a:ext cx="33375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Qualità e assurance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849624"/>
            <a:ext cx="33375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Meno attività manuali, maggiore affidabilità del reporting e preparazione all’assurance.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0000"/>
                </a:solidFill>
                <a:latin typeface="Calibri"/>
              </a:defRPr>
            </a:pPr>
            <a:r>
              <a:t>Il reporting CSRD diventa un processo digitale governato, con evidenze a supporto delle dichiarazioni di sostenibilità.</a:t>
            </a:r>
          </a:p>
        </p:txBody>
      </p:sp>
    </p:spTree>
    <p:extLst>
      <p:ext uri="{BB962C8B-B14F-4D97-AF65-F5344CB8AC3E}">
        <p14:creationId xmlns:p14="http://schemas.microsoft.com/office/powerpoint/2010/main" val="938748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Il valore di SRM per la CSRD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Un processo documentato e verificabile, con dati affidabili e controlli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19072"/>
            <a:ext cx="5166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01  Requisiti ESRS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9424"/>
            <a:ext cx="51663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Disclosure nella piattaforma, senza fogli Excel separati.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19072"/>
            <a:ext cx="5166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02  Responsabilità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9424"/>
            <a:ext cx="51663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Assegnazione automatica dei requisiti ai diversi owner aziendali.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5166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03  Revisione e approvazione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02152"/>
            <a:ext cx="51663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Workflow con governance e segregazione delle responsabilità.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5166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04  Evidenze collegate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51663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Ogni risposta rimanda ai documenti e ai dati ESG sottostanti.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5166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05 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51663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Traccia di modifiche, revisioni e approvazioni per l’assurance.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24528"/>
            <a:ext cx="5166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06  Avanzamento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51663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Dashboard e indicatori monitorano il completamento.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5040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564B"/>
                </a:solidFill>
                <a:latin typeface="Calibri"/>
              </a:defRPr>
            </a:pPr>
            <a:r>
              <a:t>07  Riutilizzo dei dati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550408"/>
            <a:ext cx="7909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Gli stessi dati alimentano più framework, evitando duplicazioni e incoerenze.</a:t>
            </a:r>
          </a:p>
        </p:txBody>
      </p:sp>
    </p:spTree>
    <p:extLst>
      <p:ext uri="{BB962C8B-B14F-4D97-AF65-F5344CB8AC3E}">
        <p14:creationId xmlns:p14="http://schemas.microsoft.com/office/powerpoint/2010/main" val="96471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F888816-EAF2-E1BF-48E9-6B6381261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0752" y="1605986"/>
            <a:ext cx="7882127" cy="40026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11018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 err="1"/>
              <a:t>Selezione</a:t>
            </a:r>
            <a:r>
              <a:rPr dirty="0"/>
              <a:t> delle </a:t>
            </a:r>
            <a:r>
              <a:rPr dirty="0" err="1"/>
              <a:t>domande</a:t>
            </a:r>
            <a:r>
              <a:rPr dirty="0"/>
              <a:t> </a:t>
            </a:r>
            <a:r>
              <a:rPr dirty="0" err="1"/>
              <a:t>dalle</a:t>
            </a:r>
            <a:r>
              <a:rPr dirty="0"/>
              <a:t> </a:t>
            </a:r>
            <a:r>
              <a:rPr dirty="0" err="1"/>
              <a:t>librerie</a:t>
            </a:r>
            <a:r>
              <a:rPr dirty="0"/>
              <a:t> ESRS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0564B"/>
                </a:solidFill>
                <a:latin typeface="Calibri"/>
              </a:defRPr>
            </a:pPr>
            <a:r>
              <a:rPr dirty="0"/>
              <a:t>54 </a:t>
            </a:r>
            <a:r>
              <a:rPr dirty="0" err="1"/>
              <a:t>domande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Selezionate nella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Le librerie contengono già le domande dei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13632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rPr dirty="0" err="1"/>
              <a:t>Assegnazione</a:t>
            </a:r>
            <a:r>
              <a:rPr dirty="0"/>
              <a:t> a owner e reviewer, con </a:t>
            </a:r>
            <a:r>
              <a:rPr dirty="0" err="1"/>
              <a:t>stato</a:t>
            </a:r>
            <a:r>
              <a:rPr dirty="0"/>
              <a:t> di </a:t>
            </a:r>
            <a:r>
              <a:rPr dirty="0" err="1"/>
              <a:t>avanzamento</a:t>
            </a:r>
            <a:r>
              <a:rPr dirty="0"/>
              <a:t> sempre </a:t>
            </a:r>
            <a:r>
              <a:rPr dirty="0" err="1"/>
              <a:t>visibile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280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5CFF112-CFE5-CCA6-B7DE-3513DBC23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4451" y="1627632"/>
            <a:ext cx="7015016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ESRS E1-5: compilazione con la GenAI di Envizi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78408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Energy consumption and mix: testi qualitativi dai documenti aziendali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554480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1  Fonti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084831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Allego bozze e documenti aziendali.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880360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2  Generazione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410712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La GenAI redige metodologia e response summary ESRS.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206240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3  Revisione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736592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Rivedo, modifico e approvo prima della pubblicazione.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55321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0000"/>
                </a:solidFill>
                <a:latin typeface="Calibri"/>
              </a:defRPr>
            </a:pPr>
            <a:r>
              <a:t>Risposte collegate alle fonti per l’audit.</a:t>
            </a:r>
          </a:p>
        </p:txBody>
      </p:sp>
    </p:spTree>
    <p:extLst>
      <p:ext uri="{BB962C8B-B14F-4D97-AF65-F5344CB8AC3E}">
        <p14:creationId xmlns:p14="http://schemas.microsoft.com/office/powerpoint/2010/main" val="66683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34768F7-6D92-9182-F207-378CDFD96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640" y="1573473"/>
            <a:ext cx="11018520" cy="30343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576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Dati quantitativi dai report Envizi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78408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Market-based Emissions v4: Electricity emissions inventory, anno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82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564B"/>
                </a:solidFill>
                <a:latin typeface="Calibri"/>
              </a:defRPr>
            </a:pPr>
            <a:r>
              <a:t>1.670.417 kWh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Consumo elettrico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4782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564B"/>
                </a:solidFill>
                <a:latin typeface="Calibri"/>
              </a:defRPr>
            </a:pPr>
            <a:r>
              <a:t>68,12%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5394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Da fonti rinnovabili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4782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564B"/>
                </a:solidFill>
                <a:latin typeface="Calibri"/>
              </a:defRPr>
            </a:pPr>
            <a:r>
              <a:t>327,55 tCO₂e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5394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Emissioni market-based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4782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564B"/>
                </a:solidFill>
                <a:latin typeface="Calibri"/>
              </a:defRPr>
            </a:pPr>
            <a:r>
              <a:t>482,31 tCO₂e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5394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Emissioni location-based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70448"/>
            <a:ext cx="11018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0000"/>
                </a:solidFill>
                <a:latin typeface="Calibri"/>
              </a:defRPr>
            </a:pPr>
            <a:r>
              <a:t>Valori già consolidati per le disclosure, senza ricalcoli manuali o trasferimenti tra fogli.</a:t>
            </a:r>
          </a:p>
        </p:txBody>
      </p:sp>
    </p:spTree>
    <p:extLst>
      <p:ext uri="{BB962C8B-B14F-4D97-AF65-F5344CB8AC3E}">
        <p14:creationId xmlns:p14="http://schemas.microsoft.com/office/powerpoint/2010/main" val="90089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43CB983-7233-CA7D-4611-675A38F88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640" y="1654456"/>
            <a:ext cx="7406640" cy="40794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Dati quantitativi nel questionario ESRS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Total energy consumption breakdown e dettaglio per fonte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989143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rPr dirty="0" err="1"/>
              <a:t>Dettaglio</a:t>
            </a:r>
            <a:r>
              <a:rPr dirty="0"/>
              <a:t> </a:t>
            </a:r>
            <a:r>
              <a:rPr dirty="0" err="1"/>
              <a:t>riga</a:t>
            </a:r>
            <a:r>
              <a:rPr dirty="0"/>
              <a:t> per </a:t>
            </a:r>
            <a:r>
              <a:rPr dirty="0" err="1"/>
              <a:t>riga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75320" y="1330423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000000"/>
                </a:solidFill>
                <a:latin typeface="Calibri"/>
              </a:defRPr>
            </a:pP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totale</a:t>
            </a:r>
            <a:r>
              <a:rPr dirty="0"/>
              <a:t>, </a:t>
            </a:r>
            <a:r>
              <a:rPr dirty="0" err="1"/>
              <a:t>fonti</a:t>
            </a:r>
            <a:r>
              <a:rPr dirty="0"/>
              <a:t> </a:t>
            </a:r>
            <a:r>
              <a:rPr dirty="0" err="1"/>
              <a:t>fossili</a:t>
            </a:r>
            <a:r>
              <a:rPr dirty="0"/>
              <a:t>, </a:t>
            </a:r>
            <a:r>
              <a:rPr dirty="0" err="1"/>
              <a:t>nucleare</a:t>
            </a:r>
            <a:r>
              <a:rPr dirty="0"/>
              <a:t> e </a:t>
            </a:r>
            <a:r>
              <a:rPr dirty="0" err="1"/>
              <a:t>rinnovabili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630290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rPr dirty="0"/>
              <a:t>Dataset </a:t>
            </a:r>
            <a:r>
              <a:rPr dirty="0" err="1"/>
              <a:t>validati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275320" y="2997971"/>
            <a:ext cx="329184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000000"/>
                </a:solidFill>
                <a:latin typeface="Calibri"/>
              </a:defRPr>
            </a:pPr>
            <a:r>
              <a:rPr dirty="0"/>
              <a:t>Dati </a:t>
            </a:r>
            <a:r>
              <a:rPr dirty="0" err="1"/>
              <a:t>già</a:t>
            </a:r>
            <a:r>
              <a:rPr dirty="0"/>
              <a:t> </a:t>
            </a:r>
            <a:r>
              <a:rPr dirty="0" err="1"/>
              <a:t>validati</a:t>
            </a:r>
            <a:r>
              <a:rPr dirty="0"/>
              <a:t> in </a:t>
            </a:r>
            <a:r>
              <a:rPr dirty="0" err="1"/>
              <a:t>Envizi</a:t>
            </a:r>
            <a:r>
              <a:rPr lang="it-IT" dirty="0"/>
              <a:t>, pronti per essere copiati in SRM con tracciatura per audit.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75320" y="4480560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Gap visibili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789865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000000"/>
                </a:solidFill>
                <a:latin typeface="Calibri"/>
              </a:defRPr>
            </a:pPr>
            <a:r>
              <a:rPr dirty="0"/>
              <a:t>Le </a:t>
            </a:r>
            <a:r>
              <a:rPr dirty="0" err="1"/>
              <a:t>sezioni</a:t>
            </a:r>
            <a:r>
              <a:rPr dirty="0"/>
              <a:t> </a:t>
            </a:r>
            <a:r>
              <a:rPr dirty="0" err="1"/>
              <a:t>vuote</a:t>
            </a:r>
            <a:r>
              <a:rPr dirty="0"/>
              <a:t> </a:t>
            </a:r>
            <a:r>
              <a:rPr dirty="0" err="1"/>
              <a:t>mostrano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gap da </a:t>
            </a:r>
            <a:r>
              <a:rPr dirty="0" err="1"/>
              <a:t>colmare</a:t>
            </a:r>
            <a:r>
              <a:rPr dirty="0"/>
              <a:t> prima della </a:t>
            </a:r>
            <a:r>
              <a:rPr dirty="0" err="1"/>
              <a:t>pubblicazione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844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2D49EBD-8D7E-FFED-C3E8-7B919979E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640" y="1634918"/>
            <a:ext cx="7406640" cy="289321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4FDF379-8CFD-5236-4A72-F275464C4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86800" y="1669476"/>
            <a:ext cx="2880360" cy="28241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576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Allegati di origine ed esportazione del documento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78408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Word, PDF o Excel con testi, dati, allegati e riferimenti di calcolo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525780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Report a supporto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39512"/>
            <a:ext cx="52578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Ogni disclosure include i report di origine: Sustainability Executive Report e Market-based Emissions v4.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09160"/>
            <a:ext cx="5166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564B"/>
                </a:solidFill>
                <a:latin typeface="Calibri"/>
              </a:defRPr>
            </a:pPr>
            <a:r>
              <a:t>Tracciabilità del 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39512"/>
            <a:ext cx="51663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Dal numero pubblicato, chi legge può risalire al report e all’Account di origine.</a:t>
            </a:r>
          </a:p>
        </p:txBody>
      </p:sp>
    </p:spTree>
    <p:extLst>
      <p:ext uri="{BB962C8B-B14F-4D97-AF65-F5344CB8AC3E}">
        <p14:creationId xmlns:p14="http://schemas.microsoft.com/office/powerpoint/2010/main" val="89705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A5394A6-906B-8D8F-2CB8-9B293EFC4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117600"/>
            <a:ext cx="3708400" cy="4064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E3588C6-7D87-00E9-0798-F68D733C9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1117600"/>
            <a:ext cx="3479800" cy="4064000"/>
          </a:xfrm>
          <a:prstGeom prst="rect">
            <a:avLst/>
          </a:prstGeom>
        </p:spPr>
      </p:pic>
      <p:sp>
        <p:nvSpPr>
          <p:cNvPr id="95" name="Title"/>
          <p:cNvSpPr txBox="1"/>
          <p:nvPr/>
        </p:nvSpPr>
        <p:spPr>
          <a:xfrm>
            <a:off x="457200" y="254000"/>
            <a:ext cx="1127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152400" rIns="203200" bIns="1524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2000" b="1" dirty="0">
                <a:solidFill>
                  <a:srgbClr val="000000"/>
                </a:solidFill>
                <a:latin typeface="Calibri"/>
                <a:cs typeface="Calibri"/>
              </a:rPr>
              <a:t>Il documento esportato: dalle disclosure al Bilancio di Sostenibilità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300" b="0" dirty="0">
                <a:solidFill>
                  <a:srgbClr val="2B2B2B"/>
                </a:solidFill>
                <a:latin typeface="Calibri"/>
                <a:cs typeface="Calibri"/>
              </a:rPr>
              <a:t>Anteprima del PDF generato da Envizi, pronto per banca e stakeholder</a:t>
            </a:r>
          </a:p>
        </p:txBody>
      </p:sp>
      <p:sp>
        <p:nvSpPr>
          <p:cNvPr id="96" name="CommentCard"/>
          <p:cNvSpPr txBox="1"/>
          <p:nvPr/>
        </p:nvSpPr>
        <p:spPr>
          <a:xfrm>
            <a:off x="457200" y="5384800"/>
            <a:ext cx="11277600" cy="10668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  <p:txBody>
          <a:bodyPr wrap="square" lIns="203200" tIns="152400" rIns="203200" bIns="1524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500" b="1" dirty="0">
                <a:solidFill>
                  <a:srgbClr val="073E31"/>
                </a:solidFill>
                <a:latin typeface="Calibri"/>
                <a:cs typeface="Calibri"/>
              </a:rPr>
              <a:t>Nella demo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Font typeface="Wingdings" pitchFamily="2" charset="2"/>
              <a:buChar char="§"/>
            </a:pPr>
            <a:r>
              <a:rPr lang="it-IT" sz="1250" b="0" dirty="0">
                <a:solidFill>
                  <a:srgbClr val="2B2B2B"/>
                </a:solidFill>
                <a:latin typeface="Calibri"/>
                <a:cs typeface="Calibri"/>
              </a:rPr>
              <a:t>Il file esportato riporta le risposte alle disclosure con i dati quantitativi collegati: struttura, testi e numeri sono gli stessi rivisti e approvati in Envizi, senza rilavorazioni manuali.</a:t>
            </a:r>
          </a:p>
        </p:txBody>
      </p:sp>
    </p:spTree>
    <p:extLst>
      <p:ext uri="{BB962C8B-B14F-4D97-AF65-F5344CB8AC3E}">
        <p14:creationId xmlns:p14="http://schemas.microsoft.com/office/powerpoint/2010/main" val="1058962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E448A9E-1701-F358-53E9-280B5B5BB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68400"/>
            <a:ext cx="8128000" cy="4572000"/>
          </a:xfrm>
          <a:prstGeom prst="rect">
            <a:avLst/>
          </a:prstGeom>
        </p:spPr>
      </p:pic>
      <p:sp>
        <p:nvSpPr>
          <p:cNvPr id="97" name="TitleBand"/>
          <p:cNvSpPr txBox="1"/>
          <p:nvPr/>
        </p:nvSpPr>
        <p:spPr>
          <a:xfrm>
            <a:off x="309716" y="457200"/>
            <a:ext cx="1127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177800" rIns="203200" bIns="17780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2000" b="1" dirty="0">
                <a:solidFill>
                  <a:srgbClr val="000000"/>
                </a:solidFill>
                <a:latin typeface="Calibri"/>
              </a:rPr>
              <a:t>Dal dato al documento pubblicabile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it-IT" sz="1300" b="0" dirty="0">
                <a:solidFill>
                  <a:srgbClr val="2B2B2B"/>
                </a:solidFill>
                <a:latin typeface="Calibri"/>
                <a:cs typeface="Calibri"/>
              </a:rPr>
              <a:t>Impaginazione editoriale del Bilancio, contenuti sempre tracciabili</a:t>
            </a:r>
          </a:p>
        </p:txBody>
      </p:sp>
      <p:sp>
        <p:nvSpPr>
          <p:cNvPr id="98" name="CommentCard"/>
          <p:cNvSpPr txBox="1"/>
          <p:nvPr/>
        </p:nvSpPr>
        <p:spPr>
          <a:xfrm>
            <a:off x="8890000" y="1168400"/>
            <a:ext cx="2844800" cy="45720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  <p:txBody>
          <a:bodyPr wrap="square" lIns="203200" tIns="177800" rIns="203200" bIns="17780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b="1" dirty="0">
                <a:solidFill>
                  <a:srgbClr val="073E31"/>
                </a:solidFill>
                <a:latin typeface="Calibri"/>
                <a:cs typeface="Calibri"/>
              </a:rPr>
              <a:t>Nella demo</a:t>
            </a:r>
            <a:endParaRPr lang="it-IT" b="0" dirty="0">
              <a:solidFill>
                <a:srgbClr val="2B2B2B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I contenuti esportati da Envizi passano a un tool di publishing editoriale per la veste grafica del Bilancio. 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it-IT" sz="1600" b="0" dirty="0">
              <a:solidFill>
                <a:srgbClr val="2B2B2B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Dal PDF si risale alle disclosure e agli Account di origine: il documento resta tracciabile e auditabile.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5158A94-6EB8-872C-FD87-9F2DF8F1CE44}"/>
              </a:ext>
            </a:extLst>
          </p:cNvPr>
          <p:cNvSpPr txBox="1"/>
          <p:nvPr/>
        </p:nvSpPr>
        <p:spPr>
          <a:xfrm>
            <a:off x="383459" y="5689600"/>
            <a:ext cx="8128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La vista grafica è stata ottenuta dando il PDF esportato da SRM a una AI Generativa consumer non inclusa in </a:t>
            </a:r>
            <a:r>
              <a:rPr lang="it-IT" dirty="0" err="1"/>
              <a:t>Envizi</a:t>
            </a:r>
            <a:r>
              <a:rPr lang="it-IT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2857716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254000"/>
            <a:ext cx="8686800" cy="7112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2000" b="1" dirty="0">
                <a:solidFill>
                  <a:srgbClr val="000000"/>
                </a:solidFill>
                <a:latin typeface="Calibri"/>
                <a:cs typeface="Calibri"/>
              </a:rPr>
              <a:t>Conclusioni SRM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Il valore del Sustainability Reporting Management per una PMI</a:t>
            </a:r>
          </a:p>
        </p:txBody>
      </p:sp>
      <p:sp>
        <p:nvSpPr>
          <p:cNvPr id="102" name="Card0"/>
          <p:cNvSpPr txBox="1"/>
          <p:nvPr/>
        </p:nvSpPr>
        <p:spPr>
          <a:xfrm>
            <a:off x="457200" y="1219200"/>
            <a:ext cx="5486400" cy="1422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500" b="1" dirty="0">
                <a:solidFill>
                  <a:srgbClr val="073E31"/>
                </a:solidFill>
                <a:latin typeface="Calibri"/>
                <a:cs typeface="Calibri"/>
              </a:rPr>
              <a:t>Reporting credibile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Bilancio di Sostenibilità predisposto secondo VSME e integrato con le disclosure ESRS selezionate.</a:t>
            </a:r>
          </a:p>
        </p:txBody>
      </p:sp>
      <p:sp>
        <p:nvSpPr>
          <p:cNvPr id="103" name="Card1"/>
          <p:cNvSpPr txBox="1"/>
          <p:nvPr/>
        </p:nvSpPr>
        <p:spPr>
          <a:xfrm>
            <a:off x="6248400" y="1219200"/>
            <a:ext cx="5486400" cy="1422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500" b="1" dirty="0">
                <a:solidFill>
                  <a:srgbClr val="073E31"/>
                </a:solidFill>
                <a:latin typeface="Calibri"/>
                <a:cs typeface="Calibri"/>
              </a:rPr>
              <a:t>Dati affidabili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Informazioni ESG raccolte, controllate, approvate e completamente tracciabili tramite IBM Envizi.</a:t>
            </a:r>
          </a:p>
        </p:txBody>
      </p:sp>
      <p:sp>
        <p:nvSpPr>
          <p:cNvPr id="104" name="Card2"/>
          <p:cNvSpPr txBox="1"/>
          <p:nvPr/>
        </p:nvSpPr>
        <p:spPr>
          <a:xfrm>
            <a:off x="457200" y="2844800"/>
            <a:ext cx="5486400" cy="1422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600" b="1" dirty="0">
                <a:solidFill>
                  <a:srgbClr val="073E31"/>
                </a:solidFill>
                <a:latin typeface="Calibri"/>
                <a:cs typeface="Calibri"/>
              </a:rPr>
              <a:t>Maggiore trasparenza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Un unico patrimonio informativo per rispondere alle richieste di banche, clienti e stakeholder.</a:t>
            </a:r>
          </a:p>
        </p:txBody>
      </p:sp>
      <p:sp>
        <p:nvSpPr>
          <p:cNvPr id="105" name="Card3"/>
          <p:cNvSpPr txBox="1"/>
          <p:nvPr/>
        </p:nvSpPr>
        <p:spPr>
          <a:xfrm>
            <a:off x="6248400" y="2844800"/>
            <a:ext cx="5486400" cy="1422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600" b="1" dirty="0">
                <a:solidFill>
                  <a:srgbClr val="073E31"/>
                </a:solidFill>
                <a:latin typeface="Calibri"/>
                <a:cs typeface="Calibri"/>
              </a:rPr>
              <a:t>Supporto alle decisioni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I dati ESG individuano opportunità di miglioramento e aiutano a ridurre consumi, costi ed emissioni.</a:t>
            </a:r>
          </a:p>
        </p:txBody>
      </p:sp>
      <p:sp>
        <p:nvSpPr>
          <p:cNvPr id="106" name="AccentBar"/>
          <p:cNvSpPr txBox="1"/>
          <p:nvPr/>
        </p:nvSpPr>
        <p:spPr>
          <a:xfrm>
            <a:off x="457200" y="4673600"/>
            <a:ext cx="63500" cy="1219200"/>
          </a:xfrm>
          <a:prstGeom prst="rect">
            <a:avLst/>
          </a:prstGeom>
          <a:solidFill>
            <a:srgbClr val="073E31"/>
          </a:solidFill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endParaRPr sz="1600"/>
          </a:p>
        </p:txBody>
      </p:sp>
      <p:sp>
        <p:nvSpPr>
          <p:cNvPr id="107" name="Close"/>
          <p:cNvSpPr txBox="1"/>
          <p:nvPr/>
        </p:nvSpPr>
        <p:spPr>
          <a:xfrm>
            <a:off x="685800" y="4673600"/>
            <a:ext cx="1104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600" b="1" dirty="0">
                <a:solidFill>
                  <a:srgbClr val="073E31"/>
                </a:solidFill>
                <a:latin typeface="Calibri"/>
                <a:cs typeface="Calibri"/>
              </a:rPr>
              <a:t>In sintesi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it-IT" sz="1600" b="0" dirty="0">
                <a:solidFill>
                  <a:srgbClr val="2B2B2B"/>
                </a:solidFill>
                <a:latin typeface="Calibri"/>
                <a:cs typeface="Calibri"/>
              </a:rPr>
              <a:t>Il Sustainability Reporting Management è il passaggio dall'adempimento normativo a un processo strutturato: genera valore per il business, rafforza la credibilità verso gli stakeholder e sostiene decisioni basate su dati affidabili.</a:t>
            </a:r>
          </a:p>
        </p:txBody>
      </p:sp>
    </p:spTree>
    <p:extLst>
      <p:ext uri="{BB962C8B-B14F-4D97-AF65-F5344CB8AC3E}">
        <p14:creationId xmlns:p14="http://schemas.microsoft.com/office/powerpoint/2010/main" val="230185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Riferimenti ufficiali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SRM e workflow delle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Ruoli, risposte, approvazioni ed evidenze.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ESG Reporting Frameworks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Funzionalità ed esportazione in Word e PDF.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Framework e riferimenti ESRS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Standard, attribuzioni e riferimenti del modulo.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Framework personalizzati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Selezione di domande da un framework gestito.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GenAI in SRM: novità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Response generator in preview e bozze da fonti.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PowerReports preconfigurati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Report di supporto e disponibilità per modulo.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500" b="0">
                <a:solidFill>
                  <a:srgbClr val="333333"/>
                </a:solidFill>
                <a:latin typeface="Calibri"/>
              </a:rPr>
              <a:t>Documentazione IBM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1919</Words>
  <Application>Microsoft Macintosh PowerPoint</Application>
  <PresentationFormat>Widescreen</PresentationFormat>
  <Paragraphs>210</Paragraphs>
  <Slides>16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16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15</cp:revision>
  <dcterms:created xsi:type="dcterms:W3CDTF">2026-10-09T13:31:22Z</dcterms:created>
  <dcterms:modified xsi:type="dcterms:W3CDTF">2026-10-09T15:29:03Z</dcterms:modified>
</cp:coreProperties>
</file>