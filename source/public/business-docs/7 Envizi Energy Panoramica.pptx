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635" r:id="rId2"/>
    <p:sldId id="260" r:id="rId3"/>
    <p:sldId id="268" r:id="rId4"/>
    <p:sldId id="2142533215" r:id="rId5"/>
    <p:sldId id="2147472657" r:id="rId6"/>
    <p:sldId id="708" r:id="rId7"/>
    <p:sldId id="2142533206" r:id="rId8"/>
    <p:sldId id="2142533207" r:id="rId9"/>
    <p:sldId id="2142533208" r:id="rId10"/>
    <p:sldId id="264" r:id="rId11"/>
    <p:sldId id="2142533139" r:id="rId12"/>
    <p:sldId id="2147472658" r:id="rId13"/>
    <p:sldId id="2142533118" r:id="rId14"/>
    <p:sldId id="2142533135" r:id="rId15"/>
    <p:sldId id="2142533198" r:id="rId16"/>
    <p:sldId id="2142533199" r:id="rId17"/>
    <p:sldId id="2142533200" r:id="rId18"/>
    <p:sldId id="2142533201" r:id="rId19"/>
    <p:sldId id="2142533202" r:id="rId20"/>
    <p:sldId id="2142533211" r:id="rId21"/>
    <p:sldId id="2142533214" r:id="rId22"/>
    <p:sldId id="374" r:id="rId23"/>
    <p:sldId id="2147472659" r:id="rId24"/>
    <p:sldId id="2147472660" r:id="rId25"/>
    <p:sldId id="560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164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https://www.ibm.com/docs/en/envizi-esg-suite?topic=modules-utility-bill-analytics</a:t>
            </a:r>
          </a:p>
          <a:p>
            <a:r>
              <a:rPr lang="it-IT"/>
              <a:t>https://www.ibm.com/docs/en/envizi-esg-suite?topic=reference-utility-bill-analytics</a:t>
            </a:r>
          </a:p>
          <a:p>
            <a:r>
              <a:rPr lang="it-IT"/>
              <a:t>https://www.ibm.com/docs/en/envizi-esg-suite?topic=modules-interval-metering-analytics</a:t>
            </a:r>
          </a:p>
          <a:p>
            <a:r>
              <a:rPr lang="it-IT"/>
              <a:t>https://www.ibm.com/products/envizi/interval-meter-analytics</a:t>
            </a:r>
          </a:p>
          <a:p>
            <a:r>
              <a:rPr lang="it-IT"/>
              <a:t>https://www.ibm.com/docs/en/envizi-esg-suite?topic=analytics-configuring-meter-alert-rules</a:t>
            </a:r>
          </a:p>
          <a:p>
            <a:r>
              <a:rPr lang="it-IT"/>
              <a:t>https://www.ibm.com/docs/en/envizi-esg-suite?topic=quality-account-inactivity-alerts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  <a:p>
            <a:r>
              <a:rPr lang="it-IT"/>
              <a:t>Alfago è un caso simulato, come specificato nel capitolo. I livelli 1–3 sono una struttura didattica della demo. La disponibilità dipende dai moduli e dalla configurazione. Le anomalie segnalano condizioni da indagare e non dimostrano automaticamente cause o risparmi. Gli alert di inattività sono disponibili anche per gli account secondo la documentazione IBM.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modules-utility-bill-analytics</a:t>
            </a:r>
            <a:endParaRPr/>
          </a:p>
          <a:p>
            <a:r>
              <a:t>https://www.ibm.com/</a:t>
            </a:r>
            <a:r>
              <a:rPr lang="it-IT"/>
              <a:t>docs</a:t>
            </a:r>
            <a:r>
              <a:t>/</a:t>
            </a:r>
            <a:r>
              <a:rPr lang="it-IT"/>
              <a:t>en</a:t>
            </a:r>
            <a:r>
              <a:t>/</a:t>
            </a:r>
            <a:r>
              <a:rPr lang="it-IT"/>
              <a:t>envizi-esg-suite?topic=reference-utility-bill-analytics</a:t>
            </a:r>
            <a:endParaRPr/>
          </a:p>
          <a:p>
            <a:r>
              <a:rPr lang="it-IT"/>
              <a:t>https://www.ibm.com/docs/en/envizi-esg-suite?topic=modules-interval-metering-analytics</a:t>
            </a:r>
          </a:p>
          <a:p>
            <a:r>
              <a:rPr lang="it-IT"/>
              <a:t>https://www.ibm.com/products/envizi/interval-meter-analytics</a:t>
            </a:r>
          </a:p>
          <a:p>
            <a:r>
              <a:rPr lang="it-IT"/>
              <a:t>https://www.ibm.com/docs/en/envizi-esg-suite?topic=analytics-configuring-meter-alert-rules</a:t>
            </a:r>
          </a:p>
          <a:p>
            <a:r>
              <a:rPr lang="it-IT"/>
              <a:t>https://www.ibm.com/docs/en/envizi-esg-suite?topic=quality-account-inactivity-alerts</a:t>
            </a:r>
          </a:p>
          <a:p>
            <a:r>
              <a:t>Consultazione: 9 ottobre 2026</a:t>
            </a:r>
          </a:p>
          <a:p>
            <a:r>
              <a:t>[/Sources]</a:t>
            </a:r>
            <a:endParaRPr lang="it-IT"/>
          </a:p>
          <a:p>
            <a:r>
              <a:rPr lang="it-IT"/>
              <a:t>Alfago è un caso simulato, come specificato nel capitolo. I livelli 1–3 sono una struttura didattica della demo. La disponibilità dipende dai moduli e dalla configurazione. Le anomalie segnalano condizioni da indagare e non dimostrano automaticamente cause o risparmi. Gli alert di inattività sono disponibili anche per gli account secondo la documentazione IBM.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modules-utility-bill-analytics</a:t>
            </a:r>
            <a:endParaRPr/>
          </a:p>
          <a:p>
            <a:r>
              <a:t>https://www.ibm.com/</a:t>
            </a:r>
            <a:r>
              <a:rPr lang="it-IT"/>
              <a:t>docs</a:t>
            </a:r>
            <a:r>
              <a:t>/</a:t>
            </a:r>
            <a:r>
              <a:rPr lang="it-IT"/>
              <a:t>en</a:t>
            </a:r>
            <a:r>
              <a:t>/</a:t>
            </a:r>
            <a:r>
              <a:rPr lang="it-IT"/>
              <a:t>envizi-esg-suite?topic=reference-utility-bill-analytics</a:t>
            </a:r>
            <a:endParaRPr/>
          </a:p>
          <a:p>
            <a:r>
              <a:rPr lang="it-IT"/>
              <a:t>https://www.ibm.com/docs/en/envizi-esg-suite?topic=modules-interval-metering-analytics</a:t>
            </a:r>
          </a:p>
          <a:p>
            <a:r>
              <a:rPr lang="it-IT"/>
              <a:t>https://www.ibm.com/products/envizi/interval-meter-analytics</a:t>
            </a:r>
          </a:p>
          <a:p>
            <a:r>
              <a:rPr lang="it-IT"/>
              <a:t>https://www.ibm.com/docs/en/envizi-esg-suite?topic=analytics-configuring-meter-alert-rules</a:t>
            </a:r>
          </a:p>
          <a:p>
            <a:r>
              <a:rPr lang="it-IT"/>
              <a:t>https://www.ibm.com/docs/en/envizi-esg-suite?topic=quality-account-inactivity-alerts</a:t>
            </a:r>
          </a:p>
          <a:p>
            <a:r>
              <a:t>Consultazione: 9 ottobre 2026</a:t>
            </a:r>
          </a:p>
          <a:p>
            <a:r>
              <a:t>[/Sources]</a:t>
            </a:r>
            <a:endParaRPr lang="it-IT"/>
          </a:p>
          <a:p>
            <a:r>
              <a:rPr lang="it-IT"/>
              <a:t>Alfago è un caso simulato, come specificato nel capitolo. I livelli 1–3 sono una struttura didattica della demo. La disponibilità dipende dai moduli e dalla configurazione. Le anomalie segnalano condizioni da indagare e non dimostrano automaticamente cause o risparmi. Gli alert di inattività sono disponibili anche per gli account secondo la documentazione IBM.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modules-utility-bill-analytics</a:t>
            </a:r>
            <a:endParaRPr/>
          </a:p>
          <a:p>
            <a:r>
              <a:t>https://www.ibm.com/docs/en/envizi-esg-suite?topic=</a:t>
            </a:r>
            <a:r>
              <a:rPr lang="it-IT"/>
              <a:t>reference-utility-bill-analytics</a:t>
            </a:r>
            <a:endParaRPr/>
          </a:p>
          <a:p>
            <a:r>
              <a:rPr lang="it-IT"/>
              <a:t>https://www.ibm.com/docs/en/envizi-esg-suite?topic=modules-interval-metering-analytics</a:t>
            </a:r>
          </a:p>
          <a:p>
            <a:r>
              <a:rPr lang="it-IT"/>
              <a:t>https://www.ibm.com/products/envizi/interval-meter-analytics</a:t>
            </a:r>
          </a:p>
          <a:p>
            <a:r>
              <a:rPr lang="it-IT"/>
              <a:t>https://www.ibm.com/docs/en/envizi-esg-suite?topic=analytics-configuring-meter-alert-rules</a:t>
            </a:r>
          </a:p>
          <a:p>
            <a:r>
              <a:rPr lang="it-IT"/>
              <a:t>https://www.ibm.com/docs/en/envizi-esg-suite?topic=quality-account-inactivity-alerts</a:t>
            </a:r>
          </a:p>
          <a:p>
            <a:r>
              <a:t>Consultazione: 9 ottobre 2026</a:t>
            </a:r>
          </a:p>
          <a:p>
            <a:r>
              <a:t>[/Sources]</a:t>
            </a:r>
            <a:endParaRPr lang="it-IT"/>
          </a:p>
          <a:p>
            <a:r>
              <a:rPr lang="it-IT"/>
              <a:t>Alfago è un caso simulato, come specificato nel capitolo. I livelli 1–3 sono una struttura didattica della demo. La disponibilità dipende dai moduli e dalla configurazione. Le anomalie segnalano condizioni da indagare e non dimostrano automaticamente cause o risparmi. Gli alert di inattività sono disponibili anche per gli account secondo la documentazione IBM.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powerreports-prebuilt</a:t>
            </a:r>
            <a:endParaRPr/>
          </a:p>
          <a:p>
            <a:r>
              <a:t>https://www.ibm.com/docs/en/envizi-esg-suite?topic=</a:t>
            </a:r>
            <a:r>
              <a:rPr lang="it-IT"/>
              <a:t>powerreports</a:t>
            </a:r>
            <a:endParaRPr/>
          </a:p>
          <a:p>
            <a:r>
              <a:rPr lang="it-IT"/>
              <a:t>https://www.ibm.com/docs/en/envizi-esg-suite?topic=powerreports-customization</a:t>
            </a:r>
          </a:p>
          <a:p>
            <a:r>
              <a:rPr lang="it-IT"/>
              <a:t>https://www.ibm.com/docs/en/envizi-esg-suite?topic=product-overview</a:t>
            </a:r>
          </a:p>
          <a:p>
            <a:r>
              <a:rPr lang="it-IT"/>
              <a:t>https://www.ibm.com/docs/en/envizi-esg-suite?topic=accounting-managed-emission-factors</a:t>
            </a:r>
          </a:p>
          <a:p>
            <a:r>
              <a:rPr lang="it-IT"/>
              <a:t>https://www.ibm.com/docs/en/envizi-esg-suite?topic=accounting-custom-factors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l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656990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l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40691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l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12147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15262-EA13-D903-87ED-134FD7C7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A0EA0-F2F1-B9DB-9300-1EBCC6364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C3ADF-4C15-5755-88E8-11EE13D4A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FDBF-7EA9-95DC-0D55-FBC17195DC9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7878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B444-36A3-1569-2759-9F4E266E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7827A-9D51-9F35-805C-3361A3D97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83D69-0316-DE21-2BA0-336875E8C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67" b="1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Envizi for Energy Management</a:t>
            </a:r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Beyond sustainability reporting, Envizi empowers organizations to manage energy more effectively by centralizing utility data and enabling real-time insights into consumption and cost trends.</a:t>
            </a:r>
          </a:p>
          <a:p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With advanced analytics, Envizi helps identify inefficiencies, detect anomalies, and benchmark performance across sites—driving smarter energy decisions and operational savings.</a:t>
            </a:r>
          </a:p>
          <a:p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Envizi also integrates seamlessly with smart meters and external benchmarks like NABERS and Energy Star, supporting both compliance and continuous improvement in energy performance.</a:t>
            </a:r>
          </a:p>
          <a:p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Its robust data foundation enables predictive insights and supports strategic planning, including energy procurement and asset investment aligned with climate goals.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Relevant Slides for use cases: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1. Centralized Data : Slide 16-19 showcasing utility accounts and meters. 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2. Trend and Anomaly detection: Accounts : Slides 21, 22,23 &amp; Utility expense insights: 24,25,26 &amp;27.  Meters dashboards: Slides 28 to33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3. Location benchmarking:  Slide 22,23,25  Program initiative - 28 and 29 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4. Invoice vs meter validation: Slide 36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5. Demand Analysis: Slide 31 ( also in 29)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6. Regression: Slide 39-40. Also 41 for actual vs expected profiles. 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7. Automated Alerts: Slides 47,48,49 and 50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8. Data quality:  Slide 52-54 and 53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9. Buildings ratings: Slide 55</a:t>
            </a:r>
            <a:endParaRPr lang="en-AU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r>
              <a:rPr lang="en-AU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 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b="1" i="0" kern="1200" dirty="0">
                <a:solidFill>
                  <a:schemeClr val="bg1"/>
                </a:solidFill>
                <a:latin typeface="IBM Plex Sans Light" panose="020B0503050203000203" pitchFamily="34" charset="0"/>
                <a:ea typeface="+mn-ea"/>
                <a:cs typeface="+mn-cs"/>
              </a:rPr>
              <a:t>Another possible Use case : </a:t>
            </a:r>
          </a:p>
          <a:p>
            <a:r>
              <a:rPr lang="en-US" sz="2800" b="1" i="0" kern="1200" dirty="0">
                <a:solidFill>
                  <a:schemeClr val="bg1"/>
                </a:solidFill>
                <a:latin typeface="IBM Plex Sans Light" panose="020B0503050203000203" pitchFamily="34" charset="0"/>
                <a:ea typeface="+mn-ea"/>
                <a:cs typeface="+mn-cs"/>
              </a:rPr>
              <a:t>11. Climate-Informed Planning ( PA add-on required)</a:t>
            </a:r>
          </a:p>
          <a:p>
            <a:r>
              <a:rPr lang="en-US" sz="2800" b="0" i="0" kern="1200" dirty="0">
                <a:solidFill>
                  <a:schemeClr val="bg1"/>
                </a:solidFill>
                <a:latin typeface="IBM Plex Sans Light" panose="020B0503050203000203" pitchFamily="34" charset="0"/>
                <a:ea typeface="+mn-ea"/>
                <a:cs typeface="+mn-cs"/>
              </a:rPr>
              <a:t>Support asset investment decisions with financial and climate analytics.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7A90B-7FB3-9890-EF22-A8741BDF5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l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F36A0-5908-AAAF-B996-77C5D80DE7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Group Name / DOC ID / Month XX, 2022 / © 2022 IBM Corporation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755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Nota – La </a:t>
            </a:r>
            <a:r>
              <a:rPr dirty="0" err="1"/>
              <a:t>verifica</a:t>
            </a:r>
            <a:r>
              <a:rPr dirty="0"/>
              <a:t> di </a:t>
            </a:r>
            <a:r>
              <a:rPr dirty="0" err="1"/>
              <a:t>fatturazione</a:t>
            </a:r>
            <a:r>
              <a:rPr dirty="0"/>
              <a:t> per la </a:t>
            </a:r>
            <a:r>
              <a:rPr dirty="0" err="1"/>
              <a:t>parte</a:t>
            </a:r>
            <a:r>
              <a:rPr dirty="0"/>
              <a:t> pricing </a:t>
            </a:r>
            <a:r>
              <a:rPr dirty="0" err="1"/>
              <a:t>richiede</a:t>
            </a:r>
            <a:r>
              <a:rPr dirty="0"/>
              <a:t> </a:t>
            </a:r>
            <a:r>
              <a:rPr dirty="0" err="1"/>
              <a:t>soluzioni</a:t>
            </a:r>
            <a:r>
              <a:rPr dirty="0"/>
              <a:t> custom per la grande </a:t>
            </a:r>
            <a:r>
              <a:rPr dirty="0" err="1"/>
              <a:t>varieta</a:t>
            </a:r>
            <a:r>
              <a:rPr dirty="0"/>
              <a:t> di </a:t>
            </a:r>
            <a:r>
              <a:rPr dirty="0" err="1"/>
              <a:t>regole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fornitori</a:t>
            </a:r>
            <a:r>
              <a:rPr dirty="0"/>
              <a:t> e </a:t>
            </a:r>
            <a:r>
              <a:rPr dirty="0" err="1"/>
              <a:t>mercati</a:t>
            </a:r>
            <a:r>
              <a:rPr dirty="0"/>
              <a:t>; </a:t>
            </a:r>
            <a:r>
              <a:rPr dirty="0" err="1"/>
              <a:t>Envizi</a:t>
            </a:r>
            <a:r>
              <a:rPr dirty="0"/>
              <a:t> </a:t>
            </a:r>
            <a:r>
              <a:rPr dirty="0" err="1"/>
              <a:t>fornira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quantitativi</a:t>
            </a:r>
            <a:r>
              <a:rPr dirty="0"/>
              <a:t> di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organizzati</a:t>
            </a:r>
            <a:r>
              <a:rPr dirty="0"/>
              <a:t> per </a:t>
            </a:r>
            <a:r>
              <a:rPr dirty="0" err="1"/>
              <a:t>sede</a:t>
            </a:r>
            <a:r>
              <a:rPr dirty="0"/>
              <a:t> - </a:t>
            </a:r>
            <a:r>
              <a:rPr dirty="0" err="1"/>
              <a:t>contatore</a:t>
            </a:r>
            <a:r>
              <a:rPr dirty="0"/>
              <a:t> - </a:t>
            </a:r>
            <a:r>
              <a:rPr dirty="0" err="1"/>
              <a:t>subcontatore</a:t>
            </a:r>
            <a:r>
              <a:rPr dirty="0"/>
              <a:t>.</a:t>
            </a:r>
          </a:p>
          <a:p>
            <a:r>
              <a:rPr dirty="0"/>
              <a:t>Alert: se la </a:t>
            </a:r>
            <a:r>
              <a:rPr dirty="0" err="1"/>
              <a:t>necessita</a:t>
            </a:r>
            <a:r>
              <a:rPr dirty="0"/>
              <a:t> e </a:t>
            </a:r>
            <a:r>
              <a:rPr dirty="0" err="1"/>
              <a:t>attivare</a:t>
            </a:r>
            <a:r>
              <a:rPr dirty="0"/>
              <a:t> </a:t>
            </a:r>
            <a:r>
              <a:rPr dirty="0" err="1"/>
              <a:t>rapidamente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team di </a:t>
            </a:r>
            <a:r>
              <a:rPr dirty="0" err="1"/>
              <a:t>assistenza</a:t>
            </a:r>
            <a:r>
              <a:rPr dirty="0"/>
              <a:t> a </a:t>
            </a:r>
            <a:r>
              <a:rPr dirty="0" err="1"/>
              <a:t>fronte</a:t>
            </a:r>
            <a:r>
              <a:rPr dirty="0"/>
              <a:t> di </a:t>
            </a:r>
            <a:r>
              <a:rPr dirty="0" err="1"/>
              <a:t>allarmi</a:t>
            </a:r>
            <a:r>
              <a:rPr dirty="0"/>
              <a:t> sui </a:t>
            </a:r>
            <a:r>
              <a:rPr dirty="0" err="1"/>
              <a:t>consumi</a:t>
            </a:r>
            <a:r>
              <a:rPr dirty="0"/>
              <a:t> di un asset, la </a:t>
            </a:r>
            <a:r>
              <a:rPr dirty="0" err="1"/>
              <a:t>soluzione</a:t>
            </a:r>
            <a:r>
              <a:rPr dirty="0"/>
              <a:t> </a:t>
            </a:r>
            <a:r>
              <a:rPr dirty="0" err="1"/>
              <a:t>corretta</a:t>
            </a:r>
            <a:r>
              <a:rPr dirty="0"/>
              <a:t> e IBM Maximo; se la </a:t>
            </a:r>
            <a:r>
              <a:rPr dirty="0" err="1"/>
              <a:t>necessita</a:t>
            </a:r>
            <a:r>
              <a:rPr dirty="0"/>
              <a:t> e fare leva sui </a:t>
            </a:r>
            <a:r>
              <a:rPr dirty="0" err="1"/>
              <a:t>dati</a:t>
            </a:r>
            <a:r>
              <a:rPr dirty="0"/>
              <a:t> IoT (</a:t>
            </a:r>
            <a:r>
              <a:rPr dirty="0" err="1"/>
              <a:t>calore</a:t>
            </a:r>
            <a:r>
              <a:rPr dirty="0"/>
              <a:t>, </a:t>
            </a:r>
            <a:r>
              <a:rPr dirty="0" err="1"/>
              <a:t>vibrazioni</a:t>
            </a:r>
            <a:r>
              <a:rPr dirty="0"/>
              <a:t>, </a:t>
            </a:r>
            <a:r>
              <a:rPr dirty="0" err="1"/>
              <a:t>ecc</a:t>
            </a:r>
            <a:r>
              <a:rPr dirty="0"/>
              <a:t>.) la </a:t>
            </a:r>
            <a:r>
              <a:rPr dirty="0" err="1"/>
              <a:t>soluzione</a:t>
            </a:r>
            <a:r>
              <a:rPr dirty="0"/>
              <a:t> e Maximo Monitor. Le </a:t>
            </a:r>
            <a:r>
              <a:rPr dirty="0" err="1"/>
              <a:t>tre</a:t>
            </a:r>
            <a:r>
              <a:rPr dirty="0"/>
              <a:t> </a:t>
            </a:r>
            <a:r>
              <a:rPr dirty="0" err="1"/>
              <a:t>soluzioni</a:t>
            </a:r>
            <a:r>
              <a:rPr dirty="0"/>
              <a:t> </a:t>
            </a:r>
            <a:r>
              <a:rPr dirty="0" err="1"/>
              <a:t>collaborano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perimetro</a:t>
            </a:r>
            <a:r>
              <a:rPr dirty="0"/>
              <a:t> IBM Asset Lifecycle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l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678245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650644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l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063331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249162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modules-utility-bill-analytics</a:t>
            </a:r>
            <a:endParaRPr/>
          </a:p>
          <a:p>
            <a:r>
              <a:t>https://www.ibm.com/</a:t>
            </a:r>
            <a:r>
              <a:rPr lang="it-IT"/>
              <a:t>docs</a:t>
            </a:r>
            <a:r>
              <a:t>/</a:t>
            </a:r>
            <a:r>
              <a:rPr lang="it-IT"/>
              <a:t>en</a:t>
            </a:r>
            <a:r>
              <a:t>/</a:t>
            </a:r>
            <a:r>
              <a:rPr lang="it-IT"/>
              <a:t>envizi-esg-suite?topic=reference-utility-bill-analytics</a:t>
            </a:r>
            <a:endParaRPr/>
          </a:p>
          <a:p>
            <a:r>
              <a:t>https://www.ibm.com/docs/en/envizi-esg-suite?topic=</a:t>
            </a:r>
            <a:r>
              <a:rPr lang="it-IT"/>
              <a:t>modules-interval-metering-analytics</a:t>
            </a:r>
            <a:endParaRPr/>
          </a:p>
          <a:p>
            <a:r>
              <a:t>https://www.ibm.com/</a:t>
            </a:r>
            <a:r>
              <a:rPr lang="it-IT"/>
              <a:t>products</a:t>
            </a:r>
            <a:r>
              <a:t>/</a:t>
            </a:r>
            <a:r>
              <a:rPr lang="it-IT"/>
              <a:t>envizi</a:t>
            </a:r>
            <a:r>
              <a:t>/</a:t>
            </a:r>
            <a:r>
              <a:rPr lang="it-IT"/>
              <a:t>interval-meter-analytics</a:t>
            </a:r>
          </a:p>
          <a:p>
            <a:r>
              <a:rPr lang="it-IT"/>
              <a:t>https://www.ibm.com/docs/en/envizi-esg-suite?topic=analytics-configuring-meter-alert-rules</a:t>
            </a:r>
          </a:p>
          <a:p>
            <a:r>
              <a:rPr lang="it-IT"/>
              <a:t>https://www.ibm.com/docs/en/envizi-esg-suite?topic=quality-account-inactivity-alerts</a:t>
            </a:r>
            <a:endParaRPr/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  <a:endParaRPr lang="it-IT"/>
          </a:p>
          <a:p>
            <a:r>
              <a:rPr lang="it-IT"/>
              <a:t>Alfago è un caso simulato, come specificato nel capitolo. I livelli 1–3 sono una struttura didattica della demo. La disponibilità dipende dai moduli e dalla configurazione. Le anomalie segnalano condizioni da indagare e non dimostrano automaticamente cause o risparmi. Gli alert di inattività sono disponibili anche per gli account secondo la documentazione IBM.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half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21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9549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4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0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6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80222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375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  <p:sldLayoutId id="2147483674" r:id="rId13"/>
    <p:sldLayoutId id="2147483675" r:id="rId14"/>
    <p:sldLayoutId id="214748368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quality-account-inactivity-alerts" TargetMode="External"/><Relationship Id="rId3" Type="http://schemas.openxmlformats.org/officeDocument/2006/relationships/hyperlink" Target="https://www.ibm.com/docs/en/envizi-esg-suite?topic=modules-utility-bill-analytics" TargetMode="External"/><Relationship Id="rId7" Type="http://schemas.openxmlformats.org/officeDocument/2006/relationships/hyperlink" Target="https://www.ibm.com/docs/en/envizi-esg-suite?topic=analytics-configuring-meter-alert-rule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ibm.com/products/envizi/interval-meter-analytics" TargetMode="External"/><Relationship Id="rId5" Type="http://schemas.openxmlformats.org/officeDocument/2006/relationships/hyperlink" Target="https://www.ibm.com/docs/en/envizi-esg-suite?topic=modules-interval-metering-analytics" TargetMode="External"/><Relationship Id="rId4" Type="http://schemas.openxmlformats.org/officeDocument/2006/relationships/hyperlink" Target="https://www.ibm.com/docs/en/envizi-esg-suite?topic=reference-utility-bill-analytics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defTabSz="914141">
              <a:defRPr sz="3675" b="0">
                <a:solidFill>
                  <a:srgbClr val="073E31"/>
                </a:solidFill>
              </a:defRPr>
            </a:pPr>
            <a:r>
              <a:rPr lang="it-IT" sz="2400" dirty="0">
                <a:solidFill>
                  <a:srgbClr val="073E31"/>
                </a:solidFill>
                <a:latin typeface="IBM Plex Sans Light"/>
              </a:rPr>
              <a:t>Trasformare i dati energetici in decisioni migliori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presenta il percorso di Energy Management in IBM Envizi: dalla base dati per consumi ed emissioni all’analisi delle bollette e dei contatori, attraverso il caso dimostrativo Alfago.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distinguere base dati ESG, Utility Bill Analytics e Interval Meter Analytics</a:t>
            </a:r>
          </a:p>
          <a:p>
            <a:pPr lvl="0">
              <a:lnSpc>
                <a:spcPct val="150000"/>
              </a:lnSpc>
            </a:pPr>
            <a:r>
              <a:rPr lang="en-US"/>
              <a:t>leggere consumi, costi ed emissioni e confrontare KPI omogenei</a:t>
            </a:r>
          </a:p>
          <a:p>
            <a:pPr lvl="0">
              <a:lnSpc>
                <a:spcPct val="150000"/>
              </a:lnSpc>
            </a:pPr>
            <a:r>
              <a:rPr lang="en-US"/>
              <a:t>individuare scostamenti nelle bollette e nei profili di carico da approfondire</a:t>
            </a:r>
          </a:p>
          <a:p>
            <a:pPr lvl="0">
              <a:lnSpc>
                <a:spcPct val="150000"/>
              </a:lnSpc>
            </a:pPr>
            <a:r>
              <a:rPr lang="en-US"/>
              <a:t>comprendere baseline, regressioni e controlli sulla qualità del dato</a:t>
            </a:r>
          </a:p>
          <a:p>
            <a:pPr lvl="0">
              <a:lnSpc>
                <a:spcPct val="150000"/>
              </a:lnSpc>
            </a:pPr>
            <a:r>
              <a:rPr lang="en-US"/>
              <a:t>usare alert e analisi per definire priorità e monitorare gli interventi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Caso Alfago: contesto simulato, ruoli e principali casi d’uso</a:t>
            </a:r>
          </a:p>
          <a:p>
            <a:pPr lvl="0">
              <a:lnSpc>
                <a:spcPct val="150000"/>
              </a:lnSpc>
            </a:pPr>
            <a:r>
              <a:rPr lang="en-US"/>
              <a:t>Livello 1: dati energetici, emissioni Scope 1 e 2 e KPI di intensità</a:t>
            </a:r>
          </a:p>
          <a:p>
            <a:pPr lvl="0">
              <a:lnSpc>
                <a:spcPct val="150000"/>
              </a:lnSpc>
            </a:pPr>
            <a:r>
              <a:rPr lang="en-US"/>
              <a:t>Livello 2: Utility Bill Analytics e analisi di costi e consumi</a:t>
            </a:r>
          </a:p>
          <a:p>
            <a:pPr lvl="0">
              <a:lnSpc>
                <a:spcPct val="150000"/>
              </a:lnSpc>
            </a:pPr>
            <a:r>
              <a:rPr lang="en-US"/>
              <a:t>Livello 3: Interval Meter Analytics e profili di carico</a:t>
            </a:r>
          </a:p>
          <a:p>
            <a:pPr lvl="0">
              <a:lnSpc>
                <a:spcPct val="150000"/>
              </a:lnSpc>
            </a:pPr>
            <a:r>
              <a:rPr lang="en-US"/>
              <a:t>Confronto tra consumi fatturati e misurati, gerarchie e contatori virtuali</a:t>
            </a:r>
          </a:p>
          <a:p>
            <a:pPr lvl="0">
              <a:lnSpc>
                <a:spcPct val="150000"/>
              </a:lnSpc>
            </a:pPr>
            <a:r>
              <a:rPr lang="en-US"/>
              <a:t>Baseline, regressioni e monitoraggio dei risultati</a:t>
            </a:r>
          </a:p>
          <a:p>
            <a:pPr lvl="0">
              <a:lnSpc>
                <a:spcPct val="150000"/>
              </a:lnSpc>
            </a:pPr>
            <a:r>
              <a:rPr lang="en-US"/>
              <a:t>Regole di alert, issue e controlli sulla completezza dei dati</a:t>
            </a:r>
          </a:p>
          <a:p>
            <a:pPr lvl="0">
              <a:lnSpc>
                <a:spcPct val="150000"/>
              </a:lnSpc>
            </a:pPr>
            <a:r>
              <a:rPr lang="en-US"/>
              <a:t>Benchmark degli edifici, programmi e iniziative di decarbonizzazione</a:t>
            </a:r>
          </a:p>
          <a:p>
            <a:r>
              <a:rPr lang="en-US"/>
              <a:t>Approfondimenti su energia rinnovabile e riferimenti IBM</a:t>
            </a:r>
          </a:p>
          <a:p>
            <a:endParaRPr lang="en-US"/>
          </a:p>
          <a:p>
            <a:r>
              <a:rPr lang="en-US" b="1"/>
              <a:t>Alfago è un caso simulato. Moduli, dati e configurazione determinano le analisi disponibili. Gli scostamenti richiedono verifica delle cause.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Metodo di lettura delle dashboard</a:t>
            </a:r>
          </a:p>
          <a:p>
            <a:endParaRPr lang="en-US" b="1"/>
          </a:p>
          <a:p>
            <a:r>
              <a:rPr lang="en-US"/>
              <a:t>Le dashboard aiutano a individuare anomalie e priorità. L’interpretazione richiede dati completi, periodi confrontabili e informazioni sul funzionamento di sedi e impianti.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Prima di proporre un intervento:</a:t>
            </a:r>
          </a:p>
          <a:p>
            <a:endParaRPr lang="en-US" b="1"/>
          </a:p>
          <a:p>
            <a:pPr lvl="0"/>
            <a:r>
              <a:rPr lang="en-US"/>
              <a:t>verificare copertura temporale, unità di misura e perimetro dei dati</a:t>
            </a:r>
          </a:p>
          <a:p>
            <a:pPr lvl="0">
              <a:lnSpc>
                <a:spcPct val="150000"/>
              </a:lnSpc>
            </a:pPr>
            <a:r>
              <a:rPr lang="en-US"/>
              <a:t>confrontare sedi omogenee e KPI coerenti con l’attività</a:t>
            </a:r>
          </a:p>
          <a:p>
            <a:pPr lvl="0">
              <a:lnSpc>
                <a:spcPct val="150000"/>
              </a:lnSpc>
            </a:pPr>
            <a:r>
              <a:rPr lang="en-US"/>
              <a:t>distinguere gli effetti di consumi, prezzi, meteo e volumi produttivi</a:t>
            </a:r>
          </a:p>
          <a:p>
            <a:pPr lvl="0">
              <a:lnSpc>
                <a:spcPct val="150000"/>
              </a:lnSpc>
            </a:pPr>
            <a:r>
              <a:rPr lang="en-US"/>
              <a:t>approfondire gli scostamenti senza attribuirne automaticamente la causa</a:t>
            </a:r>
          </a:p>
          <a:p>
            <a:pPr lvl="0">
              <a:lnSpc>
                <a:spcPct val="150000"/>
              </a:lnSpc>
            </a:pPr>
            <a:r>
              <a:rPr lang="en-US"/>
              <a:t>misurare i risultati rispetto a una baseline adeguata e documentata</a:t>
            </a:r>
          </a:p>
        </p:txBody>
      </p:sp>
    </p:spTree>
    <p:extLst>
      <p:ext uri="{BB962C8B-B14F-4D97-AF65-F5344CB8AC3E}">
        <p14:creationId xmlns:p14="http://schemas.microsoft.com/office/powerpoint/2010/main" val="167458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984" y="273290"/>
            <a:ext cx="111521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7"/>
            <a:r>
              <a:rPr lang="en-US" sz="2400" b="1" dirty="0" err="1">
                <a:solidFill>
                  <a:prstClr val="black"/>
                </a:solidFill>
                <a:latin typeface="Aptos" panose="02110004020202020204"/>
              </a:rPr>
              <a:t>Contenuti</a:t>
            </a:r>
            <a:endParaRPr lang="en-US" sz="2400" b="1" dirty="0">
              <a:solidFill>
                <a:prstClr val="black"/>
              </a:solidFill>
              <a:latin typeface="Aptos" panose="02110004020202020204"/>
            </a:endParaRPr>
          </a:p>
          <a:p>
            <a:pPr defTabSz="914217"/>
            <a:endParaRPr lang="en-US" sz="2400" b="1" dirty="0">
              <a:solidFill>
                <a:prstClr val="black"/>
              </a:solidFill>
              <a:latin typeface="Aptos" panose="02110004020202020204"/>
            </a:endParaRPr>
          </a:p>
          <a:p>
            <a:pPr defTabSz="914217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Dashboard operative, report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direzionali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e KPI ESG</a:t>
            </a:r>
          </a:p>
          <a:p>
            <a:pPr defTabSz="914217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Report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preconfigurati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e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disponibilità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in base ai moduli</a:t>
            </a:r>
          </a:p>
          <a:p>
            <a:pPr defTabSz="914217">
              <a:lnSpc>
                <a:spcPct val="150000"/>
              </a:lnSpc>
            </a:pP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PowerReports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e Microsoft Power BI Embedded</a:t>
            </a:r>
          </a:p>
          <a:p>
            <a:pPr defTabSz="914217">
              <a:lnSpc>
                <a:spcPct val="150000"/>
              </a:lnSpc>
            </a:pP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Personalizzazione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delle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viste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e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dei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report</a:t>
            </a:r>
          </a:p>
          <a:p>
            <a:pPr defTabSz="914217">
              <a:lnSpc>
                <a:spcPct val="150000"/>
              </a:lnSpc>
            </a:pP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Calcolo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della carbon footprint e IBM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Envizi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GHG Engine</a:t>
            </a:r>
          </a:p>
          <a:p>
            <a:pPr defTabSz="914217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Dati di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attività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e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metodologie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per Scope 1, 2 e 3</a:t>
            </a:r>
          </a:p>
          <a:p>
            <a:pPr defTabSz="914217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Fattori di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emissione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gestiti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e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fattori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personalizzati</a:t>
            </a: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defTabSz="914217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Riconoscimenti di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mercato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presentati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nel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capitolo</a:t>
            </a:r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defTabSz="914217"/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Riferimenti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alla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documentazione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ufficiale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IBM</a:t>
            </a:r>
          </a:p>
          <a:p>
            <a:pPr defTabSz="914217"/>
            <a:endParaRPr lang="en-US" dirty="0">
              <a:solidFill>
                <a:prstClr val="black"/>
              </a:solidFill>
              <a:latin typeface="Aptos" panose="02110004020202020204"/>
            </a:endParaRPr>
          </a:p>
          <a:p>
            <a:pPr defTabSz="914217"/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Report e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funzionalità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disponibili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dipendono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dai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moduli e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dai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permessi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. La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modifica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dei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PowerReports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richiede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il Work Role </a:t>
            </a:r>
            <a:r>
              <a:rPr lang="en-US" b="1" dirty="0" err="1">
                <a:solidFill>
                  <a:prstClr val="black"/>
                </a:solidFill>
                <a:latin typeface="Aptos" panose="02110004020202020204"/>
              </a:rPr>
              <a:t>PowerReport</a:t>
            </a: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 Edit.</a:t>
            </a:r>
            <a:endParaRPr lang="it-IT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37151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63E31C7-BA8F-BB76-56D9-49BCBB18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087" y="1416107"/>
            <a:ext cx="2683858" cy="4025786"/>
          </a:xfrm>
          <a:prstGeom prst="rect">
            <a:avLst/>
          </a:prstGeom>
        </p:spPr>
      </p:pic>
      <p:sp>
        <p:nvSpPr>
          <p:cNvPr id="6" name="Testo originale sotto il titolo">
            <a:extLst>
              <a:ext uri="{FF2B5EF4-FFF2-40B4-BE49-F238E27FC236}">
                <a16:creationId xmlns:a16="http://schemas.microsoft.com/office/drawing/2014/main" id="{A77CB10D-57E3-41AC-828F-FF2A031B4891}"/>
              </a:ext>
            </a:extLst>
          </p:cNvPr>
          <p:cNvSpPr txBox="1"/>
          <p:nvPr/>
        </p:nvSpPr>
        <p:spPr>
          <a:xfrm>
            <a:off x="531666" y="1006156"/>
            <a:ext cx="87987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7">
              <a:defRPr/>
            </a:pPr>
            <a:r>
              <a:rPr lang="it-IT" sz="2400" b="1" dirty="0">
                <a:solidFill>
                  <a:srgbClr val="000000"/>
                </a:solidFill>
                <a:latin typeface="Calibri"/>
                <a:cs typeface="Calibri"/>
              </a:rPr>
              <a:t>Utenti Management / ESG Manager: View </a:t>
            </a:r>
            <a:r>
              <a:rPr lang="it-IT" sz="2400" b="1" dirty="0" err="1">
                <a:solidFill>
                  <a:srgbClr val="000000"/>
                </a:solidFill>
                <a:latin typeface="Calibri"/>
                <a:cs typeface="Calibri"/>
              </a:rPr>
              <a:t>only</a:t>
            </a:r>
            <a:r>
              <a:rPr lang="it-IT" sz="2400" b="1" dirty="0">
                <a:solidFill>
                  <a:srgbClr val="000000"/>
                </a:solidFill>
                <a:latin typeface="Calibri"/>
                <a:cs typeface="Calibri"/>
              </a:rPr>
              <a:t> Users /  General Users </a:t>
            </a:r>
            <a:endParaRPr lang="it-IT" sz="2400" dirty="0">
              <a:solidFill>
                <a:srgbClr val="000000"/>
              </a:solidFill>
              <a:latin typeface="Calibri"/>
              <a:cs typeface="Calibri"/>
            </a:endParaRPr>
          </a:p>
          <a:p>
            <a:pPr defTabSz="914217">
              <a:defRPr/>
            </a:pPr>
            <a:endParaRPr lang="it-IT" sz="24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 defTabSz="914217">
              <a:defRPr/>
            </a:pPr>
            <a:endParaRPr lang="it-IT" sz="24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342831" indent="-342831" defTabSz="914217"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solidFill>
                  <a:srgbClr val="000000"/>
                </a:solidFill>
                <a:latin typeface="Calibri"/>
                <a:cs typeface="Calibri"/>
              </a:rPr>
              <a:t>Soddisfare gli obblighi di reporting</a:t>
            </a:r>
          </a:p>
          <a:p>
            <a:pPr marL="342831" indent="-342831" defTabSz="914217"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solidFill>
                  <a:srgbClr val="000000"/>
                </a:solidFill>
                <a:latin typeface="Calibri"/>
                <a:cs typeface="Calibri"/>
              </a:rPr>
              <a:t>Individuare inefficienze</a:t>
            </a:r>
          </a:p>
          <a:p>
            <a:pPr marL="342831" indent="-342831" defTabSz="914217"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solidFill>
                  <a:srgbClr val="000000"/>
                </a:solidFill>
                <a:latin typeface="Calibri"/>
                <a:cs typeface="Calibri"/>
              </a:rPr>
              <a:t>Monitorare gli obiettivi ESG</a:t>
            </a:r>
          </a:p>
          <a:p>
            <a:pPr marL="342831" indent="-342831" defTabSz="914217"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solidFill>
                  <a:srgbClr val="000000"/>
                </a:solidFill>
                <a:latin typeface="Calibri"/>
                <a:cs typeface="Calibri"/>
              </a:rPr>
              <a:t>Misurare i risultati delle azioni intraprese</a:t>
            </a:r>
          </a:p>
          <a:p>
            <a:pPr marL="342831" indent="-342831" defTabSz="914217"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solidFill>
                  <a:srgbClr val="000000"/>
                </a:solidFill>
                <a:latin typeface="Calibri"/>
                <a:cs typeface="Calibri"/>
              </a:rPr>
              <a:t>Guidare iniziative di miglioramento continuo</a:t>
            </a: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790" y="274731"/>
            <a:ext cx="1005709" cy="7314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defTabSz="914217"/>
            <a:endParaRPr lang="it-IT" sz="9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77CB10D-57E3-41AC-828F-FF2A031B4891}"/>
              </a:ext>
            </a:extLst>
          </p:cNvPr>
          <p:cNvSpPr txBox="1"/>
          <p:nvPr/>
        </p:nvSpPr>
        <p:spPr>
          <a:xfrm>
            <a:off x="640790" y="457587"/>
            <a:ext cx="1090737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914217">
              <a:spcAft>
                <a:spcPts val="500"/>
              </a:spcAft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  <a:cs typeface="Calibri"/>
              </a:rPr>
              <a:t>8. Analisi e miglioramento continuo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822A208A-18C2-DD89-01ED-B61C2882CE5E}"/>
              </a:ext>
            </a:extLst>
          </p:cNvPr>
          <p:cNvSpPr/>
          <p:nvPr/>
        </p:nvSpPr>
        <p:spPr>
          <a:xfrm>
            <a:off x="10417017" y="178931"/>
            <a:ext cx="1005710" cy="9674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r>
              <a:rPr lang="it-IT" sz="2799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6837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 txBox="1"/>
          <p:nvPr/>
        </p:nvSpPr>
        <p:spPr>
          <a:xfrm>
            <a:off x="457934" y="470385"/>
            <a:ext cx="6841909" cy="1999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200" b="1" dirty="0">
                <a:solidFill>
                  <a:srgbClr val="0F62FE"/>
                </a:solidFill>
                <a:latin typeface="IBM Plex Sans"/>
              </a:rPr>
              <a:t>PERCHÉ QUESTO DOCUMENTO</a:t>
            </a:r>
          </a:p>
        </p:txBody>
      </p:sp>
      <p:sp>
        <p:nvSpPr>
          <p:cNvPr id="31" name="Lead"/>
          <p:cNvSpPr txBox="1"/>
          <p:nvPr/>
        </p:nvSpPr>
        <p:spPr>
          <a:xfrm>
            <a:off x="457934" y="800342"/>
            <a:ext cx="6841909" cy="9998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2000" b="1" dirty="0">
                <a:solidFill>
                  <a:srgbClr val="161616"/>
                </a:solidFill>
                <a:latin typeface="IBM Plex Sans"/>
              </a:rPr>
              <a:t>Le imprese non cercano solo dati energetici, ma strumenti per decidere più in fretta e ridurre i rischi operativi.</a:t>
            </a:r>
          </a:p>
        </p:txBody>
      </p:sp>
      <p:sp>
        <p:nvSpPr>
          <p:cNvPr id="32" name="Rule"/>
          <p:cNvSpPr/>
          <p:nvPr/>
        </p:nvSpPr>
        <p:spPr>
          <a:xfrm>
            <a:off x="457934" y="1960191"/>
            <a:ext cx="6841909" cy="12698"/>
          </a:xfrm>
          <a:prstGeom prst="rect">
            <a:avLst/>
          </a:prstGeom>
          <a:solidFill>
            <a:srgbClr val="C6C6C6"/>
          </a:solidFill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0" name="Card1"/>
          <p:cNvSpPr/>
          <p:nvPr/>
        </p:nvSpPr>
        <p:spPr>
          <a:xfrm>
            <a:off x="457934" y="2220157"/>
            <a:ext cx="3299570" cy="209972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" name="Accent1"/>
          <p:cNvSpPr/>
          <p:nvPr/>
        </p:nvSpPr>
        <p:spPr>
          <a:xfrm>
            <a:off x="457934" y="2220157"/>
            <a:ext cx="59992" cy="209972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2" name="CardTxt1"/>
          <p:cNvSpPr txBox="1"/>
          <p:nvPr/>
        </p:nvSpPr>
        <p:spPr>
          <a:xfrm>
            <a:off x="757895" y="2480124"/>
            <a:ext cx="2739643" cy="163978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Energia come leva di competitività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L’energia è tra le principali voci di costo: ridurre consumi ed emissioni è una priorità del management.</a:t>
            </a:r>
          </a:p>
        </p:txBody>
      </p:sp>
      <p:sp>
        <p:nvSpPr>
          <p:cNvPr id="43" name="Card2"/>
          <p:cNvSpPr/>
          <p:nvPr/>
        </p:nvSpPr>
        <p:spPr>
          <a:xfrm>
            <a:off x="4000273" y="2220157"/>
            <a:ext cx="3299570" cy="209972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" name="Accent2"/>
          <p:cNvSpPr/>
          <p:nvPr/>
        </p:nvSpPr>
        <p:spPr>
          <a:xfrm>
            <a:off x="4000273" y="2220157"/>
            <a:ext cx="59992" cy="209972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5" name="CardTxt2"/>
          <p:cNvSpPr txBox="1"/>
          <p:nvPr/>
        </p:nvSpPr>
        <p:spPr>
          <a:xfrm>
            <a:off x="4300234" y="2480124"/>
            <a:ext cx="2739643" cy="163978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>
                <a:solidFill>
                  <a:srgbClr val="161616"/>
                </a:solidFill>
                <a:latin typeface="IBM Plex Sans"/>
              </a:rPr>
              <a:t>Decisioni basate sui dati</a:t>
            </a:r>
          </a:p>
          <a:p>
            <a:pPr defTabSz="914217">
              <a:spcBef>
                <a:spcPts val="600"/>
              </a:spcBef>
            </a:pPr>
            <a:r>
              <a:rPr lang="it-IT" sz="1600">
                <a:solidFill>
                  <a:srgbClr val="393939"/>
                </a:solidFill>
                <a:latin typeface="IBM Plex Sans"/>
              </a:rPr>
              <a:t>Energy e Sustainability Manager devono trasformare i dati in decisioni, report ESG e informazioni affidabili per banche, clienti e revisori.</a:t>
            </a:r>
          </a:p>
        </p:txBody>
      </p:sp>
      <p:sp>
        <p:nvSpPr>
          <p:cNvPr id="46" name="Card3"/>
          <p:cNvSpPr/>
          <p:nvPr/>
        </p:nvSpPr>
        <p:spPr>
          <a:xfrm>
            <a:off x="457934" y="4549854"/>
            <a:ext cx="3299570" cy="209972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7" name="Accent3"/>
          <p:cNvSpPr/>
          <p:nvPr/>
        </p:nvSpPr>
        <p:spPr>
          <a:xfrm>
            <a:off x="457934" y="4549854"/>
            <a:ext cx="59992" cy="209972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CardTxt3"/>
          <p:cNvSpPr txBox="1"/>
          <p:nvPr/>
        </p:nvSpPr>
        <p:spPr>
          <a:xfrm>
            <a:off x="757895" y="4809820"/>
            <a:ext cx="2739643" cy="163978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>
                <a:solidFill>
                  <a:srgbClr val="161616"/>
                </a:solidFill>
                <a:latin typeface="IBM Plex Sans"/>
              </a:rPr>
              <a:t>Dati distribuiti</a:t>
            </a:r>
          </a:p>
          <a:p>
            <a:pPr defTabSz="914217">
              <a:spcBef>
                <a:spcPts val="600"/>
              </a:spcBef>
            </a:pPr>
            <a:r>
              <a:rPr lang="it-IT" sz="1600">
                <a:solidFill>
                  <a:srgbClr val="393939"/>
                </a:solidFill>
                <a:latin typeface="IBM Plex Sans"/>
              </a:rPr>
              <a:t>Bollette, contatori, sistemi SCADA ed Excel producono dati frammentati, da consolidare e controllare.</a:t>
            </a:r>
          </a:p>
        </p:txBody>
      </p:sp>
      <p:sp>
        <p:nvSpPr>
          <p:cNvPr id="49" name="Card4"/>
          <p:cNvSpPr/>
          <p:nvPr/>
        </p:nvSpPr>
        <p:spPr>
          <a:xfrm>
            <a:off x="4000273" y="4549854"/>
            <a:ext cx="3299570" cy="209972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Accent4"/>
          <p:cNvSpPr/>
          <p:nvPr/>
        </p:nvSpPr>
        <p:spPr>
          <a:xfrm>
            <a:off x="4000273" y="4549854"/>
            <a:ext cx="59992" cy="209972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" name="CardTxt4"/>
          <p:cNvSpPr txBox="1"/>
          <p:nvPr/>
        </p:nvSpPr>
        <p:spPr>
          <a:xfrm>
            <a:off x="4300234" y="4809820"/>
            <a:ext cx="2739643" cy="163978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>
                <a:solidFill>
                  <a:srgbClr val="161616"/>
                </a:solidFill>
                <a:latin typeface="IBM Plex Sans"/>
              </a:rPr>
              <a:t>Obiettivo della demo</a:t>
            </a:r>
          </a:p>
          <a:p>
            <a:pPr defTabSz="914217">
              <a:spcBef>
                <a:spcPts val="600"/>
              </a:spcBef>
            </a:pPr>
            <a:r>
              <a:rPr lang="it-IT" sz="1600">
                <a:solidFill>
                  <a:srgbClr val="393939"/>
                </a:solidFill>
                <a:latin typeface="IBM Plex Sans"/>
              </a:rPr>
              <a:t>Mostrare come IBM Envizi integri dati energetici, indicatori ESG e analytics in un’unica piattaforma.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3DC0C4F-9492-5569-671B-95CED18BB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133" y="-2984"/>
            <a:ext cx="4593767" cy="689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48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 txBox="1"/>
          <p:nvPr/>
        </p:nvSpPr>
        <p:spPr>
          <a:xfrm>
            <a:off x="457934" y="470385"/>
            <a:ext cx="6841909" cy="1999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200" b="1" dirty="0">
                <a:solidFill>
                  <a:srgbClr val="0F62FE"/>
                </a:solidFill>
                <a:latin typeface="IBM Plex Sans"/>
              </a:rPr>
              <a:t>COME UTILIZZARE QUESTA GUIDA</a:t>
            </a:r>
          </a:p>
        </p:txBody>
      </p:sp>
      <p:sp>
        <p:nvSpPr>
          <p:cNvPr id="31" name="Lead"/>
          <p:cNvSpPr txBox="1"/>
          <p:nvPr/>
        </p:nvSpPr>
        <p:spPr>
          <a:xfrm>
            <a:off x="457934" y="800342"/>
            <a:ext cx="6841909" cy="10998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2000" b="1" dirty="0">
                <a:solidFill>
                  <a:srgbClr val="161616"/>
                </a:solidFill>
                <a:latin typeface="IBM Plex Sans"/>
              </a:rPr>
              <a:t>Una guida pratica alla sperimentazione di IBM Envizi Energy Management</a:t>
            </a:r>
          </a:p>
        </p:txBody>
      </p:sp>
      <p:sp>
        <p:nvSpPr>
          <p:cNvPr id="32" name="Rule"/>
          <p:cNvSpPr/>
          <p:nvPr/>
        </p:nvSpPr>
        <p:spPr>
          <a:xfrm>
            <a:off x="457934" y="1990188"/>
            <a:ext cx="6841909" cy="12698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0" name="Card0"/>
          <p:cNvSpPr/>
          <p:nvPr/>
        </p:nvSpPr>
        <p:spPr>
          <a:xfrm>
            <a:off x="457934" y="2120170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" name="Accent0"/>
          <p:cNvSpPr/>
          <p:nvPr/>
        </p:nvSpPr>
        <p:spPr>
          <a:xfrm>
            <a:off x="457934" y="2120170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2" name="CardTxt0"/>
          <p:cNvSpPr txBox="1"/>
          <p:nvPr/>
        </p:nvSpPr>
        <p:spPr>
          <a:xfrm>
            <a:off x="717900" y="2320144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Guida operativa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Un caso reale mostra come Envizi supporta l’Energy Management, dai dati alle decisioni.</a:t>
            </a:r>
          </a:p>
        </p:txBody>
      </p:sp>
      <p:sp>
        <p:nvSpPr>
          <p:cNvPr id="43" name="Card1"/>
          <p:cNvSpPr/>
          <p:nvPr/>
        </p:nvSpPr>
        <p:spPr>
          <a:xfrm>
            <a:off x="4000273" y="2120170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" name="Accent1"/>
          <p:cNvSpPr/>
          <p:nvPr/>
        </p:nvSpPr>
        <p:spPr>
          <a:xfrm>
            <a:off x="4000273" y="2120170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5" name="CardTxt1"/>
          <p:cNvSpPr txBox="1"/>
          <p:nvPr/>
        </p:nvSpPr>
        <p:spPr>
          <a:xfrm>
            <a:off x="4260239" y="2320144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Scenari concreti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Ogni dashboard è letta in uno scenario operativo, per capirne valore e utilizzo.</a:t>
            </a:r>
          </a:p>
        </p:txBody>
      </p:sp>
      <p:sp>
        <p:nvSpPr>
          <p:cNvPr id="46" name="Card2"/>
          <p:cNvSpPr/>
          <p:nvPr/>
        </p:nvSpPr>
        <p:spPr>
          <a:xfrm>
            <a:off x="457934" y="4519858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7" name="Accent2"/>
          <p:cNvSpPr/>
          <p:nvPr/>
        </p:nvSpPr>
        <p:spPr>
          <a:xfrm>
            <a:off x="457934" y="4519858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CardTxt2"/>
          <p:cNvSpPr txBox="1"/>
          <p:nvPr/>
        </p:nvSpPr>
        <p:spPr>
          <a:xfrm>
            <a:off x="717900" y="4719832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Come accedere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Dove trovare le informazioni e perché sono utili nel lavoro quotidiano.</a:t>
            </a:r>
          </a:p>
        </p:txBody>
      </p:sp>
      <p:sp>
        <p:nvSpPr>
          <p:cNvPr id="49" name="Card3"/>
          <p:cNvSpPr/>
          <p:nvPr/>
        </p:nvSpPr>
        <p:spPr>
          <a:xfrm>
            <a:off x="4000273" y="4519858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Accent3"/>
          <p:cNvSpPr/>
          <p:nvPr/>
        </p:nvSpPr>
        <p:spPr>
          <a:xfrm>
            <a:off x="4000273" y="4519858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" name="CardTxt3"/>
          <p:cNvSpPr txBox="1"/>
          <p:nvPr/>
        </p:nvSpPr>
        <p:spPr>
          <a:xfrm>
            <a:off x="4260239" y="4719832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Quale valore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Quali decisioni consente di prendere e quale valore genera per il business.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20D65F7-6009-9790-3EF6-2AFC3AFC3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894" y="1339"/>
            <a:ext cx="4583520" cy="687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410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 txBox="1"/>
          <p:nvPr/>
        </p:nvSpPr>
        <p:spPr>
          <a:xfrm>
            <a:off x="457934" y="470385"/>
            <a:ext cx="6841909" cy="1999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200" b="1" dirty="0">
                <a:solidFill>
                  <a:srgbClr val="0F62FE"/>
                </a:solidFill>
                <a:latin typeface="IBM Plex Sans"/>
              </a:rPr>
              <a:t>IL CASO ALFAGO</a:t>
            </a:r>
          </a:p>
        </p:txBody>
      </p:sp>
      <p:sp>
        <p:nvSpPr>
          <p:cNvPr id="31" name="Lead"/>
          <p:cNvSpPr txBox="1"/>
          <p:nvPr/>
        </p:nvSpPr>
        <p:spPr>
          <a:xfrm>
            <a:off x="457934" y="800342"/>
            <a:ext cx="6841909" cy="10998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2000" b="1" dirty="0">
                <a:solidFill>
                  <a:srgbClr val="161616"/>
                </a:solidFill>
                <a:latin typeface="IBM Plex Sans"/>
              </a:rPr>
              <a:t>Un dataset realistico per dimostrare il valore di IBM Envizi</a:t>
            </a:r>
          </a:p>
        </p:txBody>
      </p:sp>
      <p:sp>
        <p:nvSpPr>
          <p:cNvPr id="32" name="Rule"/>
          <p:cNvSpPr/>
          <p:nvPr/>
        </p:nvSpPr>
        <p:spPr>
          <a:xfrm>
            <a:off x="457934" y="1990188"/>
            <a:ext cx="6841909" cy="12698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0" name="Card0"/>
          <p:cNvSpPr/>
          <p:nvPr/>
        </p:nvSpPr>
        <p:spPr>
          <a:xfrm>
            <a:off x="457934" y="2120170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" name="Accent0"/>
          <p:cNvSpPr/>
          <p:nvPr/>
        </p:nvSpPr>
        <p:spPr>
          <a:xfrm>
            <a:off x="457934" y="2120170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2" name="CardTxt0"/>
          <p:cNvSpPr txBox="1"/>
          <p:nvPr/>
        </p:nvSpPr>
        <p:spPr>
          <a:xfrm>
            <a:off x="717900" y="2320144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PMI simulata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Alfago è una PMI manifatturiera italiana costruita con dati rappresentativi e scenari realistici.</a:t>
            </a:r>
          </a:p>
        </p:txBody>
      </p:sp>
      <p:sp>
        <p:nvSpPr>
          <p:cNvPr id="43" name="Card1"/>
          <p:cNvSpPr/>
          <p:nvPr/>
        </p:nvSpPr>
        <p:spPr>
          <a:xfrm>
            <a:off x="4000273" y="2120170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" name="Accent1"/>
          <p:cNvSpPr/>
          <p:nvPr/>
        </p:nvSpPr>
        <p:spPr>
          <a:xfrm>
            <a:off x="4000273" y="2120170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5" name="CardTxt1"/>
          <p:cNvSpPr txBox="1"/>
          <p:nvPr/>
        </p:nvSpPr>
        <p:spPr>
          <a:xfrm>
            <a:off x="4260239" y="2320144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Cosa contiene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Consumi, contatori, bollette, emissioni, anomalie e iniziative di efficientamento.</a:t>
            </a:r>
          </a:p>
        </p:txBody>
      </p:sp>
      <p:sp>
        <p:nvSpPr>
          <p:cNvPr id="46" name="Card2"/>
          <p:cNvSpPr/>
          <p:nvPr/>
        </p:nvSpPr>
        <p:spPr>
          <a:xfrm>
            <a:off x="457934" y="4519858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7" name="Accent2"/>
          <p:cNvSpPr/>
          <p:nvPr/>
        </p:nvSpPr>
        <p:spPr>
          <a:xfrm>
            <a:off x="457934" y="4519858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CardTxt2"/>
          <p:cNvSpPr txBox="1"/>
          <p:nvPr/>
        </p:nvSpPr>
        <p:spPr>
          <a:xfrm>
            <a:off x="717900" y="4719832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Contesto reale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Situazioni tipiche di Energy, Facility e Sustainability Manager, con dati da interpretare.</a:t>
            </a:r>
          </a:p>
        </p:txBody>
      </p:sp>
      <p:sp>
        <p:nvSpPr>
          <p:cNvPr id="49" name="Card3"/>
          <p:cNvSpPr/>
          <p:nvPr/>
        </p:nvSpPr>
        <p:spPr>
          <a:xfrm>
            <a:off x="4000273" y="4519858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Accent3"/>
          <p:cNvSpPr/>
          <p:nvPr/>
        </p:nvSpPr>
        <p:spPr>
          <a:xfrm>
            <a:off x="4000273" y="4519858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" name="CardTxt3"/>
          <p:cNvSpPr txBox="1"/>
          <p:nvPr/>
        </p:nvSpPr>
        <p:spPr>
          <a:xfrm>
            <a:off x="4260239" y="4719832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Obiettivo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Non le funzionalità, ma come usare Envizi per ridurre costi ed emissioni.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E5D4515-5EF7-29DE-F4FB-F6853B675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612" y="1339"/>
            <a:ext cx="4571802" cy="68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DA6-94F0-91E9-F8C4-D56889BB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 txBox="1"/>
          <p:nvPr/>
        </p:nvSpPr>
        <p:spPr>
          <a:xfrm>
            <a:off x="457934" y="470385"/>
            <a:ext cx="6841909" cy="1999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200" b="1" dirty="0">
                <a:solidFill>
                  <a:srgbClr val="0F62FE"/>
                </a:solidFill>
                <a:latin typeface="IBM Plex Sans"/>
              </a:rPr>
              <a:t>IL CONTESTO OPERATIVO</a:t>
            </a:r>
          </a:p>
        </p:txBody>
      </p:sp>
      <p:sp>
        <p:nvSpPr>
          <p:cNvPr id="31" name="Lead"/>
          <p:cNvSpPr txBox="1"/>
          <p:nvPr/>
        </p:nvSpPr>
        <p:spPr>
          <a:xfrm>
            <a:off x="457934" y="800342"/>
            <a:ext cx="6841909" cy="10998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2000" b="1" dirty="0">
                <a:solidFill>
                  <a:srgbClr val="161616"/>
                </a:solidFill>
                <a:latin typeface="IBM Plex Sans"/>
              </a:rPr>
              <a:t>Alfago: una PMI manifatturiera italiana simulata, con dati realistici per le sfide dell’Energy Management.</a:t>
            </a:r>
          </a:p>
        </p:txBody>
      </p:sp>
      <p:sp>
        <p:nvSpPr>
          <p:cNvPr id="32" name="Rule"/>
          <p:cNvSpPr/>
          <p:nvPr/>
        </p:nvSpPr>
        <p:spPr>
          <a:xfrm>
            <a:off x="457934" y="1990188"/>
            <a:ext cx="6841909" cy="12698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3" name="Stat"/>
          <p:cNvSpPr txBox="1"/>
          <p:nvPr/>
        </p:nvSpPr>
        <p:spPr>
          <a:xfrm>
            <a:off x="487930" y="1640233"/>
            <a:ext cx="6841909" cy="1999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dirty="0">
                <a:solidFill>
                  <a:srgbClr val="525252"/>
                </a:solidFill>
                <a:latin typeface="IBM Plex Sans"/>
              </a:rPr>
              <a:t>30 M€ di fatturato (2025)   ·   260 dipendenti</a:t>
            </a:r>
          </a:p>
        </p:txBody>
      </p:sp>
      <p:sp>
        <p:nvSpPr>
          <p:cNvPr id="40" name="Card0"/>
          <p:cNvSpPr/>
          <p:nvPr/>
        </p:nvSpPr>
        <p:spPr>
          <a:xfrm>
            <a:off x="457934" y="2120170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" name="Accent0"/>
          <p:cNvSpPr/>
          <p:nvPr/>
        </p:nvSpPr>
        <p:spPr>
          <a:xfrm>
            <a:off x="457934" y="2120170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2" name="CardTxt0"/>
          <p:cNvSpPr txBox="1"/>
          <p:nvPr/>
        </p:nvSpPr>
        <p:spPr>
          <a:xfrm>
            <a:off x="717900" y="2320144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Energia come leva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Voce di costo rilevante e prezzi volatili: ridurre consumi ed emissioni è priorità del management.</a:t>
            </a:r>
          </a:p>
        </p:txBody>
      </p:sp>
      <p:sp>
        <p:nvSpPr>
          <p:cNvPr id="43" name="Card1"/>
          <p:cNvSpPr/>
          <p:nvPr/>
        </p:nvSpPr>
        <p:spPr>
          <a:xfrm>
            <a:off x="4000273" y="2120170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" name="Accent1"/>
          <p:cNvSpPr/>
          <p:nvPr/>
        </p:nvSpPr>
        <p:spPr>
          <a:xfrm>
            <a:off x="4000273" y="2120170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5" name="CardTxt1"/>
          <p:cNvSpPr txBox="1"/>
          <p:nvPr/>
        </p:nvSpPr>
        <p:spPr>
          <a:xfrm>
            <a:off x="4260239" y="2320144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Dati distribuiti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Bollette, contatori, SCADA ed Excel generano dati separati e difficili da usare.</a:t>
            </a:r>
          </a:p>
        </p:txBody>
      </p:sp>
      <p:sp>
        <p:nvSpPr>
          <p:cNvPr id="46" name="Card2"/>
          <p:cNvSpPr/>
          <p:nvPr/>
        </p:nvSpPr>
        <p:spPr>
          <a:xfrm>
            <a:off x="457934" y="4519858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7" name="Accent2"/>
          <p:cNvSpPr/>
          <p:nvPr/>
        </p:nvSpPr>
        <p:spPr>
          <a:xfrm>
            <a:off x="457934" y="4519858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CardTxt2"/>
          <p:cNvSpPr txBox="1"/>
          <p:nvPr/>
        </p:nvSpPr>
        <p:spPr>
          <a:xfrm>
            <a:off x="717900" y="4719832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Dati affidabili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Individuare inefficienze, sostenere investimenti e rispondere a banche, clienti e revisori.</a:t>
            </a:r>
          </a:p>
        </p:txBody>
      </p:sp>
      <p:sp>
        <p:nvSpPr>
          <p:cNvPr id="49" name="Card3"/>
          <p:cNvSpPr/>
          <p:nvPr/>
        </p:nvSpPr>
        <p:spPr>
          <a:xfrm>
            <a:off x="4000273" y="4519858"/>
            <a:ext cx="3299570" cy="229970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Accent3"/>
          <p:cNvSpPr/>
          <p:nvPr/>
        </p:nvSpPr>
        <p:spPr>
          <a:xfrm>
            <a:off x="4000273" y="4519858"/>
            <a:ext cx="59992" cy="2299701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" name="CardTxt3"/>
          <p:cNvSpPr txBox="1"/>
          <p:nvPr/>
        </p:nvSpPr>
        <p:spPr>
          <a:xfrm>
            <a:off x="4260239" y="4719832"/>
            <a:ext cx="2819633" cy="1979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Obiettivo demo</a:t>
            </a:r>
          </a:p>
          <a:p>
            <a:pPr defTabSz="914217">
              <a:spcBef>
                <a:spcPts val="6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Trasformare dati distribuiti in decisioni operative, efficientamento e decarbonizzazione.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7B774E1-3704-4F41-35F3-D8E0D2ED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597" y="0"/>
            <a:ext cx="4571405" cy="685710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1D4803D-8906-969F-3947-284CD0FB0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108" y="894"/>
            <a:ext cx="2595441" cy="97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3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4D3BCAD1-0E47-98F9-73EC-AF8A079EBC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"/>
          <a:stretch>
            <a:fillRect/>
          </a:stretch>
        </p:blipFill>
        <p:spPr>
          <a:xfrm>
            <a:off x="813" y="1728"/>
            <a:ext cx="12190393" cy="685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96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F5E9-3CD5-1D18-335E-0AD95B184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magine 33">
            <a:extLst>
              <a:ext uri="{FF2B5EF4-FFF2-40B4-BE49-F238E27FC236}">
                <a16:creationId xmlns:a16="http://schemas.microsoft.com/office/drawing/2014/main" id="{82DA7D2C-CF5B-E7E9-A664-821E3BD6B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"/>
          <a:stretch>
            <a:fillRect/>
          </a:stretch>
        </p:blipFill>
        <p:spPr>
          <a:xfrm>
            <a:off x="813" y="1728"/>
            <a:ext cx="12190393" cy="685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79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5C8B-6040-0C59-3993-7606E8EA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 txBox="1"/>
          <p:nvPr/>
        </p:nvSpPr>
        <p:spPr>
          <a:xfrm>
            <a:off x="457934" y="354489"/>
            <a:ext cx="6841909" cy="1999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200" b="1" dirty="0">
                <a:solidFill>
                  <a:srgbClr val="0F62FE"/>
                </a:solidFill>
                <a:latin typeface="IBM Plex Sans"/>
              </a:rPr>
              <a:t>ENERGY INTELLIGENCE</a:t>
            </a:r>
          </a:p>
        </p:txBody>
      </p:sp>
      <p:sp>
        <p:nvSpPr>
          <p:cNvPr id="31" name="Title"/>
          <p:cNvSpPr txBox="1"/>
          <p:nvPr/>
        </p:nvSpPr>
        <p:spPr>
          <a:xfrm>
            <a:off x="457934" y="631574"/>
            <a:ext cx="6841909" cy="6199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2000" b="1" dirty="0">
                <a:solidFill>
                  <a:srgbClr val="161616"/>
                </a:solidFill>
                <a:latin typeface="IBM Plex Sans"/>
              </a:rPr>
              <a:t>Chi prende decisioni con IBM Envizi Energy Management</a:t>
            </a:r>
          </a:p>
        </p:txBody>
      </p:sp>
      <p:sp>
        <p:nvSpPr>
          <p:cNvPr id="32" name="Sub"/>
          <p:cNvSpPr txBox="1"/>
          <p:nvPr/>
        </p:nvSpPr>
        <p:spPr>
          <a:xfrm>
            <a:off x="457934" y="1030159"/>
            <a:ext cx="7232575" cy="5199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Un’unica piattaforma che fornisce a ogni funzione aziendale le informazioni necessarie per prendere decisioni rapide, coordinate e basate su dati affidabili.</a:t>
            </a:r>
          </a:p>
        </p:txBody>
      </p:sp>
      <p:sp>
        <p:nvSpPr>
          <p:cNvPr id="33" name="Sectors"/>
          <p:cNvSpPr txBox="1"/>
          <p:nvPr/>
        </p:nvSpPr>
        <p:spPr>
          <a:xfrm>
            <a:off x="457934" y="1735220"/>
            <a:ext cx="6436555" cy="4999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dirty="0">
                <a:solidFill>
                  <a:srgbClr val="6F6F6F"/>
                </a:solidFill>
                <a:latin typeface="IBM Plex Sans"/>
              </a:rPr>
              <a:t>Settori: Manufacturing · Real Estate · Retail · Banking · Insurance - Healthcare · Higher Education · Data Center</a:t>
            </a:r>
          </a:p>
        </p:txBody>
      </p:sp>
      <p:sp>
        <p:nvSpPr>
          <p:cNvPr id="34" name="Rule"/>
          <p:cNvSpPr/>
          <p:nvPr/>
        </p:nvSpPr>
        <p:spPr>
          <a:xfrm>
            <a:off x="457934" y="2520119"/>
            <a:ext cx="6841909" cy="12698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0" name="Card0"/>
          <p:cNvSpPr/>
          <p:nvPr/>
        </p:nvSpPr>
        <p:spPr>
          <a:xfrm>
            <a:off x="457934" y="2450127"/>
            <a:ext cx="3299570" cy="209972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" name="Accent0"/>
          <p:cNvSpPr/>
          <p:nvPr/>
        </p:nvSpPr>
        <p:spPr>
          <a:xfrm>
            <a:off x="457934" y="2450127"/>
            <a:ext cx="59992" cy="209972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2" name="Txt0"/>
          <p:cNvSpPr txBox="1"/>
          <p:nvPr/>
        </p:nvSpPr>
        <p:spPr>
          <a:xfrm>
            <a:off x="576249" y="2620105"/>
            <a:ext cx="3224049" cy="17997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Decisioni Energy Manager</a:t>
            </a:r>
          </a:p>
          <a:p>
            <a:pPr defTabSz="914217">
              <a:spcBef>
                <a:spcPts val="400"/>
              </a:spcBef>
            </a:pPr>
            <a:r>
              <a:rPr lang="it-IT" sz="1600" dirty="0">
                <a:solidFill>
                  <a:srgbClr val="0F62FE"/>
                </a:solidFill>
                <a:latin typeface="IBM Plex Sans"/>
              </a:rPr>
              <a:t>Decisione Ridurre Consumi e costi</a:t>
            </a:r>
          </a:p>
          <a:p>
            <a:pPr defTabSz="914217">
              <a:spcBef>
                <a:spcPts val="400"/>
              </a:spcBef>
            </a:pPr>
            <a:endParaRPr lang="it-IT" sz="1600" dirty="0">
              <a:solidFill>
                <a:srgbClr val="0F62FE"/>
              </a:solidFill>
              <a:latin typeface="IBM Plex Sans"/>
            </a:endParaRP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Monitorare consumi e costi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Individuare sprechi e anomalie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Ottimizzare contratti energetici</a:t>
            </a:r>
          </a:p>
        </p:txBody>
      </p:sp>
      <p:sp>
        <p:nvSpPr>
          <p:cNvPr id="43" name="Card1"/>
          <p:cNvSpPr/>
          <p:nvPr/>
        </p:nvSpPr>
        <p:spPr>
          <a:xfrm>
            <a:off x="4000273" y="2450127"/>
            <a:ext cx="3299570" cy="209972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" name="Accent1"/>
          <p:cNvSpPr/>
          <p:nvPr/>
        </p:nvSpPr>
        <p:spPr>
          <a:xfrm>
            <a:off x="4000273" y="2450127"/>
            <a:ext cx="59992" cy="209972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5" name="Txt1"/>
          <p:cNvSpPr txBox="1"/>
          <p:nvPr/>
        </p:nvSpPr>
        <p:spPr>
          <a:xfrm>
            <a:off x="4122417" y="2620105"/>
            <a:ext cx="3239577" cy="17997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Decisioni Facility Manager</a:t>
            </a:r>
          </a:p>
          <a:p>
            <a:pPr defTabSz="914217">
              <a:spcBef>
                <a:spcPts val="400"/>
              </a:spcBef>
            </a:pPr>
            <a:r>
              <a:rPr lang="it-IT" sz="1600" dirty="0">
                <a:solidFill>
                  <a:srgbClr val="0F62FE"/>
                </a:solidFill>
                <a:latin typeface="IBM Plex Sans"/>
              </a:rPr>
              <a:t>Migliorare prestazioni degli edifici</a:t>
            </a:r>
          </a:p>
          <a:p>
            <a:pPr defTabSz="914217">
              <a:spcBef>
                <a:spcPts val="400"/>
              </a:spcBef>
            </a:pPr>
            <a:endParaRPr lang="it-IT" sz="1600" dirty="0">
              <a:solidFill>
                <a:srgbClr val="0F62FE"/>
              </a:solidFill>
              <a:latin typeface="IBM Plex Sans"/>
            </a:endParaRP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Confrontare sedi e impianti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Pianificare interventi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Ridurre i costi operativi</a:t>
            </a:r>
          </a:p>
        </p:txBody>
      </p:sp>
      <p:sp>
        <p:nvSpPr>
          <p:cNvPr id="46" name="Card2"/>
          <p:cNvSpPr/>
          <p:nvPr/>
        </p:nvSpPr>
        <p:spPr>
          <a:xfrm>
            <a:off x="457934" y="4639842"/>
            <a:ext cx="3299570" cy="209972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7" name="Accent2"/>
          <p:cNvSpPr/>
          <p:nvPr/>
        </p:nvSpPr>
        <p:spPr>
          <a:xfrm>
            <a:off x="457934" y="4639842"/>
            <a:ext cx="59992" cy="209972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Txt2"/>
          <p:cNvSpPr txBox="1"/>
          <p:nvPr/>
        </p:nvSpPr>
        <p:spPr>
          <a:xfrm>
            <a:off x="563372" y="4809820"/>
            <a:ext cx="3194132" cy="17997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Decisioni Operations Manager</a:t>
            </a:r>
          </a:p>
          <a:p>
            <a:pPr defTabSz="914217">
              <a:spcBef>
                <a:spcPts val="400"/>
              </a:spcBef>
            </a:pPr>
            <a:r>
              <a:rPr lang="it-IT" sz="1600" dirty="0">
                <a:solidFill>
                  <a:srgbClr val="0F62FE"/>
                </a:solidFill>
                <a:latin typeface="IBM Plex Sans"/>
              </a:rPr>
              <a:t>Aumentare Efficienza </a:t>
            </a:r>
          </a:p>
          <a:p>
            <a:pPr defTabSz="914217">
              <a:spcBef>
                <a:spcPts val="400"/>
              </a:spcBef>
            </a:pPr>
            <a:endParaRPr lang="it-IT" sz="1600" dirty="0">
              <a:solidFill>
                <a:srgbClr val="0F62FE"/>
              </a:solidFill>
              <a:latin typeface="IBM Plex Sans"/>
            </a:endParaRP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Individuare inefficienze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Monitorare KPI energetici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Misurare i risultati</a:t>
            </a:r>
          </a:p>
        </p:txBody>
      </p:sp>
      <p:sp>
        <p:nvSpPr>
          <p:cNvPr id="49" name="Card3"/>
          <p:cNvSpPr/>
          <p:nvPr/>
        </p:nvSpPr>
        <p:spPr>
          <a:xfrm>
            <a:off x="4000273" y="4639842"/>
            <a:ext cx="3299570" cy="209972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Accent3"/>
          <p:cNvSpPr/>
          <p:nvPr/>
        </p:nvSpPr>
        <p:spPr>
          <a:xfrm>
            <a:off x="4000273" y="4639842"/>
            <a:ext cx="59992" cy="209972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" name="Txt3"/>
          <p:cNvSpPr txBox="1"/>
          <p:nvPr/>
        </p:nvSpPr>
        <p:spPr>
          <a:xfrm>
            <a:off x="4096662" y="4809820"/>
            <a:ext cx="3151673" cy="17997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Decisioni </a:t>
            </a:r>
            <a:r>
              <a:rPr lang="it-IT" sz="1600" b="1" dirty="0" err="1">
                <a:solidFill>
                  <a:srgbClr val="161616"/>
                </a:solidFill>
                <a:latin typeface="IBM Plex Sans"/>
              </a:rPr>
              <a:t>Sustainability</a:t>
            </a:r>
            <a:r>
              <a:rPr lang="it-IT" sz="1600" b="1" dirty="0">
                <a:solidFill>
                  <a:srgbClr val="161616"/>
                </a:solidFill>
                <a:latin typeface="IBM Plex Sans"/>
              </a:rPr>
              <a:t> Manager</a:t>
            </a:r>
          </a:p>
          <a:p>
            <a:pPr defTabSz="914217">
              <a:spcBef>
                <a:spcPts val="400"/>
              </a:spcBef>
            </a:pPr>
            <a:r>
              <a:rPr lang="it-IT" sz="1600" dirty="0">
                <a:solidFill>
                  <a:srgbClr val="0F62FE"/>
                </a:solidFill>
                <a:latin typeface="IBM Plex Sans"/>
              </a:rPr>
              <a:t>ESG e decarbonizzazione</a:t>
            </a:r>
          </a:p>
          <a:p>
            <a:pPr defTabSz="914217">
              <a:spcBef>
                <a:spcPts val="400"/>
              </a:spcBef>
            </a:pPr>
            <a:endParaRPr lang="it-IT" sz="1600" dirty="0">
              <a:solidFill>
                <a:srgbClr val="0F62FE"/>
              </a:solidFill>
              <a:latin typeface="IBM Plex Sans"/>
            </a:endParaRP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Monitorare emissioni Scope 1–3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Predisporre report ESG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Aptos" panose="02110004020202020204"/>
              </a:rPr>
              <a:t>Supportare audit e stakeholder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EB647C5-8B44-DF4B-BBE3-0929E4604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509" y="447"/>
            <a:ext cx="4571405" cy="685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280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4" y="894"/>
            <a:ext cx="12190350" cy="68562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24"/>
            <a:endParaRPr sz="90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300" name="Eyebrow"/>
          <p:cNvSpPr txBox="1"/>
          <p:nvPr/>
        </p:nvSpPr>
        <p:spPr>
          <a:xfrm>
            <a:off x="467017" y="280410"/>
            <a:ext cx="9141620" cy="1999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200" b="1" dirty="0">
                <a:solidFill>
                  <a:srgbClr val="0F62FE"/>
                </a:solidFill>
                <a:latin typeface="IBM Plex Sans"/>
              </a:rPr>
              <a:t>PRINCIPALI USE CASE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467017" y="520379"/>
            <a:ext cx="10055781" cy="3299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900" b="1" dirty="0">
                <a:solidFill>
                  <a:srgbClr val="161616"/>
                </a:solidFill>
                <a:latin typeface="IBM Plex Sans"/>
              </a:rPr>
              <a:t>IBM Envizi Energy Management</a:t>
            </a:r>
          </a:p>
        </p:txBody>
      </p:sp>
      <p:sp>
        <p:nvSpPr>
          <p:cNvPr id="302" name="Sub"/>
          <p:cNvSpPr txBox="1"/>
          <p:nvPr/>
        </p:nvSpPr>
        <p:spPr>
          <a:xfrm>
            <a:off x="467017" y="880332"/>
            <a:ext cx="11257904" cy="229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>
                <a:solidFill>
                  <a:srgbClr val="393939"/>
                </a:solidFill>
                <a:latin typeface="IBM Plex Sans"/>
              </a:rPr>
              <a:t>Dalla raccolta dei dati alle decisioni operative: i principali casi d’uso per ridurre consumi, costi ed emissioni.</a:t>
            </a:r>
          </a:p>
        </p:txBody>
      </p:sp>
      <p:sp>
        <p:nvSpPr>
          <p:cNvPr id="400" name="Card0"/>
          <p:cNvSpPr/>
          <p:nvPr/>
        </p:nvSpPr>
        <p:spPr>
          <a:xfrm>
            <a:off x="467018" y="1110302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01" name="Accent0"/>
          <p:cNvSpPr/>
          <p:nvPr/>
        </p:nvSpPr>
        <p:spPr>
          <a:xfrm>
            <a:off x="467018" y="2800082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57" y="1220288"/>
            <a:ext cx="419945" cy="419945"/>
          </a:xfrm>
          <a:prstGeom prst="rect">
            <a:avLst/>
          </a:prstGeom>
        </p:spPr>
      </p:pic>
      <p:sp>
        <p:nvSpPr>
          <p:cNvPr id="402" name="Num0"/>
          <p:cNvSpPr txBox="1"/>
          <p:nvPr/>
        </p:nvSpPr>
        <p:spPr>
          <a:xfrm>
            <a:off x="1215490" y="1290279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01</a:t>
            </a:r>
          </a:p>
        </p:txBody>
      </p:sp>
      <p:sp>
        <p:nvSpPr>
          <p:cNvPr id="403" name="T0"/>
          <p:cNvSpPr txBox="1"/>
          <p:nvPr/>
        </p:nvSpPr>
        <p:spPr>
          <a:xfrm>
            <a:off x="695558" y="1650232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Raccogliere dati energetici affidabili</a:t>
            </a:r>
          </a:p>
        </p:txBody>
      </p:sp>
      <p:sp>
        <p:nvSpPr>
          <p:cNvPr id="405" name="D0"/>
          <p:cNvSpPr txBox="1"/>
          <p:nvPr/>
        </p:nvSpPr>
        <p:spPr>
          <a:xfrm>
            <a:off x="695558" y="2041391"/>
            <a:ext cx="3158430" cy="6499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dirty="0">
                <a:solidFill>
                  <a:srgbClr val="393939"/>
                </a:solidFill>
                <a:latin typeface="IBM Plex Sans"/>
              </a:rPr>
              <a:t>Centralizzare bollette, contatori e consumi in un’unica piattaforma, con dati verificabili.</a:t>
            </a:r>
          </a:p>
        </p:txBody>
      </p:sp>
      <p:sp>
        <p:nvSpPr>
          <p:cNvPr id="406" name="Card1"/>
          <p:cNvSpPr/>
          <p:nvPr/>
        </p:nvSpPr>
        <p:spPr>
          <a:xfrm>
            <a:off x="4288214" y="1110302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07" name="Accent1"/>
          <p:cNvSpPr/>
          <p:nvPr/>
        </p:nvSpPr>
        <p:spPr>
          <a:xfrm>
            <a:off x="4288214" y="2800082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754" y="1220288"/>
            <a:ext cx="419945" cy="419945"/>
          </a:xfrm>
          <a:prstGeom prst="rect">
            <a:avLst/>
          </a:prstGeom>
        </p:spPr>
      </p:pic>
      <p:sp>
        <p:nvSpPr>
          <p:cNvPr id="408" name="Num1"/>
          <p:cNvSpPr txBox="1"/>
          <p:nvPr/>
        </p:nvSpPr>
        <p:spPr>
          <a:xfrm>
            <a:off x="5036687" y="1290279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02</a:t>
            </a:r>
          </a:p>
        </p:txBody>
      </p:sp>
      <p:sp>
        <p:nvSpPr>
          <p:cNvPr id="409" name="T1"/>
          <p:cNvSpPr txBox="1"/>
          <p:nvPr/>
        </p:nvSpPr>
        <p:spPr>
          <a:xfrm>
            <a:off x="4516754" y="1650232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Individuare sprechi e anomalie</a:t>
            </a:r>
          </a:p>
        </p:txBody>
      </p:sp>
      <p:sp>
        <p:nvSpPr>
          <p:cNvPr id="411" name="D1"/>
          <p:cNvSpPr txBox="1"/>
          <p:nvPr/>
        </p:nvSpPr>
        <p:spPr>
          <a:xfrm>
            <a:off x="4516754" y="2041391"/>
            <a:ext cx="3158430" cy="6499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dirty="0">
                <a:solidFill>
                  <a:srgbClr val="393939"/>
                </a:solidFill>
                <a:latin typeface="IBM Plex Sans"/>
              </a:rPr>
              <a:t>Rilevare 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rapidamente consumi anomali, errori </a:t>
            </a:r>
            <a:r>
              <a:rPr lang="it-IT" sz="1400" dirty="0">
                <a:solidFill>
                  <a:srgbClr val="393939"/>
                </a:solidFill>
                <a:latin typeface="IBM Plex Sans"/>
              </a:rPr>
              <a:t>di misura 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e inefficienze</a:t>
            </a:r>
            <a:r>
              <a:rPr lang="it-IT" sz="1400" dirty="0">
                <a:solidFill>
                  <a:srgbClr val="393939"/>
                </a:solidFill>
                <a:latin typeface="IBM Plex Sans"/>
              </a:rPr>
              <a:t> energetiche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.</a:t>
            </a:r>
          </a:p>
        </p:txBody>
      </p:sp>
      <p:sp>
        <p:nvSpPr>
          <p:cNvPr id="412" name="Card2"/>
          <p:cNvSpPr/>
          <p:nvPr/>
        </p:nvSpPr>
        <p:spPr>
          <a:xfrm>
            <a:off x="8109410" y="1110302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3" name="Accent2"/>
          <p:cNvSpPr/>
          <p:nvPr/>
        </p:nvSpPr>
        <p:spPr>
          <a:xfrm>
            <a:off x="8109410" y="2800082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950" y="1220288"/>
            <a:ext cx="419945" cy="419945"/>
          </a:xfrm>
          <a:prstGeom prst="rect">
            <a:avLst/>
          </a:prstGeom>
        </p:spPr>
      </p:pic>
      <p:sp>
        <p:nvSpPr>
          <p:cNvPr id="414" name="Num2"/>
          <p:cNvSpPr txBox="1"/>
          <p:nvPr/>
        </p:nvSpPr>
        <p:spPr>
          <a:xfrm>
            <a:off x="8857883" y="1290279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03</a:t>
            </a:r>
          </a:p>
        </p:txBody>
      </p:sp>
      <p:sp>
        <p:nvSpPr>
          <p:cNvPr id="415" name="T2"/>
          <p:cNvSpPr txBox="1"/>
          <p:nvPr/>
        </p:nvSpPr>
        <p:spPr>
          <a:xfrm>
            <a:off x="8337950" y="1650232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Confrontare sedi e prestazioni</a:t>
            </a:r>
          </a:p>
        </p:txBody>
      </p:sp>
      <p:sp>
        <p:nvSpPr>
          <p:cNvPr id="417" name="D2"/>
          <p:cNvSpPr txBox="1"/>
          <p:nvPr/>
        </p:nvSpPr>
        <p:spPr>
          <a:xfrm>
            <a:off x="8337950" y="2041391"/>
            <a:ext cx="3158430" cy="6499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dirty="0">
                <a:solidFill>
                  <a:srgbClr val="393939"/>
                </a:solidFill>
                <a:latin typeface="IBM Plex Sans"/>
              </a:rPr>
              <a:t>Confrontare siti produttivi ed edifici per individuare 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le </a:t>
            </a:r>
            <a:r>
              <a:rPr lang="it-IT" sz="1400" dirty="0">
                <a:solidFill>
                  <a:srgbClr val="393939"/>
                </a:solidFill>
                <a:latin typeface="IBM Plex Sans"/>
              </a:rPr>
              <a:t>maggiori opportunità 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di </a:t>
            </a:r>
            <a:r>
              <a:rPr lang="it-IT" sz="1400" dirty="0">
                <a:solidFill>
                  <a:srgbClr val="393939"/>
                </a:solidFill>
                <a:latin typeface="IBM Plex Sans"/>
              </a:rPr>
              <a:t>miglioramento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.</a:t>
            </a:r>
          </a:p>
        </p:txBody>
      </p:sp>
      <p:sp>
        <p:nvSpPr>
          <p:cNvPr id="418" name="Card3"/>
          <p:cNvSpPr/>
          <p:nvPr/>
        </p:nvSpPr>
        <p:spPr>
          <a:xfrm>
            <a:off x="467018" y="2870073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9" name="Accent3"/>
          <p:cNvSpPr/>
          <p:nvPr/>
        </p:nvSpPr>
        <p:spPr>
          <a:xfrm>
            <a:off x="467018" y="4559853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557" y="2980059"/>
            <a:ext cx="419945" cy="419945"/>
          </a:xfrm>
          <a:prstGeom prst="rect">
            <a:avLst/>
          </a:prstGeom>
        </p:spPr>
      </p:pic>
      <p:sp>
        <p:nvSpPr>
          <p:cNvPr id="420" name="Num3"/>
          <p:cNvSpPr txBox="1"/>
          <p:nvPr/>
        </p:nvSpPr>
        <p:spPr>
          <a:xfrm>
            <a:off x="1215490" y="3050049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04</a:t>
            </a:r>
          </a:p>
        </p:txBody>
      </p:sp>
      <p:sp>
        <p:nvSpPr>
          <p:cNvPr id="421" name="T3"/>
          <p:cNvSpPr txBox="1"/>
          <p:nvPr/>
        </p:nvSpPr>
        <p:spPr>
          <a:xfrm>
            <a:off x="695558" y="3410002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Validare bollette e contatori</a:t>
            </a:r>
          </a:p>
        </p:txBody>
      </p:sp>
      <p:sp>
        <p:nvSpPr>
          <p:cNvPr id="423" name="D3"/>
          <p:cNvSpPr txBox="1"/>
          <p:nvPr/>
        </p:nvSpPr>
        <p:spPr>
          <a:xfrm>
            <a:off x="695558" y="3801162"/>
            <a:ext cx="3158430" cy="6499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dirty="0">
                <a:solidFill>
                  <a:srgbClr val="393939"/>
                </a:solidFill>
                <a:latin typeface="IBM Plex Sans"/>
              </a:rPr>
              <a:t>Verificare la coerenza tra consumi misurati, dati fatturati e informazioni di fornitura.</a:t>
            </a:r>
          </a:p>
        </p:txBody>
      </p:sp>
      <p:sp>
        <p:nvSpPr>
          <p:cNvPr id="424" name="Card4"/>
          <p:cNvSpPr/>
          <p:nvPr/>
        </p:nvSpPr>
        <p:spPr>
          <a:xfrm>
            <a:off x="4288214" y="2870073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25" name="Accent4"/>
          <p:cNvSpPr/>
          <p:nvPr/>
        </p:nvSpPr>
        <p:spPr>
          <a:xfrm>
            <a:off x="4288214" y="4559853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754" y="2980059"/>
            <a:ext cx="419945" cy="419945"/>
          </a:xfrm>
          <a:prstGeom prst="rect">
            <a:avLst/>
          </a:prstGeom>
        </p:spPr>
      </p:pic>
      <p:sp>
        <p:nvSpPr>
          <p:cNvPr id="426" name="Num4"/>
          <p:cNvSpPr txBox="1"/>
          <p:nvPr/>
        </p:nvSpPr>
        <p:spPr>
          <a:xfrm>
            <a:off x="5036687" y="3050049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05</a:t>
            </a:r>
          </a:p>
        </p:txBody>
      </p:sp>
      <p:sp>
        <p:nvSpPr>
          <p:cNvPr id="427" name="T4"/>
          <p:cNvSpPr txBox="1"/>
          <p:nvPr/>
        </p:nvSpPr>
        <p:spPr>
          <a:xfrm>
            <a:off x="4516754" y="3410002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Ottimizzare la domanda di potenza</a:t>
            </a:r>
          </a:p>
        </p:txBody>
      </p:sp>
      <p:sp>
        <p:nvSpPr>
          <p:cNvPr id="429" name="D4"/>
          <p:cNvSpPr txBox="1"/>
          <p:nvPr/>
        </p:nvSpPr>
        <p:spPr>
          <a:xfrm>
            <a:off x="4516754" y="3801162"/>
            <a:ext cx="3158430" cy="6499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>
                <a:solidFill>
                  <a:srgbClr val="393939"/>
                </a:solidFill>
                <a:latin typeface="IBM Plex Sans"/>
              </a:rPr>
              <a:t>Ridurre i picchi di domanda e ottimizzare i contratti </a:t>
            </a:r>
            <a:r>
              <a:rPr lang="it-IT" sz="1400" dirty="0">
                <a:solidFill>
                  <a:srgbClr val="393939"/>
                </a:solidFill>
                <a:latin typeface="IBM Plex Sans"/>
              </a:rPr>
              <a:t>di fornitura dell’energia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.</a:t>
            </a:r>
          </a:p>
        </p:txBody>
      </p:sp>
      <p:sp>
        <p:nvSpPr>
          <p:cNvPr id="430" name="Card5"/>
          <p:cNvSpPr/>
          <p:nvPr/>
        </p:nvSpPr>
        <p:spPr>
          <a:xfrm>
            <a:off x="8109410" y="2870073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31" name="Accent5"/>
          <p:cNvSpPr/>
          <p:nvPr/>
        </p:nvSpPr>
        <p:spPr>
          <a:xfrm>
            <a:off x="8109410" y="4559853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7950" y="2980059"/>
            <a:ext cx="419945" cy="419945"/>
          </a:xfrm>
          <a:prstGeom prst="rect">
            <a:avLst/>
          </a:prstGeom>
        </p:spPr>
      </p:pic>
      <p:sp>
        <p:nvSpPr>
          <p:cNvPr id="432" name="Num5"/>
          <p:cNvSpPr txBox="1"/>
          <p:nvPr/>
        </p:nvSpPr>
        <p:spPr>
          <a:xfrm>
            <a:off x="8857883" y="3050049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06</a:t>
            </a:r>
          </a:p>
        </p:txBody>
      </p:sp>
      <p:sp>
        <p:nvSpPr>
          <p:cNvPr id="433" name="T5"/>
          <p:cNvSpPr txBox="1"/>
          <p:nvPr/>
        </p:nvSpPr>
        <p:spPr>
          <a:xfrm>
            <a:off x="8337950" y="3410002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Valutare le performance nel tempo</a:t>
            </a:r>
          </a:p>
        </p:txBody>
      </p:sp>
      <p:sp>
        <p:nvSpPr>
          <p:cNvPr id="435" name="D5"/>
          <p:cNvSpPr txBox="1"/>
          <p:nvPr/>
        </p:nvSpPr>
        <p:spPr>
          <a:xfrm>
            <a:off x="8337950" y="3801162"/>
            <a:ext cx="3158430" cy="6499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>
                <a:solidFill>
                  <a:srgbClr val="393939"/>
                </a:solidFill>
                <a:latin typeface="IBM Plex Sans"/>
              </a:rPr>
              <a:t>Confrontare i consumi </a:t>
            </a:r>
            <a:r>
              <a:rPr lang="it-IT" sz="1400" dirty="0">
                <a:solidFill>
                  <a:srgbClr val="393939"/>
                </a:solidFill>
                <a:latin typeface="IBM Plex Sans"/>
              </a:rPr>
              <a:t>eliminando gli effetti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 delle variazioni climatiche.</a:t>
            </a:r>
          </a:p>
        </p:txBody>
      </p:sp>
      <p:sp>
        <p:nvSpPr>
          <p:cNvPr id="436" name="Card6"/>
          <p:cNvSpPr/>
          <p:nvPr/>
        </p:nvSpPr>
        <p:spPr>
          <a:xfrm>
            <a:off x="467018" y="4629844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37" name="Accent6"/>
          <p:cNvSpPr/>
          <p:nvPr/>
        </p:nvSpPr>
        <p:spPr>
          <a:xfrm>
            <a:off x="467018" y="6319624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557" y="4739829"/>
            <a:ext cx="419945" cy="419945"/>
          </a:xfrm>
          <a:prstGeom prst="rect">
            <a:avLst/>
          </a:prstGeom>
        </p:spPr>
      </p:pic>
      <p:sp>
        <p:nvSpPr>
          <p:cNvPr id="438" name="Num6"/>
          <p:cNvSpPr txBox="1"/>
          <p:nvPr/>
        </p:nvSpPr>
        <p:spPr>
          <a:xfrm>
            <a:off x="1215490" y="4809820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07</a:t>
            </a:r>
          </a:p>
        </p:txBody>
      </p:sp>
      <p:sp>
        <p:nvSpPr>
          <p:cNvPr id="439" name="T6"/>
          <p:cNvSpPr txBox="1"/>
          <p:nvPr/>
        </p:nvSpPr>
        <p:spPr>
          <a:xfrm>
            <a:off x="695558" y="5169773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Ricevere avvisi automatici</a:t>
            </a:r>
          </a:p>
        </p:txBody>
      </p:sp>
      <p:sp>
        <p:nvSpPr>
          <p:cNvPr id="441" name="D6"/>
          <p:cNvSpPr txBox="1"/>
          <p:nvPr/>
        </p:nvSpPr>
        <p:spPr>
          <a:xfrm>
            <a:off x="695558" y="5554191"/>
            <a:ext cx="3158430" cy="7149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dirty="0">
                <a:solidFill>
                  <a:srgbClr val="393939"/>
                </a:solidFill>
                <a:latin typeface="IBM Plex Sans"/>
              </a:rPr>
              <a:t>Ricevere notifiche automatiche quando vengono rilevate anomalie o superate soglie definite.</a:t>
            </a:r>
          </a:p>
        </p:txBody>
      </p:sp>
      <p:sp>
        <p:nvSpPr>
          <p:cNvPr id="442" name="Card7"/>
          <p:cNvSpPr/>
          <p:nvPr/>
        </p:nvSpPr>
        <p:spPr>
          <a:xfrm>
            <a:off x="4288214" y="4629844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3" name="Accent7"/>
          <p:cNvSpPr/>
          <p:nvPr/>
        </p:nvSpPr>
        <p:spPr>
          <a:xfrm>
            <a:off x="4288214" y="6319624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6754" y="4739829"/>
            <a:ext cx="419945" cy="419945"/>
          </a:xfrm>
          <a:prstGeom prst="rect">
            <a:avLst/>
          </a:prstGeom>
        </p:spPr>
      </p:pic>
      <p:sp>
        <p:nvSpPr>
          <p:cNvPr id="444" name="Num7"/>
          <p:cNvSpPr txBox="1"/>
          <p:nvPr/>
        </p:nvSpPr>
        <p:spPr>
          <a:xfrm>
            <a:off x="5036687" y="4809820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08</a:t>
            </a:r>
          </a:p>
        </p:txBody>
      </p:sp>
      <p:sp>
        <p:nvSpPr>
          <p:cNvPr id="445" name="T7"/>
          <p:cNvSpPr txBox="1"/>
          <p:nvPr/>
        </p:nvSpPr>
        <p:spPr>
          <a:xfrm>
            <a:off x="4516754" y="5169773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Controllare la qualità del dato</a:t>
            </a:r>
          </a:p>
        </p:txBody>
      </p:sp>
      <p:sp>
        <p:nvSpPr>
          <p:cNvPr id="447" name="D7"/>
          <p:cNvSpPr txBox="1"/>
          <p:nvPr/>
        </p:nvSpPr>
        <p:spPr>
          <a:xfrm>
            <a:off x="4516754" y="5554191"/>
            <a:ext cx="3158430" cy="7149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>
                <a:solidFill>
                  <a:srgbClr val="393939"/>
                </a:solidFill>
                <a:latin typeface="IBM Plex Sans"/>
              </a:rPr>
              <a:t>Garantire completezza, tracciabilità e </a:t>
            </a:r>
            <a:r>
              <a:rPr lang="it-IT" sz="1400" dirty="0">
                <a:solidFill>
                  <a:srgbClr val="393939"/>
                </a:solidFill>
                <a:latin typeface="IBM Plex Sans"/>
              </a:rPr>
              <a:t>qualità 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dei dati</a:t>
            </a:r>
            <a:r>
              <a:rPr lang="it-IT" sz="1400" dirty="0">
                <a:solidFill>
                  <a:srgbClr val="393939"/>
                </a:solidFill>
                <a:latin typeface="IBM Plex Sans"/>
              </a:rPr>
              <a:t> energetici</a:t>
            </a:r>
            <a:r>
              <a:rPr lang="it-IT" sz="1400">
                <a:solidFill>
                  <a:srgbClr val="393939"/>
                </a:solidFill>
                <a:latin typeface="IBM Plex Sans"/>
              </a:rPr>
              <a:t>.</a:t>
            </a:r>
          </a:p>
        </p:txBody>
      </p:sp>
      <p:sp>
        <p:nvSpPr>
          <p:cNvPr id="448" name="Card8"/>
          <p:cNvSpPr/>
          <p:nvPr/>
        </p:nvSpPr>
        <p:spPr>
          <a:xfrm>
            <a:off x="8109410" y="4629844"/>
            <a:ext cx="3615510" cy="1739773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9" name="Accent8"/>
          <p:cNvSpPr/>
          <p:nvPr/>
        </p:nvSpPr>
        <p:spPr>
          <a:xfrm>
            <a:off x="8109410" y="6319624"/>
            <a:ext cx="3615510" cy="499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7950" y="4739829"/>
            <a:ext cx="419945" cy="419945"/>
          </a:xfrm>
          <a:prstGeom prst="rect">
            <a:avLst/>
          </a:prstGeom>
        </p:spPr>
      </p:pic>
      <p:sp>
        <p:nvSpPr>
          <p:cNvPr id="450" name="Num8"/>
          <p:cNvSpPr txBox="1"/>
          <p:nvPr/>
        </p:nvSpPr>
        <p:spPr>
          <a:xfrm>
            <a:off x="8857883" y="4809820"/>
            <a:ext cx="1142702" cy="2599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0F62FE"/>
                </a:solidFill>
                <a:latin typeface="IBM Plex Sans"/>
              </a:rPr>
              <a:t>09</a:t>
            </a:r>
          </a:p>
        </p:txBody>
      </p:sp>
      <p:sp>
        <p:nvSpPr>
          <p:cNvPr id="451" name="T8"/>
          <p:cNvSpPr txBox="1"/>
          <p:nvPr/>
        </p:nvSpPr>
        <p:spPr>
          <a:xfrm>
            <a:off x="8337950" y="5169773"/>
            <a:ext cx="3158430" cy="2999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>
                <a:solidFill>
                  <a:srgbClr val="161616"/>
                </a:solidFill>
                <a:latin typeface="IBM Plex Sans"/>
              </a:rPr>
              <a:t>Misurare le prestazioni degli edifici</a:t>
            </a:r>
          </a:p>
        </p:txBody>
      </p:sp>
      <p:sp>
        <p:nvSpPr>
          <p:cNvPr id="453" name="D8"/>
          <p:cNvSpPr txBox="1"/>
          <p:nvPr/>
        </p:nvSpPr>
        <p:spPr>
          <a:xfrm>
            <a:off x="8337950" y="5554191"/>
            <a:ext cx="3158430" cy="7149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dirty="0">
                <a:solidFill>
                  <a:srgbClr val="393939"/>
                </a:solidFill>
                <a:latin typeface="IBM Plex Sans"/>
              </a:rPr>
              <a:t>Confrontare gli edifici con benchmark e sistemi di rating riconosciuti a livello internazionale.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017" y="6439608"/>
            <a:ext cx="1125790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/>
            <a:r>
              <a:rPr sz="800" b="1" dirty="0">
                <a:solidFill>
                  <a:srgbClr val="0F62FE"/>
                </a:solidFill>
                <a:latin typeface="IBM Plex Sans Light"/>
              </a:rPr>
              <a:t>Not</a:t>
            </a:r>
            <a:r>
              <a:rPr lang="it-IT" sz="800" b="1" dirty="0">
                <a:solidFill>
                  <a:srgbClr val="0F62FE"/>
                </a:solidFill>
                <a:latin typeface="IBM Plex Sans Light"/>
              </a:rPr>
              <a:t>e</a:t>
            </a:r>
            <a:r>
              <a:rPr sz="800" b="1" dirty="0">
                <a:solidFill>
                  <a:srgbClr val="0F62FE"/>
                </a:solidFill>
                <a:latin typeface="IBM Plex Sans Light"/>
              </a:rPr>
              <a:t> </a:t>
            </a:r>
            <a:br>
              <a:rPr lang="it-IT" sz="800" b="1" dirty="0">
                <a:solidFill>
                  <a:srgbClr val="0F62FE"/>
                </a:solidFill>
                <a:latin typeface="IBM Plex Sans Light"/>
              </a:rPr>
            </a:br>
            <a:r>
              <a:rPr lang="it-IT" sz="800" dirty="0">
                <a:solidFill>
                  <a:srgbClr val="161616"/>
                </a:solidFill>
                <a:latin typeface="IBM Plex Sans Light"/>
              </a:rPr>
              <a:t>1) la verifica di fatturazione sul pricing richiede soluzioni custom per la varietà di regole fra fornitori e mercati: </a:t>
            </a:r>
            <a:r>
              <a:rPr lang="it-IT" sz="800" dirty="0" err="1">
                <a:solidFill>
                  <a:srgbClr val="161616"/>
                </a:solidFill>
                <a:latin typeface="IBM Plex Sans Light"/>
              </a:rPr>
              <a:t>Envizi</a:t>
            </a:r>
            <a:r>
              <a:rPr lang="it-IT" sz="800" dirty="0">
                <a:solidFill>
                  <a:srgbClr val="161616"/>
                </a:solidFill>
                <a:latin typeface="IBM Plex Sans Light"/>
              </a:rPr>
              <a:t> fornisce dati quantitativi di consumo per sede – contatore – </a:t>
            </a:r>
            <a:r>
              <a:rPr lang="it-IT" sz="800" dirty="0" err="1">
                <a:solidFill>
                  <a:srgbClr val="161616"/>
                </a:solidFill>
                <a:latin typeface="IBM Plex Sans Light"/>
              </a:rPr>
              <a:t>subcontatore</a:t>
            </a:r>
            <a:r>
              <a:rPr lang="it-IT" sz="800" dirty="0">
                <a:solidFill>
                  <a:srgbClr val="161616"/>
                </a:solidFill>
                <a:latin typeface="IBM Plex Sans Light"/>
              </a:rPr>
              <a:t>. </a:t>
            </a:r>
            <a:br>
              <a:rPr lang="it-IT" sz="800" dirty="0">
                <a:solidFill>
                  <a:srgbClr val="161616"/>
                </a:solidFill>
                <a:latin typeface="IBM Plex Sans Light"/>
              </a:rPr>
            </a:br>
            <a:r>
              <a:rPr lang="it-IT" sz="800" dirty="0">
                <a:solidFill>
                  <a:srgbClr val="161616"/>
                </a:solidFill>
                <a:latin typeface="IBM Plex Sans Light"/>
              </a:rPr>
              <a:t>2) Per attivare i team di assistenza a fronte di allarmi su un asset la soluzione è IBM Maximo; per i dati IoT (calore, vibrazioni) è Maximo Monitor — le tre soluzioni collaborano nel perimetro IBM Asset Lifecycle Management.</a:t>
            </a:r>
          </a:p>
        </p:txBody>
      </p:sp>
    </p:spTree>
    <p:extLst>
      <p:ext uri="{BB962C8B-B14F-4D97-AF65-F5344CB8AC3E}">
        <p14:creationId xmlns:p14="http://schemas.microsoft.com/office/powerpoint/2010/main" val="237508677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288755" y="320850"/>
            <a:ext cx="7498048" cy="1899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200" b="1" dirty="0">
                <a:solidFill>
                  <a:srgbClr val="0F62FE"/>
                </a:solidFill>
                <a:latin typeface="IBM Plex Sans"/>
              </a:rPr>
              <a:t>LIVELLO 1 · ESG ENERGY FOUNDATION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288755" y="560374"/>
            <a:ext cx="10747201" cy="3299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900" b="1" dirty="0">
                <a:solidFill>
                  <a:srgbClr val="161616"/>
                </a:solidFill>
                <a:latin typeface="IBM Plex Sans"/>
              </a:rPr>
              <a:t>Misurare consumi ed emissioni con dati affidabili</a:t>
            </a:r>
          </a:p>
        </p:txBody>
      </p:sp>
      <p:sp>
        <p:nvSpPr>
          <p:cNvPr id="302" name="Lead"/>
          <p:cNvSpPr txBox="1"/>
          <p:nvPr/>
        </p:nvSpPr>
        <p:spPr>
          <a:xfrm>
            <a:off x="288755" y="1221546"/>
            <a:ext cx="4972526" cy="6199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dirty="0">
                <a:solidFill>
                  <a:srgbClr val="393939"/>
                </a:solidFill>
                <a:latin typeface="IBM Plex Sans"/>
              </a:rPr>
              <a:t>IBM Envizi consolida bollette, contatori e sistemi aziendali in un’unica base dati per monitorare consumi, costi ed emissioni Scope 1 e 2.</a:t>
            </a:r>
          </a:p>
        </p:txBody>
      </p:sp>
      <p:sp>
        <p:nvSpPr>
          <p:cNvPr id="303" name="Lbl1"/>
          <p:cNvSpPr txBox="1"/>
          <p:nvPr/>
        </p:nvSpPr>
        <p:spPr>
          <a:xfrm>
            <a:off x="288755" y="2273359"/>
            <a:ext cx="4972526" cy="2199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0F62FE"/>
                </a:solidFill>
                <a:latin typeface="IBM Plex Sans"/>
              </a:rPr>
              <a:t>Valore per il business</a:t>
            </a:r>
          </a:p>
        </p:txBody>
      </p:sp>
      <p:sp>
        <p:nvSpPr>
          <p:cNvPr id="304" name="CardA"/>
          <p:cNvSpPr/>
          <p:nvPr/>
        </p:nvSpPr>
        <p:spPr>
          <a:xfrm>
            <a:off x="288755" y="2467299"/>
            <a:ext cx="4972526" cy="27539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05" name="CardAtx"/>
          <p:cNvSpPr txBox="1"/>
          <p:nvPr/>
        </p:nvSpPr>
        <p:spPr>
          <a:xfrm>
            <a:off x="548722" y="2713301"/>
            <a:ext cx="4512585" cy="179976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16" indent="-171416" defTabSz="914217">
              <a:buFont typeface="Arial"/>
              <a:buChar char="•"/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Un’unica fonte di verità per consumi, costi ed emissioni.</a:t>
            </a:r>
          </a:p>
          <a:p>
            <a:pPr marL="171416" indent="-171416" defTabSz="914217">
              <a:spcBef>
                <a:spcPts val="400"/>
              </a:spcBef>
              <a:buFont typeface="Arial"/>
              <a:buChar char="•"/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Qualità, tracciabilità e auditabilità del dato.</a:t>
            </a:r>
          </a:p>
          <a:p>
            <a:pPr marL="171416" indent="-171416" defTabSz="914217">
              <a:spcBef>
                <a:spcPts val="400"/>
              </a:spcBef>
              <a:buFont typeface="Arial"/>
              <a:buChar char="•"/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Calcolo automatico delle emissioni GHG Scope 1 e 2 (GHG Protocol).</a:t>
            </a:r>
          </a:p>
          <a:p>
            <a:pPr marL="171416" indent="-171416" defTabSz="914217">
              <a:spcBef>
                <a:spcPts val="400"/>
              </a:spcBef>
              <a:buFont typeface="Arial"/>
              <a:buChar char="•"/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KPI normalizzati (kWh/m², kWh/unità, kWh/FTE) per confronti omogenei.</a:t>
            </a:r>
          </a:p>
          <a:p>
            <a:pPr marL="171416" indent="-171416" defTabSz="914217">
              <a:spcBef>
                <a:spcPts val="400"/>
              </a:spcBef>
              <a:buFont typeface="Arial"/>
              <a:buChar char="•"/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Dati affidabili per reporting ESG, audit e decisioni operative.</a:t>
            </a:r>
          </a:p>
        </p:txBody>
      </p:sp>
      <p:sp>
        <p:nvSpPr>
          <p:cNvPr id="306" name="CardB"/>
          <p:cNvSpPr/>
          <p:nvPr/>
        </p:nvSpPr>
        <p:spPr>
          <a:xfrm>
            <a:off x="288754" y="5447292"/>
            <a:ext cx="4972526" cy="1089858"/>
          </a:xfrm>
          <a:prstGeom prst="rect">
            <a:avLst/>
          </a:prstGeom>
          <a:solidFill>
            <a:srgbClr val="EDF5FF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206" name="CardBA"/>
          <p:cNvSpPr/>
          <p:nvPr/>
        </p:nvSpPr>
        <p:spPr>
          <a:xfrm>
            <a:off x="288754" y="5447292"/>
            <a:ext cx="54993" cy="108985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07" name="CardBtx"/>
          <p:cNvSpPr txBox="1"/>
          <p:nvPr/>
        </p:nvSpPr>
        <p:spPr>
          <a:xfrm>
            <a:off x="603714" y="5537725"/>
            <a:ext cx="4512585" cy="7599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0F62FE"/>
                </a:solidFill>
                <a:latin typeface="IBM Plex Sans"/>
              </a:rPr>
              <a:t>Risultato</a:t>
            </a:r>
          </a:p>
          <a:p>
            <a:pPr defTabSz="914217">
              <a:spcBef>
                <a:spcPts val="400"/>
              </a:spcBef>
            </a:pPr>
            <a:r>
              <a:rPr lang="it-IT" sz="1600" dirty="0">
                <a:solidFill>
                  <a:srgbClr val="393939"/>
                </a:solidFill>
                <a:latin typeface="IBM Plex Sans"/>
              </a:rPr>
              <a:t>Il dato è completo, controllato e affidabile: la base per reporting ESG, benchmark e decisioni operative.</a:t>
            </a:r>
          </a:p>
        </p:txBody>
      </p:sp>
      <p:sp>
        <p:nvSpPr>
          <p:cNvPr id="308" name="CardC"/>
          <p:cNvSpPr/>
          <p:nvPr/>
        </p:nvSpPr>
        <p:spPr>
          <a:xfrm>
            <a:off x="5526567" y="4219142"/>
            <a:ext cx="6097352" cy="235969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208" name="CardCA"/>
          <p:cNvSpPr/>
          <p:nvPr/>
        </p:nvSpPr>
        <p:spPr>
          <a:xfrm>
            <a:off x="5531567" y="4232296"/>
            <a:ext cx="54993" cy="235969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09" name="CardCtx"/>
          <p:cNvSpPr txBox="1"/>
          <p:nvPr/>
        </p:nvSpPr>
        <p:spPr>
          <a:xfrm>
            <a:off x="5786533" y="4389120"/>
            <a:ext cx="5577420" cy="204973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0F62FE"/>
                </a:solidFill>
                <a:latin typeface="IBM Plex Sans"/>
              </a:rPr>
              <a:t>Domanda del management</a:t>
            </a:r>
          </a:p>
          <a:p>
            <a:pPr defTabSz="914217">
              <a:spcBef>
                <a:spcPts val="400"/>
              </a:spcBef>
            </a:pPr>
            <a:r>
              <a:rPr lang="it-IT" sz="1600" dirty="0">
                <a:solidFill>
                  <a:srgbClr val="161616"/>
                </a:solidFill>
                <a:latin typeface="IBM Plex Sans"/>
              </a:rPr>
              <a:t>“Possiamo fidarci dei dati energetici utilizzati per il reporting ESG e per prendere decisioni?”</a:t>
            </a:r>
          </a:p>
          <a:p>
            <a:pPr defTabSz="914217">
              <a:spcBef>
                <a:spcPts val="700"/>
              </a:spcBef>
            </a:pPr>
            <a:endParaRPr lang="it-IT" sz="1600" b="1" dirty="0">
              <a:solidFill>
                <a:srgbClr val="161616"/>
              </a:solidFill>
              <a:latin typeface="IBM Plex Sans"/>
            </a:endParaRPr>
          </a:p>
          <a:p>
            <a:pPr defTabSz="914217">
              <a:spcBef>
                <a:spcPts val="700"/>
              </a:spcBef>
            </a:pPr>
            <a:r>
              <a:rPr lang="it-IT" sz="1600" b="1" dirty="0">
                <a:solidFill>
                  <a:srgbClr val="0F62FE"/>
                </a:solidFill>
                <a:latin typeface="IBM Plex Sans"/>
              </a:rPr>
              <a:t>Valore di IBM </a:t>
            </a:r>
            <a:r>
              <a:rPr lang="it-IT" sz="1600" b="1" dirty="0" err="1">
                <a:solidFill>
                  <a:srgbClr val="0F62FE"/>
                </a:solidFill>
                <a:latin typeface="IBM Plex Sans"/>
              </a:rPr>
              <a:t>Envizi</a:t>
            </a:r>
            <a:endParaRPr lang="it-IT" sz="1600" b="1" dirty="0">
              <a:solidFill>
                <a:srgbClr val="161616"/>
              </a:solidFill>
              <a:latin typeface="IBM Plex Sans"/>
            </a:endParaRPr>
          </a:p>
          <a:p>
            <a:pPr defTabSz="914217"/>
            <a:r>
              <a:rPr lang="it-IT" sz="1600" dirty="0">
                <a:solidFill>
                  <a:srgbClr val="161616"/>
                </a:solidFill>
                <a:latin typeface="IBM Plex Sans"/>
              </a:rPr>
              <a:t>Una base dati verificabile e continuamente aggiornata che garantisce un’unica fonte di verità per tutta l’organizzazione.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62E04D8-C5F9-4B5D-7EBC-586BFE1D04AD}"/>
              </a:ext>
            </a:extLst>
          </p:cNvPr>
          <p:cNvSpPr txBox="1"/>
          <p:nvPr/>
        </p:nvSpPr>
        <p:spPr>
          <a:xfrm>
            <a:off x="5662355" y="3537720"/>
            <a:ext cx="55774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7"/>
            <a:r>
              <a:rPr lang="it-IT" sz="900" dirty="0">
                <a:solidFill>
                  <a:prstClr val="black"/>
                </a:solidFill>
                <a:latin typeface="Aptos" panose="02110004020202020204"/>
              </a:rPr>
              <a:t>🧾 Bollette ⚡ Contatori 📡 Telelettura 💼 ERP 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5EFD2663-7087-9A90-C1A7-7784A5687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624" y="510825"/>
            <a:ext cx="5841239" cy="275554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 txBox="1"/>
          <p:nvPr/>
        </p:nvSpPr>
        <p:spPr>
          <a:xfrm>
            <a:off x="288755" y="320850"/>
            <a:ext cx="749804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/>
            <a:r>
              <a:rPr lang="it-IT" sz="1200" b="1">
                <a:solidFill>
                  <a:srgbClr val="0F62FE"/>
                </a:solidFill>
                <a:latin typeface="IBM Plex Sans Light"/>
              </a:rPr>
              <a:t>LIVELLO 1 · PRIORITÀ</a:t>
            </a:r>
          </a:p>
        </p:txBody>
      </p:sp>
      <p:sp>
        <p:nvSpPr>
          <p:cNvPr id="31" name="Title"/>
          <p:cNvSpPr txBox="1"/>
          <p:nvPr/>
        </p:nvSpPr>
        <p:spPr>
          <a:xfrm>
            <a:off x="288755" y="572244"/>
            <a:ext cx="1074720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217"/>
            <a:r>
              <a:rPr lang="it-IT" sz="2000" b="1" dirty="0">
                <a:solidFill>
                  <a:prstClr val="black"/>
                </a:solidFill>
                <a:latin typeface="Aptos" panose="02110004020202020204"/>
              </a:rPr>
              <a:t>Dove conviene investire per ridurre le emissioni? Evidenze dal caso </a:t>
            </a:r>
            <a:r>
              <a:rPr lang="it-IT" sz="2000" b="1" dirty="0" err="1">
                <a:solidFill>
                  <a:prstClr val="black"/>
                </a:solidFill>
                <a:latin typeface="Aptos" panose="02110004020202020204"/>
              </a:rPr>
              <a:t>Alfago</a:t>
            </a:r>
            <a:endParaRPr lang="it-IT" sz="20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2" name="CardL"/>
          <p:cNvSpPr/>
          <p:nvPr/>
        </p:nvSpPr>
        <p:spPr>
          <a:xfrm>
            <a:off x="288755" y="1448315"/>
            <a:ext cx="3360222" cy="440651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9E3F0"/>
            </a:solidFill>
          </a:ln>
          <a:effectLst/>
        </p:spPr>
        <p:txBody>
          <a:bodyPr rtlCol="0" anchor="ctr"/>
          <a:lstStyle/>
          <a:p>
            <a:pPr algn="ctr" defTabSz="914324"/>
            <a:endParaRPr sz="900" dirty="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34" name="CardL text"/>
          <p:cNvSpPr txBox="1"/>
          <p:nvPr/>
        </p:nvSpPr>
        <p:spPr>
          <a:xfrm>
            <a:off x="480729" y="1631149"/>
            <a:ext cx="2840128" cy="42242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>
              <a:spcAft>
                <a:spcPts val="250"/>
              </a:spcAft>
            </a:pPr>
            <a:r>
              <a:rPr lang="it-IT" sz="1600" b="1" dirty="0">
                <a:solidFill>
                  <a:srgbClr val="0F62FE"/>
                </a:solidFill>
                <a:latin typeface="IBM Plex Sans Light"/>
              </a:rPr>
              <a:t>Report </a:t>
            </a:r>
            <a:r>
              <a:rPr lang="it-IT" sz="1600" b="1" dirty="0" err="1">
                <a:solidFill>
                  <a:srgbClr val="0F62FE"/>
                </a:solidFill>
                <a:latin typeface="IBM Plex Sans Light"/>
              </a:rPr>
              <a:t>Electricity</a:t>
            </a:r>
            <a:r>
              <a:rPr lang="it-IT" sz="1600" b="1" dirty="0">
                <a:solidFill>
                  <a:srgbClr val="0F62FE"/>
                </a:solidFill>
                <a:latin typeface="IBM Plex Sans Light"/>
              </a:rPr>
              <a:t> </a:t>
            </a:r>
            <a:r>
              <a:rPr lang="it-IT" sz="1600" b="1" dirty="0" err="1">
                <a:solidFill>
                  <a:srgbClr val="0F62FE"/>
                </a:solidFill>
                <a:latin typeface="IBM Plex Sans Light"/>
              </a:rPr>
              <a:t>Emission</a:t>
            </a:r>
            <a:r>
              <a:rPr lang="it-IT" sz="1600" b="1" dirty="0">
                <a:solidFill>
                  <a:srgbClr val="0F62FE"/>
                </a:solidFill>
                <a:latin typeface="IBM Plex Sans Light"/>
              </a:rPr>
              <a:t> Inventory</a:t>
            </a:r>
          </a:p>
          <a:p>
            <a:pPr defTabSz="914217"/>
            <a:endParaRPr lang="it-IT" sz="1600" b="1" dirty="0">
              <a:solidFill>
                <a:prstClr val="black"/>
              </a:solidFill>
              <a:latin typeface="IBM Plex Sans" panose="020B0503050203000203" pitchFamily="34" charset="0"/>
            </a:endParaRPr>
          </a:p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Differenze fra sedi</a:t>
            </a:r>
          </a:p>
          <a:p>
            <a:pPr defTabSz="914217"/>
            <a:endParaRPr lang="it-IT" sz="1600" b="1" dirty="0">
              <a:solidFill>
                <a:prstClr val="black"/>
              </a:solidFill>
              <a:latin typeface="IBM Plex Sans" panose="020B0503050203000203" pitchFamily="34" charset="0"/>
            </a:endParaRPr>
          </a:p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Milano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è già coperta da energia rinnovabile e non rappresenta una priorità.</a:t>
            </a:r>
          </a:p>
          <a:p>
            <a:pPr defTabSz="914217"/>
            <a:endParaRPr lang="it-IT" sz="1600" dirty="0">
              <a:solidFill>
                <a:prstClr val="black"/>
              </a:solidFill>
              <a:latin typeface="IBM Plex Sans" panose="020B0503050203000203" pitchFamily="34" charset="0"/>
            </a:endParaRPr>
          </a:p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Sesto San Giovanni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presenta una buona copertura da fonti rinnovabili.</a:t>
            </a:r>
          </a:p>
          <a:p>
            <a:pPr defTabSz="914217"/>
            <a:endParaRPr lang="it-IT" sz="1600" b="1" dirty="0">
              <a:solidFill>
                <a:prstClr val="black"/>
              </a:solidFill>
              <a:latin typeface="IBM Plex Sans" panose="020B0503050203000203" pitchFamily="34" charset="0"/>
            </a:endParaRPr>
          </a:p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Segrate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concentra il maggiore consumo di elettricità residua ed è il sito prioritario per nuovi interventi.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BC58A29-CD6A-A879-3AD0-35F363C41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281" y="1448316"/>
            <a:ext cx="8031965" cy="392441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46F494C-E614-3E56-971C-C860F7D7E270}"/>
              </a:ext>
            </a:extLst>
          </p:cNvPr>
          <p:cNvSpPr txBox="1"/>
          <p:nvPr/>
        </p:nvSpPr>
        <p:spPr>
          <a:xfrm>
            <a:off x="4055901" y="5501029"/>
            <a:ext cx="28401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Decisione del management</a:t>
            </a:r>
          </a:p>
          <a:p>
            <a:pPr defTabSz="914217"/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Priorità investimenti </a:t>
            </a:r>
            <a:b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</a:b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→ Stabilimento Segrate</a:t>
            </a:r>
          </a:p>
          <a:p>
            <a:pPr defTabSz="914217"/>
            <a:endParaRPr lang="it-IT" sz="1600" dirty="0">
              <a:solidFill>
                <a:prstClr val="black"/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DD5201B-240F-189C-0BFC-F30882BEB20A}"/>
              </a:ext>
            </a:extLst>
          </p:cNvPr>
          <p:cNvSpPr txBox="1"/>
          <p:nvPr/>
        </p:nvSpPr>
        <p:spPr>
          <a:xfrm>
            <a:off x="7858924" y="5501029"/>
            <a:ext cx="43322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Possibili azioni: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incremento autoproduzione fotovoltaica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nuovi PPA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Garanzie d’Origine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interventi di efficienza energetica</a:t>
            </a:r>
          </a:p>
        </p:txBody>
      </p:sp>
      <p:sp>
        <p:nvSpPr>
          <p:cNvPr id="6" name="Freccia destra 5">
            <a:extLst>
              <a:ext uri="{FF2B5EF4-FFF2-40B4-BE49-F238E27FC236}">
                <a16:creationId xmlns:a16="http://schemas.microsoft.com/office/drawing/2014/main" id="{5E741542-8513-26E7-CF50-12269E5CB150}"/>
              </a:ext>
            </a:extLst>
          </p:cNvPr>
          <p:cNvSpPr/>
          <p:nvPr/>
        </p:nvSpPr>
        <p:spPr>
          <a:xfrm>
            <a:off x="6947875" y="5854832"/>
            <a:ext cx="491255" cy="4912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it-IT" sz="9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" name="Freccia destra 6">
            <a:extLst>
              <a:ext uri="{FF2B5EF4-FFF2-40B4-BE49-F238E27FC236}">
                <a16:creationId xmlns:a16="http://schemas.microsoft.com/office/drawing/2014/main" id="{4E8D3008-E4B8-A237-EDC6-0011A3C3F2B0}"/>
              </a:ext>
            </a:extLst>
          </p:cNvPr>
          <p:cNvSpPr/>
          <p:nvPr/>
        </p:nvSpPr>
        <p:spPr>
          <a:xfrm>
            <a:off x="3299331" y="5854832"/>
            <a:ext cx="491255" cy="4912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it-IT" sz="900">
              <a:solidFill>
                <a:prstClr val="white"/>
              </a:solidFill>
              <a:latin typeface="Aptos" panose="02110004020202020204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 txBox="1"/>
          <p:nvPr/>
        </p:nvSpPr>
        <p:spPr>
          <a:xfrm>
            <a:off x="288755" y="320850"/>
            <a:ext cx="749804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/>
            <a:r>
              <a:rPr lang="it-IT" sz="1200" b="1">
                <a:solidFill>
                  <a:srgbClr val="0F62FE"/>
                </a:solidFill>
                <a:latin typeface="IBM Plex Sans Light"/>
              </a:rPr>
              <a:t>LIVELLO 2 · UTILITY BILL ANALYTICS</a:t>
            </a:r>
          </a:p>
        </p:txBody>
      </p:sp>
      <p:sp>
        <p:nvSpPr>
          <p:cNvPr id="31" name="Title"/>
          <p:cNvSpPr txBox="1"/>
          <p:nvPr/>
        </p:nvSpPr>
        <p:spPr>
          <a:xfrm>
            <a:off x="288755" y="612144"/>
            <a:ext cx="10747201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217"/>
            <a:r>
              <a:rPr lang="it-IT" sz="2000" b="1" dirty="0"/>
              <a:t>Perché i costi stanno aumentando? Quale utility sta causando l’aumento dei costi?</a:t>
            </a:r>
            <a:endParaRPr lang="it-IT" sz="2000" dirty="0"/>
          </a:p>
          <a:p>
            <a:pPr defTabSz="914217"/>
            <a:endParaRPr lang="it-IT" sz="2000" dirty="0"/>
          </a:p>
          <a:p>
            <a:pPr defTabSz="914217"/>
            <a:endParaRPr lang="it-IT" sz="2000" dirty="0">
              <a:solidFill>
                <a:prstClr val="black"/>
              </a:solidFill>
              <a:latin typeface="Aptos" panose="02110004020202020204"/>
            </a:endParaRPr>
          </a:p>
          <a:p>
            <a:pPr defTabSz="914217"/>
            <a:endParaRPr lang="it-IT" sz="20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2" name="CardL"/>
          <p:cNvSpPr/>
          <p:nvPr/>
        </p:nvSpPr>
        <p:spPr>
          <a:xfrm>
            <a:off x="288756" y="1177453"/>
            <a:ext cx="3273641" cy="3501928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7E0F0"/>
            </a:solidFill>
          </a:ln>
          <a:effectLst/>
        </p:spPr>
        <p:txBody>
          <a:bodyPr rtlCol="0" anchor="ctr"/>
          <a:lstStyle/>
          <a:p>
            <a:pPr algn="ctr" defTabSz="914324"/>
            <a:endParaRPr sz="90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34" name="CardL text"/>
          <p:cNvSpPr txBox="1"/>
          <p:nvPr/>
        </p:nvSpPr>
        <p:spPr>
          <a:xfrm>
            <a:off x="480729" y="1284105"/>
            <a:ext cx="2972499" cy="2882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>
              <a:spcAft>
                <a:spcPts val="250"/>
              </a:spcAft>
            </a:pPr>
            <a:r>
              <a:rPr lang="it-IT" sz="1600" b="1" dirty="0">
                <a:solidFill>
                  <a:srgbClr val="0F62FE"/>
                </a:solidFill>
                <a:latin typeface="IBM Plex Sans Light"/>
              </a:rPr>
              <a:t>Domande a cui risponde</a:t>
            </a:r>
          </a:p>
          <a:p>
            <a:pPr marL="171416" indent="-171416" defTabSz="914217">
              <a:spcBef>
                <a:spcPts val="380"/>
              </a:spcBef>
              <a:spcAft>
                <a:spcPts val="250"/>
              </a:spcAft>
              <a:buFont typeface="Arial"/>
              <a:buChar char="✓"/>
            </a:pPr>
            <a:endParaRPr lang="it-IT" sz="1400" dirty="0">
              <a:solidFill>
                <a:srgbClr val="222222"/>
              </a:solidFill>
              <a:latin typeface="IBM Plex Sans"/>
            </a:endParaRPr>
          </a:p>
          <a:p>
            <a:pPr marL="171416" indent="-171416" defTabSz="914217">
              <a:spcBef>
                <a:spcPts val="38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L’aumento dipende dal consumo o dal prezzo?</a:t>
            </a:r>
          </a:p>
          <a:p>
            <a:pPr marL="171416" indent="-171416" defTabSz="914217">
              <a:spcBef>
                <a:spcPts val="38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Quale utility è responsabile?</a:t>
            </a:r>
          </a:p>
          <a:p>
            <a:pPr marL="171416" indent="-171416" defTabSz="914217">
              <a:spcBef>
                <a:spcPts val="38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È un’anomalia oppure un trend?</a:t>
            </a:r>
          </a:p>
          <a:p>
            <a:pPr marL="171416" indent="-171416" defTabSz="914217">
              <a:spcBef>
                <a:spcPts val="38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Quale account o contratto genera il problema?</a:t>
            </a:r>
          </a:p>
          <a:p>
            <a:pPr marL="171416" indent="-171416" defTabSz="914217">
              <a:spcBef>
                <a:spcPts val="380"/>
              </a:spcBef>
              <a:spcAft>
                <a:spcPts val="300"/>
              </a:spcAft>
              <a:buFont typeface="Arial"/>
              <a:buChar char="✓"/>
            </a:pPr>
            <a:endParaRPr lang="it-IT" sz="1400" dirty="0">
              <a:solidFill>
                <a:srgbClr val="222222"/>
              </a:solidFill>
              <a:latin typeface="IBM Plex Sans"/>
            </a:endParaRPr>
          </a:p>
          <a:p>
            <a:pPr marL="171416" indent="-171416" defTabSz="914217">
              <a:spcBef>
                <a:spcPts val="380"/>
              </a:spcBef>
              <a:spcAft>
                <a:spcPts val="300"/>
              </a:spcAft>
              <a:buFont typeface="Arial"/>
              <a:buChar char="✓"/>
            </a:pPr>
            <a:endParaRPr lang="it-IT" sz="1400" dirty="0">
              <a:solidFill>
                <a:srgbClr val="222222"/>
              </a:solidFill>
              <a:latin typeface="IBM Plex Sans"/>
            </a:endParaRPr>
          </a:p>
          <a:p>
            <a:pPr marL="228508" indent="-228508" defTabSz="914324">
              <a:spcAft>
                <a:spcPts val="300"/>
              </a:spcAft>
            </a:pPr>
            <a:endParaRPr lang="it-IT" sz="1200" dirty="0">
              <a:solidFill>
                <a:srgbClr val="000000"/>
              </a:solidFill>
              <a:latin typeface="IBM Plex Sans Light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62E63A1-515F-C873-D48F-217BD7F47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644" y="972192"/>
            <a:ext cx="7417308" cy="3707189"/>
          </a:xfrm>
          <a:prstGeom prst="rect">
            <a:avLst/>
          </a:prstGeom>
        </p:spPr>
      </p:pic>
      <p:sp>
        <p:nvSpPr>
          <p:cNvPr id="7" name="Badge periodo"/>
          <p:cNvSpPr/>
          <p:nvPr/>
        </p:nvSpPr>
        <p:spPr>
          <a:xfrm>
            <a:off x="8200800" y="118431"/>
            <a:ext cx="3127593" cy="399948"/>
          </a:xfrm>
          <a:prstGeom prst="roundRect">
            <a:avLst>
              <a:gd name="adj" fmla="val 50000"/>
            </a:avLst>
          </a:prstGeom>
          <a:solidFill>
            <a:srgbClr val="EDF5FF"/>
          </a:solidFill>
          <a:ln w="12700">
            <a:solidFill>
              <a:srgbClr val="A6C8FF"/>
            </a:solidFill>
          </a:ln>
        </p:spPr>
        <p:txBody>
          <a:bodyPr wrap="square" lIns="91428" tIns="0" rIns="91428" bIns="0" anchor="ctr"/>
          <a:lstStyle/>
          <a:p>
            <a:pPr algn="ctr" defTabSz="914217"/>
            <a:r>
              <a:rPr lang="it-IT" sz="1100" b="1" dirty="0">
                <a:solidFill>
                  <a:srgbClr val="0F62FE"/>
                </a:solidFill>
                <a:latin typeface="IBM Plex Sans"/>
              </a:rPr>
              <a:t>Periodo: lug 2024 – giu 2025 · vs prec.</a:t>
            </a:r>
          </a:p>
        </p:txBody>
      </p:sp>
      <p:sp>
        <p:nvSpPr>
          <p:cNvPr id="500" name="CardValore"/>
          <p:cNvSpPr/>
          <p:nvPr/>
        </p:nvSpPr>
        <p:spPr>
          <a:xfrm>
            <a:off x="288755" y="4819819"/>
            <a:ext cx="6199193" cy="1719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9E3F0"/>
            </a:solidFill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1" name="CardValoretx"/>
          <p:cNvSpPr txBox="1"/>
          <p:nvPr/>
        </p:nvSpPr>
        <p:spPr>
          <a:xfrm>
            <a:off x="518725" y="5009794"/>
            <a:ext cx="5739253" cy="13898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 dirty="0">
                <a:solidFill>
                  <a:srgbClr val="0F62FE"/>
                </a:solidFill>
                <a:latin typeface="IBM Plex Sans"/>
              </a:rPr>
              <a:t>Valore per il management · decisioni supportate</a:t>
            </a:r>
          </a:p>
          <a:p>
            <a:pPr marL="171416" indent="-171416" defTabSz="914217">
              <a:spcBef>
                <a:spcPts val="38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individuare aumenti anomali dei costi;</a:t>
            </a:r>
          </a:p>
          <a:p>
            <a:pPr marL="171416" indent="-171416" defTabSz="914217">
              <a:spcBef>
                <a:spcPts val="38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distinguere crescita produttiva da inefficienze;</a:t>
            </a:r>
          </a:p>
          <a:p>
            <a:pPr marL="171416" indent="-171416" defTabSz="914217">
              <a:spcBef>
                <a:spcPts val="38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prioritizzare gli interventi con il maggiore ritorno economico;</a:t>
            </a:r>
          </a:p>
          <a:p>
            <a:pPr marL="171416" indent="-171416" defTabSz="914217">
              <a:spcBef>
                <a:spcPts val="38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accedere alla bolletta originale per verificare la causa.</a:t>
            </a:r>
          </a:p>
        </p:txBody>
      </p:sp>
      <p:sp>
        <p:nvSpPr>
          <p:cNvPr id="510" name="CardInsight"/>
          <p:cNvSpPr/>
          <p:nvPr/>
        </p:nvSpPr>
        <p:spPr>
          <a:xfrm>
            <a:off x="6639929" y="4819819"/>
            <a:ext cx="4085338" cy="1719776"/>
          </a:xfrm>
          <a:prstGeom prst="roundRect">
            <a:avLst>
              <a:gd name="adj" fmla="val 5000"/>
            </a:avLst>
          </a:prstGeom>
          <a:solidFill>
            <a:srgbClr val="EDF5FF"/>
          </a:solidFill>
          <a:ln w="12700">
            <a:solidFill>
              <a:srgbClr val="D9E3F0"/>
            </a:solidFill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1" name="CardInsighttx"/>
          <p:cNvSpPr txBox="1"/>
          <p:nvPr/>
        </p:nvSpPr>
        <p:spPr>
          <a:xfrm>
            <a:off x="6869899" y="5009794"/>
            <a:ext cx="3625398" cy="13898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 dirty="0">
                <a:solidFill>
                  <a:srgbClr val="0F62FE"/>
                </a:solidFill>
                <a:latin typeface="IBM Plex Sans"/>
              </a:rPr>
              <a:t>Cosa evidenzia la dashboard</a:t>
            </a:r>
          </a:p>
          <a:p>
            <a:pPr defTabSz="914217">
              <a:spcBef>
                <a:spcPts val="380"/>
              </a:spcBef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Dove costi e consumi si discostano dall’andamento atteso, indirizzando le analisi verso le utility con il maggiore potenziale di risparmio.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17328E7-6CCC-9372-1C0F-58C143CC664E}"/>
              </a:ext>
            </a:extLst>
          </p:cNvPr>
          <p:cNvSpPr txBox="1"/>
          <p:nvPr/>
        </p:nvSpPr>
        <p:spPr>
          <a:xfrm>
            <a:off x="480729" y="3710761"/>
            <a:ext cx="29724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Comprendere la causa della criticità prima di pianificare qualsiasi intervento.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 txBox="1"/>
          <p:nvPr/>
        </p:nvSpPr>
        <p:spPr>
          <a:xfrm>
            <a:off x="288755" y="320850"/>
            <a:ext cx="749804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/>
            <a:r>
              <a:rPr lang="it-IT" sz="1200" b="1" dirty="0">
                <a:solidFill>
                  <a:srgbClr val="0F62FE"/>
                </a:solidFill>
                <a:latin typeface="IBM Plex Sans Light"/>
              </a:rPr>
              <a:t>LIVELLO 3 · INTERVAL METER ANALYTICS</a:t>
            </a:r>
          </a:p>
        </p:txBody>
      </p:sp>
      <p:sp>
        <p:nvSpPr>
          <p:cNvPr id="31" name="Title"/>
          <p:cNvSpPr txBox="1"/>
          <p:nvPr/>
        </p:nvSpPr>
        <p:spPr>
          <a:xfrm>
            <a:off x="288755" y="572244"/>
            <a:ext cx="107472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000" b="1" dirty="0"/>
              <a:t>Dove e quando consumiamo energia inutilmente?</a:t>
            </a:r>
            <a:endParaRPr lang="it-IT" sz="2000" dirty="0"/>
          </a:p>
          <a:p>
            <a:pPr defTabSz="914217"/>
            <a:endParaRPr lang="it-IT" sz="20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2" name="CardL"/>
          <p:cNvSpPr/>
          <p:nvPr/>
        </p:nvSpPr>
        <p:spPr>
          <a:xfrm>
            <a:off x="221041" y="1275575"/>
            <a:ext cx="3083771" cy="3115996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7E0F0"/>
            </a:solidFill>
          </a:ln>
          <a:effectLst/>
        </p:spPr>
        <p:txBody>
          <a:bodyPr rtlCol="0" anchor="ctr"/>
          <a:lstStyle/>
          <a:p>
            <a:pPr algn="ctr" defTabSz="914324"/>
            <a:endParaRPr sz="90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34" name="CardL text"/>
          <p:cNvSpPr txBox="1"/>
          <p:nvPr/>
        </p:nvSpPr>
        <p:spPr>
          <a:xfrm>
            <a:off x="401671" y="1262099"/>
            <a:ext cx="2903141" cy="2231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>
              <a:spcAft>
                <a:spcPts val="250"/>
              </a:spcAft>
            </a:pPr>
            <a:r>
              <a:rPr lang="it-IT" sz="1400" b="1" dirty="0">
                <a:solidFill>
                  <a:srgbClr val="0F62FE"/>
                </a:solidFill>
                <a:latin typeface="IBM Plex Sans Light"/>
              </a:rPr>
              <a:t>Cosa consente</a:t>
            </a:r>
          </a:p>
          <a:p>
            <a:pPr defTabSz="914324">
              <a:spcAft>
                <a:spcPts val="250"/>
              </a:spcAft>
            </a:pPr>
            <a:endParaRPr lang="it-IT" sz="1400" b="1" dirty="0">
              <a:solidFill>
                <a:srgbClr val="0F62FE"/>
              </a:solidFill>
              <a:latin typeface="IBM Plex Sans Light"/>
            </a:endParaRP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IBM Plex Sans" panose="020B0503050203000203" pitchFamily="34" charset="0"/>
              </a:rPr>
              <a:t>confrontare profilo di carico reale e atteso;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IBM Plex Sans" panose="020B0503050203000203" pitchFamily="34" charset="0"/>
              </a:rPr>
              <a:t>individuare consumi fuori orario e anomalie;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IBM Plex Sans" panose="020B0503050203000203" pitchFamily="34" charset="0"/>
              </a:rPr>
              <a:t>identificare picchi di domanda e sprechi;</a:t>
            </a:r>
          </a:p>
          <a:p>
            <a:pPr marL="285693" indent="-285693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IBM Plex Sans" panose="020B0503050203000203" pitchFamily="34" charset="0"/>
              </a:rPr>
              <a:t>verificare l’efficacia degli interventi di ottimizzazione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59A68BE-8E2A-B9DE-8EB7-749189574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155" y="1262098"/>
            <a:ext cx="6738937" cy="2863313"/>
          </a:xfrm>
          <a:prstGeom prst="rect">
            <a:avLst/>
          </a:prstGeom>
        </p:spPr>
      </p:pic>
      <p:sp>
        <p:nvSpPr>
          <p:cNvPr id="600" name="Strip"/>
          <p:cNvSpPr txBox="1"/>
          <p:nvPr/>
        </p:nvSpPr>
        <p:spPr>
          <a:xfrm>
            <a:off x="288755" y="4449867"/>
            <a:ext cx="11334524" cy="3799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dirty="0">
                <a:solidFill>
                  <a:srgbClr val="393939"/>
                </a:solidFill>
                <a:latin typeface="IBM Plex Sans"/>
              </a:rPr>
              <a:t>I dati a intervalli confrontano il profilo di carico reale con quello previsto, evidenziando subito anomalie operative e consumi fuori orario.</a:t>
            </a:r>
          </a:p>
        </p:txBody>
      </p:sp>
      <p:sp>
        <p:nvSpPr>
          <p:cNvPr id="610" name="CardValore"/>
          <p:cNvSpPr/>
          <p:nvPr/>
        </p:nvSpPr>
        <p:spPr>
          <a:xfrm>
            <a:off x="288755" y="4759827"/>
            <a:ext cx="5299310" cy="182976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9E3F0"/>
            </a:solidFill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11" name="CardValoretx"/>
          <p:cNvSpPr txBox="1"/>
          <p:nvPr/>
        </p:nvSpPr>
        <p:spPr>
          <a:xfrm>
            <a:off x="518725" y="4949802"/>
            <a:ext cx="4839370" cy="14998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 dirty="0">
                <a:solidFill>
                  <a:srgbClr val="0F62FE"/>
                </a:solidFill>
                <a:latin typeface="IBM Plex Sans"/>
              </a:rPr>
              <a:t>Valore per il management</a:t>
            </a:r>
          </a:p>
          <a:p>
            <a:pPr marL="171416" indent="-171416" defTabSz="914217">
              <a:spcBef>
                <a:spcPts val="36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individuare edifici o impianti accesi fuori orario;</a:t>
            </a:r>
          </a:p>
          <a:p>
            <a:pPr marL="171416" indent="-171416" defTabSz="914217">
              <a:spcBef>
                <a:spcPts val="36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correggere programmazioni errate di HVAC, illuminazione e linee produttive;</a:t>
            </a:r>
          </a:p>
          <a:p>
            <a:pPr marL="171416" indent="-171416" defTabSz="914217">
              <a:spcBef>
                <a:spcPts val="36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ridurre subito consumi e costi senza investimenti;</a:t>
            </a:r>
          </a:p>
          <a:p>
            <a:pPr marL="171416" indent="-171416" defTabSz="914217">
              <a:spcBef>
                <a:spcPts val="360"/>
              </a:spcBef>
              <a:buFont typeface="Arial"/>
              <a:buChar char="✓"/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monitorare nel tempo il rispetto del profilo di carico atteso.</a:t>
            </a:r>
          </a:p>
        </p:txBody>
      </p:sp>
      <p:sp>
        <p:nvSpPr>
          <p:cNvPr id="620" name="CardCaso"/>
          <p:cNvSpPr/>
          <p:nvPr/>
        </p:nvSpPr>
        <p:spPr>
          <a:xfrm>
            <a:off x="5800039" y="4759827"/>
            <a:ext cx="6103205" cy="1829762"/>
          </a:xfrm>
          <a:prstGeom prst="roundRect">
            <a:avLst>
              <a:gd name="adj" fmla="val 5000"/>
            </a:avLst>
          </a:prstGeom>
          <a:solidFill>
            <a:srgbClr val="EDF5FF"/>
          </a:solidFill>
          <a:ln w="12700">
            <a:solidFill>
              <a:srgbClr val="D9E3F0"/>
            </a:solidFill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21" name="CardCasotx"/>
          <p:cNvSpPr txBox="1"/>
          <p:nvPr/>
        </p:nvSpPr>
        <p:spPr>
          <a:xfrm>
            <a:off x="6030009" y="4949802"/>
            <a:ext cx="5643265" cy="14998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 dirty="0">
                <a:solidFill>
                  <a:srgbClr val="0F62FE"/>
                </a:solidFill>
                <a:latin typeface="IBM Plex Sans"/>
              </a:rPr>
              <a:t>Caso reale</a:t>
            </a:r>
          </a:p>
          <a:p>
            <a:pPr defTabSz="914217">
              <a:spcBef>
                <a:spcPts val="360"/>
              </a:spcBef>
            </a:pPr>
            <a:r>
              <a:rPr lang="it-IT" sz="1400" dirty="0">
                <a:solidFill>
                  <a:srgbClr val="222222"/>
                </a:solidFill>
                <a:latin typeface="IBM Plex Sans"/>
              </a:rPr>
              <a:t>Alle 05:00 un edificio assorbe come in orario lavorativo: il confronto con il profilo atteso mostra impianti (HVAC, illuminazione) rimasti accesi di notte.</a:t>
            </a:r>
          </a:p>
          <a:p>
            <a:pPr defTabSz="914217">
              <a:spcBef>
                <a:spcPts val="360"/>
              </a:spcBef>
            </a:pPr>
            <a:r>
              <a:rPr lang="it-IT" sz="1400" b="1" dirty="0">
                <a:solidFill>
                  <a:srgbClr val="222222"/>
                </a:solidFill>
                <a:latin typeface="IBM Plex Sans"/>
              </a:rPr>
              <a:t>Decisione: correggere la programmazione e gli orari di funzionamento.</a:t>
            </a:r>
          </a:p>
          <a:p>
            <a:pPr defTabSz="914217">
              <a:spcBef>
                <a:spcPts val="300"/>
              </a:spcBef>
            </a:pPr>
            <a:r>
              <a:rPr lang="it-IT" sz="1400" b="1" dirty="0">
                <a:solidFill>
                  <a:srgbClr val="222222"/>
                </a:solidFill>
                <a:latin typeface="IBM Plex Sans"/>
              </a:rPr>
              <a:t>Risultato: consumi ridotti subito, senza investimenti.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A101D1-78A1-AF3C-9A3A-D7335CBF0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318" y="1300277"/>
            <a:ext cx="4049473" cy="1906752"/>
          </a:xfrm>
          <a:prstGeom prst="rect">
            <a:avLst/>
          </a:prstGeom>
        </p:spPr>
      </p:pic>
      <p:sp>
        <p:nvSpPr>
          <p:cNvPr id="30" name="Eyebrow"/>
          <p:cNvSpPr txBox="1"/>
          <p:nvPr/>
        </p:nvSpPr>
        <p:spPr>
          <a:xfrm>
            <a:off x="288755" y="320850"/>
            <a:ext cx="749804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/>
            <a:r>
              <a:rPr lang="it-IT" sz="1200" b="1">
                <a:solidFill>
                  <a:srgbClr val="0F62FE"/>
                </a:solidFill>
                <a:latin typeface="IBM Plex Sans Light"/>
              </a:rPr>
              <a:t>QUALITÀ DEL DATO E PROSSIMI PASSI</a:t>
            </a:r>
          </a:p>
        </p:txBody>
      </p:sp>
      <p:sp>
        <p:nvSpPr>
          <p:cNvPr id="31" name="Title"/>
          <p:cNvSpPr txBox="1"/>
          <p:nvPr/>
        </p:nvSpPr>
        <p:spPr>
          <a:xfrm>
            <a:off x="288755" y="572244"/>
            <a:ext cx="1074720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217"/>
            <a:r>
              <a:rPr lang="it-IT" sz="2000" b="1" dirty="0">
                <a:solidFill>
                  <a:prstClr val="black"/>
                </a:solidFill>
                <a:latin typeface="Aptos" panose="02110004020202020204"/>
              </a:rPr>
              <a:t>Garantire dati affidabili prima di prendere decisioni e comunicare agli stakeholders</a:t>
            </a:r>
            <a:endParaRPr lang="it-IT" sz="20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2" name="CardL"/>
          <p:cNvSpPr/>
          <p:nvPr/>
        </p:nvSpPr>
        <p:spPr>
          <a:xfrm>
            <a:off x="288755" y="1300277"/>
            <a:ext cx="3199583" cy="4099466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7E0F0"/>
            </a:solidFill>
          </a:ln>
          <a:effectLst/>
        </p:spPr>
        <p:txBody>
          <a:bodyPr rtlCol="0" anchor="ctr"/>
          <a:lstStyle/>
          <a:p>
            <a:pPr algn="ctr" defTabSz="914324"/>
            <a:endParaRPr sz="90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34" name="CardL text"/>
          <p:cNvSpPr txBox="1"/>
          <p:nvPr/>
        </p:nvSpPr>
        <p:spPr>
          <a:xfrm>
            <a:off x="480729" y="1470255"/>
            <a:ext cx="2829632" cy="3786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324">
              <a:spcAft>
                <a:spcPts val="250"/>
              </a:spcAft>
            </a:pPr>
            <a:r>
              <a:rPr lang="it-IT" sz="1600" b="1" dirty="0">
                <a:solidFill>
                  <a:srgbClr val="0F62FE"/>
                </a:solidFill>
                <a:latin typeface="IBM Plex Sans" panose="020B0503050203000203" pitchFamily="34" charset="0"/>
              </a:rPr>
              <a:t>Qualità del dato e alert</a:t>
            </a:r>
          </a:p>
          <a:p>
            <a:pPr defTabSz="914324">
              <a:spcAft>
                <a:spcPts val="250"/>
              </a:spcAft>
            </a:pPr>
            <a:endParaRPr lang="it-IT" sz="1600" b="1" dirty="0">
              <a:solidFill>
                <a:srgbClr val="0F62FE"/>
              </a:solidFill>
              <a:latin typeface="IBM Plex Sans" panose="020B0503050203000203" pitchFamily="34" charset="0"/>
            </a:endParaRPr>
          </a:p>
          <a:p>
            <a:pPr marL="285693" indent="-285693" defTabSz="914217">
              <a:lnSpc>
                <a:spcPct val="87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verificare automaticamente completezza e qualità dei dati energetici;</a:t>
            </a:r>
            <a:endParaRPr lang="it-IT" sz="1600">
              <a:solidFill>
                <a:prstClr val="black"/>
              </a:solidFill>
              <a:latin typeface="IBM Plex Sans" panose="020B0503050203000203" pitchFamily="34" charset="0"/>
            </a:endParaRPr>
          </a:p>
          <a:p>
            <a:pPr marL="285693" indent="-285693" defTabSz="914217">
              <a:lnSpc>
                <a:spcPct val="87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individuare dati mancanti, ritardi di acquisizione e contatori inattivi;</a:t>
            </a:r>
            <a:endParaRPr lang="it-IT" sz="1600">
              <a:solidFill>
                <a:prstClr val="black"/>
              </a:solidFill>
              <a:latin typeface="IBM Plex Sans" panose="020B0503050203000203" pitchFamily="34" charset="0"/>
            </a:endParaRPr>
          </a:p>
          <a:p>
            <a:pPr marL="285693" indent="-285693" defTabSz="914217">
              <a:lnSpc>
                <a:spcPct val="87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confrontare dati fatturati e dati misurati per identificare anomalie;</a:t>
            </a:r>
            <a:endParaRPr lang="it-IT" sz="1600">
              <a:solidFill>
                <a:prstClr val="black"/>
              </a:solidFill>
              <a:latin typeface="IBM Plex Sans" panose="020B0503050203000203" pitchFamily="34" charset="0"/>
            </a:endParaRPr>
          </a:p>
          <a:p>
            <a:pPr marL="285693" indent="-285693" defTabSz="914217">
              <a:lnSpc>
                <a:spcPct val="87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generare </a:t>
            </a:r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alert automatici sui contatori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e assegnare le priorità di intervento.</a:t>
            </a:r>
            <a:endParaRPr lang="it-IT" sz="1600">
              <a:solidFill>
                <a:prstClr val="black"/>
              </a:solidFill>
              <a:latin typeface="IBM Plex Sans" panose="020B0503050203000203" pitchFamily="34" charset="0"/>
            </a:endParaRPr>
          </a:p>
          <a:p>
            <a:pPr defTabSz="914217"/>
            <a:b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</a:br>
            <a:endParaRPr lang="it-IT" sz="1600" dirty="0">
              <a:solidFill>
                <a:prstClr val="black"/>
              </a:solidFill>
              <a:latin typeface="IBM Plex Sans" panose="020B0503050203000203" pitchFamily="34" charset="0"/>
            </a:endParaRPr>
          </a:p>
        </p:txBody>
      </p:sp>
      <p:sp>
        <p:nvSpPr>
          <p:cNvPr id="37" name="Bar text"/>
          <p:cNvSpPr txBox="1"/>
          <p:nvPr/>
        </p:nvSpPr>
        <p:spPr>
          <a:xfrm>
            <a:off x="480729" y="6106320"/>
            <a:ext cx="1161448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La qualità del dato è il fondamento dell’Energy Management: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solo dati completi, tempestivi e verificabili consentono analisi affidabili, decisioni corrette e report ESG difendibili in sede di audit.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F6161933-61B0-92AC-F044-D6378AA29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771" y="1300277"/>
            <a:ext cx="4049473" cy="2028736"/>
          </a:xfrm>
          <a:prstGeom prst="rect">
            <a:avLst/>
          </a:prstGeom>
        </p:spPr>
      </p:pic>
      <p:sp>
        <p:nvSpPr>
          <p:cNvPr id="700" name="CardCaso"/>
          <p:cNvSpPr/>
          <p:nvPr/>
        </p:nvSpPr>
        <p:spPr>
          <a:xfrm>
            <a:off x="3650319" y="3499991"/>
            <a:ext cx="8252925" cy="1899753"/>
          </a:xfrm>
          <a:prstGeom prst="roundRect">
            <a:avLst>
              <a:gd name="adj" fmla="val 4000"/>
            </a:avLst>
          </a:prstGeom>
          <a:solidFill>
            <a:srgbClr val="EDF5FF"/>
          </a:solidFill>
          <a:ln w="12700">
            <a:solidFill>
              <a:srgbClr val="D9E3F0"/>
            </a:solidFill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701" name="CardCasotx"/>
          <p:cNvSpPr txBox="1"/>
          <p:nvPr/>
        </p:nvSpPr>
        <p:spPr>
          <a:xfrm>
            <a:off x="3890287" y="3689966"/>
            <a:ext cx="7772988" cy="15597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600" b="1" dirty="0">
                <a:solidFill>
                  <a:srgbClr val="0F62FE"/>
                </a:solidFill>
                <a:latin typeface="IBM Plex Sans" panose="020B0503050203000203" pitchFamily="34" charset="0"/>
              </a:rPr>
              <a:t>Caso reale</a:t>
            </a:r>
          </a:p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Alle 7:00 del mattino l’Energy Manager riceve un alert: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il contatore dello stabilimento di </a:t>
            </a:r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Segrate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non trasmette dati da alcune ore.</a:t>
            </a:r>
          </a:p>
          <a:p>
            <a:pPr defTabSz="914217"/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L’</a:t>
            </a:r>
            <a:r>
              <a:rPr lang="it-IT" sz="1600" b="1" dirty="0" err="1">
                <a:solidFill>
                  <a:prstClr val="black"/>
                </a:solidFill>
                <a:latin typeface="IBM Plex Sans" panose="020B0503050203000203" pitchFamily="34" charset="0"/>
              </a:rPr>
              <a:t>Interval</a:t>
            </a:r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 Meter Analytics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segnala automaticamente l’inattività del contatore, mentre la </a:t>
            </a:r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Data Health Dashboard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evidenzia la copertura incompleta del periodo.</a:t>
            </a:r>
          </a:p>
          <a:p>
            <a:pPr defTabSz="914217"/>
            <a:r>
              <a:rPr lang="it-IT" sz="1600" b="1" dirty="0">
                <a:solidFill>
                  <a:prstClr val="black"/>
                </a:solidFill>
                <a:latin typeface="IBM Plex Sans" panose="020B0503050203000203" pitchFamily="34" charset="0"/>
              </a:rPr>
              <a:t>Decisione:</a:t>
            </a: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 verificare il contatore, ripristinare l’acquisizione e recuperare i dati mancanti prima che KPI, dashboard e report ESG risultino incompleti.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37C54910-49AC-FD87-92B2-4C2FAF2F2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813" y="1728"/>
            <a:ext cx="12190393" cy="685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5497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F06B2978-4DF4-4702-BF69-24208C27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"/>
          <a:stretch>
            <a:fillRect/>
          </a:stretch>
        </p:blipFill>
        <p:spPr>
          <a:xfrm>
            <a:off x="105505" y="118944"/>
            <a:ext cx="12191990" cy="685582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69695FE-A411-0CD4-58FD-62F2D3C1A391}"/>
              </a:ext>
            </a:extLst>
          </p:cNvPr>
          <p:cNvSpPr txBox="1"/>
          <p:nvPr/>
        </p:nvSpPr>
        <p:spPr>
          <a:xfrm>
            <a:off x="1277649" y="6236008"/>
            <a:ext cx="693915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dirty="0">
                <a:solidFill>
                  <a:prstClr val="black"/>
                </a:solidFill>
                <a:latin typeface="IBM Plex Sans" panose="020B0503050203000203" pitchFamily="34" charset="0"/>
              </a:rPr>
              <a:t>Ogni livello non sostituisce il precedente: lo approfondisce fino ad arrivare alla decisione operativa.</a:t>
            </a:r>
          </a:p>
        </p:txBody>
      </p:sp>
    </p:spTree>
    <p:extLst>
      <p:ext uri="{BB962C8B-B14F-4D97-AF65-F5344CB8AC3E}">
        <p14:creationId xmlns:p14="http://schemas.microsoft.com/office/powerpoint/2010/main" val="163840374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0BEB-2235-5141-B987-77A37DDB7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9B6D2DEA-8006-8693-D70E-B1D15195A86A}"/>
              </a:ext>
            </a:extLst>
          </p:cNvPr>
          <p:cNvGraphicFramePr>
            <a:graphicFrameLocks noGrp="1"/>
          </p:cNvGraphicFramePr>
          <p:nvPr/>
        </p:nvGraphicFramePr>
        <p:xfrm>
          <a:off x="748153" y="1067715"/>
          <a:ext cx="10797190" cy="42694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7644">
                  <a:extLst>
                    <a:ext uri="{9D8B030D-6E8A-4147-A177-3AD203B41FA5}">
                      <a16:colId xmlns:a16="http://schemas.microsoft.com/office/drawing/2014/main" val="1477049571"/>
                    </a:ext>
                  </a:extLst>
                </a:gridCol>
                <a:gridCol w="1079718">
                  <a:extLst>
                    <a:ext uri="{9D8B030D-6E8A-4147-A177-3AD203B41FA5}">
                      <a16:colId xmlns:a16="http://schemas.microsoft.com/office/drawing/2014/main" val="3567469691"/>
                    </a:ext>
                  </a:extLst>
                </a:gridCol>
                <a:gridCol w="863776">
                  <a:extLst>
                    <a:ext uri="{9D8B030D-6E8A-4147-A177-3AD203B41FA5}">
                      <a16:colId xmlns:a16="http://schemas.microsoft.com/office/drawing/2014/main" val="3226226196"/>
                    </a:ext>
                  </a:extLst>
                </a:gridCol>
                <a:gridCol w="863776">
                  <a:extLst>
                    <a:ext uri="{9D8B030D-6E8A-4147-A177-3AD203B41FA5}">
                      <a16:colId xmlns:a16="http://schemas.microsoft.com/office/drawing/2014/main" val="3470368999"/>
                    </a:ext>
                  </a:extLst>
                </a:gridCol>
                <a:gridCol w="863776">
                  <a:extLst>
                    <a:ext uri="{9D8B030D-6E8A-4147-A177-3AD203B41FA5}">
                      <a16:colId xmlns:a16="http://schemas.microsoft.com/office/drawing/2014/main" val="527035685"/>
                    </a:ext>
                  </a:extLst>
                </a:gridCol>
                <a:gridCol w="5758500">
                  <a:extLst>
                    <a:ext uri="{9D8B030D-6E8A-4147-A177-3AD203B41FA5}">
                      <a16:colId xmlns:a16="http://schemas.microsoft.com/office/drawing/2014/main" val="1458822144"/>
                    </a:ext>
                  </a:extLst>
                </a:gridCol>
              </a:tblGrid>
              <a:tr h="42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FFFFFF"/>
                          </a:solidFill>
                          <a:latin typeface="IBM Plex Sans"/>
                        </a:rPr>
                        <a:t>Indicatore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0F62FE"/>
                      </a:solidFill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FFFFFF"/>
                          </a:solidFill>
                          <a:latin typeface="IBM Plex Sans"/>
                        </a:rPr>
                        <a:t>U.M.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0F62FE"/>
                      </a:solidFill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1" dirty="0">
                          <a:solidFill>
                            <a:srgbClr val="FFFFFF"/>
                          </a:solidFill>
                          <a:latin typeface="IBM Plex Sans"/>
                        </a:rPr>
                        <a:t>2024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0F62FE"/>
                      </a:solidFill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1" dirty="0">
                          <a:solidFill>
                            <a:srgbClr val="FFFFFF"/>
                          </a:solidFill>
                          <a:latin typeface="IBM Plex Sans"/>
                        </a:rPr>
                        <a:t>2025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0F62FE"/>
                      </a:solidFill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1" dirty="0">
                          <a:solidFill>
                            <a:srgbClr val="FFFFFF"/>
                          </a:solidFill>
                          <a:latin typeface="IBM Plex Sans"/>
                        </a:rPr>
                        <a:t>2026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0F62FE"/>
                      </a:solidFill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b="1" dirty="0">
                          <a:solidFill>
                            <a:srgbClr val="FFFFFF"/>
                          </a:solidFill>
                          <a:latin typeface="IBM Plex Sans"/>
                        </a:rPr>
                        <a:t>Scenario di business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0F62FE"/>
                      </a:solidFill>
                    </a:lnB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842703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161616"/>
                          </a:solidFill>
                          <a:latin typeface="IBM Plex Sans"/>
                        </a:rPr>
                        <a:t>Pompe prodotte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0F6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n.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0F6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13.800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0F6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14.600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0F6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15.200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0F6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Produzione pompe industriali: +10% in tre anni (crescita del business). </a:t>
                      </a:r>
                      <a:b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</a:b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30 M€ Fatturato 2026, 3 sedi.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0F6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65253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161616"/>
                          </a:solidFill>
                          <a:latin typeface="IBM Plex Sans"/>
                        </a:rPr>
                        <a:t>Personale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FTE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138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145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150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Personale: +9%, inferiore alla crescita della produzione → aumento della produttività.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902637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161616"/>
                          </a:solidFill>
                          <a:latin typeface="IBM Plex Sans"/>
                        </a:rPr>
                        <a:t>Gas naturale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Sm³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610.000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635.000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650.000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Gas: cresce poco rispetto alla produzione → migliore efficienza dei processi termici.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601407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161616"/>
                          </a:solidFill>
                          <a:latin typeface="IBM Plex Sans"/>
                        </a:rPr>
                        <a:t>Water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m³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18.500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19.100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19.800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Acqua: incremento contenuto, in linea con l’aumento produttivo.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42945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161616"/>
                          </a:solidFill>
                          <a:latin typeface="IBM Plex Sans"/>
                        </a:rPr>
                        <a:t>Waste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t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610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595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570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Waste: diminuisce nonostante la crescita della produzione → miglior utilizzo delle materie prime.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194322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161616"/>
                          </a:solidFill>
                          <a:latin typeface="IBM Plex Sans"/>
                        </a:rPr>
                        <a:t>Refrigerants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kg ricaricati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42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36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28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Refrigeranti: ridotti grazie al rinnovo degli impianti HVAC.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43024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161616"/>
                          </a:solidFill>
                          <a:latin typeface="IBM Plex Sans"/>
                        </a:rPr>
                        <a:t>Guarantees of Origin (GO)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% elettricità coperta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35%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50%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70%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GO: aumento progressivo dell’energia elettrica certificata rinnovabile.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308982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1" dirty="0">
                          <a:solidFill>
                            <a:srgbClr val="161616"/>
                          </a:solidFill>
                          <a:latin typeface="IBM Plex Sans"/>
                        </a:rPr>
                        <a:t>Carbon Offset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tCO₂e compensate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120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250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="0" dirty="0">
                          <a:solidFill>
                            <a:srgbClr val="393939"/>
                          </a:solidFill>
                          <a:latin typeface="IBM Plex Sans"/>
                        </a:rPr>
                        <a:t>Carbon Offset: introdotto per compensare parte delle emissioni residue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53816"/>
                  </a:ext>
                </a:extLst>
              </a:tr>
            </a:tbl>
          </a:graphicData>
        </a:graphic>
      </p:graphicFrame>
      <p:sp>
        <p:nvSpPr>
          <p:cNvPr id="801" name="Title"/>
          <p:cNvSpPr txBox="1"/>
          <p:nvPr/>
        </p:nvSpPr>
        <p:spPr>
          <a:xfrm>
            <a:off x="457934" y="430391"/>
            <a:ext cx="8598880" cy="4199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900" b="1" dirty="0">
                <a:solidFill>
                  <a:srgbClr val="161616"/>
                </a:solidFill>
                <a:latin typeface="IBM Plex Sans"/>
              </a:rPr>
              <a:t>Dataset rappresentativo di una PMI manifatturiera italiana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132A7AA-E579-0914-E8BA-9F2BF228D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108" y="894"/>
            <a:ext cx="1943478" cy="728804"/>
          </a:xfrm>
          <a:prstGeom prst="rect">
            <a:avLst/>
          </a:prstGeom>
        </p:spPr>
      </p:pic>
      <p:sp>
        <p:nvSpPr>
          <p:cNvPr id="802" name="Sub"/>
          <p:cNvSpPr txBox="1"/>
          <p:nvPr/>
        </p:nvSpPr>
        <p:spPr>
          <a:xfrm>
            <a:off x="457934" y="817308"/>
            <a:ext cx="8598880" cy="2399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200" dirty="0">
                <a:solidFill>
                  <a:srgbClr val="525252"/>
                </a:solidFill>
                <a:latin typeface="IBM Plex Sans"/>
              </a:rPr>
              <a:t>Valori utilizzati nella PoC IBM Envizi: produzione, consumi, emissioni e leve di decarbonizzazione.</a:t>
            </a:r>
          </a:p>
        </p:txBody>
      </p:sp>
      <p:sp>
        <p:nvSpPr>
          <p:cNvPr id="810" name="CardWhy"/>
          <p:cNvSpPr/>
          <p:nvPr/>
        </p:nvSpPr>
        <p:spPr>
          <a:xfrm>
            <a:off x="457934" y="5559723"/>
            <a:ext cx="11276132" cy="101986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811" name="AccentWhy"/>
          <p:cNvSpPr/>
          <p:nvPr/>
        </p:nvSpPr>
        <p:spPr>
          <a:xfrm>
            <a:off x="457934" y="5559723"/>
            <a:ext cx="59992" cy="101986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>
            <a:pPr defTabSz="914217"/>
            <a:endParaRPr sz="9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812" name="WhyTxt"/>
          <p:cNvSpPr txBox="1"/>
          <p:nvPr/>
        </p:nvSpPr>
        <p:spPr>
          <a:xfrm>
            <a:off x="697903" y="5699704"/>
            <a:ext cx="10898581" cy="7599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defTabSz="914217"/>
            <a:r>
              <a:rPr lang="it-IT" sz="1400" b="1" dirty="0">
                <a:solidFill>
                  <a:srgbClr val="161616"/>
                </a:solidFill>
                <a:latin typeface="IBM Plex Sans"/>
              </a:rPr>
              <a:t>Perché questo dataset</a:t>
            </a:r>
          </a:p>
          <a:p>
            <a:pPr defTabSz="914217">
              <a:spcBef>
                <a:spcPts val="300"/>
              </a:spcBef>
            </a:pPr>
            <a:r>
              <a:rPr lang="it-IT" sz="1400" dirty="0">
                <a:solidFill>
                  <a:srgbClr val="393939"/>
                </a:solidFill>
                <a:latin typeface="IBM Plex Sans"/>
              </a:rPr>
              <a:t>Rappresenta una PMI manifatturiera italiana realistica, mantiene relazioni coerenti tra produzione, consumi ed emissioni e consente di simulare scenari di crescita, efficienza energetica e decarbonizzazione in IBM Envizi.</a:t>
            </a:r>
          </a:p>
        </p:txBody>
      </p:sp>
    </p:spTree>
    <p:extLst>
      <p:ext uri="{BB962C8B-B14F-4D97-AF65-F5344CB8AC3E}">
        <p14:creationId xmlns:p14="http://schemas.microsoft.com/office/powerpoint/2010/main" val="567196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9362" y="5641561"/>
            <a:ext cx="1087994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dirty="0">
                <a:solidFill>
                  <a:srgbClr val="073E31"/>
                </a:solidFill>
                <a:latin typeface="Calibri"/>
              </a:rPr>
              <a:t> </a:t>
            </a:r>
            <a:endParaRPr sz="240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790" y="274731"/>
            <a:ext cx="1005709" cy="7314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 sz="2000"/>
          </a:p>
        </p:txBody>
      </p:sp>
      <p:sp>
        <p:nvSpPr>
          <p:cNvPr id="5" name="TextBox 4"/>
          <p:cNvSpPr txBox="1"/>
          <p:nvPr/>
        </p:nvSpPr>
        <p:spPr>
          <a:xfrm>
            <a:off x="640790" y="457587"/>
            <a:ext cx="1090737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7884" y="219874"/>
            <a:ext cx="2742843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400" b="1" dirty="0">
                <a:solidFill>
                  <a:srgbClr val="0F62FE"/>
                </a:solidFill>
                <a:latin typeface="IBM Plex San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791" y="1280440"/>
            <a:ext cx="6217110" cy="603112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3799" b="1" dirty="0">
                <a:solidFill>
                  <a:srgbClr val="11233F"/>
                </a:solidFill>
                <a:latin typeface="IBM Plex San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790" y="2085006"/>
            <a:ext cx="1005709" cy="5485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09">
              <a:defRPr/>
            </a:pPr>
            <a:endParaRPr sz="9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790" y="2423292"/>
            <a:ext cx="5897112" cy="541685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700">
                <a:solidFill>
                  <a:srgbClr val="5B687A"/>
                </a:solidFill>
                <a:latin typeface="IBM Plex San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791" y="3822140"/>
            <a:ext cx="4205692" cy="264686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600" b="1" dirty="0">
                <a:solidFill>
                  <a:srgbClr val="11233F"/>
                </a:solidFill>
                <a:latin typeface="IBM Plex San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790" y="4206139"/>
            <a:ext cx="5119973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400">
                <a:solidFill>
                  <a:srgbClr val="1F252E"/>
                </a:solidFill>
                <a:latin typeface="IBM Plex San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790" y="4516995"/>
            <a:ext cx="5302830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400">
                <a:solidFill>
                  <a:srgbClr val="1F252E"/>
                </a:solidFill>
                <a:latin typeface="IBM Plex San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790" y="5047278"/>
            <a:ext cx="5302830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400" b="1" dirty="0" err="1">
                <a:solidFill>
                  <a:srgbClr val="0F62FE"/>
                </a:solidFill>
                <a:latin typeface="IBM Plex Sans"/>
              </a:rPr>
              <a:t>linkedin.com</a:t>
            </a:r>
            <a:r>
              <a:rPr sz="1400" b="1" dirty="0">
                <a:solidFill>
                  <a:srgbClr val="0F62FE"/>
                </a:solidFill>
                <a:latin typeface="IBM Plex Sans"/>
              </a:rPr>
              <a:t>/in/</a:t>
            </a:r>
            <a:r>
              <a:rPr sz="1400" b="1" dirty="0" err="1">
                <a:solidFill>
                  <a:srgbClr val="0F62FE"/>
                </a:solidFill>
                <a:latin typeface="IBM Plex Sans"/>
              </a:rPr>
              <a:t>fpetrignano</a:t>
            </a:r>
            <a:endParaRPr sz="1400" b="1" dirty="0">
              <a:solidFill>
                <a:srgbClr val="0F62FE"/>
              </a:solidFill>
              <a:latin typeface="IBM Plex San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040" y="640443"/>
            <a:ext cx="3794266" cy="5439972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09">
              <a:defRPr/>
            </a:pPr>
            <a:endParaRPr sz="9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0752" y="1079298"/>
            <a:ext cx="3062841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algn="ctr" defTabSz="457109">
              <a:defRPr/>
            </a:pPr>
            <a:r>
              <a:rPr sz="1400" b="1">
                <a:solidFill>
                  <a:srgbClr val="0F62FE"/>
                </a:solidFill>
                <a:latin typeface="IBM Plex San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453" y="1600438"/>
            <a:ext cx="2529438" cy="3154269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0752" y="5074706"/>
            <a:ext cx="3062841" cy="449352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algn="ctr" defTabSz="457109">
              <a:defRPr/>
            </a:pPr>
            <a:r>
              <a:rPr sz="1400" b="1">
                <a:solidFill>
                  <a:srgbClr val="11233F"/>
                </a:solidFill>
                <a:latin typeface="IBM Plex San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2284463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133" y="176831"/>
            <a:ext cx="3029167" cy="2670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1" tIns="0" rIns="36571" bIns="0" rtlCol="0" anchor="ctr">
            <a:noAutofit/>
          </a:bodyPr>
          <a:lstStyle/>
          <a:p>
            <a:pPr algn="ctr" defTabSz="914217">
              <a:defRPr/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IBM Envizi</a:t>
            </a:r>
            <a:endParaRPr lang="it-IT" sz="90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790" y="274731"/>
            <a:ext cx="1005709" cy="7314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defTabSz="914217">
              <a:defRPr/>
            </a:pPr>
            <a:endParaRPr lang="it-IT" sz="9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790" y="457587"/>
            <a:ext cx="10907372" cy="369284"/>
          </a:xfrm>
          <a:prstGeom prst="rect">
            <a:avLst/>
          </a:prstGeom>
          <a:noFill/>
        </p:spPr>
        <p:txBody>
          <a:bodyPr wrap="square" lIns="36571" tIns="0" rIns="36571" bIns="0" anchor="t">
            <a:noAutofit/>
          </a:bodyPr>
          <a:lstStyle/>
          <a:p>
            <a:pPr defTabSz="914217"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  <a:cs typeface="Calibri"/>
              </a:rPr>
              <a:t>Riferimenti ufficiali</a:t>
            </a:r>
            <a:r>
              <a:rPr sz="2400" b="1">
                <a:solidFill>
                  <a:srgbClr val="073E31"/>
                </a:solidFill>
                <a:latin typeface="Calibri"/>
                <a:cs typeface="Calibri"/>
              </a:rPr>
              <a:t>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790" y="1509010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3"/>
              </a:rPr>
              <a:t>Utility Bill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790" y="1984436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Analisi di costi, consumi e anomalie delle utenze.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790" y="2752433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4"/>
              </a:rPr>
              <a:t>Report e controlli sulle bollette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790" y="3227858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Scostamenti, lacune e sovrapposizioni nei dati.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790" y="3995855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5"/>
              </a:rPr>
              <a:t>Interval Metering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90" y="4471280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Dati a intervalli, contatori e viste di dettaglio.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04" y="1509010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6"/>
              </a:rPr>
              <a:t>Benchmark e contatori virtuali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04" y="1984436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Intensità normalizzate e modellazione dei carichi.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04" y="2752433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7"/>
              </a:rPr>
              <a:t>Regole, alert e issue dei contatori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04" y="3227858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Condizioni, assegnazioni e notifiche configurabili.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04" y="3995855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8"/>
              </a:rPr>
              <a:t>Alert di inattività degli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04" y="4471280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Segnalazioni quando mancano i dati attesi.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790" y="5650703"/>
            <a:ext cx="1090737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500">
                <a:solidFill>
                  <a:srgbClr val="333333"/>
                </a:solidFill>
                <a:latin typeface="Calibri"/>
              </a:rPr>
              <a:t>Documentazione IBM in inglese. Consultazione: 9 ottobre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48400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3744</Words>
  <Application>Microsoft Macintosh PowerPoint</Application>
  <PresentationFormat>Widescreen</PresentationFormat>
  <Paragraphs>447</Paragraphs>
  <Slides>25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IBM Plex Sans</vt:lpstr>
      <vt:lpstr>IBM Plex Sans Light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17</cp:revision>
  <dcterms:created xsi:type="dcterms:W3CDTF">2026-10-09T13:31:22Z</dcterms:created>
  <dcterms:modified xsi:type="dcterms:W3CDTF">2026-10-14T09:54:20Z</dcterms:modified>
</cp:coreProperties>
</file>