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44"/>
  </p:notesMasterIdLst>
  <p:sldIdLst>
    <p:sldId id="635" r:id="rId3"/>
    <p:sldId id="260" r:id="rId4"/>
    <p:sldId id="268" r:id="rId5"/>
    <p:sldId id="701" r:id="rId6"/>
    <p:sldId id="709" r:id="rId7"/>
    <p:sldId id="710" r:id="rId8"/>
    <p:sldId id="711" r:id="rId9"/>
    <p:sldId id="621" r:id="rId10"/>
    <p:sldId id="620" r:id="rId11"/>
    <p:sldId id="712" r:id="rId12"/>
    <p:sldId id="618" r:id="rId13"/>
    <p:sldId id="713" r:id="rId14"/>
    <p:sldId id="714" r:id="rId15"/>
    <p:sldId id="715" r:id="rId16"/>
    <p:sldId id="716" r:id="rId17"/>
    <p:sldId id="343" r:id="rId18"/>
    <p:sldId id="307" r:id="rId19"/>
    <p:sldId id="256" r:id="rId20"/>
    <p:sldId id="765" r:id="rId21"/>
    <p:sldId id="766" r:id="rId22"/>
    <p:sldId id="320" r:id="rId23"/>
    <p:sldId id="767" r:id="rId24"/>
    <p:sldId id="391" r:id="rId25"/>
    <p:sldId id="430" r:id="rId26"/>
    <p:sldId id="762" r:id="rId27"/>
    <p:sldId id="432" r:id="rId28"/>
    <p:sldId id="763" r:id="rId29"/>
    <p:sldId id="768" r:id="rId30"/>
    <p:sldId id="420" r:id="rId31"/>
    <p:sldId id="419" r:id="rId32"/>
    <p:sldId id="421" r:id="rId33"/>
    <p:sldId id="422" r:id="rId34"/>
    <p:sldId id="314" r:id="rId35"/>
    <p:sldId id="308" r:id="rId36"/>
    <p:sldId id="309" r:id="rId37"/>
    <p:sldId id="311" r:id="rId38"/>
    <p:sldId id="312" r:id="rId39"/>
    <p:sldId id="310" r:id="rId40"/>
    <p:sldId id="313" r:id="rId41"/>
    <p:sldId id="402" r:id="rId42"/>
    <p:sldId id="2147472656" r:id="rId43"/>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58"/>
  </p:normalViewPr>
  <p:slideViewPr>
    <p:cSldViewPr snapToGrid="0">
      <p:cViewPr varScale="1">
        <p:scale>
          <a:sx n="99" d="100"/>
          <a:sy n="99" d="100"/>
        </p:scale>
        <p:origin x="192" y="6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86634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7EE89-4BDF-4A13-1CBE-7385029C65F5}"/>
            </a:ext>
          </a:extLst>
        </p:cNvPr>
        <p:cNvGrpSpPr/>
        <p:nvPr/>
      </p:nvGrpSpPr>
      <p:grpSpPr>
        <a:xfrm>
          <a:off x="0" y="0"/>
          <a:ext cx="0" cy="0"/>
          <a:chOff x="0" y="0"/>
          <a:chExt cx="0" cy="0"/>
        </a:xfrm>
      </p:grpSpPr>
      <p:sp>
        <p:nvSpPr>
          <p:cNvPr id="4253" name="PlaceHolder 1">
            <a:extLst>
              <a:ext uri="{FF2B5EF4-FFF2-40B4-BE49-F238E27FC236}">
                <a16:creationId xmlns:a16="http://schemas.microsoft.com/office/drawing/2014/main" id="{0FC1C29E-C31A-687F-CDAF-D242CBC89A33}"/>
              </a:ext>
            </a:extLst>
          </p:cNvPr>
          <p:cNvSpPr>
            <a:spLocks noGrp="1" noRot="1" noChangeAspect="1"/>
          </p:cNvSpPr>
          <p:nvPr>
            <p:ph type="sldImg"/>
          </p:nvPr>
        </p:nvSpPr>
        <p:spPr>
          <a:xfrm>
            <a:off x="0" y="0"/>
            <a:ext cx="0" cy="0"/>
          </a:xfrm>
          <a:prstGeom prst="rect">
            <a:avLst/>
          </a:prstGeom>
          <a:ln w="0">
            <a:noFill/>
          </a:ln>
        </p:spPr>
      </p:sp>
      <p:sp>
        <p:nvSpPr>
          <p:cNvPr id="4254" name="PlaceHolder 2">
            <a:extLst>
              <a:ext uri="{FF2B5EF4-FFF2-40B4-BE49-F238E27FC236}">
                <a16:creationId xmlns:a16="http://schemas.microsoft.com/office/drawing/2014/main" id="{691857AE-C190-C60B-BF49-21FABE880171}"/>
              </a:ext>
            </a:extLst>
          </p:cNvPr>
          <p:cNvSpPr>
            <a:spLocks noGrp="1"/>
          </p:cNvSpPr>
          <p:nvPr>
            <p:ph type="body"/>
          </p:nvPr>
        </p:nvSpPr>
        <p:spPr>
          <a:xfrm>
            <a:off x="0" y="0"/>
            <a:ext cx="0" cy="0"/>
          </a:xfrm>
          <a:prstGeom prst="rect">
            <a:avLst/>
          </a:prstGeom>
          <a:noFill/>
          <a:ln w="0">
            <a:noFill/>
          </a:ln>
        </p:spPr>
        <p:txBody>
          <a:bodyPr lIns="90000" tIns="-45000" rIns="90000" bIns="-45000" anchor="t">
            <a:noAutofit/>
          </a:bodyPr>
          <a:lstStyle/>
          <a:p>
            <a:r>
              <a:rPr lang="it-IT"/>
              <a:t>[Sources]</a:t>
            </a:r>
          </a:p>
          <a:p>
            <a:r>
              <a:rPr lang="it-IT"/>
              <a:t>https://www.ibm.com/docs/en/envizi-esg-suite?topic=quality-account-data-health-check-report</a:t>
            </a:r>
          </a:p>
          <a:p>
            <a:r>
              <a:rPr lang="it-IT"/>
              <a:t>https://www.ibm.com/docs/en/envizi-esg-suite?topic=managing-verifying-data-quality</a:t>
            </a:r>
          </a:p>
          <a:p>
            <a:r>
              <a:rPr lang="it-IT"/>
              <a:t>https://www.ibm.com/docs/en/envizi-esg-suite?topic=reporting-data-management-reports</a:t>
            </a:r>
          </a:p>
          <a:p>
            <a:r>
              <a:rPr lang="it-IT"/>
              <a:t>https://www.ibm.com/docs/en/envizi-esg-suite?topic=quality-data-health-check-utilities-dashboard</a:t>
            </a:r>
          </a:p>
          <a:p>
            <a:r>
              <a:rPr lang="it-IT"/>
              <a:t>https://www.ibm.com/docs/en/envizi-esg-suite?topic=managing-issues</a:t>
            </a:r>
          </a:p>
          <a:p>
            <a:r>
              <a:rPr lang="it-IT"/>
              <a:t>https://www.ibm.com/docs/en/envizi-esg-suite?topic=managing-approving-account-data</a:t>
            </a:r>
          </a:p>
          <a:p>
            <a:r>
              <a:rPr lang="it-IT"/>
              <a:t>Consultazione: 9 ottobre 2026</a:t>
            </a:r>
          </a:p>
          <a:p>
            <a:r>
              <a:rPr lang="it-IT"/>
              <a:t>[/Sources]</a:t>
            </a:r>
          </a:p>
        </p:txBody>
      </p:sp>
      <p:sp>
        <p:nvSpPr>
          <p:cNvPr id="4255" name="PlaceHolder 3">
            <a:extLst>
              <a:ext uri="{FF2B5EF4-FFF2-40B4-BE49-F238E27FC236}">
                <a16:creationId xmlns:a16="http://schemas.microsoft.com/office/drawing/2014/main" id="{76DF4804-1DC9-30B7-43A0-15FD23AC73AE}"/>
              </a:ext>
            </a:extLst>
          </p:cNvPr>
          <p:cNvSpPr>
            <a:spLocks noGrp="1"/>
          </p:cNvSpPr>
          <p:nvPr>
            <p:ph type="sldNum" idx="4"/>
          </p:nvPr>
        </p:nvSpPr>
        <p:spPr>
          <a:xfrm>
            <a:off x="0" y="0"/>
            <a:ext cx="0" cy="0"/>
          </a:xfrm>
          <a:prstGeom prst="rect">
            <a:avLst/>
          </a:prstGeom>
          <a:noFill/>
          <a:ln w="0">
            <a:noFill/>
          </a:ln>
        </p:spPr>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40165862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[Sources]</a:t>
            </a:r>
          </a:p>
          <a:p>
            <a:r>
              <a:t>https://www.ibm.com/docs/en/envizi-esg-suite?topic=</a:t>
            </a:r>
            <a:r>
              <a:rPr lang="it-IT"/>
              <a:t>quality-account-data-health-check-report</a:t>
            </a:r>
            <a:endParaRPr/>
          </a:p>
          <a:p>
            <a:r>
              <a:t>https://www.ibm.com/docs/en/envizi-esg-suite?topic=</a:t>
            </a:r>
            <a:r>
              <a:rPr lang="it-IT"/>
              <a:t>managing-verifying-data-quality</a:t>
            </a:r>
            <a:endParaRPr/>
          </a:p>
          <a:p>
            <a:r>
              <a:rPr lang="it-IT"/>
              <a:t>https://www.ibm.com/docs/en/envizi-esg-suite?topic=reporting-data-management-reports</a:t>
            </a:r>
          </a:p>
          <a:p>
            <a:r>
              <a:rPr lang="it-IT"/>
              <a:t>https://www.ibm.com/docs/en/envizi-esg-suite?topic=quality-data-health-check-utilities-dashboard</a:t>
            </a:r>
          </a:p>
          <a:p>
            <a:r>
              <a:rPr lang="it-IT"/>
              <a:t>https://www.ibm.com/docs/en/envizi-esg-suite?topic=managing-issues</a:t>
            </a:r>
          </a:p>
          <a:p>
            <a:r>
              <a:rPr lang="it-IT"/>
              <a:t>https://www.ibm.com/docs/en/envizi-esg-suite?topic=managing-approving-account-data</a:t>
            </a:r>
          </a:p>
          <a:p>
            <a:r>
              <a:t>Consultazione: 9 ottobre 2026</a:t>
            </a:r>
          </a:p>
          <a:p>
            <a:r>
              <a:t>[/Sources]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[Sources]</a:t>
            </a:r>
          </a:p>
          <a:p>
            <a:r>
              <a:t>https://www.ibm.com/docs/en/envizi-esg-suite?topic=</a:t>
            </a:r>
            <a:r>
              <a:rPr lang="it-IT"/>
              <a:t>quality-account-data-health-check-report</a:t>
            </a:r>
            <a:endParaRPr/>
          </a:p>
          <a:p>
            <a:r>
              <a:t>https://www.ibm.com/docs/en/envizi-esg-suite?topic=</a:t>
            </a:r>
            <a:r>
              <a:rPr lang="it-IT"/>
              <a:t>managing-verifying-data-quality</a:t>
            </a:r>
            <a:endParaRPr/>
          </a:p>
          <a:p>
            <a:r>
              <a:rPr lang="it-IT"/>
              <a:t>https://www.ibm.com/docs/en/envizi-esg-suite?topic=reporting-data-management-reports</a:t>
            </a:r>
          </a:p>
          <a:p>
            <a:r>
              <a:rPr lang="it-IT"/>
              <a:t>https://www.ibm.com/docs/en/envizi-esg-suite?topic=quality-data-health-check-utilities-dashboard</a:t>
            </a:r>
          </a:p>
          <a:p>
            <a:r>
              <a:rPr lang="it-IT"/>
              <a:t>https://www.ibm.com/docs/en/envizi-esg-suite?topic=managing-issues</a:t>
            </a:r>
          </a:p>
          <a:p>
            <a:r>
              <a:rPr lang="it-IT"/>
              <a:t>https://www.ibm.com/docs/en/envizi-esg-suite?topic=managing-approving-account-data</a:t>
            </a:r>
          </a:p>
          <a:p>
            <a:r>
              <a:t>Consultazione: 9 ottobre 2026</a:t>
            </a:r>
          </a:p>
          <a:p>
            <a:r>
              <a:t>[/Sources]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2">
            <a:extLst>
              <a:ext uri="{FF2B5EF4-FFF2-40B4-BE49-F238E27FC236}">
                <a16:creationId xmlns:a16="http://schemas.microsoft.com/office/drawing/2014/main" id="{691857AE-C190-C60B-BF49-21FABE880171}"/>
              </a:ext>
            </a:extLst>
          </p:cNvPr>
          <p:cNvSpPr>
            <a:spLocks noGrp="1"/>
          </p:cNvSpPr>
          <p:nvPr>
            <p:ph type="body"/>
          </p:nvPr>
        </p:nvSpPr>
        <p:spPr>
          <a:xfrm>
            <a:off x="0" y="0"/>
            <a:ext cx="0" cy="0"/>
          </a:xfrm>
          <a:prstGeom prst="rect">
            <a:avLst/>
          </a:prstGeom>
          <a:noFill/>
          <a:ln w="0">
            <a:noFill/>
          </a:ln>
        </p:spPr>
        <p:txBody>
          <a:bodyPr lIns="90000" tIns="-45000" rIns="90000" bIns="-45000" anchor="t">
            <a:noAutofit/>
          </a:bodyPr>
          <a:lstStyle/>
          <a:p>
            <a:r>
              <a:t>[Sources]</a:t>
            </a:r>
          </a:p>
          <a:p>
            <a:r>
              <a:t>https://www.ibm.com/docs/en/envizi-esg-suite?topic=quality-account-data-health-check-report</a:t>
            </a:r>
          </a:p>
          <a:p>
            <a:r>
              <a:t>https://www.ibm.com/docs/en/envizi-esg-suite?topic=managing-verifying-data-quality</a:t>
            </a:r>
          </a:p>
          <a:p>
            <a:r>
              <a:t>https://www.ibm.com/docs/en/envizi-esg-suite?topic=reporting-data-management-reports</a:t>
            </a:r>
          </a:p>
          <a:p>
            <a:r>
              <a:t>https://www.ibm.com/docs/en/envizi-esg-suite?topic=quality-data-health-check-utilities-dashboard</a:t>
            </a:r>
          </a:p>
          <a:p>
            <a:r>
              <a:t>https://www.ibm.com/docs/en/envizi-esg-suite?topic=managing-issues</a:t>
            </a:r>
          </a:p>
          <a:p>
            <a:r>
              <a:t>https://www.ibm.com/docs/en/envizi-esg-suite?topic=managing-approving-account-data</a:t>
            </a:r>
          </a:p>
          <a:p>
            <a:r>
              <a:t>Consultazione: 9 ottobre 2026</a:t>
            </a:r>
          </a:p>
          <a:p>
            <a:r>
              <a:t>[/Sources]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67816-C04A-85CF-02A0-C0D11B281564}"/>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A4A5863E-F9F9-86C3-6D55-0F56653C32F3}"/>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4336E734-6A23-86CD-E2BC-D7ABF051188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1" i="0" u="none" strike="noStrike" kern="1200" cap="none" spc="0" normalizeH="0" baseline="0" noProof="0" dirty="0">
                <a:ln>
                  <a:noFill/>
                </a:ln>
                <a:solidFill>
                  <a:srgbClr val="000000"/>
                </a:solidFill>
                <a:effectLst/>
                <a:uLnTx/>
                <a:uFillTx/>
                <a:latin typeface="Calibri"/>
                <a:cs typeface="Calibri"/>
              </a:rPr>
              <a:t>Non basta sapere che esistono dati mancanti: è fondamentale capire quali account, quali tipologie di dati e quali fornitori sono coinvolti, così da intervenire rapidamente prima della chiusura del reporting. Dalla pagina iniziale seleziona Accounts in </a:t>
            </a:r>
            <a:r>
              <a:rPr kumimoji="0" lang="it-IT" sz="1200" b="1" i="0" u="none" strike="noStrike" kern="1200" cap="none" spc="0" normalizeH="0" baseline="0" noProof="0" dirty="0" err="1">
                <a:ln>
                  <a:noFill/>
                </a:ln>
                <a:solidFill>
                  <a:srgbClr val="000000"/>
                </a:solidFill>
                <a:effectLst/>
                <a:uLnTx/>
                <a:uFillTx/>
                <a:latin typeface="Calibri"/>
                <a:cs typeface="Calibri"/>
              </a:rPr>
              <a:t>Arrears</a:t>
            </a:r>
            <a:r>
              <a:rPr kumimoji="0" lang="it-IT" sz="1200" b="1" i="0" u="none" strike="noStrike" kern="1200" cap="none" spc="0" normalizeH="0" baseline="0" noProof="0" dirty="0">
                <a:ln>
                  <a:noFill/>
                </a:ln>
                <a:solidFill>
                  <a:srgbClr val="000000"/>
                </a:solidFill>
                <a:effectLst/>
                <a:uLnTx/>
                <a:uFillTx/>
                <a:latin typeface="Calibri"/>
                <a:cs typeface="Calibri"/>
              </a:rPr>
              <a:t> (conti in ritardo)</a:t>
            </a:r>
            <a:endParaRPr kumimoji="0" lang="it-IT" sz="1200" b="0" i="0" u="none" strike="noStrike" kern="1200" cap="none" spc="0" normalizeH="0" baseline="0" noProof="0" dirty="0">
              <a:ln>
                <a:noFill/>
              </a:ln>
              <a:solidFill>
                <a:srgbClr val="000000"/>
              </a:solidFill>
              <a:effectLst/>
              <a:uLnTx/>
              <a:uFillTx/>
              <a:latin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dirty="0">
                <a:ln>
                  <a:noFill/>
                </a:ln>
                <a:solidFill>
                  <a:srgbClr val="000000"/>
                </a:solidFill>
                <a:effectLst/>
                <a:uLnTx/>
                <a:uFillTx/>
                <a:latin typeface="Calibri"/>
                <a:cs typeface="Calibri"/>
              </a:rPr>
              <a:t>Trasforma un semplice indicatore (“5,8% di account in arretrato”) in informazioni operative: chi deve intervenire, su quali account, per quali dati e con quale priorità.</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200" b="0" i="0" u="none" strike="noStrike" kern="1200" cap="none" spc="0" normalizeH="0" baseline="0" noProof="0" dirty="0">
              <a:ln>
                <a:noFill/>
              </a:ln>
              <a:solidFill>
                <a:srgbClr val="000000"/>
              </a:solidFill>
              <a:effectLst/>
              <a:uLnTx/>
              <a:uFillTx/>
              <a:latin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dirty="0">
                <a:ln>
                  <a:noFill/>
                </a:ln>
                <a:solidFill>
                  <a:srgbClr val="000000"/>
                </a:solidFill>
                <a:effectLst/>
                <a:uLnTx/>
                <a:uFillTx/>
                <a:latin typeface="Calibri"/>
                <a:cs typeface="Calibri"/>
              </a:rPr>
              <a:t>È esattamente il tipo di funzionalità richiesto a </a:t>
            </a:r>
            <a:r>
              <a:rPr kumimoji="0" lang="it-IT" sz="1200" b="0" i="0" u="none" strike="noStrike" kern="1200" cap="none" spc="0" normalizeH="0" baseline="0" noProof="0" dirty="0" err="1">
                <a:ln>
                  <a:noFill/>
                </a:ln>
                <a:solidFill>
                  <a:srgbClr val="000000"/>
                </a:solidFill>
                <a:effectLst/>
                <a:uLnTx/>
                <a:uFillTx/>
                <a:latin typeface="Calibri"/>
                <a:cs typeface="Calibri"/>
              </a:rPr>
              <a:t>Envizi</a:t>
            </a:r>
            <a:r>
              <a:rPr kumimoji="0" lang="it-IT" sz="1200" b="0" i="0" u="none" strike="noStrike" kern="1200" cap="none" spc="0" normalizeH="0" baseline="0" noProof="0" dirty="0">
                <a:ln>
                  <a:noFill/>
                </a:ln>
                <a:solidFill>
                  <a:srgbClr val="000000"/>
                </a:solidFill>
                <a:effectLst/>
                <a:uLnTx/>
                <a:uFillTx/>
                <a:latin typeface="Calibri"/>
                <a:cs typeface="Calibri"/>
              </a:rPr>
              <a:t> dai clienti con ruolo di ESG Manager e Data Governance e sperimentato su casi reali.</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dirty="0">
                <a:ln>
                  <a:noFill/>
                </a:ln>
                <a:solidFill>
                  <a:srgbClr val="000000"/>
                </a:solidFill>
                <a:effectLst/>
                <a:uLnTx/>
                <a:uFillTx/>
                <a:latin typeface="Calibri"/>
                <a:cs typeface="Calibri"/>
              </a:rPr>
              <a:t>Questa vista non ci dice solo che esiste un problema, ma ci permette di capire dove intervenire.”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dirty="0">
                <a:ln>
                  <a:noFill/>
                </a:ln>
                <a:solidFill>
                  <a:srgbClr val="000000"/>
                </a:solidFill>
                <a:effectLst/>
                <a:uLnTx/>
                <a:uFillTx/>
                <a:latin typeface="Calibri"/>
                <a:cs typeface="Calibri"/>
              </a:rPr>
              <a:t>il riquadro centrale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dirty="0">
                <a:ln>
                  <a:noFill/>
                </a:ln>
                <a:solidFill>
                  <a:srgbClr val="000000"/>
                </a:solidFill>
                <a:effectLst/>
                <a:uLnTx/>
                <a:uFillTx/>
                <a:latin typeface="Calibri"/>
                <a:cs typeface="Calibri"/>
              </a:rPr>
              <a:t>In questo esempio mostra tre account ancora aperti che non ricevono dati da un periodo compreso tra cinque e dodici mesi.” Grafico a torta)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dirty="0">
                <a:ln>
                  <a:noFill/>
                </a:ln>
                <a:solidFill>
                  <a:srgbClr val="000000"/>
                </a:solidFill>
                <a:effectLst/>
                <a:uLnTx/>
                <a:uFillTx/>
                <a:latin typeface="Calibri"/>
                <a:cs typeface="Calibri"/>
              </a:rPr>
              <a:t>“Possiamo vedere immediatamente quali tipologie di dati sono interessate: energia elettrica, gas refrigeranti e dati Scope 3.” Possiamo inoltre identificare il fornitore di dati coinvolto. Se tutti gli account in ritardo appartengono allo stesso soggetto, il problema potrebbe essere nel processo di raccolta dati con quel soggetto”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200" b="0" i="0" u="none" strike="noStrike" kern="1200" cap="none" spc="0" normalizeH="0" baseline="0" noProof="0" dirty="0">
              <a:ln>
                <a:noFill/>
              </a:ln>
              <a:solidFill>
                <a:srgbClr val="000000"/>
              </a:solidFill>
              <a:effectLst/>
              <a:uLnTx/>
              <a:uFillTx/>
              <a:latin typeface="Calibri"/>
              <a:cs typeface="Calibri"/>
            </a:endParaRPr>
          </a:p>
          <a:p>
            <a:endParaRPr lang="it-IT" dirty="0"/>
          </a:p>
        </p:txBody>
      </p:sp>
      <p:sp>
        <p:nvSpPr>
          <p:cNvPr id="4" name="Segnaposto numero diapositiva 3">
            <a:extLst>
              <a:ext uri="{FF2B5EF4-FFF2-40B4-BE49-F238E27FC236}">
                <a16:creationId xmlns:a16="http://schemas.microsoft.com/office/drawing/2014/main" id="{BF940735-DC60-BF10-71DF-A2D42B41BA33}"/>
              </a:ext>
            </a:extLst>
          </p:cNvPr>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srgbClr val="000000"/>
              </a:solidFill>
              <a:effectLst/>
              <a:uLnTx/>
              <a:uFillTx/>
              <a:latin typeface="Calibri"/>
              <a:cs typeface="Calibri"/>
            </a:endParaRPr>
          </a:p>
        </p:txBody>
      </p:sp>
    </p:spTree>
    <p:extLst>
      <p:ext uri="{BB962C8B-B14F-4D97-AF65-F5344CB8AC3E}">
        <p14:creationId xmlns:p14="http://schemas.microsoft.com/office/powerpoint/2010/main" val="20855818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dirty="0">
                <a:ln>
                  <a:noFill/>
                </a:ln>
                <a:solidFill>
                  <a:srgbClr val="000000"/>
                </a:solidFill>
                <a:effectLst/>
                <a:uLnTx/>
                <a:uFillTx/>
                <a:latin typeface="Calibri"/>
                <a:cs typeface="Calibri"/>
              </a:rPr>
              <a:t>La dashboard Data Gaps – </a:t>
            </a:r>
            <a:r>
              <a:rPr kumimoji="0" lang="it-IT" sz="1200" b="0" i="0" u="none" strike="noStrike" kern="1200" cap="none" spc="0" normalizeH="0" baseline="0" noProof="0" dirty="0" err="1">
                <a:ln>
                  <a:noFill/>
                </a:ln>
                <a:solidFill>
                  <a:srgbClr val="000000"/>
                </a:solidFill>
                <a:effectLst/>
                <a:uLnTx/>
                <a:uFillTx/>
                <a:latin typeface="Calibri"/>
                <a:cs typeface="Calibri"/>
              </a:rPr>
              <a:t>Consumption</a:t>
            </a:r>
            <a:r>
              <a:rPr kumimoji="0" lang="it-IT" sz="1200" b="0" i="0" u="none" strike="noStrike" kern="1200" cap="none" spc="0" normalizeH="0" baseline="0" noProof="0" dirty="0">
                <a:ln>
                  <a:noFill/>
                </a:ln>
                <a:solidFill>
                  <a:srgbClr val="000000"/>
                </a:solidFill>
                <a:effectLst/>
                <a:uLnTx/>
                <a:uFillTx/>
                <a:latin typeface="Calibri"/>
                <a:cs typeface="Calibri"/>
              </a:rPr>
              <a:t> permette di individuare rapidamente eventuali periodi privi di dati di consumo, identificare le aree più critiche e comprendere dove intervenire per completare il dataset prima della chiusura del reporting o di una verifica di audit.</a:t>
            </a:r>
          </a:p>
          <a:p>
            <a:endParaRPr lang="it-IT" dirty="0"/>
          </a:p>
        </p:txBody>
      </p:sp>
      <p:sp>
        <p:nvSpPr>
          <p:cNvPr id="4" name="Segnaposto numero diapositiva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srgbClr val="000000"/>
              </a:solidFill>
              <a:effectLst/>
              <a:uLnTx/>
              <a:uFillTx/>
              <a:latin typeface="Calibri"/>
              <a:cs typeface="Calibri"/>
            </a:endParaRPr>
          </a:p>
        </p:txBody>
      </p:sp>
    </p:spTree>
    <p:extLst>
      <p:ext uri="{BB962C8B-B14F-4D97-AF65-F5344CB8AC3E}">
        <p14:creationId xmlns:p14="http://schemas.microsoft.com/office/powerpoint/2010/main" val="38009403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[Sources]</a:t>
            </a:r>
          </a:p>
          <a:p>
            <a:r>
              <a:t>https://www.ibm.com/docs/en/envizi-esg-suite?topic=</a:t>
            </a:r>
            <a:r>
              <a:rPr lang="it-IT"/>
              <a:t>quality-account-data-health-check-report</a:t>
            </a:r>
            <a:endParaRPr/>
          </a:p>
          <a:p>
            <a:r>
              <a:t>https://www.ibm.com/docs/en/envizi-esg-suite?topic=</a:t>
            </a:r>
            <a:r>
              <a:rPr lang="it-IT"/>
              <a:t>managing-verifying-data-quality</a:t>
            </a:r>
            <a:endParaRPr/>
          </a:p>
          <a:p>
            <a:r>
              <a:t>https://www.ibm.com/docs/en/envizi-esg-suite?topic=</a:t>
            </a:r>
            <a:r>
              <a:rPr lang="it-IT"/>
              <a:t>reporting-data-management-reports</a:t>
            </a:r>
            <a:endParaRPr/>
          </a:p>
          <a:p>
            <a:r>
              <a:t>https://www.ibm.com/docs/en/envizi-esg-suite?topic=</a:t>
            </a:r>
            <a:r>
              <a:rPr lang="it-IT"/>
              <a:t>quality-data-health-check-utilities-dashboard</a:t>
            </a:r>
          </a:p>
          <a:p>
            <a:r>
              <a:rPr lang="it-IT"/>
              <a:t>https://www.ibm.com/docs/en/envizi-esg-suite?topic=managing-issues</a:t>
            </a:r>
          </a:p>
          <a:p>
            <a:r>
              <a:rPr lang="it-IT"/>
              <a:t>https://www.ibm.com/docs/en/envizi-esg-suite?topic=managing-approving-account-data</a:t>
            </a:r>
            <a:endParaRPr/>
          </a:p>
          <a:p>
            <a:r>
              <a:rPr lang="it-IT"/>
              <a:t>Consultazione: 9 ottobre 2026</a:t>
            </a:r>
            <a:endParaRPr/>
          </a:p>
          <a:p>
            <a:r>
              <a:t>[/Sources]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C2CD5BE-E354-EA96-E64F-F0AC23732922}"/>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F881D665-4F2A-B398-CF3B-E364636802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B62C9EF8-4D18-94A5-2298-F4CF4888D7D1}"/>
              </a:ext>
            </a:extLst>
          </p:cNvPr>
          <p:cNvSpPr>
            <a:spLocks noGrp="1"/>
          </p:cNvSpPr>
          <p:nvPr>
            <p:ph type="dt" sz="half" idx="10"/>
          </p:nvPr>
        </p:nvSpPr>
        <p:spPr/>
        <p:txBody>
          <a:bodyPr/>
          <a:lstStyle/>
          <a:p>
            <a:fld id="{72EC6173-F612-4749-9A99-74C714A5253F}" type="datetimeFigureOut">
              <a:rPr lang="it-IT" smtClean="0"/>
              <a:t>09/10/26</a:t>
            </a:fld>
            <a:endParaRPr lang="it-IT"/>
          </a:p>
        </p:txBody>
      </p:sp>
      <p:sp>
        <p:nvSpPr>
          <p:cNvPr id="5" name="Segnaposto piè di pagina 4">
            <a:extLst>
              <a:ext uri="{FF2B5EF4-FFF2-40B4-BE49-F238E27FC236}">
                <a16:creationId xmlns:a16="http://schemas.microsoft.com/office/drawing/2014/main" id="{97BB4CE8-49F6-D42C-4392-EC366D961BC1}"/>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E89CD48A-D0E6-FB05-1933-269EA049CB97}"/>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17205102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1A41227-707B-840F-C5B6-326D4E783094}"/>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F513DBE6-D642-FCBA-19A1-752B14C47FF7}"/>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D8BFD7EA-1030-8813-65B5-7A81C8D3735A}"/>
              </a:ext>
            </a:extLst>
          </p:cNvPr>
          <p:cNvSpPr>
            <a:spLocks noGrp="1"/>
          </p:cNvSpPr>
          <p:nvPr>
            <p:ph type="dt" sz="half" idx="10"/>
          </p:nvPr>
        </p:nvSpPr>
        <p:spPr/>
        <p:txBody>
          <a:bodyPr/>
          <a:lstStyle/>
          <a:p>
            <a:fld id="{72EC6173-F612-4749-9A99-74C714A5253F}" type="datetimeFigureOut">
              <a:rPr lang="it-IT" smtClean="0"/>
              <a:t>09/10/26</a:t>
            </a:fld>
            <a:endParaRPr lang="it-IT"/>
          </a:p>
        </p:txBody>
      </p:sp>
      <p:sp>
        <p:nvSpPr>
          <p:cNvPr id="5" name="Segnaposto piè di pagina 4">
            <a:extLst>
              <a:ext uri="{FF2B5EF4-FFF2-40B4-BE49-F238E27FC236}">
                <a16:creationId xmlns:a16="http://schemas.microsoft.com/office/drawing/2014/main" id="{CF140446-FFF6-17E5-ACF8-AAF75FF37474}"/>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F75132EE-4F7E-3128-8E7B-30843F245A10}"/>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29508533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C166E11-7E16-C139-0F93-275D6EDC757D}"/>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2ECBA044-A369-C235-DB9D-AE5A05E5E1C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4E10939B-4D64-4D30-014F-39C4CA45194B}"/>
              </a:ext>
            </a:extLst>
          </p:cNvPr>
          <p:cNvSpPr>
            <a:spLocks noGrp="1"/>
          </p:cNvSpPr>
          <p:nvPr>
            <p:ph type="dt" sz="half" idx="10"/>
          </p:nvPr>
        </p:nvSpPr>
        <p:spPr/>
        <p:txBody>
          <a:bodyPr/>
          <a:lstStyle/>
          <a:p>
            <a:fld id="{72EC6173-F612-4749-9A99-74C714A5253F}" type="datetimeFigureOut">
              <a:rPr lang="it-IT" smtClean="0"/>
              <a:t>09/10/26</a:t>
            </a:fld>
            <a:endParaRPr lang="it-IT"/>
          </a:p>
        </p:txBody>
      </p:sp>
      <p:sp>
        <p:nvSpPr>
          <p:cNvPr id="5" name="Segnaposto piè di pagina 4">
            <a:extLst>
              <a:ext uri="{FF2B5EF4-FFF2-40B4-BE49-F238E27FC236}">
                <a16:creationId xmlns:a16="http://schemas.microsoft.com/office/drawing/2014/main" id="{344D1C52-4AE4-F41A-A00D-1D7882562B7B}"/>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0DA93982-01C2-35D3-029E-EC975C6E83B3}"/>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28039678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6F5A6AE-11FD-5A63-2E08-DF2C2B7D9D57}"/>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410F067A-E360-CAC1-1F32-DB72D71F4E86}"/>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DEBBD238-8593-B0CD-DBC2-CB69E6475217}"/>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D8770B1B-0690-0BEC-B058-B0DBC7FD31C9}"/>
              </a:ext>
            </a:extLst>
          </p:cNvPr>
          <p:cNvSpPr>
            <a:spLocks noGrp="1"/>
          </p:cNvSpPr>
          <p:nvPr>
            <p:ph type="dt" sz="half" idx="10"/>
          </p:nvPr>
        </p:nvSpPr>
        <p:spPr/>
        <p:txBody>
          <a:bodyPr/>
          <a:lstStyle/>
          <a:p>
            <a:fld id="{72EC6173-F612-4749-9A99-74C714A5253F}" type="datetimeFigureOut">
              <a:rPr lang="it-IT" smtClean="0"/>
              <a:t>09/10/26</a:t>
            </a:fld>
            <a:endParaRPr lang="it-IT"/>
          </a:p>
        </p:txBody>
      </p:sp>
      <p:sp>
        <p:nvSpPr>
          <p:cNvPr id="6" name="Segnaposto piè di pagina 5">
            <a:extLst>
              <a:ext uri="{FF2B5EF4-FFF2-40B4-BE49-F238E27FC236}">
                <a16:creationId xmlns:a16="http://schemas.microsoft.com/office/drawing/2014/main" id="{D8806F3C-4249-4004-F93C-27862B6F6443}"/>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30CB48D6-B592-58F5-C76E-CF741432A370}"/>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32753052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8EDDB3F-EF4D-C16F-E98B-FD693A6DAD83}"/>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968E7AE9-A7F7-0347-42AB-8AD7BCE1CF8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2D4C9A04-81F9-74C1-DB8D-1D5CDA6817C1}"/>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34057E23-D517-E2C4-48F8-812427F1095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4194130F-0369-F665-444A-1AEEB290DE87}"/>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119CB378-0BBE-7A6A-9A27-1693870067D4}"/>
              </a:ext>
            </a:extLst>
          </p:cNvPr>
          <p:cNvSpPr>
            <a:spLocks noGrp="1"/>
          </p:cNvSpPr>
          <p:nvPr>
            <p:ph type="dt" sz="half" idx="10"/>
          </p:nvPr>
        </p:nvSpPr>
        <p:spPr/>
        <p:txBody>
          <a:bodyPr/>
          <a:lstStyle/>
          <a:p>
            <a:fld id="{72EC6173-F612-4749-9A99-74C714A5253F}" type="datetimeFigureOut">
              <a:rPr lang="it-IT" smtClean="0"/>
              <a:t>09/10/26</a:t>
            </a:fld>
            <a:endParaRPr lang="it-IT"/>
          </a:p>
        </p:txBody>
      </p:sp>
      <p:sp>
        <p:nvSpPr>
          <p:cNvPr id="8" name="Segnaposto piè di pagina 7">
            <a:extLst>
              <a:ext uri="{FF2B5EF4-FFF2-40B4-BE49-F238E27FC236}">
                <a16:creationId xmlns:a16="http://schemas.microsoft.com/office/drawing/2014/main" id="{298C14BD-DCA0-E70E-E566-FB849B7E8E60}"/>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B3FE4936-13E5-3E5A-A8E0-8497C7CD6B6E}"/>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36659214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8CAA408-E97E-B094-5112-817B204BBAF0}"/>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B4FDFA8E-07AC-4B21-B497-CC9ADDF143B2}"/>
              </a:ext>
            </a:extLst>
          </p:cNvPr>
          <p:cNvSpPr>
            <a:spLocks noGrp="1"/>
          </p:cNvSpPr>
          <p:nvPr>
            <p:ph type="dt" sz="half" idx="10"/>
          </p:nvPr>
        </p:nvSpPr>
        <p:spPr/>
        <p:txBody>
          <a:bodyPr/>
          <a:lstStyle/>
          <a:p>
            <a:fld id="{72EC6173-F612-4749-9A99-74C714A5253F}" type="datetimeFigureOut">
              <a:rPr lang="it-IT" smtClean="0"/>
              <a:t>09/10/26</a:t>
            </a:fld>
            <a:endParaRPr lang="it-IT"/>
          </a:p>
        </p:txBody>
      </p:sp>
      <p:sp>
        <p:nvSpPr>
          <p:cNvPr id="4" name="Segnaposto piè di pagina 3">
            <a:extLst>
              <a:ext uri="{FF2B5EF4-FFF2-40B4-BE49-F238E27FC236}">
                <a16:creationId xmlns:a16="http://schemas.microsoft.com/office/drawing/2014/main" id="{4A25898B-B35D-550D-EDEB-B7534B4ABD6D}"/>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EA0BEA91-934D-06ED-D3B7-5F4ED0DF1BE7}"/>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3575608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C898587A-16A6-8E53-EDC2-DC408C313E83}"/>
              </a:ext>
            </a:extLst>
          </p:cNvPr>
          <p:cNvSpPr>
            <a:spLocks noGrp="1"/>
          </p:cNvSpPr>
          <p:nvPr>
            <p:ph type="dt" sz="half" idx="10"/>
          </p:nvPr>
        </p:nvSpPr>
        <p:spPr/>
        <p:txBody>
          <a:bodyPr/>
          <a:lstStyle/>
          <a:p>
            <a:fld id="{72EC6173-F612-4749-9A99-74C714A5253F}" type="datetimeFigureOut">
              <a:rPr lang="it-IT" smtClean="0"/>
              <a:t>09/10/26</a:t>
            </a:fld>
            <a:endParaRPr lang="it-IT"/>
          </a:p>
        </p:txBody>
      </p:sp>
      <p:sp>
        <p:nvSpPr>
          <p:cNvPr id="3" name="Segnaposto piè di pagina 2">
            <a:extLst>
              <a:ext uri="{FF2B5EF4-FFF2-40B4-BE49-F238E27FC236}">
                <a16:creationId xmlns:a16="http://schemas.microsoft.com/office/drawing/2014/main" id="{E84954C8-60E0-744B-BED1-4574E5919EFB}"/>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CB05B2A9-ACC0-F125-6C44-B9F7C50E6EC7}"/>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41365088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64EE919-3668-774A-93E4-D3767B1E80FC}"/>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6D4AB452-9D05-AE91-C6D4-1413437E1C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A02CAF97-D7AC-F7AE-3B0D-5E4E1A2300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BD7664DB-3F60-869A-293D-E15D1FC2D83A}"/>
              </a:ext>
            </a:extLst>
          </p:cNvPr>
          <p:cNvSpPr>
            <a:spLocks noGrp="1"/>
          </p:cNvSpPr>
          <p:nvPr>
            <p:ph type="dt" sz="half" idx="10"/>
          </p:nvPr>
        </p:nvSpPr>
        <p:spPr/>
        <p:txBody>
          <a:bodyPr/>
          <a:lstStyle/>
          <a:p>
            <a:fld id="{72EC6173-F612-4749-9A99-74C714A5253F}" type="datetimeFigureOut">
              <a:rPr lang="it-IT" smtClean="0"/>
              <a:t>09/10/26</a:t>
            </a:fld>
            <a:endParaRPr lang="it-IT"/>
          </a:p>
        </p:txBody>
      </p:sp>
      <p:sp>
        <p:nvSpPr>
          <p:cNvPr id="6" name="Segnaposto piè di pagina 5">
            <a:extLst>
              <a:ext uri="{FF2B5EF4-FFF2-40B4-BE49-F238E27FC236}">
                <a16:creationId xmlns:a16="http://schemas.microsoft.com/office/drawing/2014/main" id="{D185D03E-D3B8-FA59-A614-971B4252BAF8}"/>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5D5BD76F-4DE0-6325-2725-EDF82A93EE8F}"/>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40119762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58C9AA3-452A-D8E6-4056-46533132064B}"/>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50485C4C-21FC-0A89-3F11-52803FA7FB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3F56574D-7784-A7EF-A94D-ABE6924217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3DD79D49-DC4F-7E47-0AF0-00AA891973DD}"/>
              </a:ext>
            </a:extLst>
          </p:cNvPr>
          <p:cNvSpPr>
            <a:spLocks noGrp="1"/>
          </p:cNvSpPr>
          <p:nvPr>
            <p:ph type="dt" sz="half" idx="10"/>
          </p:nvPr>
        </p:nvSpPr>
        <p:spPr/>
        <p:txBody>
          <a:bodyPr/>
          <a:lstStyle/>
          <a:p>
            <a:fld id="{72EC6173-F612-4749-9A99-74C714A5253F}" type="datetimeFigureOut">
              <a:rPr lang="it-IT" smtClean="0"/>
              <a:t>09/10/26</a:t>
            </a:fld>
            <a:endParaRPr lang="it-IT"/>
          </a:p>
        </p:txBody>
      </p:sp>
      <p:sp>
        <p:nvSpPr>
          <p:cNvPr id="6" name="Segnaposto piè di pagina 5">
            <a:extLst>
              <a:ext uri="{FF2B5EF4-FFF2-40B4-BE49-F238E27FC236}">
                <a16:creationId xmlns:a16="http://schemas.microsoft.com/office/drawing/2014/main" id="{C2482D1F-24A5-E115-5D77-0E0A4D3C4914}"/>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1DE02F41-E34F-5DA7-77B2-B33D47042415}"/>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37002620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5D44DA4-C384-685E-B6DE-4F509B83F97A}"/>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28DBF331-686A-90F4-5621-81D1DA547C5E}"/>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8B11B76D-A486-90B4-2B90-E9613066CB26}"/>
              </a:ext>
            </a:extLst>
          </p:cNvPr>
          <p:cNvSpPr>
            <a:spLocks noGrp="1"/>
          </p:cNvSpPr>
          <p:nvPr>
            <p:ph type="dt" sz="half" idx="10"/>
          </p:nvPr>
        </p:nvSpPr>
        <p:spPr/>
        <p:txBody>
          <a:bodyPr/>
          <a:lstStyle/>
          <a:p>
            <a:fld id="{72EC6173-F612-4749-9A99-74C714A5253F}" type="datetimeFigureOut">
              <a:rPr lang="it-IT" smtClean="0"/>
              <a:t>09/10/26</a:t>
            </a:fld>
            <a:endParaRPr lang="it-IT"/>
          </a:p>
        </p:txBody>
      </p:sp>
      <p:sp>
        <p:nvSpPr>
          <p:cNvPr id="5" name="Segnaposto piè di pagina 4">
            <a:extLst>
              <a:ext uri="{FF2B5EF4-FFF2-40B4-BE49-F238E27FC236}">
                <a16:creationId xmlns:a16="http://schemas.microsoft.com/office/drawing/2014/main" id="{7FE2F5F2-2D4D-B5C2-57AC-629A1285B841}"/>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4FE253B1-35A4-6615-4536-77EA6DEC3AF5}"/>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33867806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EBFDDA5C-3BB3-197C-3EBF-81F1DF4FBAD7}"/>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4641F594-5469-2400-E613-EF1DC0705480}"/>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ED906D95-E722-D35C-CA9C-77DBD6940912}"/>
              </a:ext>
            </a:extLst>
          </p:cNvPr>
          <p:cNvSpPr>
            <a:spLocks noGrp="1"/>
          </p:cNvSpPr>
          <p:nvPr>
            <p:ph type="dt" sz="half" idx="10"/>
          </p:nvPr>
        </p:nvSpPr>
        <p:spPr/>
        <p:txBody>
          <a:bodyPr/>
          <a:lstStyle/>
          <a:p>
            <a:fld id="{72EC6173-F612-4749-9A99-74C714A5253F}" type="datetimeFigureOut">
              <a:rPr lang="it-IT" smtClean="0"/>
              <a:t>09/10/26</a:t>
            </a:fld>
            <a:endParaRPr lang="it-IT"/>
          </a:p>
        </p:txBody>
      </p:sp>
      <p:sp>
        <p:nvSpPr>
          <p:cNvPr id="5" name="Segnaposto piè di pagina 4">
            <a:extLst>
              <a:ext uri="{FF2B5EF4-FFF2-40B4-BE49-F238E27FC236}">
                <a16:creationId xmlns:a16="http://schemas.microsoft.com/office/drawing/2014/main" id="{ECD9CC98-F182-27F0-9D6F-D6D2310C0B2E}"/>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C0FA1D40-3A3E-B9DF-413C-78DFEA3BDC90}"/>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3258033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pic>
        <p:nvPicPr>
          <p:cNvPr id="2" name="Picture 1" descr="sfondo leggero.png">
            <a:extLst>
              <a:ext uri="{FF2B5EF4-FFF2-40B4-BE49-F238E27FC236}">
                <a16:creationId xmlns:a16="http://schemas.microsoft.com/office/drawing/2014/main" id="{B6667F1F-51A6-7F2E-50D5-83472D047906}"/>
              </a:ext>
            </a:extLst>
          </p:cNvPr>
          <p:cNvPicPr>
            <a:picLocks noChangeAspect="1"/>
          </p:cNvPicPr>
          <p:nvPr userDrawn="1"/>
        </p:nvPicPr>
        <p:blipFill>
          <a:blip r:embed="rId2"/>
          <a:stretch>
            <a:fillRect/>
          </a:stretch>
        </p:blipFill>
        <p:spPr>
          <a:xfrm>
            <a:off x="0" y="0"/>
            <a:ext cx="12188952" cy="6858000"/>
          </a:xfrm>
          <a:prstGeom prst="rect">
            <a:avLst/>
          </a:prstGeom>
        </p:spPr>
      </p:pic>
      <p:sp>
        <p:nvSpPr>
          <p:cNvPr id="5" name="CasellaDiTesto 4">
            <a:extLst>
              <a:ext uri="{FF2B5EF4-FFF2-40B4-BE49-F238E27FC236}">
                <a16:creationId xmlns:a16="http://schemas.microsoft.com/office/drawing/2014/main" id="{5273C7BB-B8F5-AF70-58A1-27484AE2341A}"/>
              </a:ext>
            </a:extLst>
          </p:cNvPr>
          <p:cNvSpPr txBox="1"/>
          <p:nvPr userDrawn="1"/>
        </p:nvSpPr>
        <p:spPr>
          <a:xfrm>
            <a:off x="471115" y="-23853"/>
            <a:ext cx="9968948" cy="523220"/>
          </a:xfrm>
          <a:prstGeom prst="rect">
            <a:avLst/>
          </a:prstGeom>
          <a:noFill/>
        </p:spPr>
        <p:txBody>
          <a:bodyPr wrap="square">
            <a:spAutoFit/>
          </a:bodyPr>
          <a:lstStyle/>
          <a:p>
            <a:endParaRPr lang="it-IT" sz="2800" b="1" dirty="0">
              <a:solidFill>
                <a:srgbClr val="14433A"/>
              </a:solidFill>
              <a:latin typeface="IBM Plex Sans" panose="020B0503050203000203" pitchFamily="34" charset="0"/>
            </a:endParaRPr>
          </a:p>
        </p:txBody>
      </p:sp>
    </p:spTree>
    <p:extLst>
      <p:ext uri="{BB962C8B-B14F-4D97-AF65-F5344CB8AC3E}">
        <p14:creationId xmlns:p14="http://schemas.microsoft.com/office/powerpoint/2010/main" val="34802108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pic>
        <p:nvPicPr>
          <p:cNvPr id="2" name="Picture 1" descr="sfondo leggero.png">
            <a:extLst>
              <a:ext uri="{FF2B5EF4-FFF2-40B4-BE49-F238E27FC236}">
                <a16:creationId xmlns:a16="http://schemas.microsoft.com/office/drawing/2014/main" id="{B6667F1F-51A6-7F2E-50D5-83472D047906}"/>
              </a:ext>
            </a:extLst>
          </p:cNvPr>
          <p:cNvPicPr>
            <a:picLocks noChangeAspect="1"/>
          </p:cNvPicPr>
          <p:nvPr userDrawn="1"/>
        </p:nvPicPr>
        <p:blipFill>
          <a:blip r:embed="rId2"/>
          <a:stretch>
            <a:fillRect/>
          </a:stretch>
        </p:blipFill>
        <p:spPr>
          <a:xfrm>
            <a:off x="0" y="0"/>
            <a:ext cx="12188952" cy="6858000"/>
          </a:xfrm>
          <a:prstGeom prst="rect">
            <a:avLst/>
          </a:prstGeom>
        </p:spPr>
      </p:pic>
      <p:sp>
        <p:nvSpPr>
          <p:cNvPr id="5" name="CasellaDiTesto 4">
            <a:extLst>
              <a:ext uri="{FF2B5EF4-FFF2-40B4-BE49-F238E27FC236}">
                <a16:creationId xmlns:a16="http://schemas.microsoft.com/office/drawing/2014/main" id="{5273C7BB-B8F5-AF70-58A1-27484AE2341A}"/>
              </a:ext>
            </a:extLst>
          </p:cNvPr>
          <p:cNvSpPr txBox="1"/>
          <p:nvPr userDrawn="1"/>
        </p:nvSpPr>
        <p:spPr>
          <a:xfrm>
            <a:off x="471115" y="-23853"/>
            <a:ext cx="9968948" cy="523220"/>
          </a:xfrm>
          <a:prstGeom prst="rect">
            <a:avLst/>
          </a:prstGeom>
          <a:noFill/>
        </p:spPr>
        <p:txBody>
          <a:bodyPr wrap="square">
            <a:spAutoFit/>
          </a:bodyPr>
          <a:lstStyle/>
          <a:p>
            <a:endParaRPr lang="it-IT" sz="2800" b="1" dirty="0">
              <a:solidFill>
                <a:srgbClr val="14433A"/>
              </a:solidFill>
              <a:latin typeface="IBM Plex Sans" panose="020B0503050203000203" pitchFamily="34" charset="0"/>
            </a:endParaRPr>
          </a:p>
        </p:txBody>
      </p:sp>
    </p:spTree>
    <p:extLst>
      <p:ext uri="{BB962C8B-B14F-4D97-AF65-F5344CB8AC3E}">
        <p14:creationId xmlns:p14="http://schemas.microsoft.com/office/powerpoint/2010/main" val="30721294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5470610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allout, headli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9" y="192024"/>
            <a:ext cx="4953942" cy="1429544"/>
          </a:xfrm>
        </p:spPr>
        <p:txBody>
          <a:bodyPr/>
          <a:lstStyle>
            <a:lvl1pPr>
              <a:lnSpc>
                <a:spcPct val="100000"/>
              </a:lnSpc>
              <a:defRPr sz="3199">
                <a:solidFill>
                  <a:schemeClr val="tx2"/>
                </a:solidFill>
              </a:defRPr>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0354631A-4ED7-F527-1CBC-9AF7BE2CB676}"/>
              </a:ext>
            </a:extLst>
          </p:cNvPr>
          <p:cNvSpPr>
            <a:spLocks noGrp="1"/>
          </p:cNvSpPr>
          <p:nvPr>
            <p:ph type="body" sz="quarter" idx="10"/>
          </p:nvPr>
        </p:nvSpPr>
        <p:spPr>
          <a:xfrm>
            <a:off x="6382795" y="224028"/>
            <a:ext cx="5520318" cy="4287044"/>
          </a:xfrm>
        </p:spPr>
        <p:txBody>
          <a:bodyPr/>
          <a:lstStyle>
            <a:lvl1pPr>
              <a:lnSpc>
                <a:spcPct val="100000"/>
              </a:lnSpc>
              <a:spcBef>
                <a:spcPts val="0"/>
              </a:spcBef>
              <a:defRPr sz="3199">
                <a:solidFill>
                  <a:schemeClr val="tx2"/>
                </a:solidFill>
              </a:defRPr>
            </a:lvl1pPr>
            <a:lvl2pPr marL="292549" indent="-292549">
              <a:lnSpc>
                <a:spcPct val="100000"/>
              </a:lnSpc>
              <a:spcBef>
                <a:spcPts val="0"/>
              </a:spcBef>
              <a:defRPr sz="3199">
                <a:solidFill>
                  <a:schemeClr val="tx2"/>
                </a:solidFill>
              </a:defRPr>
            </a:lvl2pPr>
            <a:lvl3pPr marL="548530" indent="-292549">
              <a:lnSpc>
                <a:spcPct val="100000"/>
              </a:lnSpc>
              <a:spcBef>
                <a:spcPts val="0"/>
              </a:spcBef>
              <a:defRPr sz="3199">
                <a:solidFill>
                  <a:schemeClr val="tx2"/>
                </a:solidFill>
              </a:defRPr>
            </a:lvl3pPr>
            <a:lvl4pPr marL="877648">
              <a:lnSpc>
                <a:spcPct val="100000"/>
              </a:lnSpc>
              <a:spcBef>
                <a:spcPts val="0"/>
              </a:spcBef>
              <a:defRPr sz="3199">
                <a:solidFill>
                  <a:schemeClr val="tx2"/>
                </a:solidFill>
              </a:defRPr>
            </a:lvl4pPr>
            <a:lvl5pPr>
              <a:lnSpc>
                <a:spcPct val="100000"/>
              </a:lnSpc>
              <a:spcBef>
                <a:spcPts val="0"/>
              </a:spcBef>
              <a:defRPr sz="3199"/>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Slide Number">
            <a:extLst>
              <a:ext uri="{FF2B5EF4-FFF2-40B4-BE49-F238E27FC236}">
                <a16:creationId xmlns:a16="http://schemas.microsoft.com/office/drawing/2014/main" id="{C82E6DCD-41A5-9DA3-C061-E8DA39B99059}"/>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‹N›</a:t>
            </a:fld>
            <a:endParaRPr lang="en-US" dirty="0"/>
          </a:p>
        </p:txBody>
      </p:sp>
      <p:sp>
        <p:nvSpPr>
          <p:cNvPr id="5" name="Footer Placeholder 3">
            <a:extLst>
              <a:ext uri="{FF2B5EF4-FFF2-40B4-BE49-F238E27FC236}">
                <a16:creationId xmlns:a16="http://schemas.microsoft.com/office/drawing/2014/main" id="{7BE5947E-6D4A-9E09-E5A6-D31DBCAEE2C6}"/>
              </a:ext>
            </a:extLst>
          </p:cNvPr>
          <p:cNvSpPr>
            <a:spLocks noGrp="1"/>
          </p:cNvSpPr>
          <p:nvPr>
            <p:ph type="ftr" sz="quarter" idx="18"/>
          </p:nvPr>
        </p:nvSpPr>
        <p:spPr>
          <a:xfrm>
            <a:off x="284125" y="6402118"/>
            <a:ext cx="2477765" cy="190500"/>
          </a:xfrm>
        </p:spPr>
        <p:txBody>
          <a:bodyPr/>
          <a:lstStyle/>
          <a:p>
            <a:endParaRPr lang="en-US" dirty="0"/>
          </a:p>
        </p:txBody>
      </p:sp>
    </p:spTree>
    <p:extLst>
      <p:ext uri="{BB962C8B-B14F-4D97-AF65-F5344CB8AC3E}">
        <p14:creationId xmlns:p14="http://schemas.microsoft.com/office/powerpoint/2010/main" val="4107890280"/>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509EA-57CA-9A71-E391-10854E66447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435E42-6EB0-A758-C7D1-BC518D2AFA2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6EA591-A2B3-4B14-0740-EE8764D7FD30}"/>
              </a:ext>
            </a:extLst>
          </p:cNvPr>
          <p:cNvSpPr>
            <a:spLocks noGrp="1"/>
          </p:cNvSpPr>
          <p:nvPr>
            <p:ph type="dt" sz="half" idx="10"/>
          </p:nvPr>
        </p:nvSpPr>
        <p:spPr/>
        <p:txBody>
          <a:bodyPr/>
          <a:lstStyle/>
          <a:p>
            <a:fld id="{1FE6BF0D-213E-F34D-93C6-37AB37C29CAE}" type="datetimeFigureOut">
              <a:rPr lang="en-US" smtClean="0"/>
              <a:t>10/9/26</a:t>
            </a:fld>
            <a:endParaRPr lang="en-US"/>
          </a:p>
        </p:txBody>
      </p:sp>
      <p:sp>
        <p:nvSpPr>
          <p:cNvPr id="5" name="Footer Placeholder 4">
            <a:extLst>
              <a:ext uri="{FF2B5EF4-FFF2-40B4-BE49-F238E27FC236}">
                <a16:creationId xmlns:a16="http://schemas.microsoft.com/office/drawing/2014/main" id="{407C7C6F-92F8-28B6-9CB9-837A13758E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25189C-1C89-B914-D8D5-484BDDB24250}"/>
              </a:ext>
            </a:extLst>
          </p:cNvPr>
          <p:cNvSpPr>
            <a:spLocks noGrp="1"/>
          </p:cNvSpPr>
          <p:nvPr>
            <p:ph type="sldNum" sz="quarter" idx="12"/>
          </p:nvPr>
        </p:nvSpPr>
        <p:spPr/>
        <p:txBody>
          <a:bodyPr/>
          <a:lstStyle/>
          <a:p>
            <a:fld id="{85D104AF-6D8B-754A-9FED-073057245C12}" type="slidenum">
              <a:rPr lang="en-US" smtClean="0"/>
              <a:t>‹N›</a:t>
            </a:fld>
            <a:endParaRPr lang="en-US"/>
          </a:p>
        </p:txBody>
      </p:sp>
    </p:spTree>
    <p:extLst>
      <p:ext uri="{BB962C8B-B14F-4D97-AF65-F5344CB8AC3E}">
        <p14:creationId xmlns:p14="http://schemas.microsoft.com/office/powerpoint/2010/main" val="26162642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Video or imagery, 3/4, ble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1" cy="762795"/>
          </a:xfrm>
        </p:spPr>
        <p:txBody>
          <a:bodyPr/>
          <a:lstStyle>
            <a:lvl1pPr>
              <a:lnSpc>
                <a:spcPct val="110000"/>
              </a:lnSpc>
              <a:defRPr sz="1400">
                <a:solidFill>
                  <a:schemeClr val="tx2"/>
                </a:solidFill>
              </a:defRPr>
            </a:lvl1pPr>
          </a:lstStyle>
          <a:p>
            <a:r>
              <a:rPr lang="en-GB"/>
              <a:t>Click to edit Master title style</a:t>
            </a:r>
            <a:endParaRPr lang="en-US" dirty="0"/>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11767910" y="6452316"/>
            <a:ext cx="136791" cy="123111"/>
          </a:xfrm>
          <a:prstGeom prst="rect">
            <a:avLst/>
          </a:prstGeom>
        </p:spPr>
        <p:txBody>
          <a:bodyPr/>
          <a:lstStyle/>
          <a:p>
            <a:fld id="{86CB4B4D-7CA3-9044-876B-883B54F8677D}" type="slidenum">
              <a:rPr lang="en-US" smtClean="0"/>
              <a:t>‹N›</a:t>
            </a:fld>
            <a:endParaRPr lang="en-US" dirty="0"/>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endParaRPr lang="en-US" dirty="0"/>
          </a:p>
        </p:txBody>
      </p:sp>
      <p:sp>
        <p:nvSpPr>
          <p:cNvPr id="6" name="Text Placeholder 5">
            <a:extLst>
              <a:ext uri="{FF2B5EF4-FFF2-40B4-BE49-F238E27FC236}">
                <a16:creationId xmlns:a16="http://schemas.microsoft.com/office/drawing/2014/main" id="{75EDE688-75EF-DA04-F0B3-24F53FFC6BAF}"/>
              </a:ext>
            </a:extLst>
          </p:cNvPr>
          <p:cNvSpPr>
            <a:spLocks noGrp="1"/>
          </p:cNvSpPr>
          <p:nvPr>
            <p:ph type="body" sz="quarter" idx="13"/>
          </p:nvPr>
        </p:nvSpPr>
        <p:spPr>
          <a:xfrm>
            <a:off x="288000" y="1714500"/>
            <a:ext cx="2477765" cy="4286251"/>
          </a:xfrm>
        </p:spPr>
        <p:txBody>
          <a:bodyPr/>
          <a:lstStyle>
            <a:lvl1pPr>
              <a:lnSpc>
                <a:spcPct val="110000"/>
              </a:lnSpc>
              <a:spcBef>
                <a:spcPts val="0"/>
              </a:spcBef>
              <a:defRPr sz="1400">
                <a:solidFill>
                  <a:schemeClr val="tx1"/>
                </a:solidFill>
              </a:defRPr>
            </a:lvl1pPr>
            <a:lvl2pPr marL="127997" indent="-127997">
              <a:lnSpc>
                <a:spcPct val="110000"/>
              </a:lnSpc>
              <a:spcBef>
                <a:spcPts val="0"/>
              </a:spcBef>
              <a:defRPr sz="1400">
                <a:solidFill>
                  <a:schemeClr val="tx1"/>
                </a:solidFill>
              </a:defRPr>
            </a:lvl2pPr>
            <a:lvl3pPr marL="255995" indent="-127997">
              <a:lnSpc>
                <a:spcPct val="110000"/>
              </a:lnSpc>
              <a:spcBef>
                <a:spcPts val="0"/>
              </a:spcBef>
              <a:defRPr sz="1400">
                <a:solidFill>
                  <a:schemeClr val="tx1"/>
                </a:solidFill>
              </a:defRPr>
            </a:lvl3pPr>
            <a:lvl4pPr marL="383992" indent="-127997">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Picture Placeholder 11">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3047604" y="0"/>
            <a:ext cx="9144397" cy="6858000"/>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4122327299"/>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Video or imagery, 3/4,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1" cy="762795"/>
          </a:xfrm>
        </p:spPr>
        <p:txBody>
          <a:bodyPr/>
          <a:lstStyle>
            <a:lvl1pPr>
              <a:lnSpc>
                <a:spcPct val="110000"/>
              </a:lnSpc>
              <a:defRPr sz="1400">
                <a:solidFill>
                  <a:schemeClr val="tx2"/>
                </a:solidFill>
              </a:defRPr>
            </a:lvl1pPr>
          </a:lstStyle>
          <a:p>
            <a:r>
              <a:rPr lang="en-GB"/>
              <a:t>Click to edit Master title style</a:t>
            </a:r>
            <a:endParaRPr lang="en-US" dirty="0"/>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11767910" y="6452316"/>
            <a:ext cx="136791" cy="123111"/>
          </a:xfrm>
          <a:prstGeom prst="rect">
            <a:avLst/>
          </a:prstGeom>
        </p:spPr>
        <p:txBody>
          <a:bodyPr/>
          <a:lstStyle/>
          <a:p>
            <a:fld id="{86CB4B4D-7CA3-9044-876B-883B54F8677D}" type="slidenum">
              <a:rPr lang="en-US" smtClean="0"/>
              <a:t>‹N›</a:t>
            </a:fld>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288000" y="1714500"/>
            <a:ext cx="2477765" cy="4286251"/>
          </a:xfrm>
        </p:spPr>
        <p:txBody>
          <a:bodyPr/>
          <a:lstStyle>
            <a:lvl1pPr>
              <a:lnSpc>
                <a:spcPct val="110000"/>
              </a:lnSpc>
              <a:spcBef>
                <a:spcPts val="0"/>
              </a:spcBef>
              <a:defRPr sz="1400">
                <a:solidFill>
                  <a:schemeClr val="tx1"/>
                </a:solidFill>
              </a:defRPr>
            </a:lvl1pPr>
            <a:lvl2pPr marL="127997" indent="-127997">
              <a:lnSpc>
                <a:spcPct val="110000"/>
              </a:lnSpc>
              <a:spcBef>
                <a:spcPts val="0"/>
              </a:spcBef>
              <a:defRPr sz="1400">
                <a:solidFill>
                  <a:schemeClr val="tx1"/>
                </a:solidFill>
              </a:defRPr>
            </a:lvl2pPr>
            <a:lvl3pPr marL="255995" indent="-127997">
              <a:lnSpc>
                <a:spcPct val="110000"/>
              </a:lnSpc>
              <a:spcBef>
                <a:spcPts val="0"/>
              </a:spcBef>
              <a:defRPr sz="1400">
                <a:solidFill>
                  <a:schemeClr val="tx1"/>
                </a:solidFill>
              </a:defRPr>
            </a:lvl3pPr>
            <a:lvl4pPr marL="383992" indent="-127997">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378C6A11-84D9-C1BA-F3C9-2E9D1A288B25}"/>
              </a:ext>
            </a:extLst>
          </p:cNvPr>
          <p:cNvSpPr>
            <a:spLocks noGrp="1"/>
          </p:cNvSpPr>
          <p:nvPr>
            <p:ph type="ftr" sz="quarter" idx="13"/>
          </p:nvPr>
        </p:nvSpPr>
        <p:spPr/>
        <p:txBody>
          <a:bodyPr/>
          <a:lstStyle/>
          <a:p>
            <a:endParaRPr lang="en-US" dirty="0"/>
          </a:p>
        </p:txBody>
      </p:sp>
      <p:sp>
        <p:nvSpPr>
          <p:cNvPr id="7" name="Picture Placeholder 6">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3333318" y="282576"/>
            <a:ext cx="8574559" cy="6289675"/>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880978470"/>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Data, 3 callouts, vertical">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383301" y="192600"/>
            <a:ext cx="2474590" cy="953294"/>
          </a:xfrm>
          <a:prstGeom prst="rect">
            <a:avLst/>
          </a:prstGeom>
        </p:spPr>
        <p:txBody>
          <a:bodyPr/>
          <a:lstStyle>
            <a:lvl1pPr>
              <a:lnSpc>
                <a:spcPct val="100000"/>
              </a:lnSpc>
              <a:defRPr sz="6499" b="0" i="0">
                <a:solidFill>
                  <a:schemeClr val="accent1"/>
                </a:solidFill>
                <a:latin typeface="IBM Plex Sans Light" panose="020B0403050203000203" pitchFamily="34" charset="0"/>
              </a:defRPr>
            </a:lvl1pPr>
          </a:lstStyle>
          <a:p>
            <a:pPr lvl="0"/>
            <a:r>
              <a:rPr lang="en-US" dirty="0"/>
              <a:t>00%</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9428523" y="192600"/>
            <a:ext cx="2474590" cy="951707"/>
          </a:xfrm>
          <a:prstGeom prst="rect">
            <a:avLst/>
          </a:prstGeom>
        </p:spPr>
        <p:txBody>
          <a:bodyPr/>
          <a:lstStyle>
            <a:lvl1pPr>
              <a:lnSpc>
                <a:spcPct val="100000"/>
              </a:lnSpc>
              <a:defRPr sz="6499" b="0" i="0">
                <a:solidFill>
                  <a:schemeClr val="accent1"/>
                </a:solidFill>
                <a:latin typeface="IBM Plex Sans Light" panose="020B0403050203000203" pitchFamily="34" charset="0"/>
              </a:defRPr>
            </a:lvl1pPr>
          </a:lstStyle>
          <a:p>
            <a:pPr lvl="0"/>
            <a:r>
              <a:rPr lang="en-US" dirty="0"/>
              <a:t>00%</a:t>
            </a:r>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3333316" y="192600"/>
            <a:ext cx="2475384" cy="953956"/>
          </a:xfrm>
          <a:prstGeom prst="rect">
            <a:avLst/>
          </a:prstGeom>
        </p:spPr>
        <p:txBody>
          <a:bodyPr/>
          <a:lstStyle>
            <a:lvl1pPr>
              <a:lnSpc>
                <a:spcPct val="100000"/>
              </a:lnSpc>
              <a:defRPr sz="6499" b="0" i="0">
                <a:solidFill>
                  <a:schemeClr val="accent1"/>
                </a:solidFill>
                <a:latin typeface="IBM Plex Sans Light" panose="020B0403050203000203" pitchFamily="34" charset="0"/>
              </a:defRPr>
            </a:lvl1pPr>
            <a:lvl2pPr marL="0" indent="0">
              <a:buNone/>
              <a:defRPr/>
            </a:lvl2pPr>
          </a:lstStyle>
          <a:p>
            <a:pPr lvl="0"/>
            <a:r>
              <a:rPr lang="en-US" dirty="0"/>
              <a:t>00%</a:t>
            </a:r>
          </a:p>
        </p:txBody>
      </p:sp>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287999" y="192600"/>
            <a:ext cx="2474590" cy="1429544"/>
          </a:xfrm>
        </p:spPr>
        <p:txBody>
          <a:bodyPr/>
          <a:lstStyle>
            <a:lvl1pPr>
              <a:lnSpc>
                <a:spcPct val="100000"/>
              </a:lnSpc>
              <a:defRPr sz="3199" b="0" i="0">
                <a:solidFill>
                  <a:schemeClr val="tx2"/>
                </a:solidFill>
                <a:latin typeface="IBM Plex Sans Light" panose="020B0403050203000203" pitchFamily="34" charset="0"/>
              </a:defRPr>
            </a:lvl1pPr>
          </a:lstStyle>
          <a:p>
            <a:r>
              <a:rPr lang="en-US" dirty="0"/>
              <a:t>Click to edit Master title style</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3333316" y="6021388"/>
            <a:ext cx="2475384" cy="571500"/>
          </a:xfrm>
          <a:prstGeom prst="rect">
            <a:avLst/>
          </a:prstGeom>
        </p:spPr>
        <p:txBody>
          <a:bodyPr anchor="b"/>
          <a:lstStyle>
            <a:lvl1pPr>
              <a:lnSpc>
                <a:spcPct val="100000"/>
              </a:lnSpc>
              <a:spcBef>
                <a:spcPts val="0"/>
              </a:spcBef>
              <a:defRPr sz="800" b="0" i="0">
                <a:solidFill>
                  <a:schemeClr val="tx1"/>
                </a:solidFill>
                <a:latin typeface="IBM Plex Sans Light" panose="020B0403050203000203" pitchFamily="34" charset="0"/>
              </a:defRPr>
            </a:lvl1pPr>
            <a:lvl2pPr marL="73137" indent="-73137">
              <a:lnSpc>
                <a:spcPct val="100000"/>
              </a:lnSpc>
              <a:spcBef>
                <a:spcPts val="0"/>
              </a:spcBef>
              <a:defRPr sz="800" b="0" i="0">
                <a:solidFill>
                  <a:schemeClr val="tx1"/>
                </a:solidFill>
                <a:latin typeface="IBM Plex Sans Light" panose="020B0403050203000203" pitchFamily="34" charset="0"/>
              </a:defRPr>
            </a:lvl2pPr>
            <a:lvl3pPr marL="146275" indent="-73137">
              <a:lnSpc>
                <a:spcPct val="100000"/>
              </a:lnSpc>
              <a:spcBef>
                <a:spcPts val="0"/>
              </a:spcBef>
              <a:defRPr sz="800" b="0" i="0">
                <a:solidFill>
                  <a:schemeClr val="tx1"/>
                </a:solidFill>
                <a:latin typeface="IBM Plex Sans Light" panose="020B0403050203000203" pitchFamily="34" charset="0"/>
              </a:defRPr>
            </a:lvl3pPr>
            <a:lvl4pPr marL="219412" indent="-73137">
              <a:lnSpc>
                <a:spcPct val="100000"/>
              </a:lnSpc>
              <a:spcBef>
                <a:spcPts val="0"/>
              </a:spcBef>
              <a:defRPr sz="800" b="0" i="0">
                <a:solidFill>
                  <a:schemeClr val="tx1"/>
                </a:solidFill>
                <a:latin typeface="IBM Plex Sans Light" panose="020B04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3333316" y="1166534"/>
            <a:ext cx="2475384" cy="4836520"/>
          </a:xfrm>
          <a:prstGeom prst="rect">
            <a:avLst/>
          </a:prstGeom>
        </p:spPr>
        <p:txBody>
          <a:bodyPr/>
          <a:lstStyle>
            <a:lvl1pPr>
              <a:lnSpc>
                <a:spcPct val="100000"/>
              </a:lnSpc>
              <a:spcBef>
                <a:spcPts val="0"/>
              </a:spcBef>
              <a:defRPr b="0" i="0">
                <a:solidFill>
                  <a:schemeClr val="tx1"/>
                </a:solidFill>
                <a:latin typeface="IBM Plex Sans Light" panose="020B0403050203000203" pitchFamily="34" charset="0"/>
              </a:defRPr>
            </a:lvl1pPr>
            <a:lvl2pPr>
              <a:lnSpc>
                <a:spcPct val="100000"/>
              </a:lnSpc>
              <a:spcBef>
                <a:spcPts val="0"/>
              </a:spcBef>
              <a:defRPr b="0" i="0">
                <a:solidFill>
                  <a:schemeClr val="tx1"/>
                </a:solidFill>
                <a:latin typeface="IBM Plex Sans Light" panose="020B0403050203000203" pitchFamily="34" charset="0"/>
              </a:defRPr>
            </a:lvl2pPr>
            <a:lvl3pPr>
              <a:lnSpc>
                <a:spcPct val="100000"/>
              </a:lnSpc>
              <a:spcBef>
                <a:spcPts val="0"/>
              </a:spcBef>
              <a:defRPr b="0" i="0">
                <a:solidFill>
                  <a:schemeClr val="tx1"/>
                </a:solidFill>
                <a:latin typeface="IBM Plex Sans Light" panose="020B0403050203000203" pitchFamily="34" charset="0"/>
              </a:defRPr>
            </a:lvl3pPr>
            <a:lvl4pPr>
              <a:lnSpc>
                <a:spcPct val="100000"/>
              </a:lnSpc>
              <a:spcBef>
                <a:spcPts val="0"/>
              </a:spcBef>
              <a:defRPr b="0" i="0">
                <a:solidFill>
                  <a:schemeClr val="tx1"/>
                </a:solidFill>
                <a:latin typeface="IBM Plex Sans Light" panose="020B0403050203000203" pitchFamily="34" charset="0"/>
              </a:defRPr>
            </a:lvl4pPr>
            <a:lvl5pPr>
              <a:lnSpc>
                <a:spcPct val="110000"/>
              </a:lnSpc>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6380919" y="1166533"/>
            <a:ext cx="2476178" cy="4833423"/>
          </a:xfrm>
          <a:prstGeom prst="rect">
            <a:avLst/>
          </a:prstGeom>
        </p:spPr>
        <p:txBody>
          <a:bodyPr/>
          <a:lstStyle>
            <a:lvl1pPr>
              <a:lnSpc>
                <a:spcPct val="100000"/>
              </a:lnSpc>
              <a:spcBef>
                <a:spcPts val="0"/>
              </a:spcBef>
              <a:defRPr b="0" i="0">
                <a:solidFill>
                  <a:schemeClr val="tx1"/>
                </a:solidFill>
                <a:latin typeface="IBM Plex Sans Light" panose="020B0403050203000203" pitchFamily="34" charset="0"/>
              </a:defRPr>
            </a:lvl1pPr>
            <a:lvl2pPr>
              <a:lnSpc>
                <a:spcPct val="100000"/>
              </a:lnSpc>
              <a:spcBef>
                <a:spcPts val="0"/>
              </a:spcBef>
              <a:defRPr b="0" i="0">
                <a:solidFill>
                  <a:schemeClr val="tx1"/>
                </a:solidFill>
                <a:latin typeface="IBM Plex Sans Light" panose="020B0403050203000203" pitchFamily="34" charset="0"/>
              </a:defRPr>
            </a:lvl2pPr>
            <a:lvl3pPr>
              <a:lnSpc>
                <a:spcPct val="100000"/>
              </a:lnSpc>
              <a:spcBef>
                <a:spcPts val="0"/>
              </a:spcBef>
              <a:defRPr b="0" i="0">
                <a:solidFill>
                  <a:schemeClr val="tx1"/>
                </a:solidFill>
                <a:latin typeface="IBM Plex Sans Light" panose="020B0403050203000203" pitchFamily="34" charset="0"/>
              </a:defRPr>
            </a:lvl3pPr>
            <a:lvl4pPr>
              <a:lnSpc>
                <a:spcPct val="100000"/>
              </a:lnSpc>
              <a:spcBef>
                <a:spcPts val="0"/>
              </a:spcBef>
              <a:defRPr b="0" i="0">
                <a:solidFill>
                  <a:schemeClr val="tx1"/>
                </a:solidFill>
                <a:latin typeface="IBM Plex Sans Light" panose="020B0403050203000203" pitchFamily="34" charset="0"/>
              </a:defRPr>
            </a:lvl4pPr>
            <a:lvl5pPr>
              <a:lnSpc>
                <a:spcPct val="110000"/>
              </a:lnSpc>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9428522" y="1166533"/>
            <a:ext cx="2476178" cy="4833423"/>
          </a:xfrm>
          <a:prstGeom prst="rect">
            <a:avLst/>
          </a:prstGeom>
        </p:spPr>
        <p:txBody>
          <a:bodyPr/>
          <a:lstStyle>
            <a:lvl1pPr>
              <a:lnSpc>
                <a:spcPct val="100000"/>
              </a:lnSpc>
              <a:spcBef>
                <a:spcPts val="0"/>
              </a:spcBef>
              <a:defRPr b="0" i="0">
                <a:solidFill>
                  <a:schemeClr val="tx1"/>
                </a:solidFill>
                <a:latin typeface="IBM Plex Sans Light" panose="020B0403050203000203" pitchFamily="34" charset="0"/>
              </a:defRPr>
            </a:lvl1pPr>
            <a:lvl2pPr>
              <a:lnSpc>
                <a:spcPct val="100000"/>
              </a:lnSpc>
              <a:spcBef>
                <a:spcPts val="0"/>
              </a:spcBef>
              <a:defRPr b="0" i="0">
                <a:solidFill>
                  <a:schemeClr val="tx1"/>
                </a:solidFill>
                <a:latin typeface="IBM Plex Sans Light" panose="020B0403050203000203" pitchFamily="34" charset="0"/>
              </a:defRPr>
            </a:lvl2pPr>
            <a:lvl3pPr>
              <a:lnSpc>
                <a:spcPct val="100000"/>
              </a:lnSpc>
              <a:spcBef>
                <a:spcPts val="0"/>
              </a:spcBef>
              <a:defRPr b="0" i="0">
                <a:solidFill>
                  <a:schemeClr val="tx1"/>
                </a:solidFill>
                <a:latin typeface="IBM Plex Sans Light" panose="020B0403050203000203" pitchFamily="34" charset="0"/>
              </a:defRPr>
            </a:lvl3pPr>
            <a:lvl4pPr>
              <a:lnSpc>
                <a:spcPct val="100000"/>
              </a:lnSpc>
              <a:spcBef>
                <a:spcPts val="0"/>
              </a:spcBef>
              <a:defRPr b="0" i="0">
                <a:solidFill>
                  <a:schemeClr val="tx1"/>
                </a:solidFill>
                <a:latin typeface="IBM Plex Sans Light" panose="020B0403050203000203" pitchFamily="34" charset="0"/>
              </a:defRPr>
            </a:lvl4pPr>
            <a:lvl5pPr>
              <a:lnSpc>
                <a:spcPct val="110000"/>
              </a:lnSpc>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Slide Number">
            <a:extLst>
              <a:ext uri="{FF2B5EF4-FFF2-40B4-BE49-F238E27FC236}">
                <a16:creationId xmlns:a16="http://schemas.microsoft.com/office/drawing/2014/main" id="{85A7B871-06B9-0A3F-4D1D-A14D572C268D}"/>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‹N›</a:t>
            </a:fld>
            <a:endParaRPr lang="en-US" dirty="0"/>
          </a:p>
        </p:txBody>
      </p:sp>
      <p:sp>
        <p:nvSpPr>
          <p:cNvPr id="3" name="Footer Placeholder 3">
            <a:extLst>
              <a:ext uri="{FF2B5EF4-FFF2-40B4-BE49-F238E27FC236}">
                <a16:creationId xmlns:a16="http://schemas.microsoft.com/office/drawing/2014/main" id="{15DBF980-9C8F-3F7A-E896-C207BA2781B7}"/>
              </a:ext>
            </a:extLst>
          </p:cNvPr>
          <p:cNvSpPr>
            <a:spLocks noGrp="1"/>
          </p:cNvSpPr>
          <p:nvPr>
            <p:ph type="ftr" sz="quarter" idx="18"/>
          </p:nvPr>
        </p:nvSpPr>
        <p:spPr>
          <a:xfrm>
            <a:off x="284125" y="6402118"/>
            <a:ext cx="2477765" cy="190500"/>
          </a:xfrm>
        </p:spPr>
        <p:txBody>
          <a:bodyPr/>
          <a:lstStyle>
            <a:lvl1pPr>
              <a:defRPr b="0" i="0">
                <a:latin typeface="IBM Plex Sans Light" panose="020B0403050203000203" pitchFamily="34" charset="0"/>
              </a:defRPr>
            </a:lvl1pPr>
          </a:lstStyle>
          <a:p>
            <a:endParaRPr lang="en-US" dirty="0"/>
          </a:p>
        </p:txBody>
      </p:sp>
    </p:spTree>
    <p:extLst>
      <p:ext uri="{BB962C8B-B14F-4D97-AF65-F5344CB8AC3E}">
        <p14:creationId xmlns:p14="http://schemas.microsoft.com/office/powerpoint/2010/main" val="3776036756"/>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blank (with footer)">
    <p:spTree>
      <p:nvGrpSpPr>
        <p:cNvPr id="1" name=""/>
        <p:cNvGrpSpPr/>
        <p:nvPr/>
      </p:nvGrpSpPr>
      <p:grpSpPr>
        <a:xfrm>
          <a:off x="0" y="0"/>
          <a:ext cx="0" cy="0"/>
          <a:chOff x="0" y="0"/>
          <a:chExt cx="0" cy="0"/>
        </a:xfrm>
      </p:grpSpPr>
      <p:sp>
        <p:nvSpPr>
          <p:cNvPr id="3" name="Footer Placeholder"/>
          <p:cNvSpPr>
            <a:spLocks noGrp="1"/>
          </p:cNvSpPr>
          <p:nvPr>
            <p:ph type="ftr" sz="quarter" idx="10"/>
          </p:nvPr>
        </p:nvSpPr>
        <p:spPr/>
        <p:txBody>
          <a:bodyPr/>
          <a:lstStyle>
            <a:lvl1pPr>
              <a:defRPr>
                <a:solidFill>
                  <a:schemeClr val="tx1"/>
                </a:solidFill>
              </a:defRPr>
            </a:lvl1pPr>
          </a:lstStyle>
          <a:p>
            <a:r>
              <a:rPr lang="en-US"/>
              <a:t>ESG Data &amp; Environmental Intelligence / © 2023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‹N›</a:t>
            </a:fld>
            <a:endParaRPr lang="en-US" dirty="0"/>
          </a:p>
        </p:txBody>
      </p:sp>
    </p:spTree>
    <p:extLst>
      <p:ext uri="{BB962C8B-B14F-4D97-AF65-F5344CB8AC3E}">
        <p14:creationId xmlns:p14="http://schemas.microsoft.com/office/powerpoint/2010/main" val="3122218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Section divi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8" y="192024"/>
            <a:ext cx="5524575" cy="1429544"/>
          </a:xfrm>
        </p:spPr>
        <p:txBody>
          <a:bodyPr rIns="457200"/>
          <a:lstStyle>
            <a:lvl1pPr>
              <a:lnSpc>
                <a:spcPct val="100000"/>
              </a:lnSpc>
              <a:defRPr sz="4299" b="0" i="0">
                <a:solidFill>
                  <a:schemeClr val="tx2"/>
                </a:solidFill>
                <a:latin typeface="IBM Plex Sans Light" panose="020B0403050203000203" pitchFamily="34" charset="0"/>
              </a:defRPr>
            </a:lvl1pPr>
          </a:lstStyle>
          <a:p>
            <a:r>
              <a:rPr lang="en-US" dirty="0"/>
              <a:t>Click to edit Master title style</a:t>
            </a:r>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‹N›</a:t>
            </a:fld>
            <a:endParaRPr lang="en-US" dirty="0"/>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284125" y="6402118"/>
            <a:ext cx="2477765" cy="190500"/>
          </a:xfrm>
        </p:spPr>
        <p:txBody>
          <a:bodyPr/>
          <a:lstStyle>
            <a:lvl1pPr>
              <a:defRPr b="0" i="0">
                <a:latin typeface="IBM Plex Sans Light" panose="020B0403050203000203" pitchFamily="34" charset="0"/>
              </a:defRPr>
            </a:lvl1pPr>
          </a:lstStyle>
          <a:p>
            <a:endParaRPr lang="en-US" dirty="0"/>
          </a:p>
        </p:txBody>
      </p:sp>
    </p:spTree>
    <p:extLst>
      <p:ext uri="{BB962C8B-B14F-4D97-AF65-F5344CB8AC3E}">
        <p14:creationId xmlns:p14="http://schemas.microsoft.com/office/powerpoint/2010/main" val="2574842210"/>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9049550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cSld name="DEFAULT">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Calibri"/>
              </a:defRPr>
            </a:lvl1pPr>
          </a:lstStyle>
          <a:p>
            <a:pPr indent="0" algn="l">
              <a:buNone/>
            </a:pPr>
            <a:r>
              <a:rPr lang="en-US" sz="1800" b="0" u="none" strike="noStrike">
                <a:solidFill>
                  <a:schemeClr val="dk1"/>
                </a:solidFill>
                <a:effectLst/>
                <a:uFillTx/>
                <a:latin typeface="Calibri"/>
              </a:rPr>
              <a:t>Click to edit the title text format</a:t>
            </a: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en-US" sz="2800" b="0" u="none" strike="noStrike">
                <a:solidFill>
                  <a:schemeClr val="dk1"/>
                </a:solidFill>
                <a:effectLst/>
                <a:uFillTx/>
                <a:latin typeface="Calibri"/>
              </a:defRPr>
            </a:lvl1pPr>
            <a:lvl2pPr lvl="1" algn="l">
              <a:lnSpc>
                <a:spcPct val="90000"/>
              </a:lnSpc>
              <a:spcBef>
                <a:spcPts val="1134"/>
              </a:spcBef>
              <a:buClr>
                <a:srgbClr val="000000"/>
              </a:buClr>
              <a:buSzPct val="75000"/>
              <a:buFont typeface="Symbol" charset="2"/>
              <a:buChar char=""/>
              <a:defRPr lang="en-US" sz="2000" b="0" u="none" strike="noStrike">
                <a:solidFill>
                  <a:schemeClr val="dk1"/>
                </a:solidFill>
                <a:effectLst/>
                <a:uFillTx/>
                <a:latin typeface="Calibri"/>
              </a:defRPr>
            </a:lvl2pPr>
            <a:lvl3pPr lvl="2" algn="l">
              <a:lnSpc>
                <a:spcPct val="90000"/>
              </a:lnSpc>
              <a:spcBef>
                <a:spcPts val="850"/>
              </a:spcBef>
              <a:buClr>
                <a:srgbClr val="000000"/>
              </a:buClr>
              <a:buSzPct val="45000"/>
              <a:buFont typeface="Wingdings" charset="2"/>
              <a:buChar char=""/>
              <a:defRPr lang="en-US" sz="1800" b="0" u="none" strike="noStrike">
                <a:solidFill>
                  <a:schemeClr val="dk1"/>
                </a:solidFill>
                <a:effectLst/>
                <a:uFillTx/>
                <a:latin typeface="Calibri"/>
              </a:defRPr>
            </a:lvl3pPr>
            <a:lvl4pPr lvl="3" algn="l">
              <a:lnSpc>
                <a:spcPct val="90000"/>
              </a:lnSpc>
              <a:spcBef>
                <a:spcPts val="567"/>
              </a:spcBef>
              <a:buClr>
                <a:srgbClr val="000000"/>
              </a:buClr>
              <a:buSzPct val="75000"/>
              <a:buFont typeface="Symbol" charset="2"/>
              <a:buChar char=""/>
              <a:defRPr lang="en-US" sz="1800" b="0" u="none" strike="noStrike">
                <a:solidFill>
                  <a:schemeClr val="dk1"/>
                </a:solidFill>
                <a:effectLst/>
                <a:uFillTx/>
                <a:latin typeface="Calibri"/>
              </a:defRPr>
            </a:lvl4pPr>
            <a:lvl5pPr lvl="4"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Calibri"/>
              </a:rPr>
              <a:t>Click to edit the outline text format</a:t>
            </a:r>
          </a:p>
          <a:p>
            <a:pPr marL="864000" lvl="1" indent="-324000" algn="l">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Calibri"/>
              </a:rPr>
              <a:t>Second Outline Level</a:t>
            </a:r>
          </a:p>
          <a:p>
            <a:pPr marL="1296000" lvl="2" indent="-288000" algn="l">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Calibri"/>
              </a:rPr>
              <a:t>Third Outline Level</a:t>
            </a:r>
          </a:p>
          <a:p>
            <a:pPr marL="1728000" lvl="3" indent="-216000" algn="l">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Calibri"/>
              </a:rPr>
              <a:t>Fourth Outline Level</a:t>
            </a:r>
          </a:p>
          <a:p>
            <a:pPr marL="2160000" lvl="4"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extLst>
      <p:ext uri="{BB962C8B-B14F-4D97-AF65-F5344CB8AC3E}">
        <p14:creationId xmlns:p14="http://schemas.microsoft.com/office/powerpoint/2010/main" val="137220288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cSld name="1_Title Slide">
    <p:bg>
      <p:bgPr>
        <a:solidFill>
          <a:srgbClr val="FFFFFF"/>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Calibri"/>
              </a:defRPr>
            </a:lvl1pPr>
          </a:lstStyle>
          <a:p>
            <a:pPr indent="0" algn="l">
              <a:buNone/>
            </a:pPr>
            <a:r>
              <a:rPr lang="en-US" sz="1800" b="0" u="none" strike="noStrike">
                <a:solidFill>
                  <a:schemeClr val="dk1"/>
                </a:solidFill>
                <a:effectLst/>
                <a:uFillTx/>
                <a:latin typeface="Calibri"/>
              </a:rPr>
              <a:t>Click to edit the title text format</a:t>
            </a:r>
          </a:p>
        </p:txBody>
      </p:sp>
      <p:sp>
        <p:nvSpPr>
          <p:cNvPr id="5"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en-US" sz="2800" b="0" u="none" strike="noStrike">
                <a:solidFill>
                  <a:schemeClr val="dk1"/>
                </a:solidFill>
                <a:effectLst/>
                <a:uFillTx/>
                <a:latin typeface="Calibri"/>
              </a:defRPr>
            </a:lvl1pPr>
            <a:lvl2pPr lvl="1" algn="l">
              <a:lnSpc>
                <a:spcPct val="90000"/>
              </a:lnSpc>
              <a:spcBef>
                <a:spcPts val="1134"/>
              </a:spcBef>
              <a:buClr>
                <a:srgbClr val="000000"/>
              </a:buClr>
              <a:buSzPct val="75000"/>
              <a:buFont typeface="Symbol" charset="2"/>
              <a:buChar char=""/>
              <a:defRPr lang="en-US" sz="2000" b="0" u="none" strike="noStrike">
                <a:solidFill>
                  <a:schemeClr val="dk1"/>
                </a:solidFill>
                <a:effectLst/>
                <a:uFillTx/>
                <a:latin typeface="Calibri"/>
              </a:defRPr>
            </a:lvl2pPr>
            <a:lvl3pPr lvl="2" algn="l">
              <a:lnSpc>
                <a:spcPct val="90000"/>
              </a:lnSpc>
              <a:spcBef>
                <a:spcPts val="850"/>
              </a:spcBef>
              <a:buClr>
                <a:srgbClr val="000000"/>
              </a:buClr>
              <a:buSzPct val="45000"/>
              <a:buFont typeface="Wingdings" charset="2"/>
              <a:buChar char=""/>
              <a:defRPr lang="en-US" sz="1800" b="0" u="none" strike="noStrike">
                <a:solidFill>
                  <a:schemeClr val="dk1"/>
                </a:solidFill>
                <a:effectLst/>
                <a:uFillTx/>
                <a:latin typeface="Calibri"/>
              </a:defRPr>
            </a:lvl3pPr>
            <a:lvl4pPr lvl="3" algn="l">
              <a:lnSpc>
                <a:spcPct val="90000"/>
              </a:lnSpc>
              <a:spcBef>
                <a:spcPts val="567"/>
              </a:spcBef>
              <a:buClr>
                <a:srgbClr val="000000"/>
              </a:buClr>
              <a:buSzPct val="75000"/>
              <a:buFont typeface="Symbol" charset="2"/>
              <a:buChar char=""/>
              <a:defRPr lang="en-US" sz="1800" b="0" u="none" strike="noStrike">
                <a:solidFill>
                  <a:schemeClr val="dk1"/>
                </a:solidFill>
                <a:effectLst/>
                <a:uFillTx/>
                <a:latin typeface="Calibri"/>
              </a:defRPr>
            </a:lvl4pPr>
            <a:lvl5pPr lvl="4"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Calibri"/>
              </a:rPr>
              <a:t>Click to edit the outline text format</a:t>
            </a:r>
          </a:p>
          <a:p>
            <a:pPr marL="864000" lvl="1" indent="-324000" algn="l">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Calibri"/>
              </a:rPr>
              <a:t>Second Outline Level</a:t>
            </a:r>
          </a:p>
          <a:p>
            <a:pPr marL="1296000" lvl="2" indent="-288000" algn="l">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Calibri"/>
              </a:rPr>
              <a:t>Third Outline Level</a:t>
            </a:r>
          </a:p>
          <a:p>
            <a:pPr marL="1728000" lvl="3" indent="-216000" algn="l">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Calibri"/>
              </a:rPr>
              <a:t>Fourth Outline Level</a:t>
            </a:r>
          </a:p>
          <a:p>
            <a:pPr marL="2160000" lvl="4"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extLst>
      <p:ext uri="{BB962C8B-B14F-4D97-AF65-F5344CB8AC3E}">
        <p14:creationId xmlns:p14="http://schemas.microsoft.com/office/powerpoint/2010/main" val="2001957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8390B64A-8642-221E-07D5-D63664D4F2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0F4BC928-42BA-37B4-95A8-700FD0BA9FB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607F09F2-0C7B-17C9-10BD-51D64AC055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2EC6173-F612-4749-9A99-74C714A5253F}" type="datetimeFigureOut">
              <a:rPr lang="it-IT" smtClean="0"/>
              <a:t>09/10/26</a:t>
            </a:fld>
            <a:endParaRPr lang="it-IT"/>
          </a:p>
        </p:txBody>
      </p:sp>
      <p:sp>
        <p:nvSpPr>
          <p:cNvPr id="5" name="Segnaposto piè di pagina 4">
            <a:extLst>
              <a:ext uri="{FF2B5EF4-FFF2-40B4-BE49-F238E27FC236}">
                <a16:creationId xmlns:a16="http://schemas.microsoft.com/office/drawing/2014/main" id="{D0ABCAB8-7CC0-5919-3A46-44261402D6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t-IT"/>
          </a:p>
        </p:txBody>
      </p:sp>
      <p:sp>
        <p:nvSpPr>
          <p:cNvPr id="6" name="Segnaposto numero diapositiva 5">
            <a:extLst>
              <a:ext uri="{FF2B5EF4-FFF2-40B4-BE49-F238E27FC236}">
                <a16:creationId xmlns:a16="http://schemas.microsoft.com/office/drawing/2014/main" id="{CF1454EC-0176-B6DB-9F4C-489697EFD5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175C065-B770-1D45-B8C0-4B0EDA9DDAA4}" type="slidenum">
              <a:rPr lang="it-IT" smtClean="0"/>
              <a:t>‹N›</a:t>
            </a:fld>
            <a:endParaRPr lang="it-IT"/>
          </a:p>
        </p:txBody>
      </p:sp>
    </p:spTree>
    <p:extLst>
      <p:ext uri="{BB962C8B-B14F-4D97-AF65-F5344CB8AC3E}">
        <p14:creationId xmlns:p14="http://schemas.microsoft.com/office/powerpoint/2010/main" val="41244925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12786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dt="0"/>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hyperlink" Target="https://www.ibm.com/docs/en/envizi-esg-suite?topic=SSFJN8P/topics/data-management-reports.html" TargetMode="External"/><Relationship Id="rId2" Type="http://schemas.openxmlformats.org/officeDocument/2006/relationships/hyperlink" Target="https://www.ibm.com/docs/en/envizi-esg-suite?topic=SSFJN8P/topics/account-data-health-check-report.html" TargetMode="Externa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hyperlink" Target="https://www.ibm.com/docs/en/SSFJN8P/topics/data-health-check-for-utilities.html" TargetMode="External"/><Relationship Id="rId2" Type="http://schemas.openxmlformats.org/officeDocument/2006/relationships/hyperlink" Target="https://www.ibm.com/docs/en/SSFJN8P/topics/accounts_incomplete_data.html" TargetMode="External"/><Relationship Id="rId1" Type="http://schemas.openxmlformats.org/officeDocument/2006/relationships/slideLayout" Target="../slideLayouts/slideLayout12.xml"/><Relationship Id="rId6" Type="http://schemas.openxmlformats.org/officeDocument/2006/relationships/hyperlink" Target="https://www.ibm.com/docs/en/SSFJN8P/topics/datacomplete-opened-on-dates.html" TargetMode="External"/><Relationship Id="rId5" Type="http://schemas.openxmlformats.org/officeDocument/2006/relationships/hyperlink" Target="https://www.ibm.com/docs/en/SSFJN8P/topics/datacomplete-closed-on-dates.html" TargetMode="External"/><Relationship Id="rId4" Type="http://schemas.openxmlformats.org/officeDocument/2006/relationships/hyperlink" Target="https://www.ibm.com/docs/en/SSFJN8P/topics/account_inactivity.html"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1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5.png"/><Relationship Id="rId1" Type="http://schemas.openxmlformats.org/officeDocument/2006/relationships/slideLayout" Target="../slideLayouts/slideLayout12.xml"/><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2.xml"/><Relationship Id="rId5" Type="http://schemas.openxmlformats.org/officeDocument/2006/relationships/image" Target="../media/image26.png"/><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png"/><Relationship Id="rId1" Type="http://schemas.openxmlformats.org/officeDocument/2006/relationships/slideLayout" Target="../slideLayouts/slideLayout12.xml"/><Relationship Id="rId5" Type="http://schemas.openxmlformats.org/officeDocument/2006/relationships/image" Target="../media/image30.png"/><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40.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8" Type="http://schemas.openxmlformats.org/officeDocument/2006/relationships/hyperlink" Target="https://www.ibm.com/docs/en/envizi-esg-suite?topic=managing-approving-account-data" TargetMode="External"/><Relationship Id="rId3" Type="http://schemas.openxmlformats.org/officeDocument/2006/relationships/hyperlink" Target="https://www.ibm.com/docs/en/envizi-esg-suite?topic=quality-account-data-health-check-report" TargetMode="External"/><Relationship Id="rId7" Type="http://schemas.openxmlformats.org/officeDocument/2006/relationships/hyperlink" Target="https://www.ibm.com/docs/en/envizi-esg-suite?topic=managing-issues" TargetMode="External"/><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hyperlink" Target="https://www.ibm.com/docs/en/envizi-esg-suite?topic=quality-data-health-check-utilities-dashboard" TargetMode="External"/><Relationship Id="rId5" Type="http://schemas.openxmlformats.org/officeDocument/2006/relationships/hyperlink" Target="https://www.ibm.com/docs/en/envizi-esg-suite?topic=reporting-data-management-reports" TargetMode="External"/><Relationship Id="rId4" Type="http://schemas.openxmlformats.org/officeDocument/2006/relationships/hyperlink" Target="https://www.ibm.com/docs/en/envizi-esg-suite?topic=managing-verifying-data-qualit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E94C1-566C-F582-C817-9E35FF694902}"/>
            </a:ext>
          </a:extLst>
        </p:cNvPr>
        <p:cNvGrpSpPr/>
        <p:nvPr/>
      </p:nvGrpSpPr>
      <p:grpSpPr>
        <a:xfrm>
          <a:off x="0" y="0"/>
          <a:ext cx="0" cy="0"/>
          <a:chOff x="0" y="0"/>
          <a:chExt cx="0" cy="0"/>
        </a:xfrm>
      </p:grpSpPr>
      <p:pic>
        <p:nvPicPr>
          <p:cNvPr id="13" name="SK-1-img-2">
            <a:extLst>
              <a:ext uri="{FF2B5EF4-FFF2-40B4-BE49-F238E27FC236}">
                <a16:creationId xmlns:a16="http://schemas.microsoft.com/office/drawing/2014/main" id="{857ED53D-59A7-5D41-890D-F7114A35434A}"/>
              </a:ext>
            </a:extLst>
          </p:cNvPr>
          <p:cNvPicPr/>
          <p:nvPr/>
        </p:nvPicPr>
        <p:blipFill>
          <a:blip r:embed="rId3"/>
          <a:stretch/>
        </p:blipFill>
        <p:spPr>
          <a:xfrm>
            <a:off x="6547594" y="1097280"/>
            <a:ext cx="4953008" cy="3438102"/>
          </a:xfrm>
          <a:prstGeom prst="rect">
            <a:avLst/>
          </a:prstGeom>
          <a:noFill/>
          <a:ln w="0">
            <a:noFill/>
          </a:ln>
        </p:spPr>
      </p:pic>
      <p:pic>
        <p:nvPicPr>
          <p:cNvPr id="17" name="SK-1-img-6">
            <a:extLst>
              <a:ext uri="{FF2B5EF4-FFF2-40B4-BE49-F238E27FC236}">
                <a16:creationId xmlns:a16="http://schemas.microsoft.com/office/drawing/2014/main" id="{5D56AC93-A688-6ECC-034F-E950D9F4CA2B}"/>
              </a:ext>
            </a:extLst>
          </p:cNvPr>
          <p:cNvPicPr/>
          <p:nvPr/>
        </p:nvPicPr>
        <p:blipFill>
          <a:blip r:embed="rId4"/>
          <a:stretch/>
        </p:blipFill>
        <p:spPr>
          <a:xfrm>
            <a:off x="640080" y="6035040"/>
            <a:ext cx="10881360" cy="9144"/>
          </a:xfrm>
          <a:prstGeom prst="rect">
            <a:avLst/>
          </a:prstGeom>
          <a:noFill/>
          <a:ln w="0">
            <a:noFill/>
          </a:ln>
        </p:spPr>
      </p:pic>
      <p:pic>
        <p:nvPicPr>
          <p:cNvPr id="18" name="SK-1-img-7">
            <a:extLst>
              <a:ext uri="{FF2B5EF4-FFF2-40B4-BE49-F238E27FC236}">
                <a16:creationId xmlns:a16="http://schemas.microsoft.com/office/drawing/2014/main" id="{4159CB6A-B84D-80D0-F0A2-0063A85ECD0A}"/>
              </a:ext>
            </a:extLst>
          </p:cNvPr>
          <p:cNvPicPr/>
          <p:nvPr/>
        </p:nvPicPr>
        <p:blipFill>
          <a:blip r:embed="rId5"/>
          <a:stretch/>
        </p:blipFill>
        <p:spPr>
          <a:xfrm>
            <a:off x="6010157" y="1097280"/>
            <a:ext cx="5490445" cy="4937760"/>
          </a:xfrm>
          <a:prstGeom prst="rect">
            <a:avLst/>
          </a:prstGeom>
          <a:noFill/>
          <a:ln w="0">
            <a:noFill/>
          </a:ln>
        </p:spPr>
      </p:pic>
      <p:sp>
        <p:nvSpPr>
          <p:cNvPr id="22" name="SK-1-text-11">
            <a:extLst>
              <a:ext uri="{FF2B5EF4-FFF2-40B4-BE49-F238E27FC236}">
                <a16:creationId xmlns:a16="http://schemas.microsoft.com/office/drawing/2014/main" id="{189C8CF6-A3DA-3FE8-27B2-730050E5FCB9}"/>
              </a:ext>
            </a:extLst>
          </p:cNvPr>
          <p:cNvSpPr/>
          <p:nvPr/>
        </p:nvSpPr>
        <p:spPr>
          <a:xfrm>
            <a:off x="640080" y="594360"/>
            <a:ext cx="5212080" cy="36576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noAutofit/>
          </a:bodyPr>
          <a:lstStyle/>
          <a:p>
            <a:pPr algn="l">
              <a:lnSpc>
                <a:spcPct val="105000"/>
              </a:lnSpc>
              <a:spcBef>
                <a:spcPts val="0"/>
              </a:spcBef>
              <a:spcAft>
                <a:spcPts val="800"/>
              </a:spcAft>
            </a:pPr>
            <a:r>
              <a:rPr lang="it-IT" sz="1800" b="1">
                <a:solidFill>
                  <a:srgbClr val="2E7D4F"/>
                </a:solidFill>
                <a:latin typeface="Calibri"/>
              </a:rPr>
              <a:t>2026 ESG REPORTING</a:t>
            </a:r>
          </a:p>
        </p:txBody>
      </p:sp>
      <p:sp>
        <p:nvSpPr>
          <p:cNvPr id="23" name="SK-1-text-12">
            <a:extLst>
              <a:ext uri="{FF2B5EF4-FFF2-40B4-BE49-F238E27FC236}">
                <a16:creationId xmlns:a16="http://schemas.microsoft.com/office/drawing/2014/main" id="{8759690C-0B4B-284E-AD9B-87FB5185FDFC}"/>
              </a:ext>
            </a:extLst>
          </p:cNvPr>
          <p:cNvSpPr/>
          <p:nvPr/>
        </p:nvSpPr>
        <p:spPr>
          <a:xfrm>
            <a:off x="640080" y="1234440"/>
            <a:ext cx="5029200" cy="73152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noAutofit/>
          </a:bodyPr>
          <a:lstStyle/>
          <a:p>
            <a:pPr algn="l">
              <a:lnSpc>
                <a:spcPct val="105000"/>
              </a:lnSpc>
              <a:spcBef>
                <a:spcPts val="0"/>
              </a:spcBef>
              <a:spcAft>
                <a:spcPts val="800"/>
              </a:spcAft>
            </a:pPr>
            <a:r>
              <a:rPr lang="it-IT" sz="4400" b="1">
                <a:solidFill>
                  <a:srgbClr val="14433A"/>
                </a:solidFill>
                <a:latin typeface="Calibri"/>
              </a:rPr>
              <a:t>Envizi</a:t>
            </a:r>
          </a:p>
        </p:txBody>
      </p:sp>
      <p:sp>
        <p:nvSpPr>
          <p:cNvPr id="24" name="SK-1-text-13">
            <a:extLst>
              <a:ext uri="{FF2B5EF4-FFF2-40B4-BE49-F238E27FC236}">
                <a16:creationId xmlns:a16="http://schemas.microsoft.com/office/drawing/2014/main" id="{26CC8673-84D8-87CF-6C96-8DC5FF6EAD58}"/>
              </a:ext>
            </a:extLst>
          </p:cNvPr>
          <p:cNvSpPr/>
          <p:nvPr/>
        </p:nvSpPr>
        <p:spPr>
          <a:xfrm>
            <a:off x="640080" y="2331720"/>
            <a:ext cx="5029200" cy="333756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noAutofit/>
          </a:bodyPr>
          <a:lstStyle/>
          <a:p>
            <a:pPr algn="l">
              <a:lnSpc>
                <a:spcPct val="105000"/>
              </a:lnSpc>
              <a:spcBef>
                <a:spcPts val="0"/>
              </a:spcBef>
              <a:spcAft>
                <a:spcPts val="800"/>
              </a:spcAft>
            </a:pPr>
            <a:r>
              <a:rPr lang="it-IT" sz="2200" b="0">
                <a:solidFill>
                  <a:srgbClr val="5B6B70"/>
                </a:solidFill>
                <a:latin typeface="Calibri"/>
              </a:rPr>
              <a:t>Qualità e governance dei </a:t>
            </a:r>
            <a:r>
              <a:rPr lang="it-IT" sz="2200" b="0" dirty="0">
                <a:solidFill>
                  <a:srgbClr val="5B6B70"/>
                </a:solidFill>
                <a:latin typeface="Calibri"/>
              </a:rPr>
              <a:t>dati</a:t>
            </a:r>
            <a:r>
              <a:rPr lang="it-IT" sz="2200" b="0">
                <a:solidFill>
                  <a:srgbClr val="5B6B70"/>
                </a:solidFill>
                <a:latin typeface="Calibri"/>
              </a:rPr>
              <a:t> ESG in IBM Envizi</a:t>
            </a:r>
            <a:endParaRPr lang="it-IT" sz="2200" b="0" dirty="0">
              <a:solidFill>
                <a:srgbClr val="5B6B70"/>
              </a:solidFill>
              <a:latin typeface="Calibri"/>
            </a:endParaRPr>
          </a:p>
          <a:p>
            <a:pPr algn="l">
              <a:lnSpc>
                <a:spcPct val="105000"/>
              </a:lnSpc>
              <a:spcBef>
                <a:spcPts val="0"/>
              </a:spcBef>
              <a:spcAft>
                <a:spcPts val="800"/>
              </a:spcAft>
            </a:pPr>
            <a:endParaRPr lang="it-IT" sz="2200" b="0" dirty="0">
              <a:solidFill>
                <a:srgbClr val="5B6B70"/>
              </a:solidFill>
              <a:latin typeface="Calibri"/>
            </a:endParaRPr>
          </a:p>
          <a:p>
            <a:pPr algn="l">
              <a:lnSpc>
                <a:spcPct val="105000"/>
              </a:lnSpc>
              <a:spcBef>
                <a:spcPts val="0"/>
              </a:spcBef>
              <a:spcAft>
                <a:spcPts val="800"/>
              </a:spcAft>
            </a:pPr>
            <a:endParaRPr lang="it-IT" sz="2200" b="0" dirty="0">
              <a:solidFill>
                <a:srgbClr val="5B6B70"/>
              </a:solidFill>
              <a:latin typeface="Calibri"/>
            </a:endParaRPr>
          </a:p>
          <a:p>
            <a:pPr algn="l">
              <a:lnSpc>
                <a:spcPct val="105000"/>
              </a:lnSpc>
              <a:spcBef>
                <a:spcPts val="0"/>
              </a:spcBef>
              <a:spcAft>
                <a:spcPts val="800"/>
              </a:spcAft>
            </a:pPr>
            <a:endParaRPr lang="it-IT" sz="2200" b="0" dirty="0">
              <a:solidFill>
                <a:srgbClr val="5B6B70"/>
              </a:solidFill>
              <a:latin typeface="Calibri"/>
            </a:endParaRPr>
          </a:p>
          <a:p>
            <a:pPr algn="l">
              <a:lnSpc>
                <a:spcPct val="105000"/>
              </a:lnSpc>
              <a:spcBef>
                <a:spcPts val="0"/>
              </a:spcBef>
              <a:spcAft>
                <a:spcPts val="800"/>
              </a:spcAft>
            </a:pPr>
            <a:r>
              <a:rPr lang="it-IT" sz="2200" b="0" dirty="0">
                <a:solidFill>
                  <a:srgbClr val="5B6B70"/>
                </a:solidFill>
                <a:latin typeface="Calibri"/>
              </a:rPr>
              <a:t>Felice Petrignano</a:t>
            </a:r>
          </a:p>
          <a:p>
            <a:pPr algn="l">
              <a:lnSpc>
                <a:spcPct val="105000"/>
              </a:lnSpc>
              <a:spcBef>
                <a:spcPts val="0"/>
              </a:spcBef>
              <a:spcAft>
                <a:spcPts val="800"/>
              </a:spcAft>
            </a:pPr>
            <a:r>
              <a:rPr lang="it-IT" sz="2200" b="0" dirty="0">
                <a:solidFill>
                  <a:srgbClr val="5B6B70"/>
                </a:solidFill>
                <a:latin typeface="Calibri"/>
              </a:rPr>
              <a:t>SME </a:t>
            </a:r>
            <a:r>
              <a:rPr lang="it-IT" sz="2200" b="0" dirty="0" err="1">
                <a:solidFill>
                  <a:srgbClr val="5B6B70"/>
                </a:solidFill>
                <a:latin typeface="Calibri"/>
              </a:rPr>
              <a:t>Envizi</a:t>
            </a:r>
            <a:r>
              <a:rPr lang="it-IT" sz="2200" b="0" dirty="0">
                <a:solidFill>
                  <a:srgbClr val="5B6B70"/>
                </a:solidFill>
                <a:latin typeface="Calibri"/>
              </a:rPr>
              <a:t> IBM Italia</a:t>
            </a:r>
          </a:p>
        </p:txBody>
      </p:sp>
      <p:sp>
        <p:nvSpPr>
          <p:cNvPr id="25"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endParaRPr lang="it-IT"/>
          </a:p>
        </p:txBody>
      </p:sp>
      <p:sp>
        <p:nvSpPr>
          <p:cNvPr id="26" name="Rettangolo 2">
            <a:extLst>
              <a:ext uri="{FF2B5EF4-FFF2-40B4-BE49-F238E27FC236}">
                <a16:creationId xmlns:a16="http://schemas.microsoft.com/office/drawing/2014/main" id="{B80EF3E5-EEB9-BD34-726E-465740FD31FE}"/>
              </a:ext>
            </a:extLst>
          </p:cNvPr>
          <p:cNvSpPr/>
          <p:nvPr/>
        </p:nvSpPr>
        <p:spPr>
          <a:xfrm>
            <a:off x="9035359" y="172244"/>
            <a:ext cx="3029561" cy="2670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a:t>IBM </a:t>
            </a:r>
            <a:r>
              <a:rPr lang="it-IT" err="1"/>
              <a:t>Envizi</a:t>
            </a:r>
            <a:endParaRPr lang="it-IT"/>
          </a:p>
        </p:txBody>
      </p:sp>
    </p:spTree>
    <p:extLst>
      <p:ext uri="{BB962C8B-B14F-4D97-AF65-F5344CB8AC3E}">
        <p14:creationId xmlns:p14="http://schemas.microsoft.com/office/powerpoint/2010/main" val="20828247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sellaDiTesto 2">
            <a:extLst>
              <a:ext uri="{FF2B5EF4-FFF2-40B4-BE49-F238E27FC236}">
                <a16:creationId xmlns:a16="http://schemas.microsoft.com/office/drawing/2014/main" id="{80F8A9A7-20A7-FD31-DED9-EC0EABB50AB7}"/>
              </a:ext>
            </a:extLst>
          </p:cNvPr>
          <p:cNvSpPr txBox="1"/>
          <p:nvPr/>
        </p:nvSpPr>
        <p:spPr>
          <a:xfrm>
            <a:off x="797442" y="325213"/>
            <a:ext cx="10217888" cy="4299703"/>
          </a:xfrm>
          <a:prstGeom prst="rect">
            <a:avLst/>
          </a:prstGeom>
          <a:noFill/>
        </p:spPr>
        <p:txBody>
          <a:bodyPr wrap="square">
            <a:spAutoFit/>
          </a:bodyPr>
          <a:lstStyle/>
          <a:p>
            <a:r>
              <a:rPr lang="en-US" sz="2400" b="1"/>
              <a:t>Obiettivi del capitolo</a:t>
            </a:r>
          </a:p>
          <a:p>
            <a:endParaRPr lang="en-US" b="1"/>
          </a:p>
          <a:p>
            <a:r>
              <a:rPr lang="en-US"/>
              <a:t>Questo capitolo mostra come individuare dati mancanti o anomali in IBM Envizi, gestire le attività correttive e distinguere la chiusura delle Issue dall’approvazione dei dati.</a:t>
            </a:r>
          </a:p>
          <a:p>
            <a:endParaRPr lang="en-US"/>
          </a:p>
          <a:p>
            <a:endParaRPr lang="en-US"/>
          </a:p>
          <a:p>
            <a:r>
              <a:rPr lang="en-US" b="1"/>
              <a:t>Al termine del capitolo il partecipante sarà in grado di:</a:t>
            </a:r>
          </a:p>
          <a:p>
            <a:endParaRPr lang="en-US" b="1"/>
          </a:p>
          <a:p>
            <a:pPr lvl="0"/>
            <a:r>
              <a:rPr lang="en-US"/>
              <a:t>leggere Account Data Health Check e individuare ritardi e lacune</a:t>
            </a:r>
          </a:p>
          <a:p>
            <a:pPr lvl="0">
              <a:lnSpc>
                <a:spcPct val="150000"/>
              </a:lnSpc>
            </a:pPr>
            <a:r>
              <a:rPr lang="en-US"/>
              <a:t>analizzare la copertura temporale con i report di qualità dei dati</a:t>
            </a:r>
          </a:p>
          <a:p>
            <a:pPr lvl="0">
              <a:lnSpc>
                <a:spcPct val="150000"/>
              </a:lnSpc>
            </a:pPr>
            <a:r>
              <a:rPr lang="en-US"/>
              <a:t>identificare gli Account, le sedi e i fornitori che richiedono interventi</a:t>
            </a:r>
          </a:p>
          <a:p>
            <a:pPr lvl="0">
              <a:lnSpc>
                <a:spcPct val="150000"/>
              </a:lnSpc>
            </a:pPr>
            <a:r>
              <a:rPr lang="en-US"/>
              <a:t>assegnare e seguire le attività correttive tramite Issue Management</a:t>
            </a:r>
          </a:p>
          <a:p>
            <a:pPr lvl="0">
              <a:lnSpc>
                <a:spcPct val="150000"/>
              </a:lnSpc>
            </a:pPr>
            <a:r>
              <a:rPr lang="en-US"/>
              <a:t>distinguere la gestione delle Issue dal workflow di approvazione dei record</a:t>
            </a:r>
          </a:p>
        </p:txBody>
      </p:sp>
    </p:spTree>
    <p:extLst>
      <p:ext uri="{BB962C8B-B14F-4D97-AF65-F5344CB8AC3E}">
        <p14:creationId xmlns:p14="http://schemas.microsoft.com/office/powerpoint/2010/main" val="11289394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sellaDiTesto 2">
            <a:extLst>
              <a:ext uri="{FF2B5EF4-FFF2-40B4-BE49-F238E27FC236}">
                <a16:creationId xmlns:a16="http://schemas.microsoft.com/office/drawing/2014/main" id="{9FEDFCF0-D0EA-512A-921C-1CD9FD4A6078}"/>
              </a:ext>
            </a:extLst>
          </p:cNvPr>
          <p:cNvSpPr txBox="1"/>
          <p:nvPr/>
        </p:nvSpPr>
        <p:spPr>
          <a:xfrm>
            <a:off x="542260" y="272878"/>
            <a:ext cx="11153553" cy="5262979"/>
          </a:xfrm>
          <a:prstGeom prst="rect">
            <a:avLst/>
          </a:prstGeom>
          <a:noFill/>
        </p:spPr>
        <p:txBody>
          <a:bodyPr wrap="square">
            <a:spAutoFit/>
          </a:bodyPr>
          <a:lstStyle/>
          <a:p>
            <a:r>
              <a:rPr lang="en-US" sz="2400" b="1"/>
              <a:t>Contenuti</a:t>
            </a:r>
          </a:p>
          <a:p>
            <a:endParaRPr lang="en-US" sz="2400" b="1"/>
          </a:p>
          <a:p>
            <a:pPr lvl="0">
              <a:lnSpc>
                <a:spcPct val="150000"/>
              </a:lnSpc>
            </a:pPr>
            <a:r>
              <a:rPr lang="en-US"/>
              <a:t>Qualità dei dati e responsabilità dell’ESG Manager</a:t>
            </a:r>
          </a:p>
          <a:p>
            <a:pPr lvl="0">
              <a:lnSpc>
                <a:spcPct val="150000"/>
              </a:lnSpc>
            </a:pPr>
            <a:r>
              <a:rPr lang="en-US"/>
              <a:t>Account Data Health Check: Data Activity e Data Gaps</a:t>
            </a:r>
          </a:p>
          <a:p>
            <a:pPr lvl="0">
              <a:lnSpc>
                <a:spcPct val="150000"/>
              </a:lnSpc>
            </a:pPr>
            <a:r>
              <a:rPr lang="en-US"/>
              <a:t>Analisi per Account, sede e fornitore tramite drill-down</a:t>
            </a:r>
          </a:p>
          <a:p>
            <a:pPr lvl="0">
              <a:lnSpc>
                <a:spcPct val="150000"/>
              </a:lnSpc>
            </a:pPr>
            <a:r>
              <a:rPr lang="en-US"/>
              <a:t>Report di completezza, copertura temporale e Days Mismatch</a:t>
            </a:r>
          </a:p>
          <a:p>
            <a:pPr lvl="0">
              <a:lnSpc>
                <a:spcPct val="150000"/>
              </a:lnSpc>
            </a:pPr>
            <a:r>
              <a:rPr lang="en-US"/>
              <a:t>Ruoli, contatti di notifica e assegnazione delle Issue</a:t>
            </a:r>
          </a:p>
          <a:p>
            <a:pPr lvl="0">
              <a:lnSpc>
                <a:spcPct val="150000"/>
              </a:lnSpc>
            </a:pPr>
            <a:r>
              <a:rPr lang="en-US"/>
              <a:t>Caso d’uso: recupero dei dati mancanti e verifica dell’intervento</a:t>
            </a:r>
          </a:p>
          <a:p>
            <a:pPr lvl="0">
              <a:lnSpc>
                <a:spcPct val="150000"/>
              </a:lnSpc>
            </a:pPr>
            <a:r>
              <a:rPr lang="en-US"/>
              <a:t>Issue Management e approvazione dei dati: finalità distinte</a:t>
            </a:r>
          </a:p>
          <a:p>
            <a:pPr lvl="0">
              <a:lnSpc>
                <a:spcPct val="150000"/>
              </a:lnSpc>
            </a:pPr>
            <a:r>
              <a:rPr lang="en-US"/>
              <a:t>Account Data Variance e gestione delle anomalie</a:t>
            </a:r>
          </a:p>
          <a:p>
            <a:r>
              <a:rPr lang="en-US"/>
              <a:t>Riferimenti alla documentazione ufficiale IBM</a:t>
            </a:r>
          </a:p>
          <a:p>
            <a:endParaRPr lang="en-US"/>
          </a:p>
          <a:p>
            <a:r>
              <a:rPr lang="en-US" b="1"/>
              <a:t>La chiusura di una Issue conclude l’attività correttiva. L’approvazione dei record segue un workflow distinto, se abilitato e configurato.</a:t>
            </a:r>
            <a:endParaRPr lang="it-IT" dirty="0"/>
          </a:p>
        </p:txBody>
      </p:sp>
    </p:spTree>
    <p:extLst>
      <p:ext uri="{BB962C8B-B14F-4D97-AF65-F5344CB8AC3E}">
        <p14:creationId xmlns:p14="http://schemas.microsoft.com/office/powerpoint/2010/main" val="9771590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4FC59-20BE-E232-11F1-2C7AB5D7EA9E}"/>
            </a:ext>
          </a:extLst>
        </p:cNvPr>
        <p:cNvGrpSpPr/>
        <p:nvPr/>
      </p:nvGrpSpPr>
      <p:grpSpPr>
        <a:xfrm>
          <a:off x="0" y="0"/>
          <a:ext cx="0" cy="0"/>
          <a:chOff x="0" y="0"/>
          <a:chExt cx="0" cy="0"/>
        </a:xfrm>
      </p:grpSpPr>
      <p:sp>
        <p:nvSpPr>
          <p:cNvPr id="7" name="CasellaDiTesto 6">
            <a:extLst>
              <a:ext uri="{FF2B5EF4-FFF2-40B4-BE49-F238E27FC236}">
                <a16:creationId xmlns:a16="http://schemas.microsoft.com/office/drawing/2014/main" id="{FCF33AFC-ACF2-B578-60EC-3B7B26D1DC38}"/>
              </a:ext>
            </a:extLst>
          </p:cNvPr>
          <p:cNvSpPr txBox="1"/>
          <p:nvPr/>
        </p:nvSpPr>
        <p:spPr>
          <a:xfrm>
            <a:off x="356420" y="1216884"/>
            <a:ext cx="4284406" cy="4062651"/>
          </a:xfrm>
          <a:prstGeom prst="rect">
            <a:avLst/>
          </a:prstGeom>
          <a:noFill/>
        </p:spPr>
        <p:txBody>
          <a:bodyPr wrap="square">
            <a:spAutoFit/>
          </a:bodyPr>
          <a:lstStyle/>
          <a:p>
            <a:pPr>
              <a:buNone/>
            </a:pPr>
            <a:endParaRPr lang="it-IT" sz="2400" dirty="0"/>
          </a:p>
          <a:p>
            <a:pPr>
              <a:buNone/>
            </a:pPr>
            <a:r>
              <a:rPr lang="it-IT" b="1" dirty="0"/>
              <a:t>ESG Manager (</a:t>
            </a:r>
            <a:r>
              <a:rPr lang="it-IT" b="1"/>
              <a:t>profilo di esempio</a:t>
            </a:r>
            <a:r>
              <a:rPr lang="it-IT" b="1" dirty="0"/>
              <a:t>)</a:t>
            </a:r>
            <a:endParaRPr lang="it-IT" dirty="0"/>
          </a:p>
          <a:p>
            <a:pPr>
              <a:buNone/>
            </a:pPr>
            <a:endParaRPr lang="it-IT" b="1" dirty="0"/>
          </a:p>
          <a:p>
            <a:pPr marL="342900" lvl="0" indent="-342900">
              <a:buFont typeface="Arial" panose="020B0604020202020204" pitchFamily="34" charset="0"/>
              <a:buChar char="•"/>
            </a:pPr>
            <a:r>
              <a:rPr lang="it-IT"/>
              <a:t>Completezza e copertura temporale</a:t>
            </a:r>
            <a:endParaRPr lang="it-IT" dirty="0"/>
          </a:p>
          <a:p>
            <a:pPr marL="342900" lvl="0" indent="-342900">
              <a:buFont typeface="Arial" panose="020B0604020202020204" pitchFamily="34" charset="0"/>
              <a:buChar char="•"/>
            </a:pPr>
            <a:r>
              <a:rPr lang="it-IT" dirty="0"/>
              <a:t>Dati mancanti</a:t>
            </a:r>
            <a:r>
              <a:rPr lang="it-IT"/>
              <a:t>,</a:t>
            </a:r>
            <a:r>
              <a:rPr lang="it-IT" dirty="0"/>
              <a:t> in ritardo</a:t>
            </a:r>
            <a:r>
              <a:rPr lang="it-IT"/>
              <a:t> o sovrapposti</a:t>
            </a:r>
            <a:endParaRPr lang="it-IT" dirty="0"/>
          </a:p>
          <a:p>
            <a:pPr marL="342900" lvl="0" indent="-342900">
              <a:buFont typeface="Arial" panose="020B0604020202020204" pitchFamily="34" charset="0"/>
              <a:buChar char="•"/>
            </a:pPr>
            <a:r>
              <a:rPr lang="it-IT" dirty="0"/>
              <a:t>Anomalie e variazioni </a:t>
            </a:r>
            <a:r>
              <a:rPr lang="it-IT"/>
              <a:t>da verificare</a:t>
            </a:r>
            <a:endParaRPr lang="it-IT" dirty="0"/>
          </a:p>
          <a:p>
            <a:pPr marL="342900" lvl="0" indent="-342900">
              <a:buFont typeface="Arial" panose="020B0604020202020204" pitchFamily="34" charset="0"/>
              <a:buChar char="•"/>
            </a:pPr>
            <a:r>
              <a:rPr lang="it-IT" dirty="0"/>
              <a:t>Coerenza delle informazioni</a:t>
            </a:r>
          </a:p>
          <a:p>
            <a:pPr>
              <a:buNone/>
            </a:pPr>
            <a:endParaRPr lang="it-IT" b="1" dirty="0"/>
          </a:p>
          <a:p>
            <a:pPr>
              <a:buNone/>
            </a:pPr>
            <a:endParaRPr lang="it-IT" b="1" dirty="0"/>
          </a:p>
          <a:p>
            <a:pPr>
              <a:buNone/>
            </a:pPr>
            <a:r>
              <a:rPr lang="it-IT" b="1" dirty="0" err="1"/>
              <a:t>Issue</a:t>
            </a:r>
            <a:r>
              <a:rPr lang="it-IT" b="1" dirty="0"/>
              <a:t> Management</a:t>
            </a:r>
            <a:endParaRPr lang="it-IT" dirty="0"/>
          </a:p>
          <a:p>
            <a:pPr>
              <a:buNone/>
            </a:pPr>
            <a:endParaRPr lang="it-IT" dirty="0"/>
          </a:p>
          <a:p>
            <a:pPr>
              <a:buNone/>
            </a:pPr>
            <a:r>
              <a:rPr lang="it-IT"/>
              <a:t>Gestione delle Issue con Work Role Issue Manager. Approvazione dei dati in un processo distinto.</a:t>
            </a:r>
            <a:endParaRPr lang="it-IT" dirty="0"/>
          </a:p>
        </p:txBody>
      </p:sp>
      <p:pic>
        <p:nvPicPr>
          <p:cNvPr id="10" name="Immagine 9">
            <a:extLst>
              <a:ext uri="{FF2B5EF4-FFF2-40B4-BE49-F238E27FC236}">
                <a16:creationId xmlns:a16="http://schemas.microsoft.com/office/drawing/2014/main" id="{D3E7E2F3-16FF-0C79-9411-D104AC9FFB12}"/>
              </a:ext>
            </a:extLst>
          </p:cNvPr>
          <p:cNvPicPr>
            <a:picLocks noChangeAspect="1"/>
          </p:cNvPicPr>
          <p:nvPr/>
        </p:nvPicPr>
        <p:blipFill>
          <a:blip r:embed="rId3"/>
          <a:stretch>
            <a:fillRect/>
          </a:stretch>
        </p:blipFill>
        <p:spPr>
          <a:xfrm>
            <a:off x="8069605" y="1825647"/>
            <a:ext cx="3479267" cy="3996696"/>
          </a:xfrm>
          <a:prstGeom prst="rect">
            <a:avLst/>
          </a:prstGeom>
        </p:spPr>
      </p:pic>
      <p:sp>
        <p:nvSpPr>
          <p:cNvPr id="11"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endParaRPr lang="it-IT"/>
          </a:p>
        </p:txBody>
      </p:sp>
      <p:sp>
        <p:nvSpPr>
          <p:cNvPr id="9" name="CasellaDiTesto 8">
            <a:extLst>
              <a:ext uri="{FF2B5EF4-FFF2-40B4-BE49-F238E27FC236}">
                <a16:creationId xmlns:a16="http://schemas.microsoft.com/office/drawing/2014/main" id="{BEBCD934-896A-DEEB-815A-276009BF342D}"/>
              </a:ext>
            </a:extLst>
          </p:cNvPr>
          <p:cNvSpPr txBox="1"/>
          <p:nvPr/>
        </p:nvSpPr>
        <p:spPr>
          <a:xfrm>
            <a:off x="640080" y="457200"/>
            <a:ext cx="10908792" cy="369332"/>
          </a:xfrm>
          <a:prstGeom prst="rect">
            <a:avLst/>
          </a:prstGeom>
          <a:noFill/>
        </p:spPr>
        <p:txBody>
          <a:bodyPr wrap="square" lIns="0" tIns="0" rIns="0" bIns="0" anchor="t">
            <a:spAutoFit/>
          </a:bodyPr>
          <a:lstStyle/>
          <a:p>
            <a:pPr marL="0" indent="0" algn="l">
              <a:lnSpc>
                <a:spcPct val="100000"/>
              </a:lnSpc>
              <a:spcBef>
                <a:spcPts val="0"/>
              </a:spcBef>
              <a:spcAft>
                <a:spcPts val="500"/>
              </a:spcAft>
              <a:buNone/>
              <a:defRPr sz="2400" b="1">
                <a:solidFill>
                  <a:srgbClr val="073E31"/>
                </a:solidFill>
                <a:latin typeface="Calibri"/>
              </a:defRPr>
            </a:pPr>
            <a:r>
              <a:rPr lang="it-IT" sz="2400" b="1">
                <a:solidFill>
                  <a:srgbClr val="073E31"/>
                </a:solidFill>
                <a:latin typeface="Calibri"/>
              </a:rPr>
              <a:t>Qualità e governance dei dati</a:t>
            </a:r>
          </a:p>
        </p:txBody>
      </p:sp>
      <p:sp>
        <p:nvSpPr>
          <p:cNvPr id="2" name="Ovale 1">
            <a:extLst>
              <a:ext uri="{FF2B5EF4-FFF2-40B4-BE49-F238E27FC236}">
                <a16:creationId xmlns:a16="http://schemas.microsoft.com/office/drawing/2014/main" id="{56C6262E-8A01-A332-EE19-E8831B7B8ED5}"/>
              </a:ext>
            </a:extLst>
          </p:cNvPr>
          <p:cNvSpPr/>
          <p:nvPr/>
        </p:nvSpPr>
        <p:spPr>
          <a:xfrm>
            <a:off x="10417579" y="178507"/>
            <a:ext cx="1005841" cy="9675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2800" dirty="0"/>
              <a:t>4</a:t>
            </a:r>
          </a:p>
        </p:txBody>
      </p:sp>
    </p:spTree>
    <p:extLst>
      <p:ext uri="{BB962C8B-B14F-4D97-AF65-F5344CB8AC3E}">
        <p14:creationId xmlns:p14="http://schemas.microsoft.com/office/powerpoint/2010/main" val="8350182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4F6B64F0-B779-AF0F-CA33-297F1EDD90CF}"/>
              </a:ext>
            </a:extLst>
          </p:cNvPr>
          <p:cNvPicPr>
            <a:picLocks noChangeAspect="1"/>
          </p:cNvPicPr>
          <p:nvPr/>
        </p:nvPicPr>
        <p:blipFill>
          <a:blip r:embed="rId2"/>
          <a:srcRect/>
          <a:stretch>
            <a:fillRect/>
          </a:stretch>
        </p:blipFill>
        <p:spPr>
          <a:xfrm>
            <a:off x="3995928" y="1250531"/>
            <a:ext cx="7799831" cy="4356937"/>
          </a:xfrm>
          <a:prstGeom prst="rect">
            <a:avLst/>
          </a:prstGeom>
        </p:spPr>
      </p:pic>
      <p:pic>
        <p:nvPicPr>
          <p:cNvPr id="8" name="Immagine 7">
            <a:extLst>
              <a:ext uri="{FF2B5EF4-FFF2-40B4-BE49-F238E27FC236}">
                <a16:creationId xmlns:a16="http://schemas.microsoft.com/office/drawing/2014/main" id="{F3DE926A-4475-30B6-1770-1977B091C1CF}"/>
              </a:ext>
            </a:extLst>
          </p:cNvPr>
          <p:cNvPicPr>
            <a:picLocks noChangeAspect="1"/>
          </p:cNvPicPr>
          <p:nvPr/>
        </p:nvPicPr>
        <p:blipFill>
          <a:blip r:embed="rId3"/>
          <a:stretch>
            <a:fillRect/>
          </a:stretch>
        </p:blipFill>
        <p:spPr>
          <a:xfrm>
            <a:off x="10643597" y="1887022"/>
            <a:ext cx="325940" cy="439482"/>
          </a:xfrm>
          <a:prstGeom prst="rect">
            <a:avLst/>
          </a:prstGeom>
        </p:spPr>
      </p:pic>
      <p:sp>
        <p:nvSpPr>
          <p:cNvPr id="10" name="TextBox 9"/>
          <p:cNvSpPr txBox="1"/>
          <p:nvPr/>
        </p:nvSpPr>
        <p:spPr>
          <a:xfrm>
            <a:off x="768096" y="1197864"/>
            <a:ext cx="3108960" cy="640080"/>
          </a:xfrm>
          <a:prstGeom prst="rect">
            <a:avLst/>
          </a:prstGeom>
          <a:noFill/>
        </p:spPr>
        <p:txBody>
          <a:bodyPr wrap="square" lIns="0" tIns="0" rIns="0" bIns="0">
            <a:spAutoFit/>
          </a:bodyPr>
          <a:lstStyle/>
          <a:p>
            <a:pPr>
              <a:lnSpc>
                <a:spcPct val="102000"/>
              </a:lnSpc>
              <a:spcAft>
                <a:spcPts val="700"/>
              </a:spcAft>
            </a:pPr>
            <a:r>
              <a:rPr sz="1800" b="1">
                <a:solidFill>
                  <a:srgbClr val="000000"/>
                </a:solidFill>
                <a:latin typeface="Calibri"/>
              </a:rPr>
              <a:t>Dalla Home page al report</a:t>
            </a:r>
          </a:p>
        </p:txBody>
      </p:sp>
      <p:sp>
        <p:nvSpPr>
          <p:cNvPr id="11" name="TextBox 10"/>
          <p:cNvSpPr txBox="1"/>
          <p:nvPr/>
        </p:nvSpPr>
        <p:spPr>
          <a:xfrm>
            <a:off x="768096" y="1993392"/>
            <a:ext cx="2926080" cy="3090672"/>
          </a:xfrm>
          <a:prstGeom prst="rect">
            <a:avLst/>
          </a:prstGeom>
          <a:noFill/>
        </p:spPr>
        <p:txBody>
          <a:bodyPr wrap="square" lIns="0" tIns="0" rIns="0" bIns="0">
            <a:spAutoFit/>
          </a:bodyPr>
          <a:lstStyle/>
          <a:p>
            <a:pPr>
              <a:lnSpc>
                <a:spcPct val="102000"/>
              </a:lnSpc>
              <a:spcAft>
                <a:spcPts val="700"/>
              </a:spcAft>
            </a:pPr>
            <a:r>
              <a:rPr sz="1800" b="0">
                <a:solidFill>
                  <a:srgbClr val="000000"/>
                </a:solidFill>
                <a:latin typeface="Calibri"/>
              </a:rPr>
              <a:t>1. Selezionare Report nel campo di ricerca.</a:t>
            </a:r>
          </a:p>
          <a:p>
            <a:pPr>
              <a:lnSpc>
                <a:spcPct val="102000"/>
              </a:lnSpc>
              <a:spcAft>
                <a:spcPts val="700"/>
              </a:spcAft>
            </a:pPr>
            <a:endParaRPr sz="1800" b="0">
              <a:solidFill>
                <a:srgbClr val="000000"/>
              </a:solidFill>
              <a:latin typeface="Calibri"/>
            </a:endParaRPr>
          </a:p>
          <a:p>
            <a:pPr>
              <a:lnSpc>
                <a:spcPct val="102000"/>
              </a:lnSpc>
              <a:spcAft>
                <a:spcPts val="700"/>
              </a:spcAft>
            </a:pPr>
            <a:r>
              <a:rPr sz="1800" b="0">
                <a:solidFill>
                  <a:srgbClr val="000000"/>
                </a:solidFill>
                <a:latin typeface="Calibri"/>
              </a:rPr>
              <a:t>2. Inserire “Account”.</a:t>
            </a:r>
          </a:p>
          <a:p>
            <a:pPr>
              <a:lnSpc>
                <a:spcPct val="102000"/>
              </a:lnSpc>
              <a:spcAft>
                <a:spcPts val="700"/>
              </a:spcAft>
            </a:pPr>
            <a:endParaRPr sz="1800" b="0">
              <a:solidFill>
                <a:srgbClr val="000000"/>
              </a:solidFill>
              <a:latin typeface="Calibri"/>
            </a:endParaRPr>
          </a:p>
          <a:p>
            <a:pPr>
              <a:lnSpc>
                <a:spcPct val="102000"/>
              </a:lnSpc>
              <a:spcAft>
                <a:spcPts val="700"/>
              </a:spcAft>
            </a:pPr>
            <a:r>
              <a:rPr sz="1800" b="0">
                <a:solidFill>
                  <a:srgbClr val="000000"/>
                </a:solidFill>
                <a:latin typeface="Calibri"/>
              </a:rPr>
              <a:t>3. Nel pop-up scegliere Account Data Health Check.</a:t>
            </a:r>
          </a:p>
        </p:txBody>
      </p:sp>
      <p:sp>
        <p:nvSpPr>
          <p:cNvPr id="12"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endParaRPr lang="it-IT"/>
          </a:p>
        </p:txBody>
      </p:sp>
      <p:sp>
        <p:nvSpPr>
          <p:cNvPr id="9" name="TextBox 8"/>
          <p:cNvSpPr txBox="1"/>
          <p:nvPr/>
        </p:nvSpPr>
        <p:spPr>
          <a:xfrm>
            <a:off x="640080" y="457200"/>
            <a:ext cx="10908792" cy="369332"/>
          </a:xfrm>
          <a:prstGeom prst="rect">
            <a:avLst/>
          </a:prstGeom>
          <a:noFill/>
        </p:spPr>
        <p:txBody>
          <a:bodyPr wrap="square" lIns="0" tIns="0" rIns="0" bIns="0" anchor="t">
            <a:spAutoFit/>
          </a:bodyPr>
          <a:lstStyle/>
          <a:p>
            <a:pPr marL="0" indent="0" algn="l">
              <a:lnSpc>
                <a:spcPct val="100000"/>
              </a:lnSpc>
              <a:spcBef>
                <a:spcPts val="0"/>
              </a:spcBef>
              <a:spcAft>
                <a:spcPts val="500"/>
              </a:spcAft>
              <a:buNone/>
              <a:defRPr sz="2400" b="1">
                <a:solidFill>
                  <a:srgbClr val="073E31"/>
                </a:solidFill>
                <a:latin typeface="Calibri"/>
              </a:defRPr>
            </a:pPr>
            <a:r>
              <a:rPr lang="it-IT" sz="2400" b="1">
                <a:solidFill>
                  <a:srgbClr val="073E31"/>
                </a:solidFill>
                <a:latin typeface="Calibri"/>
              </a:rPr>
              <a:t>La ricerca di Account Data Health Check</a:t>
            </a:r>
          </a:p>
        </p:txBody>
      </p:sp>
    </p:spTree>
    <p:extLst>
      <p:ext uri="{BB962C8B-B14F-4D97-AF65-F5344CB8AC3E}">
        <p14:creationId xmlns:p14="http://schemas.microsoft.com/office/powerpoint/2010/main" val="7010070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sellaDiTesto 2">
            <a:extLst>
              <a:ext uri="{FF2B5EF4-FFF2-40B4-BE49-F238E27FC236}">
                <a16:creationId xmlns:a16="http://schemas.microsoft.com/office/drawing/2014/main" id="{21B289C7-D342-0F90-ACB3-55D33BF6E108}"/>
              </a:ext>
            </a:extLst>
          </p:cNvPr>
          <p:cNvSpPr txBox="1"/>
          <p:nvPr/>
        </p:nvSpPr>
        <p:spPr>
          <a:xfrm>
            <a:off x="487582" y="1005840"/>
            <a:ext cx="10263078" cy="4247317"/>
          </a:xfrm>
          <a:prstGeom prst="rect">
            <a:avLst/>
          </a:prstGeom>
          <a:noFill/>
        </p:spPr>
        <p:txBody>
          <a:bodyPr wrap="square">
            <a:spAutoFit/>
          </a:bodyPr>
          <a:lstStyle/>
          <a:p>
            <a:pPr marL="0" marR="0" indent="0" algn="l" fontAlgn="base">
              <a:buNone/>
            </a:pPr>
            <a:r>
              <a:rPr lang="it-IT" sz="1800" b="0" i="0" spc="12" dirty="0">
                <a:solidFill>
                  <a:schemeClr val="tx1"/>
                </a:solidFill>
                <a:effectLst/>
                <a:latin typeface="+mn-lt"/>
              </a:rPr>
              <a:t>Il report </a:t>
            </a:r>
            <a:r>
              <a:rPr lang="it-IT" sz="1800" b="1" i="0" spc="12" dirty="0">
                <a:solidFill>
                  <a:schemeClr val="tx1"/>
                </a:solidFill>
                <a:effectLst/>
                <a:latin typeface="+mn-lt"/>
              </a:rPr>
              <a:t>Account Data Health Check</a:t>
            </a:r>
            <a:r>
              <a:rPr lang="it-IT" sz="1800" b="0" i="0" spc="12" dirty="0">
                <a:solidFill>
                  <a:schemeClr val="tx1"/>
                </a:solidFill>
                <a:effectLst/>
                <a:latin typeface="+mn-lt"/>
              </a:rPr>
              <a:t> mostra dove mancano dati e dove ci sono vuoti nei tuoi record. Serve soprattutto per capire quali fornitori contattare per recuperare i dati mancanti o per avvisarli che alcuni dati sono in ritardo. </a:t>
            </a:r>
            <a:r>
              <a:rPr lang="it-IT" sz="1800" b="0" i="0" u="none" strike="noStrike" spc="12" dirty="0">
                <a:solidFill>
                  <a:schemeClr val="tx1"/>
                </a:solidFill>
                <a:effectLst/>
                <a:latin typeface="+mn-lt"/>
                <a:hlinkClick r:id="rId2"/>
              </a:rPr>
              <a:t>[Controllo dello stato dei dati dell’account]</a:t>
            </a:r>
            <a:endParaRPr lang="it-IT" sz="1800" b="0" i="0" spc="12" dirty="0">
              <a:solidFill>
                <a:schemeClr val="tx1"/>
              </a:solidFill>
              <a:effectLst/>
              <a:latin typeface="+mn-lt"/>
            </a:endParaRPr>
          </a:p>
          <a:p>
            <a:pPr marL="0" marR="0" indent="0" algn="l" fontAlgn="base">
              <a:buNone/>
            </a:pPr>
            <a:endParaRPr lang="it-IT" sz="1800" b="0" i="0" spc="12" dirty="0">
              <a:solidFill>
                <a:schemeClr val="tx1"/>
              </a:solidFill>
              <a:effectLst/>
              <a:latin typeface="+mn-lt"/>
            </a:endParaRPr>
          </a:p>
          <a:p>
            <a:pPr marL="0" marR="0" indent="0" algn="l" fontAlgn="base">
              <a:buNone/>
            </a:pPr>
            <a:r>
              <a:rPr lang="it-IT" sz="1800" b="0" i="0" spc="12" dirty="0">
                <a:solidFill>
                  <a:schemeClr val="tx1"/>
                </a:solidFill>
                <a:effectLst/>
                <a:latin typeface="+mn-lt"/>
              </a:rPr>
              <a:t>In pratica include due aree principali:</a:t>
            </a:r>
          </a:p>
          <a:p>
            <a:pPr marL="0" marR="0" fontAlgn="base">
              <a:buNone/>
            </a:pPr>
            <a:endParaRPr lang="it-IT" sz="1800" b="1" spc="12" dirty="0">
              <a:effectLst/>
              <a:latin typeface="+mn-lt"/>
            </a:endParaRPr>
          </a:p>
          <a:p>
            <a:pPr marL="0" marR="0" fontAlgn="base">
              <a:buNone/>
            </a:pPr>
            <a:r>
              <a:rPr lang="it-IT" sz="1800" b="1" spc="12" dirty="0">
                <a:effectLst/>
                <a:latin typeface="+mn-lt"/>
              </a:rPr>
              <a:t>Attività dei dati</a:t>
            </a:r>
            <a:r>
              <a:rPr lang="it-IT" sz="1800" b="0" spc="12" dirty="0">
                <a:effectLst/>
                <a:latin typeface="+mn-lt"/>
              </a:rPr>
              <a:t>: riassume la percentuale di account che non hanno avuto dati negli ultimi 4 mesi e permette di approfondire gli arretrati su periodi più lunghi, ad esempio 13–24 mesi o oltre 24 mesi. </a:t>
            </a:r>
            <a:br>
              <a:rPr lang="it-IT" sz="1800" b="0" spc="12" dirty="0">
                <a:effectLst/>
                <a:latin typeface="+mn-lt"/>
              </a:rPr>
            </a:br>
            <a:br>
              <a:rPr lang="it-IT" sz="1800" b="0" spc="12" dirty="0">
                <a:effectLst/>
                <a:latin typeface="+mn-lt"/>
              </a:rPr>
            </a:br>
            <a:r>
              <a:rPr lang="it-IT" sz="1800" b="0" spc="12" dirty="0">
                <a:effectLst/>
                <a:latin typeface="+mn-lt"/>
              </a:rPr>
              <a:t>Da lì puoi arrivare alle informazioni dell’account che richiedono attenzione.</a:t>
            </a:r>
          </a:p>
          <a:p>
            <a:pPr marL="0" marR="0" fontAlgn="base">
              <a:buNone/>
            </a:pPr>
            <a:endParaRPr lang="it-IT" sz="1800" b="1" spc="12" dirty="0">
              <a:effectLst/>
              <a:latin typeface="+mn-lt"/>
            </a:endParaRPr>
          </a:p>
          <a:p>
            <a:pPr marL="0" marR="0" fontAlgn="base">
              <a:buNone/>
            </a:pPr>
            <a:r>
              <a:rPr lang="it-IT" sz="1800" b="1" spc="12" dirty="0">
                <a:effectLst/>
                <a:latin typeface="+mn-lt"/>
              </a:rPr>
              <a:t>Gap dei dati</a:t>
            </a:r>
            <a:r>
              <a:rPr lang="it-IT" sz="1800" b="0" spc="12" dirty="0">
                <a:effectLst/>
                <a:latin typeface="+mn-lt"/>
              </a:rPr>
              <a:t>: evidenzia dove potrebbero esserci lacune nei dati. </a:t>
            </a:r>
            <a:br>
              <a:rPr lang="it-IT" sz="1800" b="0" spc="12" dirty="0">
                <a:effectLst/>
                <a:latin typeface="+mn-lt"/>
              </a:rPr>
            </a:br>
            <a:br>
              <a:rPr lang="it-IT" sz="1800" b="0" spc="12" dirty="0">
                <a:effectLst/>
                <a:latin typeface="+mn-lt"/>
              </a:rPr>
            </a:br>
            <a:r>
              <a:rPr lang="it-IT" sz="1800" b="0" spc="12" dirty="0">
                <a:effectLst/>
                <a:latin typeface="+mn-lt"/>
              </a:rPr>
              <a:t>Puoi analizzarle dal punto di vista dei consumi o dei costi e restringere l’analisi agli ultimi 12 mesi, 24 mesi o a tutti i periodi, filtrando per utenza e fornitore. </a:t>
            </a:r>
            <a:r>
              <a:rPr lang="it-IT" sz="1800" b="0" u="none" strike="noStrike" spc="12" dirty="0">
                <a:solidFill>
                  <a:schemeClr val="tx1"/>
                </a:solidFill>
                <a:effectLst/>
                <a:latin typeface="+mn-lt"/>
                <a:hlinkClick r:id="rId3"/>
              </a:rPr>
              <a:t>[Report di gestione dei dati]</a:t>
            </a:r>
            <a:endParaRPr lang="it-IT" sz="1050" b="0" spc="12" dirty="0">
              <a:effectLst/>
              <a:latin typeface="inherit"/>
            </a:endParaRPr>
          </a:p>
        </p:txBody>
      </p:sp>
      <p:sp>
        <p:nvSpPr>
          <p:cNvPr id="5"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endParaRPr lang="it-IT"/>
          </a:p>
        </p:txBody>
      </p:sp>
      <p:sp>
        <p:nvSpPr>
          <p:cNvPr id="4" name="TextBox 1">
            <a:extLst>
              <a:ext uri="{FF2B5EF4-FFF2-40B4-BE49-F238E27FC236}">
                <a16:creationId xmlns:a16="http://schemas.microsoft.com/office/drawing/2014/main" id="{B49955B7-68CB-C772-EC49-2B434B16EAEA}"/>
              </a:ext>
            </a:extLst>
          </p:cNvPr>
          <p:cNvSpPr txBox="1"/>
          <p:nvPr/>
        </p:nvSpPr>
        <p:spPr>
          <a:xfrm>
            <a:off x="640080" y="457200"/>
            <a:ext cx="10908792" cy="369332"/>
          </a:xfrm>
          <a:prstGeom prst="rect">
            <a:avLst/>
          </a:prstGeom>
          <a:solidFill>
            <a:srgbClr val="FFFFFF"/>
          </a:solidFill>
        </p:spPr>
        <p:txBody>
          <a:bodyPr wrap="square" lIns="0" tIns="0" rIns="0" bIns="0" anchor="t">
            <a:spAutoFit/>
          </a:bodyPr>
          <a:lstStyle/>
          <a:p>
            <a:pPr marL="0" indent="0" algn="l">
              <a:lnSpc>
                <a:spcPct val="100000"/>
              </a:lnSpc>
              <a:spcBef>
                <a:spcPts val="0"/>
              </a:spcBef>
              <a:spcAft>
                <a:spcPts val="500"/>
              </a:spcAft>
              <a:buNone/>
              <a:defRPr sz="2400" b="1">
                <a:solidFill>
                  <a:srgbClr val="073E31"/>
                </a:solidFill>
                <a:latin typeface="Calibri"/>
              </a:defRPr>
            </a:pPr>
            <a:r>
              <a:rPr lang="it-IT" sz="2400" b="1">
                <a:solidFill>
                  <a:srgbClr val="073E31"/>
                </a:solidFill>
                <a:latin typeface="Calibri"/>
              </a:rPr>
              <a:t>Report Account data health check.</a:t>
            </a:r>
          </a:p>
        </p:txBody>
      </p:sp>
    </p:spTree>
    <p:extLst>
      <p:ext uri="{BB962C8B-B14F-4D97-AF65-F5344CB8AC3E}">
        <p14:creationId xmlns:p14="http://schemas.microsoft.com/office/powerpoint/2010/main" val="25216630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47283DDB-5770-543F-D23A-C8A50ED5DA52}"/>
              </a:ext>
            </a:extLst>
          </p:cNvPr>
          <p:cNvPicPr>
            <a:picLocks noChangeAspect="1"/>
          </p:cNvPicPr>
          <p:nvPr/>
        </p:nvPicPr>
        <p:blipFill>
          <a:blip r:embed="rId2"/>
          <a:stretch>
            <a:fillRect/>
          </a:stretch>
        </p:blipFill>
        <p:spPr>
          <a:xfrm>
            <a:off x="1214780" y="1746504"/>
            <a:ext cx="9397451" cy="4496805"/>
          </a:xfrm>
          <a:prstGeom prst="rect">
            <a:avLst/>
          </a:prstGeom>
        </p:spPr>
      </p:pic>
      <p:pic>
        <p:nvPicPr>
          <p:cNvPr id="4" name="Immagine 3">
            <a:extLst>
              <a:ext uri="{FF2B5EF4-FFF2-40B4-BE49-F238E27FC236}">
                <a16:creationId xmlns:a16="http://schemas.microsoft.com/office/drawing/2014/main" id="{97616F4F-D4DC-5391-A5FA-5CABC2A322FC}"/>
              </a:ext>
            </a:extLst>
          </p:cNvPr>
          <p:cNvPicPr>
            <a:picLocks noChangeAspect="1"/>
          </p:cNvPicPr>
          <p:nvPr/>
        </p:nvPicPr>
        <p:blipFill>
          <a:blip r:embed="rId3"/>
          <a:stretch>
            <a:fillRect/>
          </a:stretch>
        </p:blipFill>
        <p:spPr>
          <a:xfrm>
            <a:off x="5152273" y="4734388"/>
            <a:ext cx="348158" cy="466532"/>
          </a:xfrm>
          <a:prstGeom prst="rect">
            <a:avLst/>
          </a:prstGeom>
        </p:spPr>
      </p:pic>
      <p:sp>
        <p:nvSpPr>
          <p:cNvPr id="5" name="CasellaDiTesto 4">
            <a:extLst>
              <a:ext uri="{FF2B5EF4-FFF2-40B4-BE49-F238E27FC236}">
                <a16:creationId xmlns:a16="http://schemas.microsoft.com/office/drawing/2014/main" id="{035267E2-2816-80A4-F437-DCDEC7B9BD3A}"/>
              </a:ext>
            </a:extLst>
          </p:cNvPr>
          <p:cNvSpPr txBox="1"/>
          <p:nvPr/>
        </p:nvSpPr>
        <p:spPr>
          <a:xfrm>
            <a:off x="2960241" y="5582571"/>
            <a:ext cx="2953265" cy="818228"/>
          </a:xfrm>
          <a:prstGeom prst="rect">
            <a:avLst/>
          </a:prstGeom>
          <a:solidFill>
            <a:schemeClr val="bg1"/>
          </a:solidFill>
        </p:spPr>
        <p:txBody>
          <a:bodyPr wrap="square" rtlCol="0">
            <a:spAutoFit/>
          </a:bodyPr>
          <a:lstStyle/>
          <a:p>
            <a:r>
              <a:rPr lang="it-IT" dirty="0"/>
              <a:t>Cliccando su account in </a:t>
            </a:r>
            <a:r>
              <a:rPr lang="it-IT" dirty="0" err="1"/>
              <a:t>arrears</a:t>
            </a:r>
            <a:r>
              <a:rPr lang="it-IT" dirty="0"/>
              <a:t> zoomiamo sui dati in ritardo</a:t>
            </a:r>
          </a:p>
        </p:txBody>
      </p:sp>
      <p:sp>
        <p:nvSpPr>
          <p:cNvPr id="6"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endParaRPr lang="it-IT"/>
          </a:p>
        </p:txBody>
      </p:sp>
      <p:sp>
        <p:nvSpPr>
          <p:cNvPr id="3" name="TextBox 1">
            <a:extLst>
              <a:ext uri="{FF2B5EF4-FFF2-40B4-BE49-F238E27FC236}">
                <a16:creationId xmlns:a16="http://schemas.microsoft.com/office/drawing/2014/main" id="{10E52D3D-354D-A360-33D7-0F841D91EF06}"/>
              </a:ext>
            </a:extLst>
          </p:cNvPr>
          <p:cNvSpPr txBox="1"/>
          <p:nvPr/>
        </p:nvSpPr>
        <p:spPr>
          <a:xfrm>
            <a:off x="640080" y="457200"/>
            <a:ext cx="10908792" cy="738664"/>
          </a:xfrm>
          <a:prstGeom prst="rect">
            <a:avLst/>
          </a:prstGeom>
          <a:solidFill>
            <a:srgbClr val="FFFFFF"/>
          </a:solidFill>
        </p:spPr>
        <p:txBody>
          <a:bodyPr wrap="square" lIns="0" tIns="0" rIns="0" bIns="0" anchor="t">
            <a:spAutoFit/>
          </a:bodyPr>
          <a:lstStyle/>
          <a:p>
            <a:pPr marL="0" indent="0" algn="l">
              <a:lnSpc>
                <a:spcPct val="100000"/>
              </a:lnSpc>
              <a:spcBef>
                <a:spcPts val="0"/>
              </a:spcBef>
              <a:spcAft>
                <a:spcPts val="500"/>
              </a:spcAft>
              <a:buNone/>
              <a:defRPr sz="2400" b="1">
                <a:solidFill>
                  <a:srgbClr val="073E31"/>
                </a:solidFill>
                <a:latin typeface="Calibri"/>
              </a:defRPr>
            </a:pPr>
            <a:r>
              <a:rPr lang="it-IT" sz="2400" b="1">
                <a:solidFill>
                  <a:srgbClr val="073E31"/>
                </a:solidFill>
                <a:latin typeface="Calibri"/>
              </a:rPr>
              <a:t>Il report mostra il livello di attività sui dati, quota account aggiornati e quota in ritardo, e i periodi per cui si registrano dati mancanti.</a:t>
            </a:r>
          </a:p>
        </p:txBody>
      </p:sp>
    </p:spTree>
    <p:extLst>
      <p:ext uri="{BB962C8B-B14F-4D97-AF65-F5344CB8AC3E}">
        <p14:creationId xmlns:p14="http://schemas.microsoft.com/office/powerpoint/2010/main" val="19144692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2">
            <a:extLst>
              <a:ext uri="{FF2B5EF4-FFF2-40B4-BE49-F238E27FC236}">
                <a16:creationId xmlns:a16="http://schemas.microsoft.com/office/drawing/2014/main" id="{9C298F53-E637-FD30-998F-9A0A4AB0F81E}"/>
              </a:ext>
            </a:extLst>
          </p:cNvPr>
          <p:cNvPicPr>
            <a:picLocks noChangeAspect="1"/>
          </p:cNvPicPr>
          <p:nvPr/>
        </p:nvPicPr>
        <p:blipFill>
          <a:blip r:embed="rId2"/>
          <a:stretch>
            <a:fillRect/>
          </a:stretch>
        </p:blipFill>
        <p:spPr>
          <a:xfrm>
            <a:off x="879493" y="1353312"/>
            <a:ext cx="9041106" cy="5047488"/>
          </a:xfrm>
          <a:prstGeom prst="rect">
            <a:avLst/>
          </a:prstGeom>
        </p:spPr>
      </p:pic>
      <p:sp>
        <p:nvSpPr>
          <p:cNvPr id="5"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endParaRPr lang="it-IT"/>
          </a:p>
        </p:txBody>
      </p:sp>
      <p:sp>
        <p:nvSpPr>
          <p:cNvPr id="4" name="TextBox 1">
            <a:extLst>
              <a:ext uri="{FF2B5EF4-FFF2-40B4-BE49-F238E27FC236}">
                <a16:creationId xmlns:a16="http://schemas.microsoft.com/office/drawing/2014/main" id="{0FF47542-E316-E382-E100-27BA4FB60785}"/>
              </a:ext>
            </a:extLst>
          </p:cNvPr>
          <p:cNvSpPr txBox="1"/>
          <p:nvPr/>
        </p:nvSpPr>
        <p:spPr>
          <a:xfrm>
            <a:off x="640080" y="457200"/>
            <a:ext cx="10908792" cy="369332"/>
          </a:xfrm>
          <a:prstGeom prst="rect">
            <a:avLst/>
          </a:prstGeom>
          <a:solidFill>
            <a:srgbClr val="FFFFFF"/>
          </a:solidFill>
        </p:spPr>
        <p:txBody>
          <a:bodyPr wrap="square" lIns="0" tIns="0" rIns="0" bIns="0" anchor="t">
            <a:spAutoFit/>
          </a:bodyPr>
          <a:lstStyle/>
          <a:p>
            <a:pPr marL="0" indent="0" algn="l">
              <a:lnSpc>
                <a:spcPct val="100000"/>
              </a:lnSpc>
              <a:spcBef>
                <a:spcPts val="0"/>
              </a:spcBef>
              <a:spcAft>
                <a:spcPts val="500"/>
              </a:spcAft>
              <a:buNone/>
              <a:defRPr sz="2400" b="1">
                <a:solidFill>
                  <a:srgbClr val="073E31"/>
                </a:solidFill>
                <a:latin typeface="Calibri"/>
              </a:defRPr>
            </a:pPr>
            <a:r>
              <a:rPr lang="it-IT" sz="2400" b="1">
                <a:solidFill>
                  <a:srgbClr val="073E31"/>
                </a:solidFill>
                <a:latin typeface="Calibri"/>
              </a:rPr>
              <a:t>Il report mostra tutti i tipi di conti in ritardo e i relativi  fornitori del dato in ritardo.</a:t>
            </a:r>
          </a:p>
        </p:txBody>
      </p:sp>
    </p:spTree>
    <p:extLst>
      <p:ext uri="{BB962C8B-B14F-4D97-AF65-F5344CB8AC3E}">
        <p14:creationId xmlns:p14="http://schemas.microsoft.com/office/powerpoint/2010/main" val="16224969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E4D47CC6-9075-7580-6C24-7D0A8069DB2D}"/>
              </a:ext>
            </a:extLst>
          </p:cNvPr>
          <p:cNvPicPr>
            <a:picLocks noChangeAspect="1"/>
          </p:cNvPicPr>
          <p:nvPr/>
        </p:nvPicPr>
        <p:blipFill>
          <a:blip r:embed="rId2"/>
          <a:stretch>
            <a:fillRect/>
          </a:stretch>
        </p:blipFill>
        <p:spPr>
          <a:xfrm>
            <a:off x="622630" y="1005840"/>
            <a:ext cx="9383922" cy="5394960"/>
          </a:xfrm>
          <a:prstGeom prst="rect">
            <a:avLst/>
          </a:prstGeom>
        </p:spPr>
      </p:pic>
      <p:sp>
        <p:nvSpPr>
          <p:cNvPr id="4"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endParaRPr lang="it-IT"/>
          </a:p>
        </p:txBody>
      </p:sp>
      <p:sp>
        <p:nvSpPr>
          <p:cNvPr id="3" name="TextBox 1">
            <a:extLst>
              <a:ext uri="{FF2B5EF4-FFF2-40B4-BE49-F238E27FC236}">
                <a16:creationId xmlns:a16="http://schemas.microsoft.com/office/drawing/2014/main" id="{7AD7D51E-0833-5708-C56D-5C4CD2DE5715}"/>
              </a:ext>
            </a:extLst>
          </p:cNvPr>
          <p:cNvSpPr txBox="1"/>
          <p:nvPr/>
        </p:nvSpPr>
        <p:spPr>
          <a:xfrm>
            <a:off x="640080" y="457200"/>
            <a:ext cx="10908792" cy="369332"/>
          </a:xfrm>
          <a:prstGeom prst="rect">
            <a:avLst/>
          </a:prstGeom>
          <a:solidFill>
            <a:srgbClr val="FFFFFF"/>
          </a:solidFill>
        </p:spPr>
        <p:txBody>
          <a:bodyPr wrap="square" lIns="0" tIns="0" rIns="0" bIns="0" anchor="t">
            <a:spAutoFit/>
          </a:bodyPr>
          <a:lstStyle/>
          <a:p>
            <a:pPr marL="0" indent="0" algn="l">
              <a:lnSpc>
                <a:spcPct val="100000"/>
              </a:lnSpc>
              <a:spcBef>
                <a:spcPts val="0"/>
              </a:spcBef>
              <a:spcAft>
                <a:spcPts val="500"/>
              </a:spcAft>
              <a:buNone/>
              <a:defRPr sz="2400" b="1">
                <a:solidFill>
                  <a:srgbClr val="073E31"/>
                </a:solidFill>
                <a:latin typeface="Calibri"/>
              </a:defRPr>
            </a:pPr>
            <a:r>
              <a:rPr lang="it-IT" sz="2400" b="1">
                <a:solidFill>
                  <a:srgbClr val="073E31"/>
                </a:solidFill>
                <a:latin typeface="Calibri"/>
              </a:rPr>
              <a:t>Filtro sui conti di elettricità</a:t>
            </a:r>
          </a:p>
        </p:txBody>
      </p:sp>
    </p:spTree>
    <p:extLst>
      <p:ext uri="{BB962C8B-B14F-4D97-AF65-F5344CB8AC3E}">
        <p14:creationId xmlns:p14="http://schemas.microsoft.com/office/powerpoint/2010/main" val="2697816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5C944383-CA49-F2C9-8AD9-E2E3624111C4}"/>
              </a:ext>
            </a:extLst>
          </p:cNvPr>
          <p:cNvPicPr>
            <a:picLocks noChangeAspect="1"/>
          </p:cNvPicPr>
          <p:nvPr/>
        </p:nvPicPr>
        <p:blipFill>
          <a:blip r:embed="rId2"/>
          <a:stretch>
            <a:fillRect/>
          </a:stretch>
        </p:blipFill>
        <p:spPr>
          <a:xfrm>
            <a:off x="382771" y="1407576"/>
            <a:ext cx="10687721" cy="5259037"/>
          </a:xfrm>
          <a:prstGeom prst="rect">
            <a:avLst/>
          </a:prstGeom>
        </p:spPr>
      </p:pic>
      <p:pic>
        <p:nvPicPr>
          <p:cNvPr id="4" name="Immagine 3">
            <a:extLst>
              <a:ext uri="{FF2B5EF4-FFF2-40B4-BE49-F238E27FC236}">
                <a16:creationId xmlns:a16="http://schemas.microsoft.com/office/drawing/2014/main" id="{DE10E043-D79D-3D30-2175-70989BEBAA2C}"/>
              </a:ext>
            </a:extLst>
          </p:cNvPr>
          <p:cNvPicPr>
            <a:picLocks noChangeAspect="1"/>
          </p:cNvPicPr>
          <p:nvPr/>
        </p:nvPicPr>
        <p:blipFill>
          <a:blip r:embed="rId3"/>
          <a:stretch>
            <a:fillRect/>
          </a:stretch>
        </p:blipFill>
        <p:spPr>
          <a:xfrm>
            <a:off x="8128295" y="4199166"/>
            <a:ext cx="392880" cy="526459"/>
          </a:xfrm>
          <a:prstGeom prst="rect">
            <a:avLst/>
          </a:prstGeom>
        </p:spPr>
      </p:pic>
      <p:sp>
        <p:nvSpPr>
          <p:cNvPr id="5"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endParaRPr lang="it-IT"/>
          </a:p>
        </p:txBody>
      </p:sp>
      <p:sp>
        <p:nvSpPr>
          <p:cNvPr id="3" name="TextBox 1">
            <a:extLst>
              <a:ext uri="{FF2B5EF4-FFF2-40B4-BE49-F238E27FC236}">
                <a16:creationId xmlns:a16="http://schemas.microsoft.com/office/drawing/2014/main" id="{D5B76FA8-1728-3652-DB4F-DDF657BFF8FA}"/>
              </a:ext>
            </a:extLst>
          </p:cNvPr>
          <p:cNvSpPr txBox="1"/>
          <p:nvPr/>
        </p:nvSpPr>
        <p:spPr>
          <a:xfrm>
            <a:off x="640080" y="457200"/>
            <a:ext cx="10908792" cy="738664"/>
          </a:xfrm>
          <a:prstGeom prst="rect">
            <a:avLst/>
          </a:prstGeom>
          <a:solidFill>
            <a:srgbClr val="FFFFFF"/>
          </a:solidFill>
        </p:spPr>
        <p:txBody>
          <a:bodyPr wrap="square" lIns="0" tIns="0" rIns="0" bIns="0" anchor="t">
            <a:spAutoFit/>
          </a:bodyPr>
          <a:lstStyle/>
          <a:p>
            <a:pPr marL="0" indent="0" algn="l">
              <a:lnSpc>
                <a:spcPct val="100000"/>
              </a:lnSpc>
              <a:spcBef>
                <a:spcPts val="0"/>
              </a:spcBef>
              <a:spcAft>
                <a:spcPts val="500"/>
              </a:spcAft>
              <a:buNone/>
              <a:defRPr sz="2400" b="1">
                <a:solidFill>
                  <a:srgbClr val="073E31"/>
                </a:solidFill>
                <a:latin typeface="Calibri"/>
              </a:defRPr>
            </a:pPr>
            <a:r>
              <a:rPr lang="it-IT" sz="2400" b="1">
                <a:solidFill>
                  <a:srgbClr val="073E31"/>
                </a:solidFill>
                <a:latin typeface="Calibri"/>
              </a:rPr>
              <a:t>Posiziono mouse su prima barra, seleziono drill through Seleziono supplier detail review - Consumption</a:t>
            </a:r>
          </a:p>
        </p:txBody>
      </p:sp>
    </p:spTree>
    <p:extLst>
      <p:ext uri="{BB962C8B-B14F-4D97-AF65-F5344CB8AC3E}">
        <p14:creationId xmlns:p14="http://schemas.microsoft.com/office/powerpoint/2010/main" val="32991974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FD2326C8-478E-DA26-90D6-319E59A1F991}"/>
              </a:ext>
            </a:extLst>
          </p:cNvPr>
          <p:cNvPicPr>
            <a:picLocks noChangeAspect="1"/>
          </p:cNvPicPr>
          <p:nvPr/>
        </p:nvPicPr>
        <p:blipFill>
          <a:blip r:embed="rId2"/>
          <a:stretch>
            <a:fillRect/>
          </a:stretch>
        </p:blipFill>
        <p:spPr>
          <a:xfrm>
            <a:off x="1308792" y="1353312"/>
            <a:ext cx="9178998" cy="5047488"/>
          </a:xfrm>
          <a:prstGeom prst="rect">
            <a:avLst/>
          </a:prstGeom>
        </p:spPr>
      </p:pic>
      <p:sp>
        <p:nvSpPr>
          <p:cNvPr id="4"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endParaRPr lang="it-IT"/>
          </a:p>
        </p:txBody>
      </p:sp>
      <p:sp>
        <p:nvSpPr>
          <p:cNvPr id="3" name="TextBox 1">
            <a:extLst>
              <a:ext uri="{FF2B5EF4-FFF2-40B4-BE49-F238E27FC236}">
                <a16:creationId xmlns:a16="http://schemas.microsoft.com/office/drawing/2014/main" id="{224B3831-4B31-EA50-D490-0DC52AFAD29E}"/>
              </a:ext>
            </a:extLst>
          </p:cNvPr>
          <p:cNvSpPr txBox="1"/>
          <p:nvPr/>
        </p:nvSpPr>
        <p:spPr>
          <a:xfrm>
            <a:off x="640080" y="457200"/>
            <a:ext cx="10908792" cy="738664"/>
          </a:xfrm>
          <a:prstGeom prst="rect">
            <a:avLst/>
          </a:prstGeom>
          <a:solidFill>
            <a:srgbClr val="FFFFFF"/>
          </a:solidFill>
        </p:spPr>
        <p:txBody>
          <a:bodyPr wrap="square" lIns="0" tIns="0" rIns="0" bIns="0" anchor="t">
            <a:spAutoFit/>
          </a:bodyPr>
          <a:lstStyle/>
          <a:p>
            <a:pPr marL="0" indent="0" algn="l">
              <a:lnSpc>
                <a:spcPct val="100000"/>
              </a:lnSpc>
              <a:spcBef>
                <a:spcPts val="0"/>
              </a:spcBef>
              <a:spcAft>
                <a:spcPts val="500"/>
              </a:spcAft>
              <a:buNone/>
              <a:defRPr sz="2400" b="1">
                <a:solidFill>
                  <a:srgbClr val="073E31"/>
                </a:solidFill>
                <a:latin typeface="Calibri"/>
              </a:defRPr>
            </a:pPr>
            <a:r>
              <a:rPr lang="it-IT" sz="2400" b="1" dirty="0">
                <a:solidFill>
                  <a:srgbClr val="073E31"/>
                </a:solidFill>
                <a:latin typeface="Calibri"/>
              </a:rPr>
              <a:t>Seleziono una location e verifico quali conti sono in ordine (verde) e quali conti sono in ritardo (rosso).</a:t>
            </a:r>
          </a:p>
        </p:txBody>
      </p:sp>
    </p:spTree>
    <p:extLst>
      <p:ext uri="{BB962C8B-B14F-4D97-AF65-F5344CB8AC3E}">
        <p14:creationId xmlns:p14="http://schemas.microsoft.com/office/powerpoint/2010/main" val="32964201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BBC00D71-C827-2597-4C10-D4B67C66CD83}"/>
              </a:ext>
            </a:extLst>
          </p:cNvPr>
          <p:cNvPicPr>
            <a:picLocks noChangeAspect="1"/>
          </p:cNvPicPr>
          <p:nvPr/>
        </p:nvPicPr>
        <p:blipFill>
          <a:blip r:embed="rId2"/>
          <a:stretch>
            <a:fillRect/>
          </a:stretch>
        </p:blipFill>
        <p:spPr>
          <a:xfrm>
            <a:off x="1003402" y="1353312"/>
            <a:ext cx="9101924" cy="5047488"/>
          </a:xfrm>
          <a:prstGeom prst="rect">
            <a:avLst/>
          </a:prstGeom>
        </p:spPr>
      </p:pic>
      <p:sp>
        <p:nvSpPr>
          <p:cNvPr id="4" name="Ovale 3">
            <a:extLst>
              <a:ext uri="{FF2B5EF4-FFF2-40B4-BE49-F238E27FC236}">
                <a16:creationId xmlns:a16="http://schemas.microsoft.com/office/drawing/2014/main" id="{A009F22E-86AA-ABAB-D38C-E3AAB3AA90C4}"/>
              </a:ext>
            </a:extLst>
          </p:cNvPr>
          <p:cNvSpPr/>
          <p:nvPr/>
        </p:nvSpPr>
        <p:spPr>
          <a:xfrm>
            <a:off x="2836404" y="3877056"/>
            <a:ext cx="391886" cy="42577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t>1</a:t>
            </a:r>
          </a:p>
        </p:txBody>
      </p:sp>
      <p:sp>
        <p:nvSpPr>
          <p:cNvPr id="5" name="Ovale 4">
            <a:extLst>
              <a:ext uri="{FF2B5EF4-FFF2-40B4-BE49-F238E27FC236}">
                <a16:creationId xmlns:a16="http://schemas.microsoft.com/office/drawing/2014/main" id="{3EF2E367-A1D0-2753-0E27-718DF77640C2}"/>
              </a:ext>
            </a:extLst>
          </p:cNvPr>
          <p:cNvSpPr/>
          <p:nvPr/>
        </p:nvSpPr>
        <p:spPr>
          <a:xfrm>
            <a:off x="6901585" y="4302826"/>
            <a:ext cx="391886" cy="42577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t>2</a:t>
            </a:r>
          </a:p>
        </p:txBody>
      </p:sp>
      <p:sp>
        <p:nvSpPr>
          <p:cNvPr id="6"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endParaRPr lang="it-IT"/>
          </a:p>
        </p:txBody>
      </p:sp>
      <p:sp>
        <p:nvSpPr>
          <p:cNvPr id="3" name="TextBox 1">
            <a:extLst>
              <a:ext uri="{FF2B5EF4-FFF2-40B4-BE49-F238E27FC236}">
                <a16:creationId xmlns:a16="http://schemas.microsoft.com/office/drawing/2014/main" id="{E9C91E2A-3807-CC6E-53BC-30F761F3C652}"/>
              </a:ext>
            </a:extLst>
          </p:cNvPr>
          <p:cNvSpPr txBox="1"/>
          <p:nvPr/>
        </p:nvSpPr>
        <p:spPr>
          <a:xfrm>
            <a:off x="640080" y="457200"/>
            <a:ext cx="10908792" cy="738664"/>
          </a:xfrm>
          <a:prstGeom prst="rect">
            <a:avLst/>
          </a:prstGeom>
          <a:solidFill>
            <a:srgbClr val="FFFFFF"/>
          </a:solidFill>
        </p:spPr>
        <p:txBody>
          <a:bodyPr wrap="square" lIns="0" tIns="0" rIns="0" bIns="0" anchor="t">
            <a:spAutoFit/>
          </a:bodyPr>
          <a:lstStyle/>
          <a:p>
            <a:pPr marL="0" indent="0" algn="l">
              <a:lnSpc>
                <a:spcPct val="100000"/>
              </a:lnSpc>
              <a:spcBef>
                <a:spcPts val="0"/>
              </a:spcBef>
              <a:spcAft>
                <a:spcPts val="500"/>
              </a:spcAft>
              <a:buNone/>
              <a:defRPr sz="2400" b="1">
                <a:solidFill>
                  <a:srgbClr val="073E31"/>
                </a:solidFill>
                <a:latin typeface="Calibri"/>
              </a:defRPr>
            </a:pPr>
            <a:r>
              <a:rPr lang="it-IT" sz="2400" b="1">
                <a:solidFill>
                  <a:srgbClr val="073E31"/>
                </a:solidFill>
                <a:latin typeface="Calibri"/>
              </a:rPr>
              <a:t>Esempio la location One Penn Plaza (1) è in ritardo sui conti  Batterie (2), e altri evidenziati in rosso.</a:t>
            </a:r>
          </a:p>
        </p:txBody>
      </p:sp>
    </p:spTree>
    <p:extLst>
      <p:ext uri="{BB962C8B-B14F-4D97-AF65-F5344CB8AC3E}">
        <p14:creationId xmlns:p14="http://schemas.microsoft.com/office/powerpoint/2010/main" val="3924547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BE89C-2687-16C3-D295-BC168DD091A5}"/>
            </a:ext>
          </a:extLst>
        </p:cNvPr>
        <p:cNvGrpSpPr/>
        <p:nvPr/>
      </p:nvGrpSpPr>
      <p:grpSpPr>
        <a:xfrm>
          <a:off x="0" y="0"/>
          <a:ext cx="0" cy="0"/>
          <a:chOff x="0" y="0"/>
          <a:chExt cx="0" cy="0"/>
        </a:xfrm>
      </p:grpSpPr>
      <p:pic>
        <p:nvPicPr>
          <p:cNvPr id="2" name="Immagine 1">
            <a:extLst>
              <a:ext uri="{FF2B5EF4-FFF2-40B4-BE49-F238E27FC236}">
                <a16:creationId xmlns:a16="http://schemas.microsoft.com/office/drawing/2014/main" id="{00A9B60C-B3C8-55FF-F438-B6A91610B48A}"/>
              </a:ext>
            </a:extLst>
          </p:cNvPr>
          <p:cNvPicPr>
            <a:picLocks noChangeAspect="1"/>
          </p:cNvPicPr>
          <p:nvPr/>
        </p:nvPicPr>
        <p:blipFill>
          <a:blip r:embed="rId2"/>
          <a:stretch>
            <a:fillRect/>
          </a:stretch>
        </p:blipFill>
        <p:spPr>
          <a:xfrm>
            <a:off x="1050218" y="1746504"/>
            <a:ext cx="9726575" cy="4654296"/>
          </a:xfrm>
          <a:prstGeom prst="rect">
            <a:avLst/>
          </a:prstGeom>
        </p:spPr>
      </p:pic>
      <p:pic>
        <p:nvPicPr>
          <p:cNvPr id="4" name="Immagine 3">
            <a:extLst>
              <a:ext uri="{FF2B5EF4-FFF2-40B4-BE49-F238E27FC236}">
                <a16:creationId xmlns:a16="http://schemas.microsoft.com/office/drawing/2014/main" id="{EC761C1E-93F3-93F1-34C3-98B3943008E1}"/>
              </a:ext>
            </a:extLst>
          </p:cNvPr>
          <p:cNvPicPr>
            <a:picLocks noChangeAspect="1"/>
          </p:cNvPicPr>
          <p:nvPr/>
        </p:nvPicPr>
        <p:blipFill>
          <a:blip r:embed="rId3"/>
          <a:stretch>
            <a:fillRect/>
          </a:stretch>
        </p:blipFill>
        <p:spPr>
          <a:xfrm>
            <a:off x="10164744" y="4565969"/>
            <a:ext cx="360352" cy="482871"/>
          </a:xfrm>
          <a:prstGeom prst="rect">
            <a:avLst/>
          </a:prstGeom>
        </p:spPr>
      </p:pic>
      <p:sp>
        <p:nvSpPr>
          <p:cNvPr id="5" name="CasellaDiTesto 4">
            <a:extLst>
              <a:ext uri="{FF2B5EF4-FFF2-40B4-BE49-F238E27FC236}">
                <a16:creationId xmlns:a16="http://schemas.microsoft.com/office/drawing/2014/main" id="{7B5B7C2F-98A1-6B17-410D-E67B11626125}"/>
              </a:ext>
            </a:extLst>
          </p:cNvPr>
          <p:cNvSpPr txBox="1"/>
          <p:nvPr/>
        </p:nvSpPr>
        <p:spPr>
          <a:xfrm>
            <a:off x="7195216" y="5874265"/>
            <a:ext cx="2953265" cy="338753"/>
          </a:xfrm>
          <a:prstGeom prst="rect">
            <a:avLst/>
          </a:prstGeom>
          <a:solidFill>
            <a:schemeClr val="bg1"/>
          </a:solidFill>
        </p:spPr>
        <p:txBody>
          <a:bodyPr wrap="square" rtlCol="0">
            <a:spAutoFit/>
          </a:bodyPr>
          <a:lstStyle/>
          <a:p>
            <a:r>
              <a:rPr lang="it-IT" dirty="0"/>
              <a:t>Cliccando su data gaps</a:t>
            </a:r>
          </a:p>
        </p:txBody>
      </p:sp>
      <p:sp>
        <p:nvSpPr>
          <p:cNvPr id="6"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endParaRPr lang="it-IT"/>
          </a:p>
        </p:txBody>
      </p:sp>
      <p:sp>
        <p:nvSpPr>
          <p:cNvPr id="3" name="TextBox 1">
            <a:extLst>
              <a:ext uri="{FF2B5EF4-FFF2-40B4-BE49-F238E27FC236}">
                <a16:creationId xmlns:a16="http://schemas.microsoft.com/office/drawing/2014/main" id="{981287C6-F879-E2EE-0887-758551CD37B2}"/>
              </a:ext>
            </a:extLst>
          </p:cNvPr>
          <p:cNvSpPr txBox="1"/>
          <p:nvPr/>
        </p:nvSpPr>
        <p:spPr>
          <a:xfrm>
            <a:off x="640080" y="457200"/>
            <a:ext cx="10908792" cy="738664"/>
          </a:xfrm>
          <a:prstGeom prst="rect">
            <a:avLst/>
          </a:prstGeom>
          <a:solidFill>
            <a:srgbClr val="FFFFFF"/>
          </a:solidFill>
        </p:spPr>
        <p:txBody>
          <a:bodyPr wrap="square" lIns="0" tIns="0" rIns="0" bIns="0" anchor="t">
            <a:spAutoFit/>
          </a:bodyPr>
          <a:lstStyle/>
          <a:p>
            <a:pPr marL="0" indent="0" algn="l">
              <a:lnSpc>
                <a:spcPct val="100000"/>
              </a:lnSpc>
              <a:spcBef>
                <a:spcPts val="0"/>
              </a:spcBef>
              <a:spcAft>
                <a:spcPts val="500"/>
              </a:spcAft>
              <a:buNone/>
              <a:defRPr sz="2400" b="1">
                <a:solidFill>
                  <a:srgbClr val="073E31"/>
                </a:solidFill>
                <a:latin typeface="Calibri"/>
              </a:defRPr>
            </a:pPr>
            <a:r>
              <a:rPr lang="it-IT" sz="2400" b="1">
                <a:solidFill>
                  <a:srgbClr val="073E31"/>
                </a:solidFill>
                <a:latin typeface="Calibri"/>
              </a:rPr>
              <a:t>Il report mostra il livello di attività sui dati, quota account aggiornati e quota in ritardo, e i periodi per cui si registrano dati mancanti.</a:t>
            </a:r>
          </a:p>
        </p:txBody>
      </p:sp>
    </p:spTree>
    <p:extLst>
      <p:ext uri="{BB962C8B-B14F-4D97-AF65-F5344CB8AC3E}">
        <p14:creationId xmlns:p14="http://schemas.microsoft.com/office/powerpoint/2010/main" val="27056562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6AE060AC-13AB-A316-B8CB-FCBDBE878076}"/>
              </a:ext>
            </a:extLst>
          </p:cNvPr>
          <p:cNvPicPr>
            <a:picLocks noChangeAspect="1"/>
          </p:cNvPicPr>
          <p:nvPr/>
        </p:nvPicPr>
        <p:blipFill>
          <a:blip r:embed="rId2"/>
          <a:stretch>
            <a:fillRect/>
          </a:stretch>
        </p:blipFill>
        <p:spPr>
          <a:xfrm>
            <a:off x="881668" y="1746504"/>
            <a:ext cx="8326958" cy="4654296"/>
          </a:xfrm>
          <a:prstGeom prst="rect">
            <a:avLst/>
          </a:prstGeom>
        </p:spPr>
      </p:pic>
      <p:sp>
        <p:nvSpPr>
          <p:cNvPr id="4"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endParaRPr lang="it-IT"/>
          </a:p>
        </p:txBody>
      </p:sp>
      <p:sp>
        <p:nvSpPr>
          <p:cNvPr id="3" name="TextBox 1">
            <a:extLst>
              <a:ext uri="{FF2B5EF4-FFF2-40B4-BE49-F238E27FC236}">
                <a16:creationId xmlns:a16="http://schemas.microsoft.com/office/drawing/2014/main" id="{A761861C-B51B-DB62-34DE-F3460BC01065}"/>
              </a:ext>
            </a:extLst>
          </p:cNvPr>
          <p:cNvSpPr txBox="1"/>
          <p:nvPr/>
        </p:nvSpPr>
        <p:spPr>
          <a:xfrm>
            <a:off x="640080" y="457200"/>
            <a:ext cx="10908792" cy="738664"/>
          </a:xfrm>
          <a:prstGeom prst="rect">
            <a:avLst/>
          </a:prstGeom>
          <a:solidFill>
            <a:srgbClr val="FFFFFF"/>
          </a:solidFill>
        </p:spPr>
        <p:txBody>
          <a:bodyPr wrap="square" lIns="0" tIns="0" rIns="0" bIns="0" anchor="t">
            <a:spAutoFit/>
          </a:bodyPr>
          <a:lstStyle/>
          <a:p>
            <a:pPr marL="0" indent="0" algn="l">
              <a:lnSpc>
                <a:spcPct val="100000"/>
              </a:lnSpc>
              <a:spcBef>
                <a:spcPts val="0"/>
              </a:spcBef>
              <a:spcAft>
                <a:spcPts val="500"/>
              </a:spcAft>
              <a:buNone/>
              <a:defRPr sz="2400" b="1">
                <a:solidFill>
                  <a:srgbClr val="073E31"/>
                </a:solidFill>
                <a:latin typeface="Calibri"/>
              </a:defRPr>
            </a:pPr>
            <a:r>
              <a:rPr lang="it-IT" sz="2400" b="1">
                <a:solidFill>
                  <a:srgbClr val="073E31"/>
                </a:solidFill>
                <a:latin typeface="Calibri"/>
              </a:rPr>
              <a:t>Visualizzo quanti dati sono mancanti da diverse prospettive Ad esempio qui vedo che l’elettricità è di buona qualità (actual alto)</a:t>
            </a:r>
          </a:p>
        </p:txBody>
      </p:sp>
    </p:spTree>
    <p:extLst>
      <p:ext uri="{BB962C8B-B14F-4D97-AF65-F5344CB8AC3E}">
        <p14:creationId xmlns:p14="http://schemas.microsoft.com/office/powerpoint/2010/main" val="31790051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sellaDiTesto 2">
            <a:extLst>
              <a:ext uri="{FF2B5EF4-FFF2-40B4-BE49-F238E27FC236}">
                <a16:creationId xmlns:a16="http://schemas.microsoft.com/office/drawing/2014/main" id="{F4390714-878B-7F99-CFA6-CFE17B02190B}"/>
              </a:ext>
            </a:extLst>
          </p:cNvPr>
          <p:cNvSpPr txBox="1"/>
          <p:nvPr/>
        </p:nvSpPr>
        <p:spPr>
          <a:xfrm>
            <a:off x="372138" y="1042415"/>
            <a:ext cx="10409275" cy="5312664"/>
          </a:xfrm>
          <a:prstGeom prst="rect">
            <a:avLst/>
          </a:prstGeom>
          <a:noFill/>
        </p:spPr>
        <p:txBody>
          <a:bodyPr wrap="square">
            <a:spAutoFit/>
          </a:bodyPr>
          <a:lstStyle/>
          <a:p>
            <a:pPr>
              <a:buNone/>
            </a:pPr>
            <a:r>
              <a:rPr lang="it-IT" b="1" dirty="0"/>
              <a:t>Peer valutare la qualità dei tuoi dati per individuare dati mancanti, sovrapposizioni e lacune nei dati dei tuoi account </a:t>
            </a:r>
            <a:r>
              <a:rPr lang="it-IT" b="1" dirty="0" err="1"/>
              <a:t>Envizi</a:t>
            </a:r>
            <a:r>
              <a:rPr lang="it-IT" b="1" dirty="0"/>
              <a:t> offre un ulteriore insieme di report per aiutarti a individuare inesattezze.</a:t>
            </a:r>
          </a:p>
          <a:p>
            <a:pPr>
              <a:buNone/>
            </a:pPr>
            <a:endParaRPr lang="it-IT" dirty="0"/>
          </a:p>
          <a:p>
            <a:pPr marL="342900" lvl="0" indent="-342900">
              <a:buFont typeface="Arial" panose="020B0604020202020204" pitchFamily="34" charset="0"/>
              <a:buChar char="•"/>
              <a:defRPr/>
            </a:pPr>
            <a:r>
              <a:rPr lang="it-IT" sz="1394" b="1">
                <a:hlinkClick r:id="rId2"/>
              </a:rPr>
              <a:t>Accounts incomplete data report</a:t>
            </a:r>
            <a:br>
              <a:rPr lang="it-IT" sz="1600" dirty="0"/>
            </a:br>
            <a:r>
              <a:rPr lang="it-IT" sz="1394"/>
              <a:t>Il report Accounts Incomplete Data fornisce dettagli sugli account che presentano dati mancanti o sovrapposti nel corso di un periodo di rendicontazione.</a:t>
            </a:r>
          </a:p>
          <a:p>
            <a:pPr lvl="0"/>
            <a:endParaRPr lang="it-IT" sz="1600" dirty="0"/>
          </a:p>
          <a:p>
            <a:pPr marL="342900" lvl="0" indent="-342900">
              <a:buFont typeface="Arial" panose="020B0604020202020204" pitchFamily="34" charset="0"/>
              <a:buChar char="•"/>
              <a:defRPr/>
            </a:pPr>
            <a:r>
              <a:rPr lang="it-IT" sz="1394" b="1">
                <a:hlinkClick r:id="rId3"/>
              </a:rPr>
              <a:t>Data Health Check for Utilities dashboard</a:t>
            </a:r>
            <a:br>
              <a:rPr lang="it-IT" sz="1600" dirty="0"/>
            </a:br>
            <a:r>
              <a:rPr lang="it-IT" sz="1394"/>
              <a:t>Le dashboard Data Health Check For Utilities ti aiutano a individuare e risolvere problemi relativi a bollette o dati di consumo mancanti per elettricità, gas e acqua.</a:t>
            </a:r>
          </a:p>
          <a:p>
            <a:pPr lvl="0"/>
            <a:endParaRPr lang="it-IT" sz="1600" dirty="0"/>
          </a:p>
          <a:p>
            <a:pPr marL="342900" lvl="0" indent="-342900">
              <a:buFont typeface="Arial" panose="020B0604020202020204" pitchFamily="34" charset="0"/>
              <a:buChar char="•"/>
              <a:defRPr/>
            </a:pPr>
            <a:r>
              <a:rPr lang="it-IT" sz="1394" b="1">
                <a:hlinkClick r:id="rId4"/>
              </a:rPr>
              <a:t>Account inactivity alerts</a:t>
            </a:r>
            <a:br>
              <a:rPr lang="it-IT" sz="1600" dirty="0"/>
            </a:br>
            <a:r>
              <a:rPr lang="it-IT" sz="1394"/>
              <a:t>Le regole di inattività degli account generano segnalazioni di anomalie dei dati (DA) per avvisarti quando i dati degli account non sono stati acquisiti secondo la frequenza prevista.</a:t>
            </a:r>
          </a:p>
          <a:p>
            <a:pPr lvl="0"/>
            <a:endParaRPr lang="it-IT" sz="1600" dirty="0"/>
          </a:p>
          <a:p>
            <a:pPr marL="342900" lvl="0" indent="-342900">
              <a:buFont typeface="Arial" panose="020B0604020202020204" pitchFamily="34" charset="0"/>
              <a:buChar char="•"/>
              <a:defRPr/>
            </a:pPr>
            <a:r>
              <a:rPr lang="it-IT" sz="1394" b="1">
                <a:hlinkClick r:id="rId5"/>
              </a:rPr>
              <a:t>Data Completeness using Closed On Dates</a:t>
            </a:r>
            <a:br>
              <a:rPr lang="it-IT" sz="1600" dirty="0"/>
            </a:br>
            <a:r>
              <a:rPr lang="it-IT" sz="1394"/>
              <a:t>Il report di estrazione Data </a:t>
            </a:r>
            <a:r>
              <a:rPr lang="it-IT" sz="1394" err="1"/>
              <a:t>Completeness</a:t>
            </a:r>
            <a:r>
              <a:rPr lang="it-IT" sz="1394"/>
              <a:t> </a:t>
            </a:r>
            <a:r>
              <a:rPr lang="it-IT" sz="1394" err="1"/>
              <a:t>using</a:t>
            </a:r>
            <a:r>
              <a:rPr lang="it-IT" sz="1394"/>
              <a:t> </a:t>
            </a:r>
            <a:r>
              <a:rPr lang="it-IT" sz="1394" err="1"/>
              <a:t>Closed</a:t>
            </a:r>
            <a:r>
              <a:rPr lang="it-IT" sz="1394"/>
              <a:t> On Dates confronta la data di chiusura di tutti gli account con la data di fine dell’ultimo record di dati acquisito per tali account</a:t>
            </a:r>
          </a:p>
          <a:p>
            <a:pPr marL="342900" lvl="0" indent="-342900">
              <a:buFont typeface="Arial" panose="020B0604020202020204" pitchFamily="34" charset="0"/>
              <a:buChar char="•"/>
            </a:pPr>
            <a:endParaRPr lang="it-IT" sz="1600" dirty="0"/>
          </a:p>
          <a:p>
            <a:pPr marL="342900" lvl="0" indent="-342900">
              <a:buFont typeface="Arial" panose="020B0604020202020204" pitchFamily="34" charset="0"/>
              <a:buChar char="•"/>
              <a:defRPr/>
            </a:pPr>
            <a:r>
              <a:rPr lang="it-IT" sz="1394" b="1">
                <a:hlinkClick r:id="rId6"/>
              </a:rPr>
              <a:t>Data Completeness using Opened On Dates</a:t>
            </a:r>
            <a:br>
              <a:rPr lang="it-IT" sz="1600" dirty="0"/>
            </a:br>
            <a:r>
              <a:rPr lang="it-IT" sz="1394"/>
              <a:t>Il report di estrazione Data </a:t>
            </a:r>
            <a:r>
              <a:rPr lang="it-IT" sz="1394" err="1"/>
              <a:t>Completeness</a:t>
            </a:r>
            <a:r>
              <a:rPr lang="it-IT" sz="1394"/>
              <a:t> </a:t>
            </a:r>
            <a:r>
              <a:rPr lang="it-IT" sz="1394" err="1"/>
              <a:t>using</a:t>
            </a:r>
            <a:r>
              <a:rPr lang="it-IT" sz="1394"/>
              <a:t> </a:t>
            </a:r>
            <a:r>
              <a:rPr lang="it-IT" sz="1394" err="1"/>
              <a:t>Opened</a:t>
            </a:r>
            <a:r>
              <a:rPr lang="it-IT" sz="1394"/>
              <a:t> On Dates confronta la data di apertura di tutti gli account con la data di inizio del primo record di dati acquisito per tali account. Il report mostra inoltre gli scostamenti tra il periodo di attività di ciascun account e le date di validità del gruppo di classificazione della sede a cui l’account appartiene.</a:t>
            </a:r>
          </a:p>
        </p:txBody>
      </p:sp>
      <p:sp>
        <p:nvSpPr>
          <p:cNvPr id="5"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endParaRPr lang="it-IT"/>
          </a:p>
        </p:txBody>
      </p:sp>
      <p:sp>
        <p:nvSpPr>
          <p:cNvPr id="4" name="TextBox 3"/>
          <p:cNvSpPr txBox="1"/>
          <p:nvPr/>
        </p:nvSpPr>
        <p:spPr>
          <a:xfrm>
            <a:off x="640080" y="457200"/>
            <a:ext cx="10908792" cy="438912"/>
          </a:xfrm>
          <a:prstGeom prst="rect">
            <a:avLst/>
          </a:prstGeom>
          <a:noFill/>
        </p:spPr>
        <p:txBody>
          <a:bodyPr wrap="square" lIns="0" tIns="0" rIns="0" bIns="0" anchor="t">
            <a:spAutoFit/>
          </a:bodyPr>
          <a:lstStyle/>
          <a:p>
            <a:pPr marL="0" indent="0" algn="l">
              <a:lnSpc>
                <a:spcPct val="100000"/>
              </a:lnSpc>
              <a:spcBef>
                <a:spcPts val="0"/>
              </a:spcBef>
              <a:spcAft>
                <a:spcPts val="500"/>
              </a:spcAft>
              <a:buNone/>
              <a:defRPr sz="2400" b="1">
                <a:solidFill>
                  <a:srgbClr val="073E31"/>
                </a:solidFill>
                <a:latin typeface="Calibri"/>
              </a:defRPr>
            </a:pPr>
            <a:r>
              <a:rPr sz="2400" b="1">
                <a:solidFill>
                  <a:srgbClr val="073E31"/>
                </a:solidFill>
                <a:latin typeface="Calibri"/>
              </a:rPr>
              <a:t>I report per la qualità dei dati</a:t>
            </a:r>
          </a:p>
        </p:txBody>
      </p:sp>
    </p:spTree>
    <p:extLst>
      <p:ext uri="{BB962C8B-B14F-4D97-AF65-F5344CB8AC3E}">
        <p14:creationId xmlns:p14="http://schemas.microsoft.com/office/powerpoint/2010/main" val="11773886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020CE0F4-F5D7-0CF1-7A75-256AE5875711}"/>
              </a:ext>
            </a:extLst>
          </p:cNvPr>
          <p:cNvSpPr txBox="1">
            <a:spLocks/>
          </p:cNvSpPr>
          <p:nvPr/>
        </p:nvSpPr>
        <p:spPr>
          <a:xfrm>
            <a:off x="287999" y="288445"/>
            <a:ext cx="11471299" cy="763425"/>
          </a:xfrm>
        </p:spPr>
        <p:txBody>
          <a:bodyPr>
            <a:normAutofit/>
          </a:bodyPr>
          <a:lstStyle>
            <a:lvl1pPr algn="l">
              <a:lnSpc>
                <a:spcPct val="90000"/>
              </a:lnSpc>
              <a:spcBef>
                <a:spcPts val="0"/>
              </a:spcBef>
              <a:buNone/>
              <a:defRPr sz="4400">
                <a:solidFill>
                  <a:schemeClr val="tx1"/>
                </a:solidFill>
                <a:latin typeface="+mj-lt"/>
                <a:ea typeface="+mj-lt"/>
                <a:cs typeface="+mj-lt"/>
              </a:defRPr>
            </a:lvl1pPr>
          </a:lstStyle>
          <a:p>
            <a:r>
              <a:rPr lang="it-IT" sz="1800" kern="0"/>
              <a:t>Accounts Incomplete Data</a:t>
            </a:r>
            <a:endParaRPr lang="it-IT" sz="1800" kern="0" dirty="0"/>
          </a:p>
        </p:txBody>
      </p:sp>
      <p:sp>
        <p:nvSpPr>
          <p:cNvPr id="3" name="Slide Number Placeholder 2">
            <a:extLst>
              <a:ext uri="{FF2B5EF4-FFF2-40B4-BE49-F238E27FC236}">
                <a16:creationId xmlns:a16="http://schemas.microsoft.com/office/drawing/2014/main" id="{897B57D6-8C27-C24C-47E2-1EE9F5B2E3BB}"/>
              </a:ext>
            </a:extLst>
          </p:cNvPr>
          <p:cNvSpPr txBox="1">
            <a:spLocks/>
          </p:cNvSpPr>
          <p:nvPr/>
        </p:nvSpPr>
        <p:spPr>
          <a:xfrm>
            <a:off x="11397344" y="6409851"/>
            <a:ext cx="507356" cy="287114"/>
          </a:xfrm>
          <a:prstGeom prst="rect">
            <a:avLst/>
          </a:prstGeom>
        </p:spPr>
        <p:txBody>
          <a:bodyPr vert="horz" wrap="square" lIns="121904" tIns="60952" rIns="121904" bIns="60952" rtlCol="0" anchor="ctr" anchorCtr="0">
            <a:spAutoFit/>
          </a:bodyPr>
          <a:lstStyle>
            <a:defPPr>
              <a:defRPr lang="en-US"/>
            </a:defPPr>
            <a:lvl1pPr marL="0" algn="r" defTabSz="1218971" rtl="0" eaLnBrk="1" latinLnBrk="0" hangingPunct="1">
              <a:defRPr sz="1066" kern="1200">
                <a:solidFill>
                  <a:schemeClr val="accent3"/>
                </a:solidFill>
                <a:latin typeface="Nunito Sans" panose="020B0604020202020204" charset="0"/>
                <a:ea typeface="+mn-ea"/>
                <a:cs typeface="+mn-cs"/>
              </a:defRPr>
            </a:lvl1pPr>
            <a:lvl2pPr marL="609486" algn="l" defTabSz="1218971" rtl="0" eaLnBrk="1" latinLnBrk="0" hangingPunct="1">
              <a:defRPr sz="2400" kern="1200">
                <a:solidFill>
                  <a:schemeClr val="tx1"/>
                </a:solidFill>
                <a:latin typeface="+mn-lt"/>
                <a:ea typeface="+mn-ea"/>
                <a:cs typeface="+mn-cs"/>
              </a:defRPr>
            </a:lvl2pPr>
            <a:lvl3pPr marL="1218971" algn="l" defTabSz="1218971" rtl="0" eaLnBrk="1" latinLnBrk="0" hangingPunct="1">
              <a:defRPr sz="2400" kern="1200">
                <a:solidFill>
                  <a:schemeClr val="tx1"/>
                </a:solidFill>
                <a:latin typeface="+mn-lt"/>
                <a:ea typeface="+mn-ea"/>
                <a:cs typeface="+mn-cs"/>
              </a:defRPr>
            </a:lvl3pPr>
            <a:lvl4pPr marL="1828457" algn="l" defTabSz="1218971" rtl="0" eaLnBrk="1" latinLnBrk="0" hangingPunct="1">
              <a:defRPr sz="2400" kern="1200">
                <a:solidFill>
                  <a:schemeClr val="tx1"/>
                </a:solidFill>
                <a:latin typeface="+mn-lt"/>
                <a:ea typeface="+mn-ea"/>
                <a:cs typeface="+mn-cs"/>
              </a:defRPr>
            </a:lvl4pPr>
            <a:lvl5pPr marL="2437943" algn="l" defTabSz="1218971" rtl="0" eaLnBrk="1" latinLnBrk="0" hangingPunct="1">
              <a:defRPr sz="2400" kern="1200">
                <a:solidFill>
                  <a:schemeClr val="tx1"/>
                </a:solidFill>
                <a:latin typeface="+mn-lt"/>
                <a:ea typeface="+mn-ea"/>
                <a:cs typeface="+mn-cs"/>
              </a:defRPr>
            </a:lvl5pPr>
            <a:lvl6pPr marL="3047428" algn="l" defTabSz="1218971" rtl="0" eaLnBrk="1" latinLnBrk="0" hangingPunct="1">
              <a:defRPr sz="2400" kern="1200">
                <a:solidFill>
                  <a:schemeClr val="tx1"/>
                </a:solidFill>
                <a:latin typeface="+mn-lt"/>
                <a:ea typeface="+mn-ea"/>
                <a:cs typeface="+mn-cs"/>
              </a:defRPr>
            </a:lvl6pPr>
            <a:lvl7pPr marL="3656914" algn="l" defTabSz="1218971" rtl="0" eaLnBrk="1" latinLnBrk="0" hangingPunct="1">
              <a:defRPr sz="2400" kern="1200">
                <a:solidFill>
                  <a:schemeClr val="tx1"/>
                </a:solidFill>
                <a:latin typeface="+mn-lt"/>
                <a:ea typeface="+mn-ea"/>
                <a:cs typeface="+mn-cs"/>
              </a:defRPr>
            </a:lvl7pPr>
            <a:lvl8pPr marL="4266400" algn="l" defTabSz="1218971" rtl="0" eaLnBrk="1" latinLnBrk="0" hangingPunct="1">
              <a:defRPr sz="2400" kern="1200">
                <a:solidFill>
                  <a:schemeClr val="tx1"/>
                </a:solidFill>
                <a:latin typeface="+mn-lt"/>
                <a:ea typeface="+mn-ea"/>
                <a:cs typeface="+mn-cs"/>
              </a:defRPr>
            </a:lvl8pPr>
            <a:lvl9pPr marL="4875886" algn="l" defTabSz="1218971" rtl="0" eaLnBrk="1" latinLnBrk="0" hangingPunct="1">
              <a:defRPr sz="2400" kern="1200">
                <a:solidFill>
                  <a:schemeClr val="tx1"/>
                </a:solidFill>
                <a:latin typeface="+mn-lt"/>
                <a:ea typeface="+mn-ea"/>
                <a:cs typeface="+mn-cs"/>
              </a:defRPr>
            </a:lvl9pPr>
          </a:lstStyle>
          <a:p>
            <a:fld id="{585732F6-B2E4-4CE3-B902-ABF0CF5E15BE}" type="slidenum">
              <a:rPr lang="en-AU" smtClean="0">
                <a:solidFill>
                  <a:srgbClr val="003A6D"/>
                </a:solidFill>
                <a:latin typeface="IBM Plex Sans Light"/>
              </a:rPr>
              <a:pPr/>
              <a:t>16</a:t>
            </a:fld>
            <a:endParaRPr lang="en-AU" dirty="0">
              <a:solidFill>
                <a:srgbClr val="003A6D"/>
              </a:solidFill>
              <a:latin typeface="IBM Plex Sans Light"/>
            </a:endParaRPr>
          </a:p>
        </p:txBody>
      </p:sp>
      <p:sp>
        <p:nvSpPr>
          <p:cNvPr id="4" name="Content Placeholder 1">
            <a:extLst>
              <a:ext uri="{FF2B5EF4-FFF2-40B4-BE49-F238E27FC236}">
                <a16:creationId xmlns:a16="http://schemas.microsoft.com/office/drawing/2014/main" id="{19957B94-85D1-3D3D-CBA2-50F72FF5BAEC}"/>
              </a:ext>
            </a:extLst>
          </p:cNvPr>
          <p:cNvSpPr txBox="1">
            <a:spLocks/>
          </p:cNvSpPr>
          <p:nvPr/>
        </p:nvSpPr>
        <p:spPr>
          <a:xfrm>
            <a:off x="53009" y="1750327"/>
            <a:ext cx="11169848" cy="4384651"/>
          </a:xfrm>
          <a:prstGeom prst="rect">
            <a:avLst/>
          </a:prstGeom>
        </p:spPr>
        <p:txBody>
          <a:bodyPr vert="horz" wrap="square" lIns="91428" tIns="45714" rIns="91428" bIns="45714" rtlCol="0">
            <a:noAutofit/>
          </a:bodyPr>
          <a:lstStyle>
            <a:lvl1pPr marL="0" indent="-176400" algn="l" defTabSz="457200" rtl="0" eaLnBrk="1" latinLnBrk="0" hangingPunct="1">
              <a:spcBef>
                <a:spcPct val="20000"/>
              </a:spcBef>
              <a:buClr>
                <a:schemeClr val="accent1"/>
              </a:buClr>
              <a:buSzPct val="70000"/>
              <a:buFont typeface="Lucida Grande"/>
              <a:buChar char="&gt;"/>
              <a:defRPr sz="2200" b="1" i="0" kern="1200" baseline="0">
                <a:solidFill>
                  <a:schemeClr val="tx1"/>
                </a:solidFill>
                <a:latin typeface="+mn-lt"/>
                <a:ea typeface="+mn-ea"/>
                <a:cs typeface="+mn-cs"/>
              </a:defRPr>
            </a:lvl1pPr>
            <a:lvl2pPr marL="356400" indent="-176400" algn="l" defTabSz="457200" rtl="0" eaLnBrk="1" latinLnBrk="0" hangingPunct="1">
              <a:spcBef>
                <a:spcPct val="20000"/>
              </a:spcBef>
              <a:buClr>
                <a:srgbClr val="D3D3D3"/>
              </a:buClr>
              <a:buSzPct val="70000"/>
              <a:buFont typeface="Lucida Grande"/>
              <a:buChar char="&gt;"/>
              <a:defRPr sz="2200" kern="1200">
                <a:solidFill>
                  <a:schemeClr val="tx1"/>
                </a:solidFill>
                <a:latin typeface="+mn-lt"/>
                <a:ea typeface="+mn-ea"/>
                <a:cs typeface="+mn-cs"/>
              </a:defRPr>
            </a:lvl2pPr>
            <a:lvl3pPr marL="604800" indent="-176400" algn="l" defTabSz="457200" rtl="0" eaLnBrk="1" latinLnBrk="0" hangingPunct="1">
              <a:spcBef>
                <a:spcPct val="20000"/>
              </a:spcBef>
              <a:buClr>
                <a:srgbClr val="D3D3D3"/>
              </a:buClr>
              <a:buSzPct val="70000"/>
              <a:buFont typeface="Lucida Grande"/>
              <a:buChar char="&gt;"/>
              <a:defRPr sz="2200" kern="1200">
                <a:solidFill>
                  <a:schemeClr val="tx1"/>
                </a:solidFill>
                <a:latin typeface="+mn-lt"/>
                <a:ea typeface="+mn-ea"/>
                <a:cs typeface="+mn-cs"/>
              </a:defRPr>
            </a:lvl3pPr>
            <a:lvl4pPr marL="810000" indent="-176400" algn="l" defTabSz="457200" rtl="0" eaLnBrk="1" latinLnBrk="0" hangingPunct="1">
              <a:spcBef>
                <a:spcPct val="20000"/>
              </a:spcBef>
              <a:buClr>
                <a:srgbClr val="D3D3D3"/>
              </a:buClr>
              <a:buSzPct val="70000"/>
              <a:buFont typeface="Lucida Grande"/>
              <a:buChar char="&gt;"/>
              <a:defRPr sz="2200" kern="1200">
                <a:solidFill>
                  <a:schemeClr val="tx1"/>
                </a:solidFill>
                <a:latin typeface="+mn-lt"/>
                <a:ea typeface="+mn-ea"/>
                <a:cs typeface="+mn-cs"/>
              </a:defRPr>
            </a:lvl4pPr>
            <a:lvl5pPr marL="979200" indent="-176400" algn="l" defTabSz="457200" rtl="0" eaLnBrk="1" latinLnBrk="0" hangingPunct="1">
              <a:spcBef>
                <a:spcPct val="20000"/>
              </a:spcBef>
              <a:buClr>
                <a:schemeClr val="accent1"/>
              </a:buClr>
              <a:buSzPct val="70000"/>
              <a:buFont typeface="Lucida Grande"/>
              <a:buChar char="&gt;"/>
              <a:defRPr sz="22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2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2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2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200" kern="1200">
                <a:solidFill>
                  <a:schemeClr val="tx1"/>
                </a:solidFill>
                <a:latin typeface="+mn-lt"/>
                <a:ea typeface="+mn-ea"/>
                <a:cs typeface="+mn-cs"/>
              </a:defRPr>
            </a:lvl9pPr>
          </a:lstStyle>
          <a:p>
            <a:pPr indent="0" defTabSz="228554">
              <a:buClr>
                <a:srgbClr val="A56EFF"/>
              </a:buClr>
              <a:buNone/>
            </a:pPr>
            <a:endParaRPr lang="en-AU" sz="1800" dirty="0">
              <a:solidFill>
                <a:srgbClr val="000000"/>
              </a:solidFill>
              <a:latin typeface="IBM Plex Sans Light"/>
            </a:endParaRPr>
          </a:p>
        </p:txBody>
      </p:sp>
      <p:sp>
        <p:nvSpPr>
          <p:cNvPr id="5" name="Rectangle 4">
            <a:extLst>
              <a:ext uri="{FF2B5EF4-FFF2-40B4-BE49-F238E27FC236}">
                <a16:creationId xmlns:a16="http://schemas.microsoft.com/office/drawing/2014/main" id="{CB3BB844-0B45-A14B-EB4F-55FAE35FE64D}"/>
              </a:ext>
            </a:extLst>
          </p:cNvPr>
          <p:cNvSpPr/>
          <p:nvPr/>
        </p:nvSpPr>
        <p:spPr>
          <a:xfrm>
            <a:off x="366037" y="5532508"/>
            <a:ext cx="5052983" cy="854080"/>
          </a:xfrm>
          <a:prstGeom prst="rect">
            <a:avLst/>
          </a:prstGeom>
        </p:spPr>
        <p:txBody>
          <a:bodyPr wrap="square">
            <a:spAutoFit/>
          </a:bodyPr>
          <a:lstStyle/>
          <a:p>
            <a:pPr marL="228557" indent="-228557" defTabSz="914507">
              <a:buFontTx/>
              <a:buAutoNum type="arabicPeriod"/>
            </a:pPr>
            <a:endParaRPr lang="it-IT">
              <a:solidFill>
                <a:srgbClr val="000000"/>
              </a:solidFill>
              <a:latin typeface="IBM Plex Sans Light"/>
            </a:endParaRPr>
          </a:p>
          <a:p>
            <a:pPr marL="228557" indent="-228557" defTabSz="914507">
              <a:buFontTx/>
              <a:buAutoNum type="arabicPeriod"/>
            </a:pPr>
            <a:endParaRPr lang="it-IT">
              <a:solidFill>
                <a:srgbClr val="000000"/>
              </a:solidFill>
              <a:latin typeface="IBM Plex Sans Light"/>
            </a:endParaRPr>
          </a:p>
          <a:p>
            <a:pPr defTabSz="914507"/>
            <a:endParaRPr lang="en-AU" sz="1350" dirty="0">
              <a:solidFill>
                <a:srgbClr val="000000"/>
              </a:solidFill>
              <a:latin typeface="IBM Plex Sans Light"/>
            </a:endParaRPr>
          </a:p>
        </p:txBody>
      </p:sp>
      <p:pic>
        <p:nvPicPr>
          <p:cNvPr id="6" name="Picture 7">
            <a:extLst>
              <a:ext uri="{FF2B5EF4-FFF2-40B4-BE49-F238E27FC236}">
                <a16:creationId xmlns:a16="http://schemas.microsoft.com/office/drawing/2014/main" id="{25C4CE1F-552D-4EED-19D8-99E94388B9B9}"/>
              </a:ext>
            </a:extLst>
          </p:cNvPr>
          <p:cNvPicPr>
            <a:picLocks noChangeAspect="1"/>
          </p:cNvPicPr>
          <p:nvPr/>
        </p:nvPicPr>
        <p:blipFill>
          <a:blip r:embed="rId2"/>
          <a:stretch>
            <a:fillRect/>
          </a:stretch>
        </p:blipFill>
        <p:spPr>
          <a:xfrm>
            <a:off x="188195" y="2046066"/>
            <a:ext cx="11756442" cy="2194444"/>
          </a:xfrm>
          <a:prstGeom prst="rect">
            <a:avLst/>
          </a:prstGeom>
        </p:spPr>
      </p:pic>
      <p:sp>
        <p:nvSpPr>
          <p:cNvPr id="7" name="CasellaDiTesto 6">
            <a:extLst>
              <a:ext uri="{FF2B5EF4-FFF2-40B4-BE49-F238E27FC236}">
                <a16:creationId xmlns:a16="http://schemas.microsoft.com/office/drawing/2014/main" id="{102F7A87-3FF2-9DDB-7934-6E6C6E87BB66}"/>
              </a:ext>
            </a:extLst>
          </p:cNvPr>
          <p:cNvSpPr txBox="1"/>
          <p:nvPr/>
        </p:nvSpPr>
        <p:spPr>
          <a:xfrm>
            <a:off x="287999" y="1281543"/>
            <a:ext cx="9960177" cy="605166"/>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pPr defTabSz="1219017" fontAlgn="base">
              <a:spcBef>
                <a:spcPts val="800"/>
              </a:spcBef>
              <a:defRPr/>
            </a:pPr>
            <a:r>
              <a:rPr lang="it-IT" sz="1333">
                <a:solidFill>
                  <a:srgbClr val="000000"/>
                </a:solidFill>
                <a:latin typeface="IBM Plex Sans Light" panose="020B0503050203000203" pitchFamily="34" charset="0"/>
              </a:rPr>
              <a:t>Esecuzione: ricerca globale → selezionare Report → digitare “Accounts incomplete data”.</a:t>
            </a:r>
          </a:p>
          <a:p>
            <a:pPr defTabSz="1219017" fontAlgn="base">
              <a:spcBef>
                <a:spcPts val="800"/>
              </a:spcBef>
              <a:defRPr/>
            </a:pPr>
            <a:r>
              <a:rPr lang="it-IT" sz="1333">
                <a:solidFill>
                  <a:srgbClr val="000000"/>
                </a:solidFill>
                <a:latin typeface="IBM Plex Sans Light" panose="020B0503050203000203" pitchFamily="34" charset="0"/>
              </a:rPr>
              <a:t>Selezionare tutti i gruppi o un gruppo di interesse e selezionare il periodo di interesse.</a:t>
            </a:r>
          </a:p>
        </p:txBody>
      </p:sp>
      <p:sp>
        <p:nvSpPr>
          <p:cNvPr id="8" name="CasellaDiTesto 7">
            <a:extLst>
              <a:ext uri="{FF2B5EF4-FFF2-40B4-BE49-F238E27FC236}">
                <a16:creationId xmlns:a16="http://schemas.microsoft.com/office/drawing/2014/main" id="{996D8910-A05A-D138-CE19-1ED1DA31AE34}"/>
              </a:ext>
            </a:extLst>
          </p:cNvPr>
          <p:cNvSpPr txBox="1"/>
          <p:nvPr/>
        </p:nvSpPr>
        <p:spPr>
          <a:xfrm>
            <a:off x="188195" y="4355351"/>
            <a:ext cx="11034662" cy="430887"/>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pPr defTabSz="914507"/>
            <a:r>
              <a:rPr lang="it-IT" sz="1100">
                <a:solidFill>
                  <a:srgbClr val="000000"/>
                </a:solidFill>
                <a:latin typeface="IBM Plex Sans Light"/>
              </a:rPr>
              <a:t>Questa vista mostra un </a:t>
            </a:r>
            <a:r>
              <a:rPr lang="it-IT" sz="1100" b="1">
                <a:solidFill>
                  <a:srgbClr val="000000"/>
                </a:solidFill>
                <a:latin typeface="IBM Plex Sans Light"/>
              </a:rPr>
              <a:t>controllo di qualità sulla copertura temporale dei dati</a:t>
            </a:r>
            <a:r>
              <a:rPr lang="it-IT" sz="1100">
                <a:solidFill>
                  <a:srgbClr val="000000"/>
                </a:solidFill>
                <a:latin typeface="IBM Plex Sans Light"/>
              </a:rPr>
              <a:t> caricati in </a:t>
            </a:r>
            <a:r>
              <a:rPr lang="it-IT" sz="1100" err="1">
                <a:solidFill>
                  <a:srgbClr val="000000"/>
                </a:solidFill>
                <a:latin typeface="IBM Plex Sans Light"/>
              </a:rPr>
              <a:t>Envizi</a:t>
            </a:r>
            <a:r>
              <a:rPr lang="it-IT" sz="1100">
                <a:solidFill>
                  <a:srgbClr val="000000"/>
                </a:solidFill>
                <a:latin typeface="IBM Plex Sans Light"/>
              </a:rPr>
              <a:t>. In particolare, la colonna evidenziata </a:t>
            </a:r>
            <a:r>
              <a:rPr lang="it-IT" sz="1100" b="1" err="1">
                <a:solidFill>
                  <a:srgbClr val="000000"/>
                </a:solidFill>
                <a:latin typeface="IBM Plex Sans Light"/>
              </a:rPr>
              <a:t>Days_Mismatch</a:t>
            </a:r>
            <a:r>
              <a:rPr lang="it-IT" sz="1100">
                <a:solidFill>
                  <a:srgbClr val="000000"/>
                </a:solidFill>
                <a:latin typeface="IBM Plex Sans Light"/>
              </a:rPr>
              <a:t> indica la differenza tra il numero di giorni che </a:t>
            </a:r>
            <a:r>
              <a:rPr lang="it-IT" sz="1100" b="1" err="1">
                <a:solidFill>
                  <a:srgbClr val="000000"/>
                </a:solidFill>
                <a:latin typeface="IBM Plex Sans Light"/>
              </a:rPr>
              <a:t>Envizi</a:t>
            </a:r>
            <a:r>
              <a:rPr lang="it-IT" sz="1100" b="1">
                <a:solidFill>
                  <a:srgbClr val="000000"/>
                </a:solidFill>
                <a:latin typeface="IBM Plex Sans Light"/>
              </a:rPr>
              <a:t> si aspetta</a:t>
            </a:r>
            <a:r>
              <a:rPr lang="it-IT" sz="1100">
                <a:solidFill>
                  <a:srgbClr val="000000"/>
                </a:solidFill>
                <a:latin typeface="IBM Plex Sans Light"/>
              </a:rPr>
              <a:t> per quel periodo e il numero di giorni </a:t>
            </a:r>
            <a:r>
              <a:rPr lang="it-IT" sz="1100" b="1">
                <a:solidFill>
                  <a:srgbClr val="000000"/>
                </a:solidFill>
                <a:latin typeface="IBM Plex Sans Light"/>
              </a:rPr>
              <a:t>effettivamente coperti dal record</a:t>
            </a:r>
            <a:r>
              <a:rPr lang="it-IT" sz="1100">
                <a:solidFill>
                  <a:srgbClr val="000000"/>
                </a:solidFill>
                <a:latin typeface="IBM Plex Sans Light"/>
              </a:rPr>
              <a:t>.</a:t>
            </a:r>
          </a:p>
        </p:txBody>
      </p:sp>
      <p:graphicFrame>
        <p:nvGraphicFramePr>
          <p:cNvPr id="9" name="Tabella 8">
            <a:extLst>
              <a:ext uri="{FF2B5EF4-FFF2-40B4-BE49-F238E27FC236}">
                <a16:creationId xmlns:a16="http://schemas.microsoft.com/office/drawing/2014/main" id="{7143336E-A0B6-7BA8-2735-4231BE1DCAA2}"/>
              </a:ext>
            </a:extLst>
          </p:cNvPr>
          <p:cNvGraphicFramePr>
            <a:graphicFrameLocks noGrp="1"/>
          </p:cNvGraphicFramePr>
          <p:nvPr/>
        </p:nvGraphicFramePr>
        <p:xfrm>
          <a:off x="188195" y="4881864"/>
          <a:ext cx="6326176" cy="1219150"/>
        </p:xfrm>
        <a:graphic>
          <a:graphicData uri="http://schemas.openxmlformats.org/drawingml/2006/table">
            <a:tbl>
              <a:tblPr>
                <a:tableStyleId>{5C22544A-7EE6-4342-B048-85BDC9FD1C3A}</a:tableStyleId>
              </a:tblPr>
              <a:tblGrid>
                <a:gridCol w="1956849">
                  <a:extLst>
                    <a:ext uri="{9D8B030D-6E8A-4147-A177-3AD203B41FA5}">
                      <a16:colId xmlns:a16="http://schemas.microsoft.com/office/drawing/2014/main" val="2487809444"/>
                    </a:ext>
                  </a:extLst>
                </a:gridCol>
                <a:gridCol w="4369327">
                  <a:extLst>
                    <a:ext uri="{9D8B030D-6E8A-4147-A177-3AD203B41FA5}">
                      <a16:colId xmlns:a16="http://schemas.microsoft.com/office/drawing/2014/main" val="509606105"/>
                    </a:ext>
                  </a:extLst>
                </a:gridCol>
              </a:tblGrid>
              <a:tr h="243808">
                <a:tc>
                  <a:txBody>
                    <a:bodyPr/>
                    <a:lstStyle/>
                    <a:p>
                      <a:pPr algn="l">
                        <a:buNone/>
                      </a:pPr>
                      <a:r>
                        <a:rPr lang="it-IT" sz="1100" b="1" dirty="0">
                          <a:solidFill>
                            <a:schemeClr val="tx1"/>
                          </a:solidFill>
                          <a:effectLst/>
                        </a:rPr>
                        <a:t>Colonna</a:t>
                      </a:r>
                    </a:p>
                  </a:txBody>
                  <a:tcPr marL="57143" marR="57143" marT="38095" marB="38095" anchor="ctr"/>
                </a:tc>
                <a:tc>
                  <a:txBody>
                    <a:bodyPr/>
                    <a:lstStyle/>
                    <a:p>
                      <a:pPr algn="l">
                        <a:buNone/>
                      </a:pPr>
                      <a:r>
                        <a:rPr lang="it-IT" sz="1100" b="1" dirty="0">
                          <a:solidFill>
                            <a:schemeClr val="tx1"/>
                          </a:solidFill>
                          <a:effectLst/>
                        </a:rPr>
                        <a:t>Significato</a:t>
                      </a:r>
                    </a:p>
                  </a:txBody>
                  <a:tcPr marL="57143" marR="57143" marT="38095" marB="38095" anchor="ctr"/>
                </a:tc>
                <a:extLst>
                  <a:ext uri="{0D108BD9-81ED-4DB2-BD59-A6C34878D82A}">
                    <a16:rowId xmlns:a16="http://schemas.microsoft.com/office/drawing/2014/main" val="610334479"/>
                  </a:ext>
                </a:extLst>
              </a:tr>
              <a:tr h="243808">
                <a:tc>
                  <a:txBody>
                    <a:bodyPr/>
                    <a:lstStyle/>
                    <a:p>
                      <a:pPr algn="l">
                        <a:buNone/>
                      </a:pPr>
                      <a:r>
                        <a:rPr lang="it-IT" sz="1100" dirty="0" err="1">
                          <a:solidFill>
                            <a:schemeClr val="tx1"/>
                          </a:solidFill>
                          <a:effectLst/>
                        </a:rPr>
                        <a:t>Days_In_Month</a:t>
                      </a:r>
                      <a:endParaRPr lang="it-IT" sz="1100" dirty="0">
                        <a:solidFill>
                          <a:schemeClr val="tx1"/>
                        </a:solidFill>
                        <a:effectLst/>
                      </a:endParaRPr>
                    </a:p>
                  </a:txBody>
                  <a:tcPr marL="57143" marR="57143" marT="38095" marB="38095" anchor="ctr">
                    <a:solidFill>
                      <a:schemeClr val="bg1"/>
                    </a:solidFill>
                  </a:tcPr>
                </a:tc>
                <a:tc>
                  <a:txBody>
                    <a:bodyPr/>
                    <a:lstStyle/>
                    <a:p>
                      <a:pPr algn="l">
                        <a:buNone/>
                      </a:pPr>
                      <a:r>
                        <a:rPr lang="it-IT" sz="1100" dirty="0">
                          <a:solidFill>
                            <a:schemeClr val="tx1"/>
                          </a:solidFill>
                          <a:effectLst/>
                        </a:rPr>
                        <a:t>Giorni effettivi del mese (30 o 31).</a:t>
                      </a:r>
                    </a:p>
                  </a:txBody>
                  <a:tcPr marL="57143" marR="57143" marT="38095" marB="38095" anchor="ctr">
                    <a:solidFill>
                      <a:schemeClr val="bg1"/>
                    </a:solidFill>
                  </a:tcPr>
                </a:tc>
                <a:extLst>
                  <a:ext uri="{0D108BD9-81ED-4DB2-BD59-A6C34878D82A}">
                    <a16:rowId xmlns:a16="http://schemas.microsoft.com/office/drawing/2014/main" val="1273816786"/>
                  </a:ext>
                </a:extLst>
              </a:tr>
              <a:tr h="243808">
                <a:tc>
                  <a:txBody>
                    <a:bodyPr/>
                    <a:lstStyle/>
                    <a:p>
                      <a:pPr algn="l">
                        <a:buNone/>
                      </a:pPr>
                      <a:r>
                        <a:rPr lang="it-IT" sz="1100" dirty="0" err="1">
                          <a:solidFill>
                            <a:schemeClr val="tx1"/>
                          </a:solidFill>
                          <a:effectLst/>
                        </a:rPr>
                        <a:t>Expected_Days_In_Month</a:t>
                      </a:r>
                      <a:endParaRPr lang="it-IT" sz="1100" dirty="0">
                        <a:solidFill>
                          <a:schemeClr val="tx1"/>
                        </a:solidFill>
                        <a:effectLst/>
                      </a:endParaRPr>
                    </a:p>
                  </a:txBody>
                  <a:tcPr marL="57143" marR="57143" marT="38095" marB="38095" anchor="ctr">
                    <a:solidFill>
                      <a:schemeClr val="bg1"/>
                    </a:solidFill>
                  </a:tcPr>
                </a:tc>
                <a:tc>
                  <a:txBody>
                    <a:bodyPr/>
                    <a:lstStyle/>
                    <a:p>
                      <a:pPr algn="l">
                        <a:buNone/>
                      </a:pPr>
                      <a:r>
                        <a:rPr lang="it-IT" sz="1100" dirty="0">
                          <a:solidFill>
                            <a:schemeClr val="tx1"/>
                          </a:solidFill>
                          <a:effectLst/>
                        </a:rPr>
                        <a:t>Giorni che </a:t>
                      </a:r>
                      <a:r>
                        <a:rPr lang="it-IT" sz="1100" dirty="0" err="1">
                          <a:solidFill>
                            <a:schemeClr val="tx1"/>
                          </a:solidFill>
                          <a:effectLst/>
                        </a:rPr>
                        <a:t>Envizi</a:t>
                      </a:r>
                      <a:r>
                        <a:rPr lang="it-IT" sz="1100" dirty="0">
                          <a:solidFill>
                            <a:schemeClr val="tx1"/>
                          </a:solidFill>
                          <a:effectLst/>
                        </a:rPr>
                        <a:t> si aspetta di coprire.</a:t>
                      </a:r>
                    </a:p>
                  </a:txBody>
                  <a:tcPr marL="57143" marR="57143" marT="38095" marB="38095" anchor="ctr">
                    <a:solidFill>
                      <a:schemeClr val="bg1"/>
                    </a:solidFill>
                  </a:tcPr>
                </a:tc>
                <a:extLst>
                  <a:ext uri="{0D108BD9-81ED-4DB2-BD59-A6C34878D82A}">
                    <a16:rowId xmlns:a16="http://schemas.microsoft.com/office/drawing/2014/main" val="522314368"/>
                  </a:ext>
                </a:extLst>
              </a:tr>
              <a:tr h="243808">
                <a:tc>
                  <a:txBody>
                    <a:bodyPr/>
                    <a:lstStyle/>
                    <a:p>
                      <a:pPr algn="l">
                        <a:buNone/>
                      </a:pPr>
                      <a:r>
                        <a:rPr lang="it-IT" sz="1100" dirty="0" err="1">
                          <a:solidFill>
                            <a:schemeClr val="tx1"/>
                          </a:solidFill>
                          <a:effectLst/>
                        </a:rPr>
                        <a:t>Days_Of_Data</a:t>
                      </a:r>
                      <a:endParaRPr lang="it-IT" sz="1100" dirty="0">
                        <a:solidFill>
                          <a:schemeClr val="tx1"/>
                        </a:solidFill>
                        <a:effectLst/>
                      </a:endParaRPr>
                    </a:p>
                  </a:txBody>
                  <a:tcPr marL="57143" marR="57143" marT="38095" marB="38095" anchor="ctr">
                    <a:solidFill>
                      <a:schemeClr val="bg1"/>
                    </a:solidFill>
                  </a:tcPr>
                </a:tc>
                <a:tc>
                  <a:txBody>
                    <a:bodyPr/>
                    <a:lstStyle/>
                    <a:p>
                      <a:pPr algn="l">
                        <a:buNone/>
                      </a:pPr>
                      <a:r>
                        <a:rPr lang="it-IT" sz="1100" dirty="0">
                          <a:solidFill>
                            <a:schemeClr val="tx1"/>
                          </a:solidFill>
                          <a:effectLst/>
                        </a:rPr>
                        <a:t>Giorni coperti dal record importato.</a:t>
                      </a:r>
                    </a:p>
                  </a:txBody>
                  <a:tcPr marL="57143" marR="57143" marT="38095" marB="38095" anchor="ctr">
                    <a:solidFill>
                      <a:schemeClr val="bg1"/>
                    </a:solidFill>
                  </a:tcPr>
                </a:tc>
                <a:extLst>
                  <a:ext uri="{0D108BD9-81ED-4DB2-BD59-A6C34878D82A}">
                    <a16:rowId xmlns:a16="http://schemas.microsoft.com/office/drawing/2014/main" val="1781174174"/>
                  </a:ext>
                </a:extLst>
              </a:tr>
              <a:tr h="243808">
                <a:tc>
                  <a:txBody>
                    <a:bodyPr/>
                    <a:lstStyle/>
                    <a:p>
                      <a:pPr algn="l">
                        <a:buNone/>
                      </a:pPr>
                      <a:r>
                        <a:rPr lang="it-IT" sz="1100" dirty="0" err="1">
                          <a:solidFill>
                            <a:schemeClr val="tx1"/>
                          </a:solidFill>
                          <a:effectLst/>
                        </a:rPr>
                        <a:t>Days_Mismatch</a:t>
                      </a:r>
                      <a:endParaRPr lang="it-IT" sz="1100" dirty="0">
                        <a:solidFill>
                          <a:schemeClr val="tx1"/>
                        </a:solidFill>
                        <a:effectLst/>
                      </a:endParaRPr>
                    </a:p>
                  </a:txBody>
                  <a:tcPr marL="57143" marR="57143" marT="38095" marB="38095" anchor="ctr">
                    <a:solidFill>
                      <a:schemeClr val="bg1"/>
                    </a:solidFill>
                  </a:tcPr>
                </a:tc>
                <a:tc>
                  <a:txBody>
                    <a:bodyPr/>
                    <a:lstStyle/>
                    <a:p>
                      <a:pPr algn="l">
                        <a:buNone/>
                      </a:pPr>
                      <a:r>
                        <a:rPr lang="it-IT" sz="1100" dirty="0">
                          <a:solidFill>
                            <a:schemeClr val="tx1"/>
                          </a:solidFill>
                          <a:effectLst/>
                        </a:rPr>
                        <a:t>Differenza tra copertura attesa e copertura reale.</a:t>
                      </a:r>
                    </a:p>
                  </a:txBody>
                  <a:tcPr marL="57143" marR="57143" marT="38095" marB="38095" anchor="ctr">
                    <a:solidFill>
                      <a:schemeClr val="bg1"/>
                    </a:solidFill>
                  </a:tcPr>
                </a:tc>
                <a:extLst>
                  <a:ext uri="{0D108BD9-81ED-4DB2-BD59-A6C34878D82A}">
                    <a16:rowId xmlns:a16="http://schemas.microsoft.com/office/drawing/2014/main" val="2519722103"/>
                  </a:ext>
                </a:extLst>
              </a:tr>
            </a:tbl>
          </a:graphicData>
        </a:graphic>
      </p:graphicFrame>
    </p:spTree>
    <p:extLst>
      <p:ext uri="{BB962C8B-B14F-4D97-AF65-F5344CB8AC3E}">
        <p14:creationId xmlns:p14="http://schemas.microsoft.com/office/powerpoint/2010/main" val="2706204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umero diapositiva 3">
            <a:extLst>
              <a:ext uri="{FF2B5EF4-FFF2-40B4-BE49-F238E27FC236}">
                <a16:creationId xmlns:a16="http://schemas.microsoft.com/office/drawing/2014/main" id="{0EE6C759-3DD2-AA23-6A30-79B7088297FD}"/>
              </a:ext>
            </a:extLst>
          </p:cNvPr>
          <p:cNvSpPr txBox="1">
            <a:spLocks/>
          </p:cNvSpPr>
          <p:nvPr/>
        </p:nvSpPr>
        <p:spPr>
          <a:xfrm>
            <a:off x="5829747" y="3203953"/>
            <a:ext cx="121828" cy="123111"/>
          </a:xfrm>
          <a:prstGeom prst="rect">
            <a:avLst/>
          </a:prstGeo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507"/>
            <a:fld id="{86CB4B4D-7CA3-9044-876B-883B54F8677D}" type="slidenum">
              <a:rPr lang="en-US" smtClean="0">
                <a:solidFill>
                  <a:srgbClr val="000000"/>
                </a:solidFill>
              </a:rPr>
              <a:pPr defTabSz="914507"/>
              <a:t>17</a:t>
            </a:fld>
            <a:endParaRPr lang="en-US" dirty="0">
              <a:solidFill>
                <a:srgbClr val="000000"/>
              </a:solidFill>
            </a:endParaRPr>
          </a:p>
        </p:txBody>
      </p:sp>
      <p:sp>
        <p:nvSpPr>
          <p:cNvPr id="3" name="Eyebrow">
            <a:extLst>
              <a:ext uri="{FF2B5EF4-FFF2-40B4-BE49-F238E27FC236}">
                <a16:creationId xmlns:a16="http://schemas.microsoft.com/office/drawing/2014/main" id="{B6B8BC50-C8D8-3A7C-9D0D-59970A2CF90A}"/>
              </a:ext>
            </a:extLst>
          </p:cNvPr>
          <p:cNvSpPr txBox="1"/>
          <p:nvPr/>
        </p:nvSpPr>
        <p:spPr>
          <a:xfrm>
            <a:off x="287999" y="320445"/>
            <a:ext cx="6399967" cy="169277"/>
          </a:xfrm>
          <a:prstGeom prst="rect">
            <a:avLst/>
          </a:prstGeom>
          <a:noFill/>
        </p:spPr>
        <p:txBody>
          <a:bodyPr wrap="square" lIns="0" tIns="0" rIns="0" bIns="0">
            <a:spAutoFit/>
          </a:bodyPr>
          <a:lstStyle/>
          <a:p>
            <a:pPr defTabSz="914507"/>
            <a:r>
              <a:rPr lang="it-IT" sz="1100" b="1">
                <a:solidFill>
                  <a:srgbClr val="0F62FE"/>
                </a:solidFill>
                <a:latin typeface="IBM Plex Sans Light"/>
              </a:rPr>
              <a:t>DATA HEALTH CHECK</a:t>
            </a:r>
          </a:p>
        </p:txBody>
      </p:sp>
      <p:sp>
        <p:nvSpPr>
          <p:cNvPr id="4" name="Title">
            <a:extLst>
              <a:ext uri="{FF2B5EF4-FFF2-40B4-BE49-F238E27FC236}">
                <a16:creationId xmlns:a16="http://schemas.microsoft.com/office/drawing/2014/main" id="{1F180428-11ED-16F2-062E-07E4502BA9D6}"/>
              </a:ext>
            </a:extLst>
          </p:cNvPr>
          <p:cNvSpPr txBox="1"/>
          <p:nvPr/>
        </p:nvSpPr>
        <p:spPr>
          <a:xfrm>
            <a:off x="287999" y="571872"/>
            <a:ext cx="10498633" cy="292388"/>
          </a:xfrm>
          <a:prstGeom prst="rect">
            <a:avLst/>
          </a:prstGeom>
          <a:noFill/>
        </p:spPr>
        <p:txBody>
          <a:bodyPr wrap="square" lIns="0" tIns="0" rIns="0" bIns="0">
            <a:spAutoFit/>
          </a:bodyPr>
          <a:lstStyle/>
          <a:p>
            <a:pPr defTabSz="914507"/>
            <a:r>
              <a:rPr lang="it-IT" sz="1900" b="1">
                <a:solidFill>
                  <a:srgbClr val="000000"/>
                </a:solidFill>
                <a:latin typeface="IBM Plex Sans Light"/>
              </a:rPr>
              <a:t>Days Mismatch: come interpretare i valori</a:t>
            </a:r>
          </a:p>
        </p:txBody>
      </p:sp>
      <p:sp>
        <p:nvSpPr>
          <p:cNvPr id="5" name="Card L">
            <a:extLst>
              <a:ext uri="{FF2B5EF4-FFF2-40B4-BE49-F238E27FC236}">
                <a16:creationId xmlns:a16="http://schemas.microsoft.com/office/drawing/2014/main" id="{22914A6B-DA64-5709-669B-19FD20E76D70}"/>
              </a:ext>
            </a:extLst>
          </p:cNvPr>
          <p:cNvSpPr/>
          <p:nvPr/>
        </p:nvSpPr>
        <p:spPr>
          <a:xfrm>
            <a:off x="287999" y="1448058"/>
            <a:ext cx="5638066" cy="1942847"/>
          </a:xfrm>
          <a:prstGeom prst="roundRect">
            <a:avLst>
              <a:gd name="adj" fmla="val 5000"/>
            </a:avLst>
          </a:prstGeom>
          <a:solidFill>
            <a:srgbClr val="F4F6FA"/>
          </a:solidFill>
          <a:ln w="12700">
            <a:solidFill>
              <a:srgbClr val="D7E0F0"/>
            </a:solidFill>
          </a:ln>
          <a:effectLst/>
        </p:spPr>
        <p:txBody>
          <a:bodyPr rtlCol="0" anchor="ctr"/>
          <a:lstStyle/>
          <a:p>
            <a:pPr algn="ctr" defTabSz="914507"/>
            <a:endParaRPr>
              <a:solidFill>
                <a:srgbClr val="000000"/>
              </a:solidFill>
              <a:latin typeface="IBM Plex Sans Light"/>
            </a:endParaRPr>
          </a:p>
        </p:txBody>
      </p:sp>
      <p:sp>
        <p:nvSpPr>
          <p:cNvPr id="6" name="Card R">
            <a:extLst>
              <a:ext uri="{FF2B5EF4-FFF2-40B4-BE49-F238E27FC236}">
                <a16:creationId xmlns:a16="http://schemas.microsoft.com/office/drawing/2014/main" id="{B50B6AAC-E512-DE0C-BEC9-FDAAB77D3178}"/>
              </a:ext>
            </a:extLst>
          </p:cNvPr>
          <p:cNvSpPr/>
          <p:nvPr/>
        </p:nvSpPr>
        <p:spPr>
          <a:xfrm>
            <a:off x="6264349" y="1448058"/>
            <a:ext cx="5635018" cy="1942847"/>
          </a:xfrm>
          <a:prstGeom prst="roundRect">
            <a:avLst>
              <a:gd name="adj" fmla="val 6000"/>
            </a:avLst>
          </a:prstGeom>
          <a:solidFill>
            <a:srgbClr val="001141"/>
          </a:solidFill>
          <a:ln>
            <a:noFill/>
          </a:ln>
          <a:effectLst/>
        </p:spPr>
        <p:txBody>
          <a:bodyPr rtlCol="0" anchor="ctr"/>
          <a:lstStyle/>
          <a:p>
            <a:pPr algn="ctr" defTabSz="914507"/>
            <a:endParaRPr>
              <a:solidFill>
                <a:srgbClr val="000000"/>
              </a:solidFill>
              <a:latin typeface="IBM Plex Sans Light"/>
            </a:endParaRPr>
          </a:p>
        </p:txBody>
      </p:sp>
      <p:sp>
        <p:nvSpPr>
          <p:cNvPr id="7" name="Card L text">
            <a:extLst>
              <a:ext uri="{FF2B5EF4-FFF2-40B4-BE49-F238E27FC236}">
                <a16:creationId xmlns:a16="http://schemas.microsoft.com/office/drawing/2014/main" id="{096C196F-C832-D6DF-32E4-7D802A34D09B}"/>
              </a:ext>
            </a:extLst>
          </p:cNvPr>
          <p:cNvSpPr txBox="1"/>
          <p:nvPr/>
        </p:nvSpPr>
        <p:spPr>
          <a:xfrm>
            <a:off x="479998" y="1630914"/>
            <a:ext cx="5254068" cy="769441"/>
          </a:xfrm>
          <a:prstGeom prst="rect">
            <a:avLst/>
          </a:prstGeom>
          <a:noFill/>
        </p:spPr>
        <p:txBody>
          <a:bodyPr wrap="square" lIns="0" tIns="0" rIns="0" bIns="0">
            <a:spAutoFit/>
          </a:bodyPr>
          <a:lstStyle/>
          <a:p>
            <a:pPr defTabSz="914507">
              <a:spcAft>
                <a:spcPts val="400"/>
              </a:spcAft>
            </a:pPr>
            <a:r>
              <a:rPr lang="it-IT" sz="1200" b="1">
                <a:solidFill>
                  <a:srgbClr val="0F62FE"/>
                </a:solidFill>
                <a:latin typeface="IBM Plex Sans Light"/>
              </a:rPr>
              <a:t>Days_Mismatch = 1 — caso corretto</a:t>
            </a:r>
          </a:p>
          <a:p>
            <a:pPr defTabSz="914507">
              <a:spcAft>
                <a:spcPts val="200"/>
              </a:spcAft>
            </a:pPr>
            <a:r>
              <a:rPr lang="it-IT" sz="1100">
                <a:solidFill>
                  <a:srgbClr val="000000"/>
                </a:solidFill>
                <a:latin typeface="IBM Plex Sans Light"/>
              </a:rPr>
              <a:t>Marzo 2025: Expected Days 31, Days of Data 30.</a:t>
            </a:r>
          </a:p>
          <a:p>
            <a:pPr defTabSz="914507"/>
            <a:r>
              <a:rPr lang="it-IT" sz="1100">
                <a:solidFill>
                  <a:srgbClr val="000000"/>
                </a:solidFill>
                <a:latin typeface="IBM Plex Sans Light"/>
              </a:rPr>
              <a:t>Manca un solo giorno di copertura (lettura dal 1° al 30): copertura quasi completa, nessuna azione necessaria.</a:t>
            </a:r>
          </a:p>
        </p:txBody>
      </p:sp>
      <p:sp>
        <p:nvSpPr>
          <p:cNvPr id="8" name="Card R text">
            <a:extLst>
              <a:ext uri="{FF2B5EF4-FFF2-40B4-BE49-F238E27FC236}">
                <a16:creationId xmlns:a16="http://schemas.microsoft.com/office/drawing/2014/main" id="{85E26825-691E-085A-68BE-A2B9513208F6}"/>
              </a:ext>
            </a:extLst>
          </p:cNvPr>
          <p:cNvSpPr txBox="1"/>
          <p:nvPr/>
        </p:nvSpPr>
        <p:spPr>
          <a:xfrm>
            <a:off x="6456348" y="1630914"/>
            <a:ext cx="5251020" cy="1328569"/>
          </a:xfrm>
          <a:prstGeom prst="rect">
            <a:avLst/>
          </a:prstGeom>
          <a:noFill/>
        </p:spPr>
        <p:txBody>
          <a:bodyPr wrap="square" lIns="0" tIns="0" rIns="0" bIns="0">
            <a:spAutoFit/>
          </a:bodyPr>
          <a:lstStyle/>
          <a:p>
            <a:pPr defTabSz="914507">
              <a:spcAft>
                <a:spcPts val="400"/>
              </a:spcAft>
            </a:pPr>
            <a:r>
              <a:rPr lang="it-IT" sz="1200" b="1" dirty="0">
                <a:solidFill>
                  <a:srgbClr val="78A9FF"/>
                </a:solidFill>
                <a:latin typeface="IBM Plex Sans Light"/>
              </a:rPr>
              <a:t>DAYS_MISMATCH = -31 — ANOMALIA</a:t>
            </a:r>
          </a:p>
          <a:p>
            <a:pPr defTabSz="914507">
              <a:spcAft>
                <a:spcPts val="300"/>
              </a:spcAft>
            </a:pPr>
            <a:r>
              <a:rPr lang="it-IT" sz="1100" dirty="0">
                <a:solidFill>
                  <a:srgbClr val="FFFFFF"/>
                </a:solidFill>
                <a:latin typeface="IBM Plex Sans Light"/>
              </a:rPr>
              <a:t>Luglio 2024: Expected Days 31, Days of Data 62 — il record copre due mesi Tipici errori da correggere a fronte di questi dati.</a:t>
            </a:r>
          </a:p>
          <a:p>
            <a:pPr defTabSz="914507">
              <a:spcAft>
                <a:spcPts val="100"/>
              </a:spcAft>
            </a:pPr>
            <a:r>
              <a:rPr lang="it-IT" sz="1100" dirty="0">
                <a:solidFill>
                  <a:srgbClr val="FFFFFF"/>
                </a:solidFill>
                <a:latin typeface="IBM Plex Sans Light"/>
              </a:rPr>
              <a:t>— bolletta bimestrale caricata come mensile;</a:t>
            </a:r>
          </a:p>
          <a:p>
            <a:pPr defTabSz="914507">
              <a:spcAft>
                <a:spcPts val="100"/>
              </a:spcAft>
            </a:pPr>
            <a:r>
              <a:rPr lang="it-IT" sz="1100" dirty="0">
                <a:solidFill>
                  <a:srgbClr val="FFFFFF"/>
                </a:solidFill>
                <a:latin typeface="IBM Plex Sans Light"/>
              </a:rPr>
              <a:t>— inserite date di inizio/fine errate;</a:t>
            </a:r>
          </a:p>
          <a:p>
            <a:pPr defTabSz="914507">
              <a:spcAft>
                <a:spcPts val="100"/>
              </a:spcAft>
            </a:pPr>
            <a:r>
              <a:rPr lang="it-IT" sz="1100" dirty="0">
                <a:solidFill>
                  <a:srgbClr val="FFFFFF"/>
                </a:solidFill>
                <a:latin typeface="IBM Plex Sans Light"/>
              </a:rPr>
              <a:t>— periodo di consolidamento non coerente;</a:t>
            </a:r>
          </a:p>
          <a:p>
            <a:pPr defTabSz="914507"/>
            <a:r>
              <a:rPr lang="it-IT" sz="1100" dirty="0">
                <a:solidFill>
                  <a:srgbClr val="FFFFFF"/>
                </a:solidFill>
                <a:latin typeface="IBM Plex Sans Light"/>
              </a:rPr>
              <a:t>— sovrapposizione con un altro record.</a:t>
            </a:r>
          </a:p>
        </p:txBody>
      </p:sp>
      <p:graphicFrame>
        <p:nvGraphicFramePr>
          <p:cNvPr id="9" name="Tabella">
            <a:extLst>
              <a:ext uri="{FF2B5EF4-FFF2-40B4-BE49-F238E27FC236}">
                <a16:creationId xmlns:a16="http://schemas.microsoft.com/office/drawing/2014/main" id="{E66CADC1-AB9B-1D44-5D89-FEA273FE0446}"/>
              </a:ext>
            </a:extLst>
          </p:cNvPr>
          <p:cNvGraphicFramePr>
            <a:graphicFrameLocks noGrp="1"/>
          </p:cNvGraphicFramePr>
          <p:nvPr/>
        </p:nvGraphicFramePr>
        <p:xfrm>
          <a:off x="287999" y="3543285"/>
          <a:ext cx="11611368" cy="1028565"/>
        </p:xfrm>
        <a:graphic>
          <a:graphicData uri="http://schemas.openxmlformats.org/drawingml/2006/table">
            <a:tbl>
              <a:tblPr firstRow="1"/>
              <a:tblGrid>
                <a:gridCol w="3809504">
                  <a:extLst>
                    <a:ext uri="{9D8B030D-6E8A-4147-A177-3AD203B41FA5}">
                      <a16:colId xmlns:a16="http://schemas.microsoft.com/office/drawing/2014/main" val="20000"/>
                    </a:ext>
                  </a:extLst>
                </a:gridCol>
                <a:gridCol w="7801864">
                  <a:extLst>
                    <a:ext uri="{9D8B030D-6E8A-4147-A177-3AD203B41FA5}">
                      <a16:colId xmlns:a16="http://schemas.microsoft.com/office/drawing/2014/main" val="20001"/>
                    </a:ext>
                  </a:extLst>
                </a:gridCol>
              </a:tblGrid>
              <a:tr h="342855">
                <a:tc>
                  <a:txBody>
                    <a:bodyPr/>
                    <a:lstStyle/>
                    <a:p>
                      <a:pPr algn="l"/>
                      <a:r>
                        <a:rPr lang="it-IT" sz="1100" b="1">
                          <a:solidFill>
                            <a:srgbClr val="FFFFFF"/>
                          </a:solidFill>
                          <a:latin typeface="IBM Plex Sans Light"/>
                        </a:rPr>
                        <a:t>Valore</a:t>
                      </a:r>
                    </a:p>
                  </a:txBody>
                  <a:tcPr marL="91428" marR="91428" marT="45714" marB="45714" anchor="ctr">
                    <a:lnB w="12700">
                      <a:solidFill>
                        <a:srgbClr val="D7E0F0"/>
                      </a:solidFill>
                    </a:lnB>
                    <a:solidFill>
                      <a:srgbClr val="001141"/>
                    </a:solidFill>
                  </a:tcPr>
                </a:tc>
                <a:tc>
                  <a:txBody>
                    <a:bodyPr/>
                    <a:lstStyle/>
                    <a:p>
                      <a:pPr algn="l"/>
                      <a:r>
                        <a:rPr lang="it-IT" sz="1100" b="1">
                          <a:solidFill>
                            <a:srgbClr val="FFFFFF"/>
                          </a:solidFill>
                          <a:latin typeface="IBM Plex Sans Light"/>
                        </a:rPr>
                        <a:t>Come leggerlo</a:t>
                      </a:r>
                    </a:p>
                  </a:txBody>
                  <a:tcPr marL="91428" marR="91428" marT="45714" marB="45714" anchor="ctr">
                    <a:lnB w="12700">
                      <a:solidFill>
                        <a:srgbClr val="D7E0F0"/>
                      </a:solidFill>
                    </a:lnB>
                    <a:solidFill>
                      <a:srgbClr val="001141"/>
                    </a:solidFill>
                  </a:tcPr>
                </a:tc>
                <a:extLst>
                  <a:ext uri="{0D108BD9-81ED-4DB2-BD59-A6C34878D82A}">
                    <a16:rowId xmlns:a16="http://schemas.microsoft.com/office/drawing/2014/main" val="10000"/>
                  </a:ext>
                </a:extLst>
              </a:tr>
              <a:tr h="342855">
                <a:tc>
                  <a:txBody>
                    <a:bodyPr/>
                    <a:lstStyle/>
                    <a:p>
                      <a:pPr algn="l"/>
                      <a:r>
                        <a:rPr lang="it-IT" sz="1100" b="0">
                          <a:solidFill>
                            <a:srgbClr val="000000"/>
                          </a:solidFill>
                          <a:latin typeface="IBM Plex Sans Light"/>
                        </a:rPr>
                        <a:t>Days_Mismatch = 1</a:t>
                      </a:r>
                    </a:p>
                  </a:txBody>
                  <a:tcPr marL="91428" marR="91428" marT="45714" marB="45714" anchor="ctr">
                    <a:lnT w="12700" cap="flat" cmpd="sng" algn="ctr">
                      <a:solidFill>
                        <a:srgbClr val="D7E0F0"/>
                      </a:solidFill>
                      <a:prstDash val="solid"/>
                      <a:round/>
                      <a:headEnd type="none" w="med" len="med"/>
                      <a:tailEnd type="none" w="med" len="med"/>
                    </a:lnT>
                    <a:lnB w="12700">
                      <a:solidFill>
                        <a:srgbClr val="D7E0F0"/>
                      </a:solidFill>
                    </a:lnB>
                    <a:solidFill>
                      <a:srgbClr val="FFFFFF"/>
                    </a:solidFill>
                  </a:tcPr>
                </a:tc>
                <a:tc>
                  <a:txBody>
                    <a:bodyPr/>
                    <a:lstStyle/>
                    <a:p>
                      <a:pPr algn="l"/>
                      <a:r>
                        <a:rPr lang="it-IT" sz="1100" b="0">
                          <a:solidFill>
                            <a:srgbClr val="000000"/>
                          </a:solidFill>
                          <a:latin typeface="IBM Plex Sans Light"/>
                        </a:rPr>
                        <a:t>Copertura quasi completa: manca un giorno, nessun intervento.</a:t>
                      </a:r>
                    </a:p>
                  </a:txBody>
                  <a:tcPr marL="91428" marR="91428" marT="45714" marB="45714" anchor="ctr">
                    <a:lnT w="12700" cap="flat" cmpd="sng" algn="ctr">
                      <a:solidFill>
                        <a:srgbClr val="D7E0F0"/>
                      </a:solidFill>
                      <a:prstDash val="solid"/>
                      <a:round/>
                      <a:headEnd type="none" w="med" len="med"/>
                      <a:tailEnd type="none" w="med" len="med"/>
                    </a:lnT>
                    <a:lnB w="12700">
                      <a:solidFill>
                        <a:srgbClr val="D7E0F0"/>
                      </a:solidFill>
                    </a:lnB>
                    <a:solidFill>
                      <a:srgbClr val="E8EFFE"/>
                    </a:solidFill>
                  </a:tcPr>
                </a:tc>
                <a:extLst>
                  <a:ext uri="{0D108BD9-81ED-4DB2-BD59-A6C34878D82A}">
                    <a16:rowId xmlns:a16="http://schemas.microsoft.com/office/drawing/2014/main" val="10001"/>
                  </a:ext>
                </a:extLst>
              </a:tr>
              <a:tr h="342855">
                <a:tc>
                  <a:txBody>
                    <a:bodyPr/>
                    <a:lstStyle/>
                    <a:p>
                      <a:pPr algn="l"/>
                      <a:r>
                        <a:rPr lang="it-IT" sz="1100" b="0">
                          <a:solidFill>
                            <a:srgbClr val="000000"/>
                          </a:solidFill>
                          <a:latin typeface="IBM Plex Sans Light"/>
                        </a:rPr>
                        <a:t>Days_Mismatch = -30 / -31</a:t>
                      </a:r>
                    </a:p>
                  </a:txBody>
                  <a:tcPr marL="91428" marR="91428" marT="45714" marB="45714" anchor="ctr">
                    <a:lnT w="12700" cap="flat" cmpd="sng" algn="ctr">
                      <a:solidFill>
                        <a:srgbClr val="D7E0F0"/>
                      </a:solidFill>
                      <a:prstDash val="solid"/>
                      <a:round/>
                      <a:headEnd type="none" w="med" len="med"/>
                      <a:tailEnd type="none" w="med" len="med"/>
                    </a:lnT>
                    <a:lnB w="12700">
                      <a:solidFill>
                        <a:srgbClr val="D7E0F0"/>
                      </a:solidFill>
                    </a:lnB>
                    <a:solidFill>
                      <a:srgbClr val="FFFFFF"/>
                    </a:solidFill>
                  </a:tcPr>
                </a:tc>
                <a:tc>
                  <a:txBody>
                    <a:bodyPr/>
                    <a:lstStyle/>
                    <a:p>
                      <a:pPr algn="l"/>
                      <a:r>
                        <a:rPr lang="it-IT" sz="1100" b="0">
                          <a:solidFill>
                            <a:srgbClr val="000000"/>
                          </a:solidFill>
                          <a:latin typeface="IBM Plex Sans Light"/>
                        </a:rPr>
                        <a:t>Il record copre circa due mesi: verificare il periodo del record.</a:t>
                      </a:r>
                    </a:p>
                  </a:txBody>
                  <a:tcPr marL="91428" marR="91428" marT="45714" marB="45714" anchor="ctr">
                    <a:lnT w="12700" cap="flat" cmpd="sng" algn="ctr">
                      <a:solidFill>
                        <a:srgbClr val="D7E0F0"/>
                      </a:solidFill>
                      <a:prstDash val="solid"/>
                      <a:round/>
                      <a:headEnd type="none" w="med" len="med"/>
                      <a:tailEnd type="none" w="med" len="med"/>
                    </a:lnT>
                    <a:lnB w="12700">
                      <a:solidFill>
                        <a:srgbClr val="D7E0F0"/>
                      </a:solidFill>
                    </a:lnB>
                    <a:solidFill>
                      <a:srgbClr val="E8EFFE"/>
                    </a:solidFill>
                  </a:tcPr>
                </a:tc>
                <a:extLst>
                  <a:ext uri="{0D108BD9-81ED-4DB2-BD59-A6C34878D82A}">
                    <a16:rowId xmlns:a16="http://schemas.microsoft.com/office/drawing/2014/main" val="10002"/>
                  </a:ext>
                </a:extLst>
              </a:tr>
            </a:tbl>
          </a:graphicData>
        </a:graphic>
      </p:graphicFrame>
      <p:sp>
        <p:nvSpPr>
          <p:cNvPr id="10" name="Bar">
            <a:extLst>
              <a:ext uri="{FF2B5EF4-FFF2-40B4-BE49-F238E27FC236}">
                <a16:creationId xmlns:a16="http://schemas.microsoft.com/office/drawing/2014/main" id="{5DF7A5B6-8AC3-902F-02BA-E1A388CC6BDE}"/>
              </a:ext>
            </a:extLst>
          </p:cNvPr>
          <p:cNvSpPr/>
          <p:nvPr/>
        </p:nvSpPr>
        <p:spPr>
          <a:xfrm>
            <a:off x="287999" y="4952802"/>
            <a:ext cx="11611368" cy="799996"/>
          </a:xfrm>
          <a:prstGeom prst="roundRect">
            <a:avLst>
              <a:gd name="adj" fmla="val 12000"/>
            </a:avLst>
          </a:prstGeom>
          <a:solidFill>
            <a:srgbClr val="E8EFFE"/>
          </a:solidFill>
          <a:ln>
            <a:noFill/>
          </a:ln>
          <a:effectLst/>
        </p:spPr>
        <p:txBody>
          <a:bodyPr rtlCol="0" anchor="ctr"/>
          <a:lstStyle/>
          <a:p>
            <a:pPr algn="ctr" defTabSz="914507"/>
            <a:endParaRPr>
              <a:solidFill>
                <a:srgbClr val="000000"/>
              </a:solidFill>
              <a:latin typeface="IBM Plex Sans Light"/>
            </a:endParaRPr>
          </a:p>
        </p:txBody>
      </p:sp>
      <p:sp>
        <p:nvSpPr>
          <p:cNvPr id="11" name="Bar text">
            <a:extLst>
              <a:ext uri="{FF2B5EF4-FFF2-40B4-BE49-F238E27FC236}">
                <a16:creationId xmlns:a16="http://schemas.microsoft.com/office/drawing/2014/main" id="{A5E4D719-2FA2-0F4D-506B-B683184ED9FC}"/>
              </a:ext>
            </a:extLst>
          </p:cNvPr>
          <p:cNvSpPr txBox="1"/>
          <p:nvPr/>
        </p:nvSpPr>
        <p:spPr>
          <a:xfrm>
            <a:off x="562283" y="5120420"/>
            <a:ext cx="11062800" cy="338554"/>
          </a:xfrm>
          <a:prstGeom prst="rect">
            <a:avLst/>
          </a:prstGeom>
          <a:noFill/>
        </p:spPr>
        <p:txBody>
          <a:bodyPr wrap="square" lIns="0" tIns="0" rIns="0" bIns="0">
            <a:spAutoFit/>
          </a:bodyPr>
          <a:lstStyle/>
          <a:p>
            <a:pPr algn="ctr" defTabSz="914507"/>
            <a:r>
              <a:rPr lang="it-IT" sz="1100" b="1">
                <a:solidFill>
                  <a:srgbClr val="0F62FE"/>
                </a:solidFill>
                <a:latin typeface="IBM Plex Sans Light"/>
              </a:rPr>
              <a:t>In sintesi:  </a:t>
            </a:r>
            <a:r>
              <a:rPr lang="it-IT" sz="1100">
                <a:solidFill>
                  <a:srgbClr val="000000"/>
                </a:solidFill>
                <a:latin typeface="IBM Plex Sans Light"/>
              </a:rPr>
              <a:t>Days Mismatch confronta la durata del periodo coperto dal record con quella attesa e intercetta bollette bimestrali, date errate o sovrapposizioni prima che influenzino KPI, report e decisioni dell'Energy Manager.</a:t>
            </a:r>
          </a:p>
        </p:txBody>
      </p:sp>
    </p:spTree>
    <p:extLst>
      <p:ext uri="{BB962C8B-B14F-4D97-AF65-F5344CB8AC3E}">
        <p14:creationId xmlns:p14="http://schemas.microsoft.com/office/powerpoint/2010/main" val="22353079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81208-AD9E-6013-B500-E14A49D8C1EB}"/>
            </a:ext>
          </a:extLst>
        </p:cNvPr>
        <p:cNvGrpSpPr/>
        <p:nvPr/>
      </p:nvGrpSpPr>
      <p:grpSpPr>
        <a:xfrm>
          <a:off x="0" y="0"/>
          <a:ext cx="0" cy="0"/>
          <a:chOff x="0" y="0"/>
          <a:chExt cx="0" cy="0"/>
        </a:xfrm>
      </p:grpSpPr>
      <p:pic>
        <p:nvPicPr>
          <p:cNvPr id="25" name="Immagine 24">
            <a:extLst>
              <a:ext uri="{FF2B5EF4-FFF2-40B4-BE49-F238E27FC236}">
                <a16:creationId xmlns:a16="http://schemas.microsoft.com/office/drawing/2014/main" id="{CA4C41D2-82ED-8C62-3533-768845B56415}"/>
              </a:ext>
            </a:extLst>
          </p:cNvPr>
          <p:cNvPicPr>
            <a:picLocks noChangeAspect="1"/>
          </p:cNvPicPr>
          <p:nvPr/>
        </p:nvPicPr>
        <p:blipFill>
          <a:blip r:embed="rId2"/>
          <a:srcRect/>
          <a:stretch>
            <a:fillRect/>
          </a:stretch>
        </p:blipFill>
        <p:spPr>
          <a:xfrm>
            <a:off x="813815" y="2048256"/>
            <a:ext cx="1170432" cy="512064"/>
          </a:xfrm>
          <a:prstGeom prst="rect">
            <a:avLst/>
          </a:prstGeom>
        </p:spPr>
      </p:pic>
      <p:pic>
        <p:nvPicPr>
          <p:cNvPr id="26" name="Immagine 25">
            <a:extLst>
              <a:ext uri="{FF2B5EF4-FFF2-40B4-BE49-F238E27FC236}">
                <a16:creationId xmlns:a16="http://schemas.microsoft.com/office/drawing/2014/main" id="{03F39846-BFA6-529B-19A4-A272517FCCE1}"/>
              </a:ext>
            </a:extLst>
          </p:cNvPr>
          <p:cNvPicPr>
            <a:picLocks noChangeAspect="1"/>
          </p:cNvPicPr>
          <p:nvPr/>
        </p:nvPicPr>
        <p:blipFill>
          <a:blip r:embed="rId3"/>
          <a:srcRect/>
          <a:stretch>
            <a:fillRect/>
          </a:stretch>
        </p:blipFill>
        <p:spPr>
          <a:xfrm>
            <a:off x="4581144" y="2072455"/>
            <a:ext cx="1261872" cy="463664"/>
          </a:xfrm>
          <a:prstGeom prst="rect">
            <a:avLst/>
          </a:prstGeom>
        </p:spPr>
      </p:pic>
      <p:pic>
        <p:nvPicPr>
          <p:cNvPr id="27" name="Immagine 26">
            <a:extLst>
              <a:ext uri="{FF2B5EF4-FFF2-40B4-BE49-F238E27FC236}">
                <a16:creationId xmlns:a16="http://schemas.microsoft.com/office/drawing/2014/main" id="{83510091-D2A2-1618-1987-80B18BEB9192}"/>
              </a:ext>
            </a:extLst>
          </p:cNvPr>
          <p:cNvPicPr>
            <a:picLocks noChangeAspect="1"/>
          </p:cNvPicPr>
          <p:nvPr/>
        </p:nvPicPr>
        <p:blipFill>
          <a:blip r:embed="rId4"/>
          <a:srcRect/>
          <a:stretch>
            <a:fillRect/>
          </a:stretch>
        </p:blipFill>
        <p:spPr>
          <a:xfrm>
            <a:off x="8394192" y="2067302"/>
            <a:ext cx="1261872" cy="473971"/>
          </a:xfrm>
          <a:prstGeom prst="rect">
            <a:avLst/>
          </a:prstGeom>
        </p:spPr>
      </p:pic>
      <p:pic>
        <p:nvPicPr>
          <p:cNvPr id="30" name="Immagine 29">
            <a:extLst>
              <a:ext uri="{FF2B5EF4-FFF2-40B4-BE49-F238E27FC236}">
                <a16:creationId xmlns:a16="http://schemas.microsoft.com/office/drawing/2014/main" id="{1231F81A-84C3-9BB3-9AF8-DE9F88ACDF3D}"/>
              </a:ext>
            </a:extLst>
          </p:cNvPr>
          <p:cNvPicPr>
            <a:picLocks noChangeAspect="1"/>
          </p:cNvPicPr>
          <p:nvPr/>
        </p:nvPicPr>
        <p:blipFill>
          <a:blip r:embed="rId5"/>
          <a:srcRect/>
          <a:stretch>
            <a:fillRect/>
          </a:stretch>
        </p:blipFill>
        <p:spPr>
          <a:xfrm>
            <a:off x="768096" y="3987927"/>
            <a:ext cx="1261872" cy="473201"/>
          </a:xfrm>
          <a:prstGeom prst="rect">
            <a:avLst/>
          </a:prstGeom>
        </p:spPr>
      </p:pic>
      <p:pic>
        <p:nvPicPr>
          <p:cNvPr id="32" name="Immagine 31">
            <a:extLst>
              <a:ext uri="{FF2B5EF4-FFF2-40B4-BE49-F238E27FC236}">
                <a16:creationId xmlns:a16="http://schemas.microsoft.com/office/drawing/2014/main" id="{707A32F9-8DF9-769D-098E-E4CC6C6DD981}"/>
              </a:ext>
            </a:extLst>
          </p:cNvPr>
          <p:cNvPicPr>
            <a:picLocks noChangeAspect="1"/>
          </p:cNvPicPr>
          <p:nvPr/>
        </p:nvPicPr>
        <p:blipFill>
          <a:blip r:embed="rId6"/>
          <a:srcRect/>
          <a:stretch>
            <a:fillRect/>
          </a:stretch>
        </p:blipFill>
        <p:spPr>
          <a:xfrm>
            <a:off x="4589862" y="3968496"/>
            <a:ext cx="1244434" cy="512064"/>
          </a:xfrm>
          <a:prstGeom prst="rect">
            <a:avLst/>
          </a:prstGeom>
        </p:spPr>
      </p:pic>
      <p:pic>
        <p:nvPicPr>
          <p:cNvPr id="33" name="Immagine 32">
            <a:extLst>
              <a:ext uri="{FF2B5EF4-FFF2-40B4-BE49-F238E27FC236}">
                <a16:creationId xmlns:a16="http://schemas.microsoft.com/office/drawing/2014/main" id="{B819215D-A627-CA67-8E5B-8A85ED0A6996}"/>
              </a:ext>
            </a:extLst>
          </p:cNvPr>
          <p:cNvPicPr>
            <a:picLocks noChangeAspect="1"/>
          </p:cNvPicPr>
          <p:nvPr/>
        </p:nvPicPr>
        <p:blipFill>
          <a:blip r:embed="rId7"/>
          <a:srcRect/>
          <a:stretch>
            <a:fillRect/>
          </a:stretch>
        </p:blipFill>
        <p:spPr>
          <a:xfrm>
            <a:off x="8394192" y="4000195"/>
            <a:ext cx="1261872" cy="448665"/>
          </a:xfrm>
          <a:prstGeom prst="rect">
            <a:avLst/>
          </a:prstGeom>
        </p:spPr>
      </p:pic>
      <p:sp>
        <p:nvSpPr>
          <p:cNvPr id="35" name="TextBox 34"/>
          <p:cNvSpPr txBox="1"/>
          <p:nvPr/>
        </p:nvSpPr>
        <p:spPr>
          <a:xfrm>
            <a:off x="768096" y="1024128"/>
            <a:ext cx="10652760" cy="365760"/>
          </a:xfrm>
          <a:prstGeom prst="rect">
            <a:avLst/>
          </a:prstGeom>
          <a:noFill/>
        </p:spPr>
        <p:txBody>
          <a:bodyPr wrap="square" lIns="0" tIns="0" rIns="0" bIns="0">
            <a:spAutoFit/>
          </a:bodyPr>
          <a:lstStyle/>
          <a:p>
            <a:pPr>
              <a:lnSpc>
                <a:spcPct val="102000"/>
              </a:lnSpc>
              <a:spcAft>
                <a:spcPts val="700"/>
              </a:spcAft>
            </a:pPr>
            <a:r>
              <a:rPr sz="1700" b="1">
                <a:solidFill>
                  <a:srgbClr val="000000"/>
                </a:solidFill>
                <a:latin typeface="Calibri"/>
              </a:rPr>
              <a:t>Ruoli, attività e workflow di approvazione in IBM Envizi</a:t>
            </a:r>
          </a:p>
        </p:txBody>
      </p:sp>
      <p:sp>
        <p:nvSpPr>
          <p:cNvPr id="36" name="TextBox 35"/>
          <p:cNvSpPr txBox="1"/>
          <p:nvPr/>
        </p:nvSpPr>
        <p:spPr>
          <a:xfrm>
            <a:off x="768096" y="1627632"/>
            <a:ext cx="3520440" cy="329184"/>
          </a:xfrm>
          <a:prstGeom prst="rect">
            <a:avLst/>
          </a:prstGeom>
          <a:noFill/>
        </p:spPr>
        <p:txBody>
          <a:bodyPr wrap="square" lIns="0" tIns="0" rIns="0" bIns="0">
            <a:spAutoFit/>
          </a:bodyPr>
          <a:lstStyle/>
          <a:p>
            <a:pPr>
              <a:lnSpc>
                <a:spcPct val="102000"/>
              </a:lnSpc>
              <a:spcAft>
                <a:spcPts val="700"/>
              </a:spcAft>
            </a:pPr>
            <a:r>
              <a:rPr sz="1900" b="1">
                <a:solidFill>
                  <a:srgbClr val="000000"/>
                </a:solidFill>
                <a:latin typeface="Calibri"/>
              </a:rPr>
              <a:t>1. Data Capture</a:t>
            </a:r>
          </a:p>
        </p:txBody>
      </p:sp>
      <p:sp>
        <p:nvSpPr>
          <p:cNvPr id="37" name="TextBox 36"/>
          <p:cNvSpPr txBox="1"/>
          <p:nvPr/>
        </p:nvSpPr>
        <p:spPr>
          <a:xfrm>
            <a:off x="2176272" y="2029968"/>
            <a:ext cx="2075688" cy="594360"/>
          </a:xfrm>
          <a:prstGeom prst="rect">
            <a:avLst/>
          </a:prstGeom>
          <a:noFill/>
        </p:spPr>
        <p:txBody>
          <a:bodyPr wrap="square" lIns="0" tIns="0" rIns="0" bIns="0">
            <a:spAutoFit/>
          </a:bodyPr>
          <a:lstStyle/>
          <a:p>
            <a:pPr>
              <a:lnSpc>
                <a:spcPct val="102000"/>
              </a:lnSpc>
              <a:spcAft>
                <a:spcPts val="700"/>
              </a:spcAft>
            </a:pPr>
            <a:r>
              <a:rPr sz="1400" b="1">
                <a:solidFill>
                  <a:srgbClr val="000000"/>
                </a:solidFill>
                <a:latin typeface="Calibri"/>
              </a:rPr>
              <a:t>General User A / Data Owner</a:t>
            </a:r>
          </a:p>
        </p:txBody>
      </p:sp>
      <p:sp>
        <p:nvSpPr>
          <p:cNvPr id="38" name="TextBox 37"/>
          <p:cNvSpPr txBox="1"/>
          <p:nvPr/>
        </p:nvSpPr>
        <p:spPr>
          <a:xfrm>
            <a:off x="768096" y="2633472"/>
            <a:ext cx="3447288" cy="758952"/>
          </a:xfrm>
          <a:prstGeom prst="rect">
            <a:avLst/>
          </a:prstGeom>
          <a:noFill/>
        </p:spPr>
        <p:txBody>
          <a:bodyPr wrap="square" lIns="0" tIns="0" rIns="0" bIns="0">
            <a:spAutoFit/>
          </a:bodyPr>
          <a:lstStyle/>
          <a:p>
            <a:pPr>
              <a:lnSpc>
                <a:spcPct val="102000"/>
              </a:lnSpc>
              <a:spcAft>
                <a:spcPts val="700"/>
              </a:spcAft>
            </a:pPr>
            <a:r>
              <a:rPr sz="1600" b="0">
                <a:solidFill>
                  <a:srgbClr val="000000"/>
                </a:solidFill>
                <a:latin typeface="Calibri"/>
              </a:rPr>
              <a:t>Inserimento manuale o importazione da file.</a:t>
            </a:r>
          </a:p>
        </p:txBody>
      </p:sp>
      <p:sp>
        <p:nvSpPr>
          <p:cNvPr id="39" name="TextBox 38"/>
          <p:cNvSpPr txBox="1"/>
          <p:nvPr/>
        </p:nvSpPr>
        <p:spPr>
          <a:xfrm>
            <a:off x="4581144" y="1627632"/>
            <a:ext cx="3520440" cy="329184"/>
          </a:xfrm>
          <a:prstGeom prst="rect">
            <a:avLst/>
          </a:prstGeom>
          <a:noFill/>
        </p:spPr>
        <p:txBody>
          <a:bodyPr wrap="square" lIns="0" tIns="0" rIns="0" bIns="0">
            <a:spAutoFit/>
          </a:bodyPr>
          <a:lstStyle/>
          <a:p>
            <a:pPr>
              <a:lnSpc>
                <a:spcPct val="102000"/>
              </a:lnSpc>
              <a:spcAft>
                <a:spcPts val="700"/>
              </a:spcAft>
            </a:pPr>
            <a:r>
              <a:rPr sz="1900" b="1">
                <a:solidFill>
                  <a:srgbClr val="000000"/>
                </a:solidFill>
                <a:latin typeface="Calibri"/>
              </a:rPr>
              <a:t>2. Request</a:t>
            </a:r>
          </a:p>
        </p:txBody>
      </p:sp>
      <p:sp>
        <p:nvSpPr>
          <p:cNvPr id="40" name="TextBox 39"/>
          <p:cNvSpPr txBox="1"/>
          <p:nvPr/>
        </p:nvSpPr>
        <p:spPr>
          <a:xfrm>
            <a:off x="5989320" y="2029968"/>
            <a:ext cx="2075688" cy="594360"/>
          </a:xfrm>
          <a:prstGeom prst="rect">
            <a:avLst/>
          </a:prstGeom>
          <a:noFill/>
        </p:spPr>
        <p:txBody>
          <a:bodyPr wrap="square" lIns="0" tIns="0" rIns="0" bIns="0">
            <a:spAutoFit/>
          </a:bodyPr>
          <a:lstStyle/>
          <a:p>
            <a:pPr>
              <a:lnSpc>
                <a:spcPct val="102000"/>
              </a:lnSpc>
              <a:spcAft>
                <a:spcPts val="700"/>
              </a:spcAft>
            </a:pPr>
            <a:r>
              <a:rPr sz="1400" b="1">
                <a:solidFill>
                  <a:srgbClr val="000000"/>
                </a:solidFill>
                <a:latin typeface="Calibri"/>
              </a:rPr>
              <a:t>General User B / ESG Manager</a:t>
            </a:r>
          </a:p>
        </p:txBody>
      </p:sp>
      <p:sp>
        <p:nvSpPr>
          <p:cNvPr id="41" name="TextBox 40"/>
          <p:cNvSpPr txBox="1"/>
          <p:nvPr/>
        </p:nvSpPr>
        <p:spPr>
          <a:xfrm>
            <a:off x="4581144" y="2633472"/>
            <a:ext cx="3447288" cy="758952"/>
          </a:xfrm>
          <a:prstGeom prst="rect">
            <a:avLst/>
          </a:prstGeom>
          <a:noFill/>
        </p:spPr>
        <p:txBody>
          <a:bodyPr wrap="square" lIns="0" tIns="0" rIns="0" bIns="0">
            <a:spAutoFit/>
          </a:bodyPr>
          <a:lstStyle/>
          <a:p>
            <a:pPr>
              <a:lnSpc>
                <a:spcPct val="102000"/>
              </a:lnSpc>
              <a:spcAft>
                <a:spcPts val="700"/>
              </a:spcAft>
            </a:pPr>
            <a:r>
              <a:rPr sz="1600" b="0">
                <a:solidFill>
                  <a:srgbClr val="000000"/>
                </a:solidFill>
                <a:latin typeface="Calibri"/>
              </a:rPr>
              <a:t>Richiesta di inserimento una tantum o schedulata.</a:t>
            </a:r>
          </a:p>
        </p:txBody>
      </p:sp>
      <p:sp>
        <p:nvSpPr>
          <p:cNvPr id="42" name="TextBox 41"/>
          <p:cNvSpPr txBox="1"/>
          <p:nvPr/>
        </p:nvSpPr>
        <p:spPr>
          <a:xfrm>
            <a:off x="8394192" y="1627632"/>
            <a:ext cx="3520440" cy="329184"/>
          </a:xfrm>
          <a:prstGeom prst="rect">
            <a:avLst/>
          </a:prstGeom>
          <a:noFill/>
        </p:spPr>
        <p:txBody>
          <a:bodyPr wrap="square" lIns="0" tIns="0" rIns="0" bIns="0">
            <a:spAutoFit/>
          </a:bodyPr>
          <a:lstStyle/>
          <a:p>
            <a:pPr>
              <a:lnSpc>
                <a:spcPct val="102000"/>
              </a:lnSpc>
              <a:spcAft>
                <a:spcPts val="700"/>
              </a:spcAft>
            </a:pPr>
            <a:r>
              <a:rPr sz="1900" b="1">
                <a:solidFill>
                  <a:srgbClr val="000000"/>
                </a:solidFill>
                <a:latin typeface="Calibri"/>
              </a:rPr>
              <a:t>3. Issue</a:t>
            </a:r>
          </a:p>
        </p:txBody>
      </p:sp>
      <p:sp>
        <p:nvSpPr>
          <p:cNvPr id="43" name="TextBox 42"/>
          <p:cNvSpPr txBox="1"/>
          <p:nvPr/>
        </p:nvSpPr>
        <p:spPr>
          <a:xfrm>
            <a:off x="9802367" y="2029968"/>
            <a:ext cx="2075688" cy="594360"/>
          </a:xfrm>
          <a:prstGeom prst="rect">
            <a:avLst/>
          </a:prstGeom>
          <a:noFill/>
        </p:spPr>
        <p:txBody>
          <a:bodyPr wrap="square" lIns="0" tIns="0" rIns="0" bIns="0">
            <a:spAutoFit/>
          </a:bodyPr>
          <a:lstStyle/>
          <a:p>
            <a:pPr>
              <a:lnSpc>
                <a:spcPct val="102000"/>
              </a:lnSpc>
              <a:spcAft>
                <a:spcPts val="700"/>
              </a:spcAft>
            </a:pPr>
            <a:r>
              <a:rPr sz="1400" b="1">
                <a:solidFill>
                  <a:srgbClr val="000000"/>
                </a:solidFill>
                <a:latin typeface="Calibri"/>
              </a:rPr>
              <a:t>General User B / ESG Manager</a:t>
            </a:r>
          </a:p>
        </p:txBody>
      </p:sp>
      <p:sp>
        <p:nvSpPr>
          <p:cNvPr id="44" name="TextBox 43"/>
          <p:cNvSpPr txBox="1"/>
          <p:nvPr/>
        </p:nvSpPr>
        <p:spPr>
          <a:xfrm>
            <a:off x="8394192" y="2633472"/>
            <a:ext cx="3447288" cy="758952"/>
          </a:xfrm>
          <a:prstGeom prst="rect">
            <a:avLst/>
          </a:prstGeom>
          <a:noFill/>
        </p:spPr>
        <p:txBody>
          <a:bodyPr wrap="square" lIns="0" tIns="0" rIns="0" bIns="0">
            <a:spAutoFit/>
          </a:bodyPr>
          <a:lstStyle/>
          <a:p>
            <a:pPr>
              <a:lnSpc>
                <a:spcPct val="102000"/>
              </a:lnSpc>
              <a:spcAft>
                <a:spcPts val="700"/>
              </a:spcAft>
            </a:pPr>
            <a:r>
              <a:rPr sz="1600" b="0">
                <a:solidFill>
                  <a:srgbClr val="000000"/>
                </a:solidFill>
                <a:latin typeface="Calibri"/>
              </a:rPr>
              <a:t>Segnalazione di dati mancanti e anomalie (Data anomaly).</a:t>
            </a:r>
          </a:p>
        </p:txBody>
      </p:sp>
      <p:sp>
        <p:nvSpPr>
          <p:cNvPr id="45" name="TextBox 44"/>
          <p:cNvSpPr txBox="1"/>
          <p:nvPr/>
        </p:nvSpPr>
        <p:spPr>
          <a:xfrm>
            <a:off x="768096" y="3547872"/>
            <a:ext cx="3520440" cy="329184"/>
          </a:xfrm>
          <a:prstGeom prst="rect">
            <a:avLst/>
          </a:prstGeom>
          <a:noFill/>
        </p:spPr>
        <p:txBody>
          <a:bodyPr wrap="square" lIns="0" tIns="0" rIns="0" bIns="0">
            <a:spAutoFit/>
          </a:bodyPr>
          <a:lstStyle/>
          <a:p>
            <a:pPr>
              <a:lnSpc>
                <a:spcPct val="102000"/>
              </a:lnSpc>
              <a:spcAft>
                <a:spcPts val="700"/>
              </a:spcAft>
            </a:pPr>
            <a:r>
              <a:rPr sz="1900" b="1">
                <a:solidFill>
                  <a:srgbClr val="000000"/>
                </a:solidFill>
                <a:latin typeface="Calibri"/>
              </a:rPr>
              <a:t>4. Update</a:t>
            </a:r>
          </a:p>
        </p:txBody>
      </p:sp>
      <p:sp>
        <p:nvSpPr>
          <p:cNvPr id="46" name="TextBox 45"/>
          <p:cNvSpPr txBox="1"/>
          <p:nvPr/>
        </p:nvSpPr>
        <p:spPr>
          <a:xfrm>
            <a:off x="2176272" y="3950208"/>
            <a:ext cx="2075688" cy="594360"/>
          </a:xfrm>
          <a:prstGeom prst="rect">
            <a:avLst/>
          </a:prstGeom>
          <a:noFill/>
        </p:spPr>
        <p:txBody>
          <a:bodyPr wrap="square" lIns="0" tIns="0" rIns="0" bIns="0">
            <a:spAutoFit/>
          </a:bodyPr>
          <a:lstStyle/>
          <a:p>
            <a:pPr>
              <a:lnSpc>
                <a:spcPct val="102000"/>
              </a:lnSpc>
              <a:spcAft>
                <a:spcPts val="700"/>
              </a:spcAft>
            </a:pPr>
            <a:r>
              <a:rPr sz="1400" b="1">
                <a:solidFill>
                  <a:srgbClr val="000000"/>
                </a:solidFill>
                <a:latin typeface="Calibri"/>
              </a:rPr>
              <a:t>General User A / Data Owner</a:t>
            </a:r>
          </a:p>
        </p:txBody>
      </p:sp>
      <p:sp>
        <p:nvSpPr>
          <p:cNvPr id="47" name="TextBox 46"/>
          <p:cNvSpPr txBox="1"/>
          <p:nvPr/>
        </p:nvSpPr>
        <p:spPr>
          <a:xfrm>
            <a:off x="768096" y="4553712"/>
            <a:ext cx="3447288" cy="758952"/>
          </a:xfrm>
          <a:prstGeom prst="rect">
            <a:avLst/>
          </a:prstGeom>
          <a:noFill/>
        </p:spPr>
        <p:txBody>
          <a:bodyPr wrap="square" lIns="0" tIns="0" rIns="0" bIns="0">
            <a:spAutoFit/>
          </a:bodyPr>
          <a:lstStyle/>
          <a:p>
            <a:pPr>
              <a:lnSpc>
                <a:spcPct val="102000"/>
              </a:lnSpc>
              <a:spcAft>
                <a:spcPts val="700"/>
              </a:spcAft>
            </a:pPr>
            <a:r>
              <a:rPr sz="1600" b="0">
                <a:solidFill>
                  <a:srgbClr val="000000"/>
                </a:solidFill>
                <a:latin typeface="Calibri"/>
              </a:rPr>
              <a:t>Correzione dei dati con e-mail automatica di correzione.</a:t>
            </a:r>
          </a:p>
        </p:txBody>
      </p:sp>
      <p:sp>
        <p:nvSpPr>
          <p:cNvPr id="48" name="TextBox 47"/>
          <p:cNvSpPr txBox="1"/>
          <p:nvPr/>
        </p:nvSpPr>
        <p:spPr>
          <a:xfrm>
            <a:off x="4581144" y="3547872"/>
            <a:ext cx="3520440" cy="329184"/>
          </a:xfrm>
          <a:prstGeom prst="rect">
            <a:avLst/>
          </a:prstGeom>
          <a:noFill/>
        </p:spPr>
        <p:txBody>
          <a:bodyPr wrap="square" lIns="0" tIns="0" rIns="0" bIns="0">
            <a:spAutoFit/>
          </a:bodyPr>
          <a:lstStyle/>
          <a:p>
            <a:pPr>
              <a:lnSpc>
                <a:spcPct val="102000"/>
              </a:lnSpc>
              <a:spcAft>
                <a:spcPts val="700"/>
              </a:spcAft>
            </a:pPr>
            <a:r>
              <a:rPr sz="1900" b="1">
                <a:solidFill>
                  <a:srgbClr val="000000"/>
                </a:solidFill>
                <a:latin typeface="Calibri"/>
              </a:rPr>
              <a:t>5. Verify</a:t>
            </a:r>
          </a:p>
        </p:txBody>
      </p:sp>
      <p:sp>
        <p:nvSpPr>
          <p:cNvPr id="49" name="TextBox 48"/>
          <p:cNvSpPr txBox="1"/>
          <p:nvPr/>
        </p:nvSpPr>
        <p:spPr>
          <a:xfrm>
            <a:off x="5989320" y="3950208"/>
            <a:ext cx="2075688" cy="594360"/>
          </a:xfrm>
          <a:prstGeom prst="rect">
            <a:avLst/>
          </a:prstGeom>
          <a:noFill/>
        </p:spPr>
        <p:txBody>
          <a:bodyPr wrap="square" lIns="0" tIns="0" rIns="0" bIns="0">
            <a:spAutoFit/>
          </a:bodyPr>
          <a:lstStyle/>
          <a:p>
            <a:pPr>
              <a:lnSpc>
                <a:spcPct val="102000"/>
              </a:lnSpc>
              <a:spcAft>
                <a:spcPts val="700"/>
              </a:spcAft>
            </a:pPr>
            <a:r>
              <a:rPr sz="1400" b="1">
                <a:solidFill>
                  <a:srgbClr val="000000"/>
                </a:solidFill>
                <a:latin typeface="Calibri"/>
              </a:rPr>
              <a:t>Work Role: Issue Manager</a:t>
            </a:r>
          </a:p>
        </p:txBody>
      </p:sp>
      <p:sp>
        <p:nvSpPr>
          <p:cNvPr id="50" name="TextBox 49"/>
          <p:cNvSpPr txBox="1"/>
          <p:nvPr/>
        </p:nvSpPr>
        <p:spPr>
          <a:xfrm>
            <a:off x="4581144" y="4553712"/>
            <a:ext cx="3447288" cy="758952"/>
          </a:xfrm>
          <a:prstGeom prst="rect">
            <a:avLst/>
          </a:prstGeom>
          <a:noFill/>
        </p:spPr>
        <p:txBody>
          <a:bodyPr wrap="square" lIns="0" tIns="0" rIns="0" bIns="0">
            <a:spAutoFit/>
          </a:bodyPr>
          <a:lstStyle/>
          <a:p>
            <a:pPr>
              <a:lnSpc>
                <a:spcPct val="102000"/>
              </a:lnSpc>
              <a:spcAft>
                <a:spcPts val="700"/>
              </a:spcAft>
            </a:pPr>
            <a:r>
              <a:rPr sz="1600" b="0">
                <a:solidFill>
                  <a:srgbClr val="000000"/>
                </a:solidFill>
                <a:latin typeface="Calibri"/>
              </a:rPr>
              <a:t>Verifica e chiusura (Done). Con tutte le issue chiuse, la raccolta è completa.</a:t>
            </a:r>
          </a:p>
        </p:txBody>
      </p:sp>
      <p:sp>
        <p:nvSpPr>
          <p:cNvPr id="51" name="TextBox 50"/>
          <p:cNvSpPr txBox="1"/>
          <p:nvPr/>
        </p:nvSpPr>
        <p:spPr>
          <a:xfrm>
            <a:off x="8394192" y="3547872"/>
            <a:ext cx="3520440" cy="329184"/>
          </a:xfrm>
          <a:prstGeom prst="rect">
            <a:avLst/>
          </a:prstGeom>
          <a:noFill/>
        </p:spPr>
        <p:txBody>
          <a:bodyPr wrap="square" lIns="0" tIns="0" rIns="0" bIns="0">
            <a:spAutoFit/>
          </a:bodyPr>
          <a:lstStyle/>
          <a:p>
            <a:pPr>
              <a:lnSpc>
                <a:spcPct val="102000"/>
              </a:lnSpc>
              <a:spcAft>
                <a:spcPts val="700"/>
              </a:spcAft>
            </a:pPr>
            <a:r>
              <a:rPr sz="1900" b="1">
                <a:solidFill>
                  <a:srgbClr val="000000"/>
                </a:solidFill>
                <a:latin typeface="Calibri"/>
              </a:rPr>
              <a:t>6. Approve</a:t>
            </a:r>
          </a:p>
        </p:txBody>
      </p:sp>
      <p:sp>
        <p:nvSpPr>
          <p:cNvPr id="52" name="TextBox 51"/>
          <p:cNvSpPr txBox="1"/>
          <p:nvPr/>
        </p:nvSpPr>
        <p:spPr>
          <a:xfrm>
            <a:off x="9802367" y="3950208"/>
            <a:ext cx="2075688" cy="594360"/>
          </a:xfrm>
          <a:prstGeom prst="rect">
            <a:avLst/>
          </a:prstGeom>
          <a:noFill/>
        </p:spPr>
        <p:txBody>
          <a:bodyPr wrap="square" lIns="0" tIns="0" rIns="0" bIns="0">
            <a:spAutoFit/>
          </a:bodyPr>
          <a:lstStyle/>
          <a:p>
            <a:pPr>
              <a:lnSpc>
                <a:spcPct val="102000"/>
              </a:lnSpc>
              <a:spcAft>
                <a:spcPts val="700"/>
              </a:spcAft>
            </a:pPr>
            <a:r>
              <a:rPr sz="1400" b="1">
                <a:solidFill>
                  <a:srgbClr val="000000"/>
                </a:solidFill>
                <a:latin typeface="Calibri"/>
              </a:rPr>
              <a:t>Reviewer / Approver</a:t>
            </a:r>
          </a:p>
        </p:txBody>
      </p:sp>
      <p:sp>
        <p:nvSpPr>
          <p:cNvPr id="53" name="TextBox 52"/>
          <p:cNvSpPr txBox="1"/>
          <p:nvPr/>
        </p:nvSpPr>
        <p:spPr>
          <a:xfrm>
            <a:off x="8394192" y="4553712"/>
            <a:ext cx="3447288" cy="758952"/>
          </a:xfrm>
          <a:prstGeom prst="rect">
            <a:avLst/>
          </a:prstGeom>
          <a:noFill/>
        </p:spPr>
        <p:txBody>
          <a:bodyPr wrap="square" lIns="0" tIns="0" rIns="0" bIns="0">
            <a:spAutoFit/>
          </a:bodyPr>
          <a:lstStyle/>
          <a:p>
            <a:pPr>
              <a:lnSpc>
                <a:spcPct val="102000"/>
              </a:lnSpc>
              <a:spcAft>
                <a:spcPts val="700"/>
              </a:spcAft>
            </a:pPr>
            <a:r>
              <a:rPr sz="1600" b="0">
                <a:solidFill>
                  <a:srgbClr val="000000"/>
                </a:solidFill>
                <a:latin typeface="Calibri"/>
              </a:rPr>
              <a:t>Revisione finale in 1 o 2 step. Approve/Reject: i dati approvati sono pronti per il reporting.</a:t>
            </a:r>
          </a:p>
        </p:txBody>
      </p:sp>
      <p:sp>
        <p:nvSpPr>
          <p:cNvPr id="54" name="TextBox 53"/>
          <p:cNvSpPr txBox="1"/>
          <p:nvPr/>
        </p:nvSpPr>
        <p:spPr>
          <a:xfrm>
            <a:off x="768096" y="5660136"/>
            <a:ext cx="10652760" cy="621792"/>
          </a:xfrm>
          <a:prstGeom prst="rect">
            <a:avLst/>
          </a:prstGeom>
          <a:noFill/>
        </p:spPr>
        <p:txBody>
          <a:bodyPr wrap="square" lIns="0" tIns="0" rIns="0" bIns="0">
            <a:spAutoFit/>
          </a:bodyPr>
          <a:lstStyle/>
          <a:p>
            <a:pPr>
              <a:lnSpc>
                <a:spcPct val="102000"/>
              </a:lnSpc>
              <a:spcAft>
                <a:spcPts val="700"/>
              </a:spcAft>
            </a:pPr>
            <a:r>
              <a:rPr sz="1600" b="1">
                <a:solidFill>
                  <a:srgbClr val="000000"/>
                </a:solidFill>
                <a:latin typeface="Calibri"/>
              </a:rPr>
              <a:t>Dashboard di qualità, completezza dei dati, Audit Trail e stato delle approvazioni supportano un reporting ESG affidabile.</a:t>
            </a:r>
          </a:p>
        </p:txBody>
      </p:sp>
      <p:sp>
        <p:nvSpPr>
          <p:cNvPr id="55"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endParaRPr lang="it-IT"/>
          </a:p>
        </p:txBody>
      </p:sp>
      <p:sp>
        <p:nvSpPr>
          <p:cNvPr id="34" name="TextBox 33"/>
          <p:cNvSpPr txBox="1"/>
          <p:nvPr/>
        </p:nvSpPr>
        <p:spPr>
          <a:xfrm>
            <a:off x="640080" y="457200"/>
            <a:ext cx="10908792" cy="369332"/>
          </a:xfrm>
          <a:prstGeom prst="rect">
            <a:avLst/>
          </a:prstGeom>
          <a:noFill/>
        </p:spPr>
        <p:txBody>
          <a:bodyPr wrap="square" lIns="0" tIns="0" rIns="0" bIns="0" anchor="t">
            <a:spAutoFit/>
          </a:bodyPr>
          <a:lstStyle/>
          <a:p>
            <a:pPr marL="0" indent="0" algn="l">
              <a:lnSpc>
                <a:spcPct val="100000"/>
              </a:lnSpc>
              <a:spcBef>
                <a:spcPts val="0"/>
              </a:spcBef>
              <a:spcAft>
                <a:spcPts val="500"/>
              </a:spcAft>
              <a:buNone/>
              <a:defRPr sz="2400" b="1">
                <a:solidFill>
                  <a:srgbClr val="073E31"/>
                </a:solidFill>
                <a:latin typeface="Calibri"/>
              </a:defRPr>
            </a:pPr>
            <a:r>
              <a:rPr lang="it-IT" sz="2400" b="1">
                <a:solidFill>
                  <a:srgbClr val="073E31"/>
                </a:solidFill>
                <a:latin typeface="Calibri"/>
              </a:rPr>
              <a:t>Il percorso di acquisizione manuale dei dati</a:t>
            </a:r>
          </a:p>
        </p:txBody>
      </p:sp>
    </p:spTree>
    <p:extLst>
      <p:ext uri="{BB962C8B-B14F-4D97-AF65-F5344CB8AC3E}">
        <p14:creationId xmlns:p14="http://schemas.microsoft.com/office/powerpoint/2010/main" val="36340714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sellaDiTesto 1">
            <a:extLst>
              <a:ext uri="{FF2B5EF4-FFF2-40B4-BE49-F238E27FC236}">
                <a16:creationId xmlns:a16="http://schemas.microsoft.com/office/drawing/2014/main" id="{DB585F21-ECCC-2125-5581-1F6C400F9040}"/>
              </a:ext>
            </a:extLst>
          </p:cNvPr>
          <p:cNvSpPr txBox="1"/>
          <p:nvPr/>
        </p:nvSpPr>
        <p:spPr>
          <a:xfrm>
            <a:off x="550607" y="344129"/>
            <a:ext cx="3814916" cy="461665"/>
          </a:xfrm>
          <a:prstGeom prst="rect">
            <a:avLst/>
          </a:prstGeom>
          <a:noFill/>
        </p:spPr>
        <p:txBody>
          <a:bodyPr wrap="square" rtlCol="0">
            <a:spAutoFit/>
          </a:bodyPr>
          <a:lstStyle/>
          <a:p>
            <a:r>
              <a:rPr lang="it-IT" sz="2400" dirty="0"/>
              <a:t>Esempio use case</a:t>
            </a:r>
          </a:p>
        </p:txBody>
      </p:sp>
      <p:pic>
        <p:nvPicPr>
          <p:cNvPr id="3" name="Immagine 2">
            <a:extLst>
              <a:ext uri="{FF2B5EF4-FFF2-40B4-BE49-F238E27FC236}">
                <a16:creationId xmlns:a16="http://schemas.microsoft.com/office/drawing/2014/main" id="{4E72A13B-B17E-8471-924A-1AF9EC62F0F8}"/>
              </a:ext>
            </a:extLst>
          </p:cNvPr>
          <p:cNvPicPr>
            <a:picLocks noChangeAspect="1"/>
          </p:cNvPicPr>
          <p:nvPr/>
        </p:nvPicPr>
        <p:blipFill>
          <a:blip r:embed="rId2"/>
          <a:stretch>
            <a:fillRect/>
          </a:stretch>
        </p:blipFill>
        <p:spPr>
          <a:xfrm>
            <a:off x="3930315" y="344129"/>
            <a:ext cx="1304803" cy="1498851"/>
          </a:xfrm>
          <a:prstGeom prst="rect">
            <a:avLst/>
          </a:prstGeom>
        </p:spPr>
      </p:pic>
      <p:pic>
        <p:nvPicPr>
          <p:cNvPr id="4" name="Immagine 3">
            <a:extLst>
              <a:ext uri="{FF2B5EF4-FFF2-40B4-BE49-F238E27FC236}">
                <a16:creationId xmlns:a16="http://schemas.microsoft.com/office/drawing/2014/main" id="{56E63551-FE24-88C5-B726-5E1DF9962355}"/>
              </a:ext>
            </a:extLst>
          </p:cNvPr>
          <p:cNvPicPr>
            <a:picLocks noChangeAspect="1"/>
          </p:cNvPicPr>
          <p:nvPr/>
        </p:nvPicPr>
        <p:blipFill>
          <a:blip r:embed="rId3"/>
          <a:stretch>
            <a:fillRect/>
          </a:stretch>
        </p:blipFill>
        <p:spPr>
          <a:xfrm>
            <a:off x="8065041" y="408331"/>
            <a:ext cx="1425677" cy="1126386"/>
          </a:xfrm>
          <a:prstGeom prst="rect">
            <a:avLst/>
          </a:prstGeom>
        </p:spPr>
      </p:pic>
      <p:sp>
        <p:nvSpPr>
          <p:cNvPr id="5" name="CasellaDiTesto 4">
            <a:extLst>
              <a:ext uri="{FF2B5EF4-FFF2-40B4-BE49-F238E27FC236}">
                <a16:creationId xmlns:a16="http://schemas.microsoft.com/office/drawing/2014/main" id="{C1DF3137-5231-7C86-D4E5-7BDB7ABFEE21}"/>
              </a:ext>
            </a:extLst>
          </p:cNvPr>
          <p:cNvSpPr txBox="1"/>
          <p:nvPr/>
        </p:nvSpPr>
        <p:spPr>
          <a:xfrm>
            <a:off x="3807055" y="1842980"/>
            <a:ext cx="3702821" cy="4524315"/>
          </a:xfrm>
          <a:prstGeom prst="rect">
            <a:avLst/>
          </a:prstGeom>
          <a:solidFill>
            <a:schemeClr val="bg1"/>
          </a:solidFill>
        </p:spPr>
        <p:txBody>
          <a:bodyPr wrap="square" rtlCol="0">
            <a:spAutoFit/>
          </a:bodyPr>
          <a:lstStyle/>
          <a:p>
            <a:r>
              <a:rPr lang="it-IT" dirty="0"/>
              <a:t>Mara, Ruolo Aziendale </a:t>
            </a:r>
            <a:br>
              <a:rPr lang="it-IT" dirty="0"/>
            </a:br>
            <a:r>
              <a:rPr lang="it-IT" dirty="0"/>
              <a:t>ESG Manager</a:t>
            </a:r>
          </a:p>
          <a:p>
            <a:endParaRPr lang="it-IT" dirty="0"/>
          </a:p>
          <a:p>
            <a:r>
              <a:rPr lang="it-IT" dirty="0"/>
              <a:t>Ruolo di Accesso: Utente Generale</a:t>
            </a:r>
          </a:p>
          <a:p>
            <a:endParaRPr lang="it-IT" dirty="0"/>
          </a:p>
          <a:p>
            <a:r>
              <a:rPr lang="it-IT" dirty="0"/>
              <a:t>Work Role: </a:t>
            </a:r>
            <a:r>
              <a:rPr lang="it-IT" dirty="0" err="1"/>
              <a:t>Issue</a:t>
            </a:r>
            <a:r>
              <a:rPr lang="it-IT" dirty="0"/>
              <a:t> Manager</a:t>
            </a:r>
          </a:p>
          <a:p>
            <a:endParaRPr lang="it-IT" dirty="0"/>
          </a:p>
          <a:p>
            <a:r>
              <a:rPr lang="it-IT" dirty="0"/>
              <a:t>Rileva una mancanza di dati per la Sede Amministrativa di Milano. </a:t>
            </a:r>
            <a:br>
              <a:rPr lang="it-IT" dirty="0"/>
            </a:br>
            <a:br>
              <a:rPr lang="it-IT" dirty="0"/>
            </a:br>
            <a:r>
              <a:rPr lang="it-IT" dirty="0"/>
              <a:t>I dati di GO, Garanzia di Origine, non sono stati registrati</a:t>
            </a:r>
          </a:p>
          <a:p>
            <a:endParaRPr lang="it-IT" dirty="0"/>
          </a:p>
          <a:p>
            <a:r>
              <a:rPr lang="it-IT" dirty="0"/>
              <a:t>Mara attiva una </a:t>
            </a:r>
            <a:r>
              <a:rPr lang="it-IT" dirty="0" err="1"/>
              <a:t>Issue</a:t>
            </a:r>
            <a:r>
              <a:rPr lang="it-IT" dirty="0"/>
              <a:t> (attiva un Problema) termine per indicare una richiesta di intervento sui dati.</a:t>
            </a:r>
          </a:p>
        </p:txBody>
      </p:sp>
      <p:sp>
        <p:nvSpPr>
          <p:cNvPr id="6" name="CasellaDiTesto 5">
            <a:extLst>
              <a:ext uri="{FF2B5EF4-FFF2-40B4-BE49-F238E27FC236}">
                <a16:creationId xmlns:a16="http://schemas.microsoft.com/office/drawing/2014/main" id="{7AA4BA22-1397-AB80-FFD3-D612884A7806}"/>
              </a:ext>
            </a:extLst>
          </p:cNvPr>
          <p:cNvSpPr txBox="1"/>
          <p:nvPr/>
        </p:nvSpPr>
        <p:spPr>
          <a:xfrm>
            <a:off x="7855976" y="1833146"/>
            <a:ext cx="4257369" cy="4247317"/>
          </a:xfrm>
          <a:prstGeom prst="rect">
            <a:avLst/>
          </a:prstGeom>
          <a:solidFill>
            <a:schemeClr val="bg1"/>
          </a:solidFill>
        </p:spPr>
        <p:txBody>
          <a:bodyPr wrap="square" rtlCol="0">
            <a:spAutoFit/>
          </a:bodyPr>
          <a:lstStyle/>
          <a:p>
            <a:r>
              <a:rPr lang="it-IT" dirty="0"/>
              <a:t>Luigi, Ruolo Aziendale </a:t>
            </a:r>
            <a:br>
              <a:rPr lang="it-IT" dirty="0"/>
            </a:br>
            <a:r>
              <a:rPr lang="it-IT" dirty="0"/>
              <a:t>Energy Manager della sede di Segrate</a:t>
            </a:r>
          </a:p>
          <a:p>
            <a:endParaRPr lang="it-IT" dirty="0"/>
          </a:p>
          <a:p>
            <a:r>
              <a:rPr lang="it-IT" dirty="0"/>
              <a:t>Ruolo di Accesso: Utente Generale</a:t>
            </a:r>
          </a:p>
          <a:p>
            <a:endParaRPr lang="it-IT" dirty="0"/>
          </a:p>
          <a:p>
            <a:r>
              <a:rPr lang="it-IT" dirty="0"/>
              <a:t>Work Role: Data Manager</a:t>
            </a:r>
          </a:p>
          <a:p>
            <a:endParaRPr lang="it-IT" dirty="0"/>
          </a:p>
          <a:p>
            <a:r>
              <a:rPr lang="it-IT" dirty="0"/>
              <a:t>Riceve una mail che notifica la necessità di inserire i dati di GO mancanti per la sede di Milano</a:t>
            </a:r>
          </a:p>
          <a:p>
            <a:endParaRPr lang="it-IT" dirty="0"/>
          </a:p>
          <a:p>
            <a:r>
              <a:rPr lang="it-IT" dirty="0"/>
              <a:t>Nota: Mara ha inserito la </a:t>
            </a:r>
            <a:r>
              <a:rPr lang="it-IT" dirty="0" err="1"/>
              <a:t>Issue</a:t>
            </a:r>
            <a:r>
              <a:rPr lang="it-IT" dirty="0"/>
              <a:t> sulla sede di Milano e questa è stata automaticamente assegnata a Luigi, in quanto configurato come contatto di sede.</a:t>
            </a:r>
          </a:p>
        </p:txBody>
      </p:sp>
      <p:pic>
        <p:nvPicPr>
          <p:cNvPr id="7" name="Immagine 6">
            <a:extLst>
              <a:ext uri="{FF2B5EF4-FFF2-40B4-BE49-F238E27FC236}">
                <a16:creationId xmlns:a16="http://schemas.microsoft.com/office/drawing/2014/main" id="{0A4B2572-2021-806D-5773-5DA7EEEE542C}"/>
              </a:ext>
            </a:extLst>
          </p:cNvPr>
          <p:cNvPicPr>
            <a:picLocks noChangeAspect="1"/>
          </p:cNvPicPr>
          <p:nvPr/>
        </p:nvPicPr>
        <p:blipFill>
          <a:blip r:embed="rId4"/>
          <a:stretch>
            <a:fillRect/>
          </a:stretch>
        </p:blipFill>
        <p:spPr>
          <a:xfrm>
            <a:off x="757317" y="1842980"/>
            <a:ext cx="1445110" cy="1733121"/>
          </a:xfrm>
          <a:prstGeom prst="rect">
            <a:avLst/>
          </a:prstGeom>
        </p:spPr>
      </p:pic>
      <p:sp>
        <p:nvSpPr>
          <p:cNvPr id="8" name="CasellaDiTesto 7">
            <a:extLst>
              <a:ext uri="{FF2B5EF4-FFF2-40B4-BE49-F238E27FC236}">
                <a16:creationId xmlns:a16="http://schemas.microsoft.com/office/drawing/2014/main" id="{BCABB2AC-626B-51EA-633B-F99AC737249C}"/>
              </a:ext>
            </a:extLst>
          </p:cNvPr>
          <p:cNvSpPr txBox="1"/>
          <p:nvPr/>
        </p:nvSpPr>
        <p:spPr>
          <a:xfrm>
            <a:off x="757317" y="3651549"/>
            <a:ext cx="2723303" cy="2308324"/>
          </a:xfrm>
          <a:prstGeom prst="rect">
            <a:avLst/>
          </a:prstGeom>
          <a:noFill/>
        </p:spPr>
        <p:txBody>
          <a:bodyPr wrap="square" rtlCol="0">
            <a:spAutoFit/>
          </a:bodyPr>
          <a:lstStyle/>
          <a:p>
            <a:r>
              <a:rPr lang="it-IT" dirty="0"/>
              <a:t>Luigi, Ruolo Aziendale </a:t>
            </a:r>
            <a:br>
              <a:rPr lang="it-IT" dirty="0"/>
            </a:br>
            <a:r>
              <a:rPr lang="it-IT" dirty="0"/>
              <a:t>IT Applications services</a:t>
            </a:r>
          </a:p>
          <a:p>
            <a:endParaRPr lang="it-IT" dirty="0"/>
          </a:p>
          <a:p>
            <a:r>
              <a:rPr lang="it-IT" dirty="0"/>
              <a:t>Ruolo di Accesso: Admin</a:t>
            </a:r>
          </a:p>
          <a:p>
            <a:endParaRPr lang="it-IT" dirty="0"/>
          </a:p>
          <a:p>
            <a:r>
              <a:rPr lang="it-IT" dirty="0"/>
              <a:t>Configura l’utente Luigi e lo associa alla sede di Milano nei contatti di sede</a:t>
            </a:r>
          </a:p>
        </p:txBody>
      </p:sp>
    </p:spTree>
    <p:extLst>
      <p:ext uri="{BB962C8B-B14F-4D97-AF65-F5344CB8AC3E}">
        <p14:creationId xmlns:p14="http://schemas.microsoft.com/office/powerpoint/2010/main" val="22356812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03EB75D5-47E3-F1B7-EF36-F80653D5D70A}"/>
              </a:ext>
            </a:extLst>
          </p:cNvPr>
          <p:cNvPicPr>
            <a:picLocks noChangeAspect="1"/>
          </p:cNvPicPr>
          <p:nvPr/>
        </p:nvPicPr>
        <p:blipFill>
          <a:blip r:embed="rId2"/>
          <a:stretch>
            <a:fillRect/>
          </a:stretch>
        </p:blipFill>
        <p:spPr>
          <a:xfrm>
            <a:off x="747485" y="259987"/>
            <a:ext cx="1445110" cy="1733121"/>
          </a:xfrm>
          <a:prstGeom prst="rect">
            <a:avLst/>
          </a:prstGeom>
        </p:spPr>
      </p:pic>
      <p:sp>
        <p:nvSpPr>
          <p:cNvPr id="3" name="CasellaDiTesto 2">
            <a:extLst>
              <a:ext uri="{FF2B5EF4-FFF2-40B4-BE49-F238E27FC236}">
                <a16:creationId xmlns:a16="http://schemas.microsoft.com/office/drawing/2014/main" id="{EDF96AB4-0BA8-7294-2125-5565AF117ECD}"/>
              </a:ext>
            </a:extLst>
          </p:cNvPr>
          <p:cNvSpPr txBox="1"/>
          <p:nvPr/>
        </p:nvSpPr>
        <p:spPr>
          <a:xfrm>
            <a:off x="747485" y="2068556"/>
            <a:ext cx="2723303" cy="2308324"/>
          </a:xfrm>
          <a:prstGeom prst="rect">
            <a:avLst/>
          </a:prstGeom>
          <a:noFill/>
        </p:spPr>
        <p:txBody>
          <a:bodyPr wrap="square" rtlCol="0">
            <a:spAutoFit/>
          </a:bodyPr>
          <a:lstStyle/>
          <a:p>
            <a:r>
              <a:rPr lang="it-IT" dirty="0"/>
              <a:t>Luigi, Ruolo Aziendale </a:t>
            </a:r>
            <a:br>
              <a:rPr lang="it-IT" dirty="0"/>
            </a:br>
            <a:r>
              <a:rPr lang="it-IT" dirty="0"/>
              <a:t>IT Applications services</a:t>
            </a:r>
          </a:p>
          <a:p>
            <a:endParaRPr lang="it-IT" dirty="0"/>
          </a:p>
          <a:p>
            <a:r>
              <a:rPr lang="it-IT" dirty="0"/>
              <a:t>Ruolo di Accesso: Admin</a:t>
            </a:r>
          </a:p>
          <a:p>
            <a:endParaRPr lang="it-IT" dirty="0"/>
          </a:p>
          <a:p>
            <a:r>
              <a:rPr lang="it-IT" dirty="0"/>
              <a:t>Configura l’utente Luigi e lo associa alla sede di Segrate nei contatti di sede</a:t>
            </a:r>
          </a:p>
        </p:txBody>
      </p:sp>
      <p:sp>
        <p:nvSpPr>
          <p:cNvPr id="4" name="CasellaDiTesto 3">
            <a:extLst>
              <a:ext uri="{FF2B5EF4-FFF2-40B4-BE49-F238E27FC236}">
                <a16:creationId xmlns:a16="http://schemas.microsoft.com/office/drawing/2014/main" id="{A83F60E6-392F-DCA7-7E03-B7FB41E8B201}"/>
              </a:ext>
            </a:extLst>
          </p:cNvPr>
          <p:cNvSpPr txBox="1"/>
          <p:nvPr/>
        </p:nvSpPr>
        <p:spPr>
          <a:xfrm>
            <a:off x="4109884" y="599768"/>
            <a:ext cx="5201265" cy="646331"/>
          </a:xfrm>
          <a:prstGeom prst="rect">
            <a:avLst/>
          </a:prstGeom>
          <a:noFill/>
        </p:spPr>
        <p:txBody>
          <a:bodyPr wrap="square" rtlCol="0">
            <a:spAutoFit/>
          </a:bodyPr>
          <a:lstStyle/>
          <a:p>
            <a:r>
              <a:rPr lang="it-IT" dirty="0"/>
              <a:t>Home page&gt;Gestisci&gt;Contatti di notifica</a:t>
            </a:r>
          </a:p>
          <a:p>
            <a:r>
              <a:rPr lang="it-IT" dirty="0"/>
              <a:t>Crea Nuovo</a:t>
            </a:r>
          </a:p>
        </p:txBody>
      </p:sp>
      <p:pic>
        <p:nvPicPr>
          <p:cNvPr id="6" name="Immagine 5">
            <a:extLst>
              <a:ext uri="{FF2B5EF4-FFF2-40B4-BE49-F238E27FC236}">
                <a16:creationId xmlns:a16="http://schemas.microsoft.com/office/drawing/2014/main" id="{5DF5B88F-5CB6-64AA-B0DC-1D1BE2FC3E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94892" y="1401608"/>
            <a:ext cx="7446501" cy="1725724"/>
          </a:xfrm>
          <a:prstGeom prst="rect">
            <a:avLst/>
          </a:prstGeom>
        </p:spPr>
      </p:pic>
      <p:sp>
        <p:nvSpPr>
          <p:cNvPr id="7" name="Ovale 6">
            <a:extLst>
              <a:ext uri="{FF2B5EF4-FFF2-40B4-BE49-F238E27FC236}">
                <a16:creationId xmlns:a16="http://schemas.microsoft.com/office/drawing/2014/main" id="{712AE9F2-A7A3-3E38-807F-0B5A9EDE9562}"/>
              </a:ext>
            </a:extLst>
          </p:cNvPr>
          <p:cNvSpPr/>
          <p:nvPr/>
        </p:nvSpPr>
        <p:spPr>
          <a:xfrm>
            <a:off x="10363200" y="1907458"/>
            <a:ext cx="167148" cy="1446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9" name="Immagine 8">
            <a:extLst>
              <a:ext uri="{FF2B5EF4-FFF2-40B4-BE49-F238E27FC236}">
                <a16:creationId xmlns:a16="http://schemas.microsoft.com/office/drawing/2014/main" id="{806FDF64-24A8-A28E-5A1C-1FCAD61FD0C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94892" y="3260901"/>
            <a:ext cx="2142000" cy="1891886"/>
          </a:xfrm>
          <a:prstGeom prst="rect">
            <a:avLst/>
          </a:prstGeom>
        </p:spPr>
      </p:pic>
      <p:pic>
        <p:nvPicPr>
          <p:cNvPr id="11" name="Immagine 10">
            <a:extLst>
              <a:ext uri="{FF2B5EF4-FFF2-40B4-BE49-F238E27FC236}">
                <a16:creationId xmlns:a16="http://schemas.microsoft.com/office/drawing/2014/main" id="{7D18C52C-1B02-B311-45E8-81F28F7E368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09884" y="5456392"/>
            <a:ext cx="7772400" cy="605887"/>
          </a:xfrm>
          <a:prstGeom prst="rect">
            <a:avLst/>
          </a:prstGeom>
        </p:spPr>
      </p:pic>
      <p:sp>
        <p:nvSpPr>
          <p:cNvPr id="12" name="CasellaDiTesto 11">
            <a:extLst>
              <a:ext uri="{FF2B5EF4-FFF2-40B4-BE49-F238E27FC236}">
                <a16:creationId xmlns:a16="http://schemas.microsoft.com/office/drawing/2014/main" id="{0D60E9F1-E9E9-E2F5-ACC9-1609964A83DE}"/>
              </a:ext>
            </a:extLst>
          </p:cNvPr>
          <p:cNvSpPr txBox="1"/>
          <p:nvPr/>
        </p:nvSpPr>
        <p:spPr>
          <a:xfrm>
            <a:off x="6336892" y="3282841"/>
            <a:ext cx="3618271" cy="1200329"/>
          </a:xfrm>
          <a:prstGeom prst="rect">
            <a:avLst/>
          </a:prstGeom>
          <a:noFill/>
        </p:spPr>
        <p:txBody>
          <a:bodyPr wrap="square" rtlCol="0">
            <a:spAutoFit/>
          </a:bodyPr>
          <a:lstStyle/>
          <a:p>
            <a:r>
              <a:rPr lang="it-IT" dirty="0"/>
              <a:t>Compila il modulo, seleziona la location e l’utente abbinato come contatto in caso di avvisi per acquisizione dati </a:t>
            </a:r>
          </a:p>
        </p:txBody>
      </p:sp>
    </p:spTree>
    <p:extLst>
      <p:ext uri="{BB962C8B-B14F-4D97-AF65-F5344CB8AC3E}">
        <p14:creationId xmlns:p14="http://schemas.microsoft.com/office/powerpoint/2010/main" val="12718439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sellaDiTesto 2">
            <a:extLst>
              <a:ext uri="{FF2B5EF4-FFF2-40B4-BE49-F238E27FC236}">
                <a16:creationId xmlns:a16="http://schemas.microsoft.com/office/drawing/2014/main" id="{6EB7C2C2-92B6-8FAB-49A5-5DE77158A107}"/>
              </a:ext>
            </a:extLst>
          </p:cNvPr>
          <p:cNvSpPr txBox="1"/>
          <p:nvPr/>
        </p:nvSpPr>
        <p:spPr>
          <a:xfrm>
            <a:off x="0" y="131936"/>
            <a:ext cx="12335933" cy="369332"/>
          </a:xfrm>
          <a:prstGeom prst="rect">
            <a:avLst/>
          </a:prstGeom>
          <a:noFill/>
        </p:spPr>
        <p:txBody>
          <a:bodyPr wrap="square">
            <a:spAutoFit/>
          </a:bodyPr>
          <a:lstStyle/>
          <a:p>
            <a:pPr lvl="0" fontAlgn="t">
              <a:lnSpc>
                <a:spcPct val="100000"/>
              </a:lnSpc>
            </a:pPr>
            <a:r>
              <a:rPr lang="it-IT" sz="1800" dirty="0"/>
              <a:t>  l’Admin continua fino a che tutte le location hanno un </a:t>
            </a:r>
            <a:r>
              <a:rPr lang="it-IT" sz="1800" dirty="0" err="1"/>
              <a:t>assignee</a:t>
            </a:r>
            <a:r>
              <a:rPr lang="it-IT" sz="1800" dirty="0"/>
              <a:t> </a:t>
            </a:r>
            <a:r>
              <a:rPr lang="it-IT" dirty="0"/>
              <a:t>di default </a:t>
            </a:r>
            <a:r>
              <a:rPr lang="it-IT" sz="1800" dirty="0"/>
              <a:t>per le attività di data </a:t>
            </a:r>
            <a:r>
              <a:rPr lang="it-IT" sz="1800" dirty="0" err="1"/>
              <a:t>capture</a:t>
            </a:r>
            <a:endParaRPr lang="it-IT" sz="1800" dirty="0"/>
          </a:p>
        </p:txBody>
      </p:sp>
      <p:pic>
        <p:nvPicPr>
          <p:cNvPr id="4" name="Immagine 3">
            <a:extLst>
              <a:ext uri="{FF2B5EF4-FFF2-40B4-BE49-F238E27FC236}">
                <a16:creationId xmlns:a16="http://schemas.microsoft.com/office/drawing/2014/main" id="{D17A178E-F88D-AEF9-3B15-CE484449CE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86798"/>
            <a:ext cx="12273914" cy="6271202"/>
          </a:xfrm>
          <a:prstGeom prst="rect">
            <a:avLst/>
          </a:prstGeom>
        </p:spPr>
      </p:pic>
    </p:spTree>
    <p:extLst>
      <p:ext uri="{BB962C8B-B14F-4D97-AF65-F5344CB8AC3E}">
        <p14:creationId xmlns:p14="http://schemas.microsoft.com/office/powerpoint/2010/main" val="30336463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23BB8-9A6D-8EB0-27D4-C389BE644FC4}"/>
            </a:ext>
          </a:extLst>
        </p:cNvPr>
        <p:cNvGrpSpPr/>
        <p:nvPr/>
      </p:nvGrpSpPr>
      <p:grpSpPr>
        <a:xfrm>
          <a:off x="0" y="0"/>
          <a:ext cx="0" cy="0"/>
          <a:chOff x="0" y="0"/>
          <a:chExt cx="0" cy="0"/>
        </a:xfrm>
      </p:grpSpPr>
      <p:pic>
        <p:nvPicPr>
          <p:cNvPr id="3" name="Immagine 2">
            <a:extLst>
              <a:ext uri="{FF2B5EF4-FFF2-40B4-BE49-F238E27FC236}">
                <a16:creationId xmlns:a16="http://schemas.microsoft.com/office/drawing/2014/main" id="{6AB61C43-7583-3161-54C8-66EC16F7261D}"/>
              </a:ext>
            </a:extLst>
          </p:cNvPr>
          <p:cNvPicPr>
            <a:picLocks noChangeAspect="1"/>
          </p:cNvPicPr>
          <p:nvPr/>
        </p:nvPicPr>
        <p:blipFill>
          <a:blip r:embed="rId2"/>
          <a:stretch>
            <a:fillRect/>
          </a:stretch>
        </p:blipFill>
        <p:spPr>
          <a:xfrm>
            <a:off x="879895" y="334297"/>
            <a:ext cx="1304803" cy="1498851"/>
          </a:xfrm>
          <a:prstGeom prst="rect">
            <a:avLst/>
          </a:prstGeom>
        </p:spPr>
      </p:pic>
      <p:sp>
        <p:nvSpPr>
          <p:cNvPr id="5" name="CasellaDiTesto 4">
            <a:extLst>
              <a:ext uri="{FF2B5EF4-FFF2-40B4-BE49-F238E27FC236}">
                <a16:creationId xmlns:a16="http://schemas.microsoft.com/office/drawing/2014/main" id="{4AE1CD34-2CD3-4139-4BFA-116DF13F1B5C}"/>
              </a:ext>
            </a:extLst>
          </p:cNvPr>
          <p:cNvSpPr txBox="1"/>
          <p:nvPr/>
        </p:nvSpPr>
        <p:spPr>
          <a:xfrm>
            <a:off x="879895" y="1685664"/>
            <a:ext cx="3702821" cy="2585323"/>
          </a:xfrm>
          <a:prstGeom prst="rect">
            <a:avLst/>
          </a:prstGeom>
          <a:solidFill>
            <a:schemeClr val="bg1"/>
          </a:solidFill>
        </p:spPr>
        <p:txBody>
          <a:bodyPr wrap="square" rtlCol="0">
            <a:spAutoFit/>
          </a:bodyPr>
          <a:lstStyle/>
          <a:p>
            <a:r>
              <a:rPr lang="it-IT" dirty="0"/>
              <a:t>Mara, Ruolo Aziendale </a:t>
            </a:r>
            <a:br>
              <a:rPr lang="it-IT" dirty="0"/>
            </a:br>
            <a:r>
              <a:rPr lang="it-IT" dirty="0"/>
              <a:t>ESG Manager</a:t>
            </a:r>
          </a:p>
          <a:p>
            <a:endParaRPr lang="it-IT" dirty="0"/>
          </a:p>
          <a:p>
            <a:r>
              <a:rPr lang="it-IT" dirty="0"/>
              <a:t>Ruolo di Accesso: </a:t>
            </a:r>
            <a:br>
              <a:rPr lang="it-IT" dirty="0"/>
            </a:br>
            <a:r>
              <a:rPr lang="it-IT" dirty="0"/>
              <a:t>Utente Generale</a:t>
            </a:r>
          </a:p>
          <a:p>
            <a:endParaRPr lang="it-IT" dirty="0"/>
          </a:p>
          <a:p>
            <a:r>
              <a:rPr lang="it-IT" dirty="0"/>
              <a:t>Work Role: </a:t>
            </a:r>
            <a:br>
              <a:rPr lang="it-IT" dirty="0"/>
            </a:br>
            <a:r>
              <a:rPr lang="it-IT" dirty="0" err="1"/>
              <a:t>Issue</a:t>
            </a:r>
            <a:r>
              <a:rPr lang="it-IT" dirty="0"/>
              <a:t> Manager</a:t>
            </a:r>
          </a:p>
          <a:p>
            <a:endParaRPr lang="it-IT" dirty="0"/>
          </a:p>
        </p:txBody>
      </p:sp>
      <p:pic>
        <p:nvPicPr>
          <p:cNvPr id="9" name="Immagine 8">
            <a:extLst>
              <a:ext uri="{FF2B5EF4-FFF2-40B4-BE49-F238E27FC236}">
                <a16:creationId xmlns:a16="http://schemas.microsoft.com/office/drawing/2014/main" id="{9D146FA1-33AC-912A-F999-A9BE996E00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27603" y="1083722"/>
            <a:ext cx="3702821" cy="1821306"/>
          </a:xfrm>
          <a:prstGeom prst="rect">
            <a:avLst/>
          </a:prstGeom>
        </p:spPr>
      </p:pic>
      <p:sp>
        <p:nvSpPr>
          <p:cNvPr id="10" name="CasellaDiTesto 9">
            <a:extLst>
              <a:ext uri="{FF2B5EF4-FFF2-40B4-BE49-F238E27FC236}">
                <a16:creationId xmlns:a16="http://schemas.microsoft.com/office/drawing/2014/main" id="{AA06BA1A-38AB-3AF2-36A2-873685C775DE}"/>
              </a:ext>
            </a:extLst>
          </p:cNvPr>
          <p:cNvSpPr txBox="1"/>
          <p:nvPr/>
        </p:nvSpPr>
        <p:spPr>
          <a:xfrm>
            <a:off x="3617387" y="714390"/>
            <a:ext cx="4407988" cy="369332"/>
          </a:xfrm>
          <a:prstGeom prst="rect">
            <a:avLst/>
          </a:prstGeom>
          <a:noFill/>
        </p:spPr>
        <p:txBody>
          <a:bodyPr wrap="square" rtlCol="0">
            <a:spAutoFit/>
          </a:bodyPr>
          <a:lstStyle/>
          <a:p>
            <a:r>
              <a:rPr lang="it-IT" dirty="0"/>
              <a:t>Ricerca report, Account Data Health Check</a:t>
            </a:r>
          </a:p>
        </p:txBody>
      </p:sp>
      <p:sp>
        <p:nvSpPr>
          <p:cNvPr id="11" name="CasellaDiTesto 10">
            <a:extLst>
              <a:ext uri="{FF2B5EF4-FFF2-40B4-BE49-F238E27FC236}">
                <a16:creationId xmlns:a16="http://schemas.microsoft.com/office/drawing/2014/main" id="{DCD817BB-7058-A3D7-AC7E-0CD9EE1A973B}"/>
              </a:ext>
            </a:extLst>
          </p:cNvPr>
          <p:cNvSpPr txBox="1"/>
          <p:nvPr/>
        </p:nvSpPr>
        <p:spPr>
          <a:xfrm>
            <a:off x="2571228" y="4256395"/>
            <a:ext cx="8740877" cy="2308324"/>
          </a:xfrm>
          <a:prstGeom prst="rect">
            <a:avLst/>
          </a:prstGeom>
          <a:solidFill>
            <a:schemeClr val="bg1"/>
          </a:solidFill>
        </p:spPr>
        <p:txBody>
          <a:bodyPr wrap="square" rtlCol="0">
            <a:spAutoFit/>
          </a:bodyPr>
          <a:lstStyle/>
          <a:p>
            <a:r>
              <a:rPr lang="it-IT" dirty="0"/>
              <a:t>Utilizza il report per identificare le aree dove mancano i dati. Dopo un breve utilizzo è in grado di usare le capacità di drill down per scavare nei dati, come mostrato negli step seguenti.   Rileva una mancanza di dati per la Sede Amministrativa di Milano. </a:t>
            </a:r>
            <a:br>
              <a:rPr lang="it-IT" dirty="0"/>
            </a:br>
            <a:br>
              <a:rPr lang="it-IT" dirty="0"/>
            </a:br>
            <a:r>
              <a:rPr lang="it-IT" dirty="0"/>
              <a:t>I dati di GO, Garanzia di Origine, per la sede di Segrate non sono stati registrati</a:t>
            </a:r>
          </a:p>
          <a:p>
            <a:endParaRPr lang="it-IT" dirty="0"/>
          </a:p>
          <a:p>
            <a:r>
              <a:rPr lang="it-IT" dirty="0"/>
              <a:t>Mara attiva una </a:t>
            </a:r>
            <a:r>
              <a:rPr lang="it-IT" dirty="0" err="1"/>
              <a:t>Issue</a:t>
            </a:r>
            <a:r>
              <a:rPr lang="it-IT" dirty="0"/>
              <a:t> (attiva un Problema) termine per indicare una richiesta di intervento sui dati della sede di Milano.</a:t>
            </a:r>
          </a:p>
        </p:txBody>
      </p:sp>
      <p:pic>
        <p:nvPicPr>
          <p:cNvPr id="13" name="Immagine 12">
            <a:extLst>
              <a:ext uri="{FF2B5EF4-FFF2-40B4-BE49-F238E27FC236}">
                <a16:creationId xmlns:a16="http://schemas.microsoft.com/office/drawing/2014/main" id="{C8376A64-25CD-8698-B004-EA63C0B214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82868" y="1339907"/>
            <a:ext cx="3515543" cy="1821306"/>
          </a:xfrm>
          <a:prstGeom prst="rect">
            <a:avLst/>
          </a:prstGeom>
        </p:spPr>
      </p:pic>
      <p:pic>
        <p:nvPicPr>
          <p:cNvPr id="14" name="Immagine 13">
            <a:extLst>
              <a:ext uri="{FF2B5EF4-FFF2-40B4-BE49-F238E27FC236}">
                <a16:creationId xmlns:a16="http://schemas.microsoft.com/office/drawing/2014/main" id="{4F95939C-513C-55B5-08E8-7D30D20FAC8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63507" y="1973042"/>
            <a:ext cx="2890169" cy="1863971"/>
          </a:xfrm>
          <a:prstGeom prst="rect">
            <a:avLst/>
          </a:prstGeom>
        </p:spPr>
      </p:pic>
    </p:spTree>
    <p:extLst>
      <p:ext uri="{BB962C8B-B14F-4D97-AF65-F5344CB8AC3E}">
        <p14:creationId xmlns:p14="http://schemas.microsoft.com/office/powerpoint/2010/main" val="35341196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39981-73A5-A5AC-15C0-906AC2C178AC}"/>
            </a:ext>
          </a:extLst>
        </p:cNvPr>
        <p:cNvGrpSpPr/>
        <p:nvPr/>
      </p:nvGrpSpPr>
      <p:grpSpPr>
        <a:xfrm>
          <a:off x="0" y="0"/>
          <a:ext cx="0" cy="0"/>
          <a:chOff x="0" y="0"/>
          <a:chExt cx="0" cy="0"/>
        </a:xfrm>
      </p:grpSpPr>
      <p:pic>
        <p:nvPicPr>
          <p:cNvPr id="2" name="Immagine 1">
            <a:extLst>
              <a:ext uri="{FF2B5EF4-FFF2-40B4-BE49-F238E27FC236}">
                <a16:creationId xmlns:a16="http://schemas.microsoft.com/office/drawing/2014/main" id="{E10E5043-13C2-CB3A-7C72-66A683D83B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016432"/>
            <a:ext cx="9956984" cy="4897540"/>
          </a:xfrm>
          <a:prstGeom prst="rect">
            <a:avLst/>
          </a:prstGeom>
        </p:spPr>
      </p:pic>
      <p:sp>
        <p:nvSpPr>
          <p:cNvPr id="6" name="CasellaDiTesto 5">
            <a:extLst>
              <a:ext uri="{FF2B5EF4-FFF2-40B4-BE49-F238E27FC236}">
                <a16:creationId xmlns:a16="http://schemas.microsoft.com/office/drawing/2014/main" id="{AB74057A-AE73-2F19-BB68-26AFEF8FF3DC}"/>
              </a:ext>
            </a:extLst>
          </p:cNvPr>
          <p:cNvSpPr txBox="1"/>
          <p:nvPr/>
        </p:nvSpPr>
        <p:spPr>
          <a:xfrm>
            <a:off x="928268" y="5291409"/>
            <a:ext cx="2668773" cy="1384995"/>
          </a:xfrm>
          <a:prstGeom prst="rect">
            <a:avLst/>
          </a:prstGeom>
          <a:solidFill>
            <a:srgbClr val="F2F6F5"/>
          </a:solidFill>
          <a:ln>
            <a:noFill/>
          </a:ln>
        </p:spPr>
        <p:txBody>
          <a:bodyPr wrap="square" anchor="t" anchorCtr="0">
            <a:spAutoFit/>
          </a:bodyPr>
          <a:lstStyle>
            <a:defPPr>
              <a:defRPr lang="it-IT"/>
            </a:defPPr>
            <a:lvl1pPr>
              <a:defRPr sz="1400" b="1"/>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1" i="0" u="none" strike="noStrike" kern="1200" cap="none" spc="0" normalizeH="0" baseline="0" noProof="0" dirty="0">
                <a:ln>
                  <a:noFill/>
                </a:ln>
                <a:solidFill>
                  <a:srgbClr val="1A1A1A"/>
                </a:solidFill>
                <a:effectLst/>
                <a:uLnTx/>
                <a:uFillTx/>
                <a:latin typeface="Calibri"/>
                <a:ea typeface="Calibri"/>
                <a:cs typeface="Calibri"/>
              </a:rPr>
              <a:t>Prima ancora di parlare di emissioni dobbiamo essere certi che i dati siano completi.” (indicare il riquadro verde)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1" i="0" u="none" strike="noStrike" kern="1200" cap="none" spc="0" normalizeH="0" baseline="0" noProof="0" dirty="0">
                <a:ln>
                  <a:noFill/>
                </a:ln>
                <a:solidFill>
                  <a:srgbClr val="1A1A1A"/>
                </a:solidFill>
                <a:effectLst/>
                <a:uLnTx/>
                <a:uFillTx/>
                <a:latin typeface="Calibri"/>
                <a:ea typeface="Calibri"/>
                <a:cs typeface="Calibri"/>
              </a:rPr>
              <a:t>“In questo esempio il 94,2% degli account è aggiornato.”</a:t>
            </a:r>
          </a:p>
        </p:txBody>
      </p:sp>
      <p:sp>
        <p:nvSpPr>
          <p:cNvPr id="8" name="CasellaDiTesto 7">
            <a:extLst>
              <a:ext uri="{FF2B5EF4-FFF2-40B4-BE49-F238E27FC236}">
                <a16:creationId xmlns:a16="http://schemas.microsoft.com/office/drawing/2014/main" id="{AD358D6C-A573-9FC4-543A-B74945D41696}"/>
              </a:ext>
            </a:extLst>
          </p:cNvPr>
          <p:cNvSpPr txBox="1"/>
          <p:nvPr/>
        </p:nvSpPr>
        <p:spPr>
          <a:xfrm>
            <a:off x="6168499" y="5298048"/>
            <a:ext cx="3198273" cy="954107"/>
          </a:xfrm>
          <a:prstGeom prst="rect">
            <a:avLst/>
          </a:prstGeom>
          <a:solidFill>
            <a:srgbClr val="F2F6F5"/>
          </a:solidFill>
          <a:ln>
            <a:noFill/>
          </a:ln>
        </p:spPr>
        <p:txBody>
          <a:bodyPr wrap="square" anchor="t" anchorCtr="0">
            <a:spAutoFit/>
          </a:bodyPr>
          <a:lstStyle>
            <a:defPPr>
              <a:defRPr lang="it-IT"/>
            </a:defPPr>
            <a:lvl1pPr>
              <a:defRPr sz="1400" b="1"/>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1" i="0" u="none" strike="noStrike" kern="1200" cap="none" spc="0" normalizeH="0" baseline="0" noProof="0" dirty="0" err="1">
                <a:ln>
                  <a:noFill/>
                </a:ln>
                <a:solidFill>
                  <a:srgbClr val="1A1A1A"/>
                </a:solidFill>
                <a:effectLst/>
                <a:uLnTx/>
                <a:uFillTx/>
                <a:latin typeface="Calibri"/>
                <a:ea typeface="Calibri"/>
                <a:cs typeface="Calibri"/>
              </a:rPr>
              <a:t>Envizi</a:t>
            </a:r>
            <a:r>
              <a:rPr kumimoji="0" lang="it-IT" sz="1200" b="1" i="0" u="none" strike="noStrike" kern="1200" cap="none" spc="0" normalizeH="0" baseline="0" noProof="0" dirty="0">
                <a:ln>
                  <a:noFill/>
                </a:ln>
                <a:solidFill>
                  <a:srgbClr val="1A1A1A"/>
                </a:solidFill>
                <a:effectLst/>
                <a:uLnTx/>
                <a:uFillTx/>
                <a:latin typeface="Calibri"/>
                <a:ea typeface="Calibri"/>
                <a:cs typeface="Calibri"/>
              </a:rPr>
              <a:t> mostra anche quando esistono mesi mancanti o dati non ancora caricati. Non devo scoprirlo durante l’audit: lo vedo in anticipo.</a:t>
            </a:r>
          </a:p>
        </p:txBody>
      </p:sp>
      <p:sp>
        <p:nvSpPr>
          <p:cNvPr id="9" name="CasellaDiTesto 8">
            <a:extLst>
              <a:ext uri="{FF2B5EF4-FFF2-40B4-BE49-F238E27FC236}">
                <a16:creationId xmlns:a16="http://schemas.microsoft.com/office/drawing/2014/main" id="{0DDC2DE2-7B9F-6DEA-947F-68B5E7D84E14}"/>
              </a:ext>
            </a:extLst>
          </p:cNvPr>
          <p:cNvSpPr txBox="1"/>
          <p:nvPr/>
        </p:nvSpPr>
        <p:spPr>
          <a:xfrm>
            <a:off x="3760073" y="5291409"/>
            <a:ext cx="1708297" cy="1384995"/>
          </a:xfrm>
          <a:prstGeom prst="rect">
            <a:avLst/>
          </a:prstGeom>
          <a:solidFill>
            <a:srgbClr val="F2F6F5"/>
          </a:solidFill>
          <a:ln>
            <a:noFill/>
          </a:ln>
        </p:spPr>
        <p:txBody>
          <a:bodyPr wrap="square" anchor="t" anchorCtr="0">
            <a:spAutoFit/>
          </a:bodyPr>
          <a:lstStyle>
            <a:defPPr>
              <a:defRPr lang="it-IT"/>
            </a:defPPr>
            <a:lvl1pPr>
              <a:defRPr sz="1400" b="1"/>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1" i="0" u="none" strike="noStrike" kern="1200" cap="none" spc="0" normalizeH="0" baseline="0" noProof="0" dirty="0">
                <a:ln>
                  <a:noFill/>
                </a:ln>
                <a:solidFill>
                  <a:srgbClr val="1A1A1A"/>
                </a:solidFill>
                <a:effectLst/>
                <a:uLnTx/>
                <a:uFillTx/>
                <a:latin typeface="Calibri"/>
                <a:ea typeface="Calibri"/>
                <a:cs typeface="Calibri"/>
              </a:rPr>
              <a:t>“Solo il 5,8% risulta in arretrato e richiede attenzione.”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1" i="0" u="none" strike="noStrike" kern="1200" cap="none" spc="0" normalizeH="0" baseline="0" noProof="0" dirty="0">
                <a:ln>
                  <a:noFill/>
                </a:ln>
                <a:solidFill>
                  <a:srgbClr val="1A1A1A"/>
                </a:solidFill>
                <a:effectLst/>
                <a:uLnTx/>
                <a:uFillTx/>
                <a:latin typeface="Calibri"/>
                <a:ea typeface="Calibri"/>
                <a:cs typeface="Calibri"/>
              </a:rPr>
              <a:t>(grafico rosso a destra)»</a:t>
            </a:r>
          </a:p>
        </p:txBody>
      </p:sp>
      <p:sp>
        <p:nvSpPr>
          <p:cNvPr id="11" name="CasellaDiTesto 10">
            <a:extLst>
              <a:ext uri="{FF2B5EF4-FFF2-40B4-BE49-F238E27FC236}">
                <a16:creationId xmlns:a16="http://schemas.microsoft.com/office/drawing/2014/main" id="{4AE1B9EB-0200-EE24-D29F-9C3815DD0FF4}"/>
              </a:ext>
            </a:extLst>
          </p:cNvPr>
          <p:cNvSpPr txBox="1"/>
          <p:nvPr/>
        </p:nvSpPr>
        <p:spPr>
          <a:xfrm>
            <a:off x="457200" y="254000"/>
            <a:ext cx="11277600" cy="1323439"/>
          </a:xfrm>
          <a:prstGeom prst="rect">
            <a:avLst/>
          </a:prstGeom>
          <a:noFill/>
          <a:ln>
            <a:noFill/>
          </a:ln>
        </p:spPr>
        <p:txBody>
          <a:bodyPr wrap="square">
            <a:spAutoFit/>
          </a:bodyPr>
          <a:lstStyle>
            <a:defPPr>
              <a:defRPr lang="it-IT"/>
            </a:defPPr>
            <a:lvl1pPr>
              <a:defRPr sz="1400" b="1"/>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2000" i="0" u="none" strike="noStrike" kern="1200" cap="none" spc="0" normalizeH="0" baseline="0" noProof="0" dirty="0">
                <a:ln>
                  <a:noFill/>
                </a:ln>
                <a:solidFill>
                  <a:srgbClr val="000000"/>
                </a:solidFill>
                <a:effectLst/>
                <a:uLnTx/>
                <a:uFillTx/>
                <a:latin typeface="Calibri"/>
                <a:ea typeface="Calibri"/>
                <a:cs typeface="Calibri"/>
              </a:rPr>
              <a:t>L’obiettivo dell’ESG Manager è garantire che i dati siano completi,</a:t>
            </a:r>
            <a:br>
              <a:rPr kumimoji="0" lang="it-IT" sz="2000" i="0" u="none" strike="noStrike" kern="1200" cap="none" spc="0" normalizeH="0" baseline="0" noProof="0" dirty="0">
                <a:ln>
                  <a:noFill/>
                </a:ln>
                <a:solidFill>
                  <a:srgbClr val="000000"/>
                </a:solidFill>
                <a:effectLst/>
                <a:uLnTx/>
                <a:uFillTx/>
                <a:latin typeface="Calibri"/>
                <a:ea typeface="Calibri"/>
                <a:cs typeface="Calibri"/>
              </a:rPr>
            </a:br>
            <a:r>
              <a:rPr kumimoji="0" lang="it-IT" sz="2000" i="0" u="none" strike="noStrike" kern="1200" cap="none" spc="0" normalizeH="0" baseline="0" noProof="0" dirty="0">
                <a:ln>
                  <a:noFill/>
                </a:ln>
                <a:solidFill>
                  <a:srgbClr val="000000"/>
                </a:solidFill>
                <a:effectLst/>
                <a:uLnTx/>
                <a:uFillTx/>
                <a:latin typeface="Calibri"/>
                <a:ea typeface="Calibri"/>
                <a:cs typeface="Calibri"/>
              </a:rPr>
              <a:t>controllati e pronti per essere utilizzati in report ufficiali e verifiche di audit.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it-IT" sz="2000" i="0" u="none" strike="noStrike" kern="1200" cap="none" spc="0" normalizeH="0" baseline="0" noProof="0" dirty="0">
                <a:ln>
                  <a:noFill/>
                </a:ln>
                <a:solidFill>
                  <a:srgbClr val="000000"/>
                </a:solidFill>
                <a:effectLst/>
                <a:uLnTx/>
                <a:uFillTx/>
                <a:latin typeface="Calibri"/>
                <a:ea typeface="Calibri"/>
                <a:cs typeface="Calibri"/>
              </a:rPr>
            </a:br>
            <a:endParaRPr kumimoji="0" lang="it-IT" sz="2000" i="0" u="none" strike="noStrike" kern="1200" cap="none" spc="0" normalizeH="0" baseline="0" noProof="0" dirty="0">
              <a:ln>
                <a:noFill/>
              </a:ln>
              <a:solidFill>
                <a:srgbClr val="000000"/>
              </a:solidFill>
              <a:effectLst/>
              <a:uLnTx/>
              <a:uFillTx/>
              <a:latin typeface="Calibri"/>
              <a:ea typeface="Calibri"/>
              <a:cs typeface="Calibri"/>
            </a:endParaRPr>
          </a:p>
        </p:txBody>
      </p:sp>
    </p:spTree>
    <p:extLst>
      <p:ext uri="{BB962C8B-B14F-4D97-AF65-F5344CB8AC3E}">
        <p14:creationId xmlns:p14="http://schemas.microsoft.com/office/powerpoint/2010/main" val="24883630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0AA49-39ED-5A41-B78B-B277F7557BA6}"/>
            </a:ext>
          </a:extLst>
        </p:cNvPr>
        <p:cNvGrpSpPr/>
        <p:nvPr/>
      </p:nvGrpSpPr>
      <p:grpSpPr>
        <a:xfrm>
          <a:off x="0" y="0"/>
          <a:ext cx="0" cy="0"/>
          <a:chOff x="0" y="0"/>
          <a:chExt cx="0" cy="0"/>
        </a:xfrm>
      </p:grpSpPr>
      <p:pic>
        <p:nvPicPr>
          <p:cNvPr id="8" name="Immagine 7">
            <a:extLst>
              <a:ext uri="{FF2B5EF4-FFF2-40B4-BE49-F238E27FC236}">
                <a16:creationId xmlns:a16="http://schemas.microsoft.com/office/drawing/2014/main" id="{235F2D6D-E5DE-9B71-A9F3-4271F7487C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886" y="1074374"/>
            <a:ext cx="9746968" cy="4971848"/>
          </a:xfrm>
          <a:prstGeom prst="rect">
            <a:avLst/>
          </a:prstGeom>
        </p:spPr>
      </p:pic>
      <p:sp>
        <p:nvSpPr>
          <p:cNvPr id="10" name="CasellaDiTesto 9">
            <a:extLst>
              <a:ext uri="{FF2B5EF4-FFF2-40B4-BE49-F238E27FC236}">
                <a16:creationId xmlns:a16="http://schemas.microsoft.com/office/drawing/2014/main" id="{F5E0178E-F208-B3B9-52F2-B482B88E97DE}"/>
              </a:ext>
            </a:extLst>
          </p:cNvPr>
          <p:cNvSpPr txBox="1"/>
          <p:nvPr/>
        </p:nvSpPr>
        <p:spPr>
          <a:xfrm>
            <a:off x="940772" y="2904246"/>
            <a:ext cx="2731008" cy="954107"/>
          </a:xfrm>
          <a:prstGeom prst="rect">
            <a:avLst/>
          </a:prstGeom>
          <a:solidFill>
            <a:srgbClr val="F2F6F5"/>
          </a:solidFill>
          <a:ln>
            <a:noFill/>
          </a:ln>
        </p:spPr>
        <p:txBody>
          <a:bodyPr wrap="square" anchor="t" anchorCtr="0">
            <a:spAutoFit/>
          </a:bodyPr>
          <a:lstStyle>
            <a:defPPr>
              <a:defRPr lang="it-IT"/>
            </a:defPPr>
            <a:lvl1pPr>
              <a:defRPr sz="1400" b="1"/>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dirty="0">
                <a:ln>
                  <a:noFill/>
                </a:ln>
                <a:solidFill>
                  <a:srgbClr val="1A1A1A"/>
                </a:solidFill>
                <a:effectLst/>
                <a:uLnTx/>
                <a:uFillTx/>
                <a:latin typeface="Calibri"/>
                <a:ea typeface="Calibri"/>
                <a:cs typeface="Calibri"/>
              </a:rPr>
              <a:t>Data activity: tre account ancora aperti non ricevono dati da un periodo compreso tra cinque e dodici mesi.</a:t>
            </a:r>
          </a:p>
        </p:txBody>
      </p:sp>
      <p:sp>
        <p:nvSpPr>
          <p:cNvPr id="12" name="CasellaDiTesto 11">
            <a:extLst>
              <a:ext uri="{FF2B5EF4-FFF2-40B4-BE49-F238E27FC236}">
                <a16:creationId xmlns:a16="http://schemas.microsoft.com/office/drawing/2014/main" id="{05EB501D-61FF-96C4-CF4D-9DDD53AB1B48}"/>
              </a:ext>
            </a:extLst>
          </p:cNvPr>
          <p:cNvSpPr txBox="1"/>
          <p:nvPr/>
        </p:nvSpPr>
        <p:spPr>
          <a:xfrm>
            <a:off x="854609" y="4576252"/>
            <a:ext cx="2552523" cy="738664"/>
          </a:xfrm>
          <a:prstGeom prst="rect">
            <a:avLst/>
          </a:prstGeom>
          <a:solidFill>
            <a:srgbClr val="F2F6F5"/>
          </a:solidFill>
          <a:ln>
            <a:noFill/>
          </a:ln>
        </p:spPr>
        <p:txBody>
          <a:bodyPr wrap="square" anchor="t" anchorCtr="0">
            <a:spAutoFit/>
          </a:bodyPr>
          <a:lstStyle>
            <a:defPPr>
              <a:defRPr lang="it-IT"/>
            </a:defPPr>
            <a:lvl1pPr>
              <a:defRPr sz="1400" b="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dirty="0">
                <a:ln>
                  <a:noFill/>
                </a:ln>
                <a:solidFill>
                  <a:srgbClr val="1A1A1A"/>
                </a:solidFill>
                <a:effectLst/>
                <a:uLnTx/>
                <a:uFillTx/>
                <a:latin typeface="Calibri"/>
                <a:ea typeface="Calibri"/>
                <a:cs typeface="Calibri"/>
              </a:rPr>
              <a:t>quali tipologie di dati sono interessate: energia elettrica, gas refrigeranti e dati trasporti</a:t>
            </a:r>
          </a:p>
        </p:txBody>
      </p:sp>
      <p:sp>
        <p:nvSpPr>
          <p:cNvPr id="2" name="CasellaDiTesto 1">
            <a:extLst>
              <a:ext uri="{FF2B5EF4-FFF2-40B4-BE49-F238E27FC236}">
                <a16:creationId xmlns:a16="http://schemas.microsoft.com/office/drawing/2014/main" id="{9E316BE7-0A3D-5F00-5F9F-B7E5F5AEDF3A}"/>
              </a:ext>
            </a:extLst>
          </p:cNvPr>
          <p:cNvSpPr txBox="1"/>
          <p:nvPr/>
        </p:nvSpPr>
        <p:spPr>
          <a:xfrm>
            <a:off x="457200" y="254000"/>
            <a:ext cx="11277600" cy="707886"/>
          </a:xfrm>
          <a:prstGeom prst="rect">
            <a:avLst/>
          </a:prstGeom>
          <a:noFill/>
          <a:ln>
            <a:noFill/>
          </a:ln>
        </p:spPr>
        <p:txBody>
          <a:bodyPr wrap="square">
            <a:spAutoFit/>
          </a:bodyPr>
          <a:lstStyle>
            <a:defPPr>
              <a:defRPr lang="it-IT"/>
            </a:defPPr>
            <a:lvl1pPr>
              <a:defRPr sz="1400" b="1"/>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2000" i="0" u="none" strike="noStrike" kern="1200" cap="none" spc="0" normalizeH="0" baseline="0" noProof="0" dirty="0">
                <a:ln>
                  <a:noFill/>
                </a:ln>
                <a:solidFill>
                  <a:srgbClr val="000000"/>
                </a:solidFill>
                <a:effectLst/>
                <a:uLnTx/>
                <a:uFillTx/>
                <a:latin typeface="Calibri"/>
                <a:ea typeface="Calibri"/>
                <a:cs typeface="Calibri"/>
              </a:rPr>
              <a:t>Vista account in </a:t>
            </a:r>
            <a:r>
              <a:rPr kumimoji="0" lang="it-IT" sz="2000" i="0" u="none" strike="noStrike" kern="1200" cap="none" spc="0" normalizeH="0" baseline="0" noProof="0" dirty="0" err="1">
                <a:ln>
                  <a:noFill/>
                </a:ln>
                <a:solidFill>
                  <a:srgbClr val="000000"/>
                </a:solidFill>
                <a:effectLst/>
                <a:uLnTx/>
                <a:uFillTx/>
                <a:latin typeface="Calibri"/>
                <a:ea typeface="Calibri"/>
                <a:cs typeface="Calibri"/>
              </a:rPr>
              <a:t>arrears</a:t>
            </a:r>
            <a:r>
              <a:rPr kumimoji="0" lang="it-IT" sz="2000" i="0" u="none" strike="noStrike" kern="1200" cap="none" spc="0" normalizeH="0" baseline="0" noProof="0" dirty="0">
                <a:ln>
                  <a:noFill/>
                </a:ln>
                <a:solidFill>
                  <a:srgbClr val="000000"/>
                </a:solidFill>
                <a:effectLst/>
                <a:uLnTx/>
                <a:uFillTx/>
                <a:latin typeface="Calibri"/>
                <a:ea typeface="Calibri"/>
                <a:cs typeface="Calibri"/>
              </a:rPr>
              <a:t> (conti in ritardo): dal semplice indicatore (5,8% degli account in ritardo alle informazioni operative: chi deve intervenire su quali account per quali dati e con quale priorità. </a:t>
            </a:r>
          </a:p>
        </p:txBody>
      </p:sp>
      <p:sp>
        <p:nvSpPr>
          <p:cNvPr id="3" name="Ovale 2">
            <a:extLst>
              <a:ext uri="{FF2B5EF4-FFF2-40B4-BE49-F238E27FC236}">
                <a16:creationId xmlns:a16="http://schemas.microsoft.com/office/drawing/2014/main" id="{0A694511-C6BE-B5F3-1872-5D2B7B38ABEF}"/>
              </a:ext>
            </a:extLst>
          </p:cNvPr>
          <p:cNvSpPr/>
          <p:nvPr/>
        </p:nvSpPr>
        <p:spPr>
          <a:xfrm>
            <a:off x="3554996" y="1972813"/>
            <a:ext cx="1467293" cy="738664"/>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dirty="0">
              <a:ln>
                <a:noFill/>
              </a:ln>
              <a:solidFill>
                <a:srgbClr val="FFFFFF"/>
              </a:solidFill>
              <a:effectLst/>
              <a:uLnTx/>
              <a:uFillTx/>
              <a:latin typeface="Calibri"/>
              <a:cs typeface="Calibri"/>
            </a:endParaRPr>
          </a:p>
        </p:txBody>
      </p:sp>
      <p:sp>
        <p:nvSpPr>
          <p:cNvPr id="5" name="Ovale 4">
            <a:extLst>
              <a:ext uri="{FF2B5EF4-FFF2-40B4-BE49-F238E27FC236}">
                <a16:creationId xmlns:a16="http://schemas.microsoft.com/office/drawing/2014/main" id="{4CEC0A12-0583-CC83-C243-6CB20F8857D7}"/>
              </a:ext>
            </a:extLst>
          </p:cNvPr>
          <p:cNvSpPr/>
          <p:nvPr/>
        </p:nvSpPr>
        <p:spPr>
          <a:xfrm>
            <a:off x="4288642" y="1447287"/>
            <a:ext cx="1467293" cy="43186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dirty="0">
              <a:ln>
                <a:noFill/>
              </a:ln>
              <a:solidFill>
                <a:srgbClr val="FFFFFF"/>
              </a:solidFill>
              <a:effectLst/>
              <a:uLnTx/>
              <a:uFillTx/>
              <a:latin typeface="Calibri"/>
              <a:cs typeface="Calibri"/>
            </a:endParaRPr>
          </a:p>
        </p:txBody>
      </p:sp>
      <p:sp>
        <p:nvSpPr>
          <p:cNvPr id="6" name="Ovale 5">
            <a:extLst>
              <a:ext uri="{FF2B5EF4-FFF2-40B4-BE49-F238E27FC236}">
                <a16:creationId xmlns:a16="http://schemas.microsoft.com/office/drawing/2014/main" id="{C7279C5B-AF52-3D38-C89E-800EC55B30E4}"/>
              </a:ext>
            </a:extLst>
          </p:cNvPr>
          <p:cNvSpPr/>
          <p:nvPr/>
        </p:nvSpPr>
        <p:spPr>
          <a:xfrm>
            <a:off x="5636370" y="4423453"/>
            <a:ext cx="1217070" cy="61872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dirty="0">
              <a:ln>
                <a:noFill/>
              </a:ln>
              <a:solidFill>
                <a:srgbClr val="FFFFFF"/>
              </a:solidFill>
              <a:effectLst/>
              <a:uLnTx/>
              <a:uFillTx/>
              <a:latin typeface="Calibri"/>
              <a:cs typeface="Calibri"/>
            </a:endParaRPr>
          </a:p>
        </p:txBody>
      </p:sp>
      <p:sp>
        <p:nvSpPr>
          <p:cNvPr id="7" name="Ovale 6">
            <a:extLst>
              <a:ext uri="{FF2B5EF4-FFF2-40B4-BE49-F238E27FC236}">
                <a16:creationId xmlns:a16="http://schemas.microsoft.com/office/drawing/2014/main" id="{676F41D3-CFED-8017-AF36-289CD50C7977}"/>
              </a:ext>
            </a:extLst>
          </p:cNvPr>
          <p:cNvSpPr/>
          <p:nvPr/>
        </p:nvSpPr>
        <p:spPr>
          <a:xfrm>
            <a:off x="6853440" y="2790049"/>
            <a:ext cx="1217070" cy="61872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dirty="0">
              <a:ln>
                <a:noFill/>
              </a:ln>
              <a:solidFill>
                <a:srgbClr val="FFFFFF"/>
              </a:solidFill>
              <a:effectLst/>
              <a:uLnTx/>
              <a:uFillTx/>
              <a:latin typeface="Calibri"/>
              <a:cs typeface="Calibri"/>
            </a:endParaRPr>
          </a:p>
        </p:txBody>
      </p:sp>
      <p:cxnSp>
        <p:nvCxnSpPr>
          <p:cNvPr id="11" name="Connettore dritto 10">
            <a:extLst>
              <a:ext uri="{FF2B5EF4-FFF2-40B4-BE49-F238E27FC236}">
                <a16:creationId xmlns:a16="http://schemas.microsoft.com/office/drawing/2014/main" id="{2F3E4EF4-9229-7631-5103-069D76E7E17C}"/>
              </a:ext>
            </a:extLst>
          </p:cNvPr>
          <p:cNvCxnSpPr/>
          <p:nvPr/>
        </p:nvCxnSpPr>
        <p:spPr>
          <a:xfrm flipH="1">
            <a:off x="3554996" y="2659398"/>
            <a:ext cx="350874" cy="244848"/>
          </a:xfrm>
          <a:prstGeom prst="line">
            <a:avLst/>
          </a:prstGeom>
          <a:ln w="50800"/>
        </p:spPr>
        <p:style>
          <a:lnRef idx="1">
            <a:schemeClr val="accent2"/>
          </a:lnRef>
          <a:fillRef idx="0">
            <a:schemeClr val="accent2"/>
          </a:fillRef>
          <a:effectRef idx="0">
            <a:schemeClr val="accent2"/>
          </a:effectRef>
          <a:fontRef idx="minor">
            <a:schemeClr val="tx1"/>
          </a:fontRef>
        </p:style>
      </p:cxnSp>
      <p:cxnSp>
        <p:nvCxnSpPr>
          <p:cNvPr id="13" name="Connettore dritto 12">
            <a:extLst>
              <a:ext uri="{FF2B5EF4-FFF2-40B4-BE49-F238E27FC236}">
                <a16:creationId xmlns:a16="http://schemas.microsoft.com/office/drawing/2014/main" id="{609F9189-6658-FA16-9465-D81BB4B1871F}"/>
              </a:ext>
            </a:extLst>
          </p:cNvPr>
          <p:cNvCxnSpPr>
            <a:cxnSpLocks/>
          </p:cNvCxnSpPr>
          <p:nvPr/>
        </p:nvCxnSpPr>
        <p:spPr>
          <a:xfrm flipH="1">
            <a:off x="4554456" y="1879153"/>
            <a:ext cx="85060" cy="93660"/>
          </a:xfrm>
          <a:prstGeom prst="line">
            <a:avLst/>
          </a:prstGeom>
          <a:ln w="50800"/>
        </p:spPr>
        <p:style>
          <a:lnRef idx="1">
            <a:schemeClr val="accent2"/>
          </a:lnRef>
          <a:fillRef idx="0">
            <a:schemeClr val="accent2"/>
          </a:fillRef>
          <a:effectRef idx="0">
            <a:schemeClr val="accent2"/>
          </a:effectRef>
          <a:fontRef idx="minor">
            <a:schemeClr val="tx1"/>
          </a:fontRef>
        </p:style>
      </p:cxnSp>
      <p:cxnSp>
        <p:nvCxnSpPr>
          <p:cNvPr id="20" name="Connettore dritto 19">
            <a:extLst>
              <a:ext uri="{FF2B5EF4-FFF2-40B4-BE49-F238E27FC236}">
                <a16:creationId xmlns:a16="http://schemas.microsoft.com/office/drawing/2014/main" id="{4ED71D11-00A1-08E9-7370-B31DED037301}"/>
              </a:ext>
            </a:extLst>
          </p:cNvPr>
          <p:cNvCxnSpPr>
            <a:cxnSpLocks/>
          </p:cNvCxnSpPr>
          <p:nvPr/>
        </p:nvCxnSpPr>
        <p:spPr>
          <a:xfrm>
            <a:off x="2895777" y="3868986"/>
            <a:ext cx="191386" cy="717899"/>
          </a:xfrm>
          <a:prstGeom prst="line">
            <a:avLst/>
          </a:prstGeom>
          <a:ln w="50800"/>
        </p:spPr>
        <p:style>
          <a:lnRef idx="1">
            <a:schemeClr val="accent2"/>
          </a:lnRef>
          <a:fillRef idx="0">
            <a:schemeClr val="accent2"/>
          </a:fillRef>
          <a:effectRef idx="0">
            <a:schemeClr val="accent2"/>
          </a:effectRef>
          <a:fontRef idx="minor">
            <a:schemeClr val="tx1"/>
          </a:fontRef>
        </p:style>
      </p:cxnSp>
      <p:cxnSp>
        <p:nvCxnSpPr>
          <p:cNvPr id="22" name="Connettore dritto 21">
            <a:extLst>
              <a:ext uri="{FF2B5EF4-FFF2-40B4-BE49-F238E27FC236}">
                <a16:creationId xmlns:a16="http://schemas.microsoft.com/office/drawing/2014/main" id="{FC6CC3A3-8077-160B-64AC-230AC3DC07FE}"/>
              </a:ext>
            </a:extLst>
          </p:cNvPr>
          <p:cNvCxnSpPr>
            <a:cxnSpLocks/>
          </p:cNvCxnSpPr>
          <p:nvPr/>
        </p:nvCxnSpPr>
        <p:spPr>
          <a:xfrm flipV="1">
            <a:off x="3399618" y="4849705"/>
            <a:ext cx="2236752" cy="152428"/>
          </a:xfrm>
          <a:prstGeom prst="line">
            <a:avLst/>
          </a:prstGeom>
          <a:ln w="50800"/>
        </p:spPr>
        <p:style>
          <a:lnRef idx="1">
            <a:schemeClr val="accent2"/>
          </a:lnRef>
          <a:fillRef idx="0">
            <a:schemeClr val="accent2"/>
          </a:fillRef>
          <a:effectRef idx="0">
            <a:schemeClr val="accent2"/>
          </a:effectRef>
          <a:fontRef idx="minor">
            <a:schemeClr val="tx1"/>
          </a:fontRef>
        </p:style>
      </p:cxnSp>
      <p:cxnSp>
        <p:nvCxnSpPr>
          <p:cNvPr id="24" name="Connettore dritto 23">
            <a:extLst>
              <a:ext uri="{FF2B5EF4-FFF2-40B4-BE49-F238E27FC236}">
                <a16:creationId xmlns:a16="http://schemas.microsoft.com/office/drawing/2014/main" id="{A2C4FD0F-1B7D-1C3B-B540-871737949B72}"/>
              </a:ext>
            </a:extLst>
          </p:cNvPr>
          <p:cNvCxnSpPr>
            <a:cxnSpLocks/>
          </p:cNvCxnSpPr>
          <p:nvPr/>
        </p:nvCxnSpPr>
        <p:spPr>
          <a:xfrm flipV="1">
            <a:off x="6354702" y="3273578"/>
            <a:ext cx="593840" cy="1176689"/>
          </a:xfrm>
          <a:prstGeom prst="line">
            <a:avLst/>
          </a:prstGeom>
          <a:ln w="50800"/>
        </p:spPr>
        <p:style>
          <a:lnRef idx="1">
            <a:schemeClr val="accent2"/>
          </a:lnRef>
          <a:fillRef idx="0">
            <a:schemeClr val="accent2"/>
          </a:fillRef>
          <a:effectRef idx="0">
            <a:schemeClr val="accent2"/>
          </a:effectRef>
          <a:fontRef idx="minor">
            <a:schemeClr val="tx1"/>
          </a:fontRef>
        </p:style>
      </p:cxnSp>
      <p:sp>
        <p:nvSpPr>
          <p:cNvPr id="14" name="CasellaDiTesto 13">
            <a:extLst>
              <a:ext uri="{FF2B5EF4-FFF2-40B4-BE49-F238E27FC236}">
                <a16:creationId xmlns:a16="http://schemas.microsoft.com/office/drawing/2014/main" id="{1221F21C-8ED5-8717-463B-01C76914019E}"/>
              </a:ext>
            </a:extLst>
          </p:cNvPr>
          <p:cNvSpPr txBox="1"/>
          <p:nvPr/>
        </p:nvSpPr>
        <p:spPr>
          <a:xfrm>
            <a:off x="4735209" y="3507644"/>
            <a:ext cx="2085553" cy="738664"/>
          </a:xfrm>
          <a:prstGeom prst="rect">
            <a:avLst/>
          </a:prstGeom>
          <a:solidFill>
            <a:srgbClr val="F2F6F5"/>
          </a:solidFill>
          <a:ln>
            <a:noFill/>
          </a:ln>
        </p:spPr>
        <p:txBody>
          <a:bodyPr wrap="square" anchor="t" anchorCtr="0">
            <a:spAutoFit/>
          </a:bodyPr>
          <a:lstStyle>
            <a:defPPr>
              <a:defRPr lang="it-IT"/>
            </a:defPPr>
            <a:lvl1pPr>
              <a:defRPr sz="1400" b="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dirty="0">
                <a:ln>
                  <a:noFill/>
                </a:ln>
                <a:solidFill>
                  <a:srgbClr val="1A1A1A"/>
                </a:solidFill>
                <a:effectLst/>
                <a:uLnTx/>
                <a:uFillTx/>
                <a:latin typeface="Calibri"/>
                <a:ea typeface="Calibri"/>
                <a:cs typeface="Calibri"/>
              </a:rPr>
              <a:t>identificare i fornitori dei dati in ritardo (click su fetta torta data </a:t>
            </a:r>
            <a:r>
              <a:rPr kumimoji="0" lang="it-IT" sz="1200" b="0" i="0" u="none" strike="noStrike" kern="1200" cap="none" spc="0" normalizeH="0" baseline="0" noProof="0" dirty="0" err="1">
                <a:ln>
                  <a:noFill/>
                </a:ln>
                <a:solidFill>
                  <a:srgbClr val="1A1A1A"/>
                </a:solidFill>
                <a:effectLst/>
                <a:uLnTx/>
                <a:uFillTx/>
                <a:latin typeface="Calibri"/>
                <a:ea typeface="Calibri"/>
                <a:cs typeface="Calibri"/>
              </a:rPr>
              <a:t>type</a:t>
            </a:r>
            <a:r>
              <a:rPr kumimoji="0" lang="it-IT" sz="1200" b="0" i="0" u="none" strike="noStrike" kern="1200" cap="none" spc="0" normalizeH="0" baseline="0" noProof="0" dirty="0">
                <a:ln>
                  <a:noFill/>
                </a:ln>
                <a:solidFill>
                  <a:srgbClr val="1A1A1A"/>
                </a:solidFill>
                <a:effectLst/>
                <a:uLnTx/>
                <a:uFillTx/>
                <a:latin typeface="Calibri"/>
                <a:ea typeface="Calibri"/>
                <a:cs typeface="Calibri"/>
              </a:rPr>
              <a:t>)</a:t>
            </a:r>
          </a:p>
        </p:txBody>
      </p:sp>
      <p:sp>
        <p:nvSpPr>
          <p:cNvPr id="31" name="CasellaDiTesto 30">
            <a:extLst>
              <a:ext uri="{FF2B5EF4-FFF2-40B4-BE49-F238E27FC236}">
                <a16:creationId xmlns:a16="http://schemas.microsoft.com/office/drawing/2014/main" id="{CA0BC0C7-4A7C-A31B-7FD0-7E2139103FB9}"/>
              </a:ext>
            </a:extLst>
          </p:cNvPr>
          <p:cNvSpPr txBox="1"/>
          <p:nvPr/>
        </p:nvSpPr>
        <p:spPr>
          <a:xfrm>
            <a:off x="457200" y="6096000"/>
            <a:ext cx="11277600" cy="508000"/>
          </a:xfrm>
          <a:prstGeom prst="rect">
            <a:avLst/>
          </a:prstGeom>
          <a:solidFill>
            <a:srgbClr val="D5E1DE"/>
          </a:solidFill>
          <a:ln>
            <a:noFill/>
          </a:ln>
        </p:spPr>
        <p:txBody>
          <a:bodyPr wrap="square" anchor="ctr" anchorCtr="0">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it-IT" sz="1200" b="1" i="0" u="none" strike="noStrike" kern="1200" cap="none" spc="0" normalizeH="0" baseline="0" noProof="0" dirty="0">
                <a:ln>
                  <a:noFill/>
                </a:ln>
                <a:solidFill>
                  <a:srgbClr val="1A1A1A"/>
                </a:solidFill>
                <a:effectLst/>
                <a:uLnTx/>
                <a:uFillTx/>
                <a:latin typeface="Calibri"/>
                <a:ea typeface="Calibri"/>
                <a:cs typeface="Calibri"/>
              </a:rPr>
              <a:t>Data Activity</a:t>
            </a:r>
            <a:r>
              <a:rPr kumimoji="0" lang="it-IT" sz="1200" b="0" i="0" u="none" strike="noStrike" kern="1200" cap="none" spc="0" normalizeH="0" baseline="0" noProof="0" dirty="0">
                <a:ln>
                  <a:noFill/>
                </a:ln>
                <a:solidFill>
                  <a:srgbClr val="1A1A1A"/>
                </a:solidFill>
                <a:effectLst/>
                <a:uLnTx/>
                <a:uFillTx/>
                <a:latin typeface="Calibri"/>
                <a:ea typeface="Calibri"/>
                <a:cs typeface="Calibri"/>
              </a:rPr>
              <a:t> → </a:t>
            </a:r>
            <a:r>
              <a:rPr kumimoji="0" lang="it-IT" sz="1200" b="0" i="1" u="none" strike="noStrike" kern="1200" cap="none" spc="0" normalizeH="0" baseline="0" noProof="0" dirty="0">
                <a:ln>
                  <a:noFill/>
                </a:ln>
                <a:solidFill>
                  <a:srgbClr val="1A1A1A"/>
                </a:solidFill>
                <a:effectLst/>
                <a:uLnTx/>
                <a:uFillTx/>
                <a:latin typeface="Calibri"/>
                <a:ea typeface="Calibri"/>
                <a:cs typeface="Calibri"/>
              </a:rPr>
              <a:t>“Da quanto tempo un account non riceve dati?”</a:t>
            </a:r>
            <a:endParaRPr kumimoji="0" lang="it-IT" sz="1200" b="0" i="0" u="none" strike="noStrike" kern="1200" cap="none" spc="0" normalizeH="0" baseline="0" noProof="0" dirty="0">
              <a:ln>
                <a:noFill/>
              </a:ln>
              <a:solidFill>
                <a:srgbClr val="1A1A1A"/>
              </a:solidFill>
              <a:effectLst/>
              <a:uLnTx/>
              <a:uFillTx/>
              <a:latin typeface="Calibri"/>
              <a:ea typeface="Calibri"/>
              <a:cs typeface="Calibri"/>
            </a:endParaRPr>
          </a:p>
        </p:txBody>
      </p:sp>
    </p:spTree>
    <p:extLst>
      <p:ext uri="{BB962C8B-B14F-4D97-AF65-F5344CB8AC3E}">
        <p14:creationId xmlns:p14="http://schemas.microsoft.com/office/powerpoint/2010/main" val="15230291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A8FB2-EA8B-D7CA-6DAB-5C09445A2BED}"/>
            </a:ext>
          </a:extLst>
        </p:cNvPr>
        <p:cNvGrpSpPr/>
        <p:nvPr/>
      </p:nvGrpSpPr>
      <p:grpSpPr>
        <a:xfrm>
          <a:off x="0" y="0"/>
          <a:ext cx="0" cy="0"/>
          <a:chOff x="0" y="0"/>
          <a:chExt cx="0" cy="0"/>
        </a:xfrm>
      </p:grpSpPr>
      <p:sp>
        <p:nvSpPr>
          <p:cNvPr id="5" name="CasellaDiTesto 4">
            <a:extLst>
              <a:ext uri="{FF2B5EF4-FFF2-40B4-BE49-F238E27FC236}">
                <a16:creationId xmlns:a16="http://schemas.microsoft.com/office/drawing/2014/main" id="{D9F67BD2-C2DC-8564-6586-87265F62CF79}"/>
              </a:ext>
            </a:extLst>
          </p:cNvPr>
          <p:cNvSpPr txBox="1"/>
          <p:nvPr/>
        </p:nvSpPr>
        <p:spPr>
          <a:xfrm>
            <a:off x="457200" y="254000"/>
            <a:ext cx="1127760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2000" b="1" i="0" u="none" strike="noStrike" kern="1200" cap="none" spc="0" normalizeH="0" baseline="0" noProof="0" dirty="0">
                <a:ln>
                  <a:noFill/>
                </a:ln>
                <a:solidFill>
                  <a:srgbClr val="000000"/>
                </a:solidFill>
                <a:effectLst/>
                <a:uLnTx/>
                <a:uFillTx/>
                <a:latin typeface="Calibri"/>
                <a:ea typeface="Calibri"/>
                <a:cs typeface="Calibri"/>
              </a:rPr>
              <a:t>Vista &gt; Data Gaps – Tab </a:t>
            </a:r>
            <a:r>
              <a:rPr kumimoji="0" lang="it-IT" sz="2000" b="1" i="0" u="none" strike="noStrike" kern="1200" cap="none" spc="0" normalizeH="0" baseline="0" noProof="0" dirty="0" err="1">
                <a:ln>
                  <a:noFill/>
                </a:ln>
                <a:solidFill>
                  <a:srgbClr val="000000"/>
                </a:solidFill>
                <a:effectLst/>
                <a:uLnTx/>
                <a:uFillTx/>
                <a:latin typeface="Calibri"/>
                <a:ea typeface="Calibri"/>
                <a:cs typeface="Calibri"/>
              </a:rPr>
              <a:t>Consumption</a:t>
            </a:r>
            <a:r>
              <a:rPr kumimoji="0" lang="it-IT" sz="2000" b="1" i="0" u="none" strike="noStrike" kern="1200" cap="none" spc="0" normalizeH="0" baseline="0" noProof="0" dirty="0">
                <a:ln>
                  <a:noFill/>
                </a:ln>
                <a:solidFill>
                  <a:srgbClr val="000000"/>
                </a:solidFill>
                <a:effectLst/>
                <a:uLnTx/>
                <a:uFillTx/>
                <a:latin typeface="Calibri"/>
                <a:ea typeface="Calibri"/>
                <a:cs typeface="Calibri"/>
              </a:rPr>
              <a:t>  </a:t>
            </a:r>
            <a:r>
              <a:rPr kumimoji="0" lang="it-IT" sz="2000" b="1" i="1" u="none" strike="noStrike" kern="1200" cap="none" spc="0" normalizeH="0" baseline="0" noProof="0" dirty="0">
                <a:ln>
                  <a:noFill/>
                </a:ln>
                <a:solidFill>
                  <a:srgbClr val="000000"/>
                </a:solidFill>
                <a:effectLst/>
                <a:uLnTx/>
                <a:uFillTx/>
                <a:latin typeface="Calibri"/>
                <a:ea typeface="Calibri"/>
                <a:cs typeface="Calibri"/>
              </a:rPr>
              <a:t>“In quali mesi mancano dati sui consumi e dove devo intervenire?”</a:t>
            </a:r>
            <a:endParaRPr kumimoji="0" lang="it-IT" sz="2000" b="1" i="0" u="none" strike="noStrike" kern="1200" cap="none" spc="0" normalizeH="0" baseline="0" noProof="0" dirty="0">
              <a:ln>
                <a:noFill/>
              </a:ln>
              <a:solidFill>
                <a:srgbClr val="000000"/>
              </a:solidFill>
              <a:effectLst/>
              <a:uLnTx/>
              <a:uFillTx/>
              <a:latin typeface="Calibri"/>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2000" b="1" i="0" u="none" strike="noStrike" kern="1200" cap="none" spc="0" normalizeH="0" baseline="0" noProof="0" dirty="0">
              <a:ln>
                <a:noFill/>
              </a:ln>
              <a:solidFill>
                <a:srgbClr val="000000"/>
              </a:solidFill>
              <a:effectLst/>
              <a:uLnTx/>
              <a:uFillTx/>
              <a:latin typeface="Calibri"/>
              <a:ea typeface="Calibri"/>
              <a:cs typeface="Calibri"/>
            </a:endParaRPr>
          </a:p>
        </p:txBody>
      </p:sp>
      <p:pic>
        <p:nvPicPr>
          <p:cNvPr id="4" name="Immagine 3">
            <a:extLst>
              <a:ext uri="{FF2B5EF4-FFF2-40B4-BE49-F238E27FC236}">
                <a16:creationId xmlns:a16="http://schemas.microsoft.com/office/drawing/2014/main" id="{21397686-7C1E-006C-DBA7-B403AB9624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5861" y="855520"/>
            <a:ext cx="10951804" cy="5561511"/>
          </a:xfrm>
          <a:prstGeom prst="rect">
            <a:avLst/>
          </a:prstGeom>
        </p:spPr>
      </p:pic>
      <p:sp>
        <p:nvSpPr>
          <p:cNvPr id="6" name="CasellaDiTesto 5">
            <a:extLst>
              <a:ext uri="{FF2B5EF4-FFF2-40B4-BE49-F238E27FC236}">
                <a16:creationId xmlns:a16="http://schemas.microsoft.com/office/drawing/2014/main" id="{27DE5069-1573-4F6C-EA0F-FD3D81C4EF24}"/>
              </a:ext>
            </a:extLst>
          </p:cNvPr>
          <p:cNvSpPr txBox="1"/>
          <p:nvPr/>
        </p:nvSpPr>
        <p:spPr>
          <a:xfrm>
            <a:off x="5352885" y="2253752"/>
            <a:ext cx="1187708" cy="954107"/>
          </a:xfrm>
          <a:prstGeom prst="rect">
            <a:avLst/>
          </a:prstGeom>
          <a:solidFill>
            <a:srgbClr val="F2F6F5"/>
          </a:solidFill>
          <a:ln>
            <a:noFill/>
          </a:ln>
        </p:spPr>
        <p:txBody>
          <a:bodyPr wrap="square" anchor="t" anchorCtr="0">
            <a:spAutoFit/>
          </a:bodyPr>
          <a:lstStyle>
            <a:defPPr>
              <a:defRPr lang="it-IT"/>
            </a:defPPr>
            <a:lvl1pPr>
              <a:defRPr sz="1400" b="1"/>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dirty="0">
                <a:ln>
                  <a:noFill/>
                </a:ln>
                <a:solidFill>
                  <a:srgbClr val="1A1A1A"/>
                </a:solidFill>
                <a:effectLst/>
                <a:uLnTx/>
                <a:uFillTx/>
                <a:latin typeface="Calibri"/>
                <a:ea typeface="Calibri"/>
                <a:cs typeface="Calibri"/>
              </a:rPr>
              <a:t>Account con dati di </a:t>
            </a:r>
            <a:r>
              <a:rPr kumimoji="0" lang="it-IT" sz="1200" b="0" i="0" u="none" strike="noStrike" kern="1200" cap="none" spc="0" normalizeH="0" baseline="0" noProof="0" dirty="0" err="1">
                <a:ln>
                  <a:noFill/>
                </a:ln>
                <a:solidFill>
                  <a:srgbClr val="1A1A1A"/>
                </a:solidFill>
                <a:effectLst/>
                <a:uLnTx/>
                <a:uFillTx/>
                <a:latin typeface="Calibri"/>
                <a:ea typeface="Calibri"/>
                <a:cs typeface="Calibri"/>
              </a:rPr>
              <a:t>cosumo</a:t>
            </a:r>
            <a:r>
              <a:rPr kumimoji="0" lang="it-IT" sz="1200" b="0" i="0" u="none" strike="noStrike" kern="1200" cap="none" spc="0" normalizeH="0" baseline="0" noProof="0" dirty="0">
                <a:ln>
                  <a:noFill/>
                </a:ln>
                <a:solidFill>
                  <a:srgbClr val="1A1A1A"/>
                </a:solidFill>
                <a:effectLst/>
                <a:uLnTx/>
                <a:uFillTx/>
                <a:latin typeface="Calibri"/>
                <a:ea typeface="Calibri"/>
                <a:cs typeface="Calibri"/>
              </a:rPr>
              <a:t> mancanti</a:t>
            </a:r>
          </a:p>
        </p:txBody>
      </p:sp>
      <p:cxnSp>
        <p:nvCxnSpPr>
          <p:cNvPr id="11" name="Connettore dritto 10">
            <a:extLst>
              <a:ext uri="{FF2B5EF4-FFF2-40B4-BE49-F238E27FC236}">
                <a16:creationId xmlns:a16="http://schemas.microsoft.com/office/drawing/2014/main" id="{CBB07217-0A99-2FEE-B47E-E2DDEBF9570D}"/>
              </a:ext>
            </a:extLst>
          </p:cNvPr>
          <p:cNvCxnSpPr>
            <a:cxnSpLocks/>
            <a:endCxn id="22" idx="1"/>
          </p:cNvCxnSpPr>
          <p:nvPr/>
        </p:nvCxnSpPr>
        <p:spPr>
          <a:xfrm>
            <a:off x="6540593" y="2782205"/>
            <a:ext cx="348392" cy="621957"/>
          </a:xfrm>
          <a:prstGeom prst="line">
            <a:avLst/>
          </a:prstGeom>
          <a:ln w="50800"/>
        </p:spPr>
        <p:style>
          <a:lnRef idx="1">
            <a:schemeClr val="accent2"/>
          </a:lnRef>
          <a:fillRef idx="0">
            <a:schemeClr val="accent2"/>
          </a:fillRef>
          <a:effectRef idx="0">
            <a:schemeClr val="accent2"/>
          </a:effectRef>
          <a:fontRef idx="minor">
            <a:schemeClr val="tx1"/>
          </a:fontRef>
        </p:style>
      </p:cxnSp>
      <p:cxnSp>
        <p:nvCxnSpPr>
          <p:cNvPr id="17" name="Connettore dritto 16">
            <a:extLst>
              <a:ext uri="{FF2B5EF4-FFF2-40B4-BE49-F238E27FC236}">
                <a16:creationId xmlns:a16="http://schemas.microsoft.com/office/drawing/2014/main" id="{3C3084CA-C29F-4C62-3702-20F6D9B7849D}"/>
              </a:ext>
            </a:extLst>
          </p:cNvPr>
          <p:cNvCxnSpPr>
            <a:cxnSpLocks/>
            <a:endCxn id="24" idx="2"/>
          </p:cNvCxnSpPr>
          <p:nvPr/>
        </p:nvCxnSpPr>
        <p:spPr>
          <a:xfrm>
            <a:off x="6173111" y="3210028"/>
            <a:ext cx="500995" cy="2265101"/>
          </a:xfrm>
          <a:prstGeom prst="line">
            <a:avLst/>
          </a:prstGeom>
          <a:ln w="50800"/>
        </p:spPr>
        <p:style>
          <a:lnRef idx="1">
            <a:schemeClr val="accent2"/>
          </a:lnRef>
          <a:fillRef idx="0">
            <a:schemeClr val="accent2"/>
          </a:fillRef>
          <a:effectRef idx="0">
            <a:schemeClr val="accent2"/>
          </a:effectRef>
          <a:fontRef idx="minor">
            <a:schemeClr val="tx1"/>
          </a:fontRef>
        </p:style>
      </p:cxnSp>
      <p:sp>
        <p:nvSpPr>
          <p:cNvPr id="19" name="CasellaDiTesto 18">
            <a:extLst>
              <a:ext uri="{FF2B5EF4-FFF2-40B4-BE49-F238E27FC236}">
                <a16:creationId xmlns:a16="http://schemas.microsoft.com/office/drawing/2014/main" id="{27E55E8F-1F91-4E68-B528-9185526A73F2}"/>
              </a:ext>
            </a:extLst>
          </p:cNvPr>
          <p:cNvSpPr txBox="1"/>
          <p:nvPr/>
        </p:nvSpPr>
        <p:spPr>
          <a:xfrm>
            <a:off x="7407753" y="3686048"/>
            <a:ext cx="2597484" cy="307777"/>
          </a:xfrm>
          <a:prstGeom prst="rect">
            <a:avLst/>
          </a:prstGeom>
          <a:solidFill>
            <a:srgbClr val="F2F6F5"/>
          </a:solidFill>
          <a:ln>
            <a:noFill/>
          </a:ln>
        </p:spPr>
        <p:txBody>
          <a:bodyPr wrap="square" anchor="t" anchorCtr="0">
            <a:spAutoFit/>
          </a:bodyPr>
          <a:lstStyle>
            <a:defPPr>
              <a:defRPr lang="it-IT"/>
            </a:defPPr>
            <a:lvl1pPr>
              <a:defRPr sz="1400" b="1"/>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dirty="0">
                <a:ln>
                  <a:noFill/>
                </a:ln>
                <a:solidFill>
                  <a:srgbClr val="1A1A1A"/>
                </a:solidFill>
                <a:effectLst/>
                <a:uLnTx/>
                <a:uFillTx/>
                <a:latin typeface="Calibri"/>
                <a:ea typeface="Calibri"/>
                <a:cs typeface="Calibri"/>
              </a:rPr>
              <a:t>Quale fornitore di dati in ritardo</a:t>
            </a:r>
          </a:p>
        </p:txBody>
      </p:sp>
      <p:sp>
        <p:nvSpPr>
          <p:cNvPr id="21" name="CasellaDiTesto 20">
            <a:extLst>
              <a:ext uri="{FF2B5EF4-FFF2-40B4-BE49-F238E27FC236}">
                <a16:creationId xmlns:a16="http://schemas.microsoft.com/office/drawing/2014/main" id="{7B84F264-AF8E-8859-B765-7A837CC5979A}"/>
              </a:ext>
            </a:extLst>
          </p:cNvPr>
          <p:cNvSpPr txBox="1"/>
          <p:nvPr/>
        </p:nvSpPr>
        <p:spPr>
          <a:xfrm>
            <a:off x="7209279" y="5902933"/>
            <a:ext cx="2289139" cy="307777"/>
          </a:xfrm>
          <a:prstGeom prst="rect">
            <a:avLst/>
          </a:prstGeom>
          <a:solidFill>
            <a:srgbClr val="F2F6F5"/>
          </a:solidFill>
          <a:ln>
            <a:noFill/>
          </a:ln>
        </p:spPr>
        <p:txBody>
          <a:bodyPr wrap="square" anchor="t" anchorCtr="0">
            <a:spAutoFit/>
          </a:bodyPr>
          <a:lstStyle>
            <a:defPPr>
              <a:defRPr lang="it-IT"/>
            </a:defPPr>
            <a:lvl1pPr>
              <a:defRPr sz="1400" b="1"/>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dirty="0">
                <a:ln>
                  <a:noFill/>
                </a:ln>
                <a:solidFill>
                  <a:srgbClr val="1A1A1A"/>
                </a:solidFill>
                <a:effectLst/>
                <a:uLnTx/>
                <a:uFillTx/>
                <a:latin typeface="Calibri"/>
                <a:ea typeface="Calibri"/>
                <a:cs typeface="Calibri"/>
              </a:rPr>
              <a:t>Quale location in ritardo</a:t>
            </a:r>
          </a:p>
        </p:txBody>
      </p:sp>
      <p:sp>
        <p:nvSpPr>
          <p:cNvPr id="22" name="Ovale 21">
            <a:extLst>
              <a:ext uri="{FF2B5EF4-FFF2-40B4-BE49-F238E27FC236}">
                <a16:creationId xmlns:a16="http://schemas.microsoft.com/office/drawing/2014/main" id="{8E30B2FF-67F9-42C9-8BB3-01A096E0DC58}"/>
              </a:ext>
            </a:extLst>
          </p:cNvPr>
          <p:cNvSpPr/>
          <p:nvPr/>
        </p:nvSpPr>
        <p:spPr>
          <a:xfrm>
            <a:off x="6674105" y="3383141"/>
            <a:ext cx="1467293" cy="14354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dirty="0">
              <a:ln>
                <a:noFill/>
              </a:ln>
              <a:solidFill>
                <a:srgbClr val="FFFFFF"/>
              </a:solidFill>
              <a:effectLst/>
              <a:uLnTx/>
              <a:uFillTx/>
              <a:latin typeface="Calibri"/>
              <a:cs typeface="Calibri"/>
            </a:endParaRPr>
          </a:p>
        </p:txBody>
      </p:sp>
      <p:sp>
        <p:nvSpPr>
          <p:cNvPr id="24" name="Ovale 23">
            <a:extLst>
              <a:ext uri="{FF2B5EF4-FFF2-40B4-BE49-F238E27FC236}">
                <a16:creationId xmlns:a16="http://schemas.microsoft.com/office/drawing/2014/main" id="{3A15DC04-64DF-8650-0717-E87F5D0F198A}"/>
              </a:ext>
            </a:extLst>
          </p:cNvPr>
          <p:cNvSpPr/>
          <p:nvPr/>
        </p:nvSpPr>
        <p:spPr>
          <a:xfrm>
            <a:off x="6674106" y="5366146"/>
            <a:ext cx="1467293" cy="21796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dirty="0">
              <a:ln>
                <a:noFill/>
              </a:ln>
              <a:solidFill>
                <a:srgbClr val="FFFFFF"/>
              </a:solidFill>
              <a:effectLst/>
              <a:uLnTx/>
              <a:uFillTx/>
              <a:latin typeface="Calibri"/>
              <a:cs typeface="Calibri"/>
            </a:endParaRPr>
          </a:p>
        </p:txBody>
      </p:sp>
    </p:spTree>
    <p:extLst>
      <p:ext uri="{BB962C8B-B14F-4D97-AF65-F5344CB8AC3E}">
        <p14:creationId xmlns:p14="http://schemas.microsoft.com/office/powerpoint/2010/main" val="33056319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793F2-0A51-0405-6E1F-D9F409C35619}"/>
            </a:ext>
          </a:extLst>
        </p:cNvPr>
        <p:cNvGrpSpPr/>
        <p:nvPr/>
      </p:nvGrpSpPr>
      <p:grpSpPr>
        <a:xfrm>
          <a:off x="0" y="0"/>
          <a:ext cx="0" cy="0"/>
          <a:chOff x="0" y="0"/>
          <a:chExt cx="0" cy="0"/>
        </a:xfrm>
      </p:grpSpPr>
      <p:sp>
        <p:nvSpPr>
          <p:cNvPr id="5" name="CasellaDiTesto 4">
            <a:extLst>
              <a:ext uri="{FF2B5EF4-FFF2-40B4-BE49-F238E27FC236}">
                <a16:creationId xmlns:a16="http://schemas.microsoft.com/office/drawing/2014/main" id="{1DD08B3E-E013-5481-A471-7C68AF6E950D}"/>
              </a:ext>
            </a:extLst>
          </p:cNvPr>
          <p:cNvSpPr txBox="1"/>
          <p:nvPr/>
        </p:nvSpPr>
        <p:spPr>
          <a:xfrm>
            <a:off x="457200" y="254000"/>
            <a:ext cx="112776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2000" b="1" i="0" u="none" strike="noStrike" kern="1200" cap="none" spc="0" normalizeH="0" baseline="0" noProof="0" dirty="0">
                <a:ln>
                  <a:noFill/>
                </a:ln>
                <a:solidFill>
                  <a:srgbClr val="000000"/>
                </a:solidFill>
                <a:effectLst/>
                <a:uLnTx/>
                <a:uFillTx/>
                <a:latin typeface="Calibri"/>
                <a:ea typeface="Calibri"/>
                <a:cs typeface="Calibri"/>
              </a:rPr>
              <a:t>Il drill down per supplier evidenzia gli account e i mesi per i quali il fornitore è in ritardo</a:t>
            </a:r>
          </a:p>
        </p:txBody>
      </p:sp>
      <p:pic>
        <p:nvPicPr>
          <p:cNvPr id="9" name="Immagine 8">
            <a:extLst>
              <a:ext uri="{FF2B5EF4-FFF2-40B4-BE49-F238E27FC236}">
                <a16:creationId xmlns:a16="http://schemas.microsoft.com/office/drawing/2014/main" id="{18688AD7-BA63-972A-3C2B-AAD18DAE46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0948" y="3595051"/>
            <a:ext cx="3418840" cy="296187"/>
          </a:xfrm>
          <a:prstGeom prst="rect">
            <a:avLst/>
          </a:prstGeom>
        </p:spPr>
      </p:pic>
      <p:pic>
        <p:nvPicPr>
          <p:cNvPr id="12" name="Immagine 11">
            <a:extLst>
              <a:ext uri="{FF2B5EF4-FFF2-40B4-BE49-F238E27FC236}">
                <a16:creationId xmlns:a16="http://schemas.microsoft.com/office/drawing/2014/main" id="{5C8E38F3-9C61-A481-3154-76D527D230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7644" y="1229961"/>
            <a:ext cx="4962144" cy="2420558"/>
          </a:xfrm>
          <a:prstGeom prst="rect">
            <a:avLst/>
          </a:prstGeom>
        </p:spPr>
      </p:pic>
      <p:pic>
        <p:nvPicPr>
          <p:cNvPr id="19" name="Immagine 18">
            <a:extLst>
              <a:ext uri="{FF2B5EF4-FFF2-40B4-BE49-F238E27FC236}">
                <a16:creationId xmlns:a16="http://schemas.microsoft.com/office/drawing/2014/main" id="{9D548E08-11CE-EA7F-2799-58FA23BE4D3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52128" y="778619"/>
            <a:ext cx="5854454" cy="3775741"/>
          </a:xfrm>
          <a:prstGeom prst="rect">
            <a:avLst/>
          </a:prstGeom>
        </p:spPr>
      </p:pic>
      <p:sp>
        <p:nvSpPr>
          <p:cNvPr id="20" name="Ovale 19">
            <a:extLst>
              <a:ext uri="{FF2B5EF4-FFF2-40B4-BE49-F238E27FC236}">
                <a16:creationId xmlns:a16="http://schemas.microsoft.com/office/drawing/2014/main" id="{FDBC67EF-B958-4B72-CBC5-EF3537714F00}"/>
              </a:ext>
            </a:extLst>
          </p:cNvPr>
          <p:cNvSpPr/>
          <p:nvPr/>
        </p:nvSpPr>
        <p:spPr>
          <a:xfrm>
            <a:off x="853444" y="3182060"/>
            <a:ext cx="243840" cy="231648"/>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srgbClr val="FFFFFF"/>
              </a:solidFill>
              <a:effectLst/>
              <a:uLnTx/>
              <a:uFillTx/>
              <a:latin typeface="Calibri"/>
              <a:cs typeface="Calibri"/>
            </a:endParaRPr>
          </a:p>
        </p:txBody>
      </p:sp>
      <p:sp>
        <p:nvSpPr>
          <p:cNvPr id="30" name="Ovale 29">
            <a:extLst>
              <a:ext uri="{FF2B5EF4-FFF2-40B4-BE49-F238E27FC236}">
                <a16:creationId xmlns:a16="http://schemas.microsoft.com/office/drawing/2014/main" id="{8AB4C3BB-0F59-9F40-EC3F-77072FEA5BA4}"/>
              </a:ext>
            </a:extLst>
          </p:cNvPr>
          <p:cNvSpPr/>
          <p:nvPr/>
        </p:nvSpPr>
        <p:spPr>
          <a:xfrm>
            <a:off x="8948837" y="5733361"/>
            <a:ext cx="135518" cy="12874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srgbClr val="FFFFFF"/>
              </a:solidFill>
              <a:effectLst/>
              <a:uLnTx/>
              <a:uFillTx/>
              <a:latin typeface="Calibri"/>
              <a:cs typeface="Calibri"/>
            </a:endParaRPr>
          </a:p>
        </p:txBody>
      </p:sp>
      <p:graphicFrame>
        <p:nvGraphicFramePr>
          <p:cNvPr id="31" name="Tabella 30">
            <a:extLst>
              <a:ext uri="{FF2B5EF4-FFF2-40B4-BE49-F238E27FC236}">
                <a16:creationId xmlns:a16="http://schemas.microsoft.com/office/drawing/2014/main" id="{D61E383C-48FF-C21E-F25A-7FEAE32392F7}"/>
              </a:ext>
            </a:extLst>
          </p:cNvPr>
          <p:cNvGraphicFramePr>
            <a:graphicFrameLocks noGrp="1"/>
          </p:cNvGraphicFramePr>
          <p:nvPr/>
        </p:nvGraphicFramePr>
        <p:xfrm>
          <a:off x="667646" y="4653312"/>
          <a:ext cx="10638936" cy="1950688"/>
        </p:xfrm>
        <a:graphic>
          <a:graphicData uri="http://schemas.openxmlformats.org/drawingml/2006/table">
            <a:tbl>
              <a:tblPr>
                <a:tableStyleId>{93296810-A885-4BE3-A3E7-6D5BEEA58F35}</a:tableStyleId>
              </a:tblPr>
              <a:tblGrid>
                <a:gridCol w="1773156">
                  <a:extLst>
                    <a:ext uri="{9D8B030D-6E8A-4147-A177-3AD203B41FA5}">
                      <a16:colId xmlns:a16="http://schemas.microsoft.com/office/drawing/2014/main" val="2522003182"/>
                    </a:ext>
                  </a:extLst>
                </a:gridCol>
                <a:gridCol w="1773156">
                  <a:extLst>
                    <a:ext uri="{9D8B030D-6E8A-4147-A177-3AD203B41FA5}">
                      <a16:colId xmlns:a16="http://schemas.microsoft.com/office/drawing/2014/main" val="2089658818"/>
                    </a:ext>
                  </a:extLst>
                </a:gridCol>
                <a:gridCol w="1773156">
                  <a:extLst>
                    <a:ext uri="{9D8B030D-6E8A-4147-A177-3AD203B41FA5}">
                      <a16:colId xmlns:a16="http://schemas.microsoft.com/office/drawing/2014/main" val="223504814"/>
                    </a:ext>
                  </a:extLst>
                </a:gridCol>
                <a:gridCol w="1773156">
                  <a:extLst>
                    <a:ext uri="{9D8B030D-6E8A-4147-A177-3AD203B41FA5}">
                      <a16:colId xmlns:a16="http://schemas.microsoft.com/office/drawing/2014/main" val="2498797174"/>
                    </a:ext>
                  </a:extLst>
                </a:gridCol>
                <a:gridCol w="1773156">
                  <a:extLst>
                    <a:ext uri="{9D8B030D-6E8A-4147-A177-3AD203B41FA5}">
                      <a16:colId xmlns:a16="http://schemas.microsoft.com/office/drawing/2014/main" val="3144753619"/>
                    </a:ext>
                  </a:extLst>
                </a:gridCol>
                <a:gridCol w="1773156">
                  <a:extLst>
                    <a:ext uri="{9D8B030D-6E8A-4147-A177-3AD203B41FA5}">
                      <a16:colId xmlns:a16="http://schemas.microsoft.com/office/drawing/2014/main" val="4118301541"/>
                    </a:ext>
                  </a:extLst>
                </a:gridCol>
              </a:tblGrid>
              <a:tr h="0">
                <a:tc>
                  <a:txBody>
                    <a:bodyPr/>
                    <a:lstStyle/>
                    <a:p>
                      <a:pPr>
                        <a:buNone/>
                      </a:pPr>
                      <a:r>
                        <a:rPr lang="it-IT" sz="1200" b="1" dirty="0">
                          <a:effectLst/>
                        </a:rPr>
                        <a:t>Dashboard</a:t>
                      </a:r>
                    </a:p>
                  </a:txBody>
                  <a:tcPr marL="45707" marR="45707" marT="30472" marB="304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it-IT" sz="1200" b="1" dirty="0">
                          <a:effectLst/>
                        </a:rPr>
                        <a:t>Cosa osserva il manager</a:t>
                      </a:r>
                    </a:p>
                  </a:txBody>
                  <a:tcPr marL="45707" marR="45707" marT="30472" marB="304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it-IT" sz="1200" b="1" dirty="0">
                          <a:effectLst/>
                        </a:rPr>
                        <a:t>Cosa identifica</a:t>
                      </a:r>
                    </a:p>
                  </a:txBody>
                  <a:tcPr marL="45707" marR="45707" marT="30472" marB="304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it-IT" sz="1200" b="1" dirty="0">
                          <a:effectLst/>
                        </a:rPr>
                        <a:t>Rischio</a:t>
                      </a:r>
                    </a:p>
                  </a:txBody>
                  <a:tcPr marL="45707" marR="45707" marT="30472" marB="304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it-IT" sz="1200" b="1" dirty="0">
                          <a:effectLst/>
                        </a:rPr>
                        <a:t>Azione</a:t>
                      </a:r>
                    </a:p>
                  </a:txBody>
                  <a:tcPr marL="45707" marR="45707" marT="30472" marB="304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it-IT" sz="1200" b="1" dirty="0">
                          <a:effectLst/>
                        </a:rPr>
                        <a:t>Come in </a:t>
                      </a:r>
                      <a:r>
                        <a:rPr lang="it-IT" sz="1200" b="1" dirty="0" err="1">
                          <a:effectLst/>
                        </a:rPr>
                        <a:t>Envizi</a:t>
                      </a:r>
                      <a:endParaRPr lang="it-IT" sz="1200" b="1" dirty="0">
                        <a:effectLst/>
                      </a:endParaRPr>
                    </a:p>
                  </a:txBody>
                  <a:tcPr marL="45707" marR="45707" marT="30472" marB="304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80762637"/>
                  </a:ext>
                </a:extLst>
              </a:tr>
              <a:tr h="590044">
                <a:tc>
                  <a:txBody>
                    <a:bodyPr/>
                    <a:lstStyle/>
                    <a:p>
                      <a:pPr>
                        <a:buNone/>
                      </a:pPr>
                      <a:r>
                        <a:rPr lang="it-IT" sz="1200" dirty="0">
                          <a:effectLst/>
                        </a:rPr>
                        <a:t>Data Gaps by Supplier → </a:t>
                      </a:r>
                      <a:r>
                        <a:rPr lang="it-IT" sz="1200" dirty="0" err="1">
                          <a:effectLst/>
                        </a:rPr>
                        <a:t>Enerlavia</a:t>
                      </a:r>
                      <a:r>
                        <a:rPr lang="it-IT" sz="1200" dirty="0">
                          <a:effectLst/>
                        </a:rPr>
                        <a:t> Energia S.r.l.</a:t>
                      </a:r>
                    </a:p>
                  </a:txBody>
                  <a:tcPr marL="45707" marR="45707" marT="30472" marB="304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it-IT" sz="1200" dirty="0">
                          <a:effectLst/>
                        </a:rPr>
                        <a:t>Il fornitore </a:t>
                      </a:r>
                      <a:r>
                        <a:rPr lang="it-IT" sz="1200" dirty="0" err="1">
                          <a:effectLst/>
                        </a:rPr>
                        <a:t>Enerlavia</a:t>
                      </a:r>
                      <a:r>
                        <a:rPr lang="it-IT" sz="1200" dirty="0">
                          <a:effectLst/>
                        </a:rPr>
                        <a:t> Energia S.r.l. presenta diversi mesi con dati mancanti (rosso) per alcuni account energetici, mentre gli altri risultano completi.</a:t>
                      </a:r>
                    </a:p>
                  </a:txBody>
                  <a:tcPr marL="45707" marR="45707" marT="30472" marB="304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it-IT" sz="1200" dirty="0">
                          <a:effectLst/>
                        </a:rPr>
                        <a:t>Il problema è concentrato su un unico fornitore e riguarda specifici contratti energetici, non l’intero patrimonio dati.</a:t>
                      </a:r>
                    </a:p>
                  </a:txBody>
                  <a:tcPr marL="45707" marR="45707" marT="30472" marB="304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it-IT" sz="1200" dirty="0">
                          <a:effectLst/>
                        </a:rPr>
                        <a:t>Emissioni e consumi associati a quel fornitore risultano incompleti, con possibili errori nel reporting ESG e nelle analisi energetiche.</a:t>
                      </a:r>
                    </a:p>
                  </a:txBody>
                  <a:tcPr marL="45707" marR="45707" marT="30472" marB="304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it-IT" sz="1200" dirty="0">
                          <a:effectLst/>
                        </a:rPr>
                        <a:t>Contattare il fornitore o verificare il processo di acquisizione delle bollette, recuperare i dati mancanti e aggiornare gli account interessati.</a:t>
                      </a:r>
                    </a:p>
                  </a:txBody>
                  <a:tcPr marL="45707" marR="45707" marT="30472" marB="304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it-IT" sz="1200" b="0" dirty="0"/>
                        <a:t>Dal drill-down è possibile identificare il record anomalo e assegnarne la correzione al Data Owner tramite il processo di Data Capture e Data Quality, verificandone successivamente l’avvenuto aggiornamento.</a:t>
                      </a:r>
                    </a:p>
                  </a:txBody>
                  <a:tcPr marL="45707" marR="45707" marT="30472" marB="304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83423465"/>
                  </a:ext>
                </a:extLst>
              </a:tr>
            </a:tbl>
          </a:graphicData>
        </a:graphic>
      </p:graphicFrame>
    </p:spTree>
    <p:extLst>
      <p:ext uri="{BB962C8B-B14F-4D97-AF65-F5344CB8AC3E}">
        <p14:creationId xmlns:p14="http://schemas.microsoft.com/office/powerpoint/2010/main" val="18323794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ella 1">
            <a:extLst>
              <a:ext uri="{FF2B5EF4-FFF2-40B4-BE49-F238E27FC236}">
                <a16:creationId xmlns:a16="http://schemas.microsoft.com/office/drawing/2014/main" id="{FB30FDC6-7492-0362-BC95-BA31D4D0280D}"/>
              </a:ext>
            </a:extLst>
          </p:cNvPr>
          <p:cNvGraphicFramePr>
            <a:graphicFrameLocks noGrp="1"/>
          </p:cNvGraphicFramePr>
          <p:nvPr/>
        </p:nvGraphicFramePr>
        <p:xfrm>
          <a:off x="1471658" y="265459"/>
          <a:ext cx="9248683" cy="3724940"/>
        </p:xfrm>
        <a:graphic>
          <a:graphicData uri="http://schemas.openxmlformats.org/drawingml/2006/table">
            <a:tbl>
              <a:tblPr>
                <a:tableStyleId>{7DF18680-E054-41AD-8BC1-D1AEF772440D}</a:tableStyleId>
              </a:tblPr>
              <a:tblGrid>
                <a:gridCol w="2312171">
                  <a:extLst>
                    <a:ext uri="{9D8B030D-6E8A-4147-A177-3AD203B41FA5}">
                      <a16:colId xmlns:a16="http://schemas.microsoft.com/office/drawing/2014/main" val="44380419"/>
                    </a:ext>
                  </a:extLst>
                </a:gridCol>
                <a:gridCol w="3304741">
                  <a:extLst>
                    <a:ext uri="{9D8B030D-6E8A-4147-A177-3AD203B41FA5}">
                      <a16:colId xmlns:a16="http://schemas.microsoft.com/office/drawing/2014/main" val="1050909914"/>
                    </a:ext>
                  </a:extLst>
                </a:gridCol>
                <a:gridCol w="1319600">
                  <a:extLst>
                    <a:ext uri="{9D8B030D-6E8A-4147-A177-3AD203B41FA5}">
                      <a16:colId xmlns:a16="http://schemas.microsoft.com/office/drawing/2014/main" val="981425291"/>
                    </a:ext>
                  </a:extLst>
                </a:gridCol>
                <a:gridCol w="2312171">
                  <a:extLst>
                    <a:ext uri="{9D8B030D-6E8A-4147-A177-3AD203B41FA5}">
                      <a16:colId xmlns:a16="http://schemas.microsoft.com/office/drawing/2014/main" val="752272052"/>
                    </a:ext>
                  </a:extLst>
                </a:gridCol>
              </a:tblGrid>
              <a:tr h="179045">
                <a:tc>
                  <a:txBody>
                    <a:bodyPr/>
                    <a:lstStyle/>
                    <a:p>
                      <a:pPr>
                        <a:buNone/>
                      </a:pPr>
                      <a:r>
                        <a:rPr lang="it-IT" sz="1300" b="1" dirty="0">
                          <a:effectLst/>
                        </a:rPr>
                        <a:t>Account</a:t>
                      </a:r>
                    </a:p>
                  </a:txBody>
                  <a:tcPr marL="83253" marR="83253" marT="55502" marB="555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E1DE"/>
                    </a:solidFill>
                  </a:tcPr>
                </a:tc>
                <a:tc>
                  <a:txBody>
                    <a:bodyPr/>
                    <a:lstStyle/>
                    <a:p>
                      <a:pPr>
                        <a:buNone/>
                      </a:pPr>
                      <a:r>
                        <a:rPr lang="it-IT" sz="1300" b="1" dirty="0">
                          <a:effectLst/>
                        </a:rPr>
                        <a:t>Periodo interessato</a:t>
                      </a:r>
                    </a:p>
                  </a:txBody>
                  <a:tcPr marL="83253" marR="83253" marT="55502" marB="555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E1DE"/>
                    </a:solidFill>
                  </a:tcPr>
                </a:tc>
                <a:tc>
                  <a:txBody>
                    <a:bodyPr/>
                    <a:lstStyle/>
                    <a:p>
                      <a:pPr>
                        <a:buNone/>
                      </a:pPr>
                      <a:r>
                        <a:rPr lang="it-IT" sz="1300" b="1" dirty="0">
                          <a:effectLst/>
                        </a:rPr>
                        <a:t>Cosa si vede</a:t>
                      </a:r>
                    </a:p>
                  </a:txBody>
                  <a:tcPr marL="83253" marR="83253" marT="55502" marB="555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E1DE"/>
                    </a:solidFill>
                  </a:tcPr>
                </a:tc>
                <a:tc>
                  <a:txBody>
                    <a:bodyPr/>
                    <a:lstStyle/>
                    <a:p>
                      <a:pPr>
                        <a:buNone/>
                      </a:pPr>
                      <a:r>
                        <a:rPr lang="it-IT" sz="1300" b="1" dirty="0">
                          <a:effectLst/>
                        </a:rPr>
                        <a:t>Cosa si può concludere</a:t>
                      </a:r>
                    </a:p>
                  </a:txBody>
                  <a:tcPr marL="83253" marR="83253" marT="55502" marB="555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E1DE"/>
                    </a:solidFill>
                  </a:tcPr>
                </a:tc>
                <a:extLst>
                  <a:ext uri="{0D108BD9-81ED-4DB2-BD59-A6C34878D82A}">
                    <a16:rowId xmlns:a16="http://schemas.microsoft.com/office/drawing/2014/main" val="3820039673"/>
                  </a:ext>
                </a:extLst>
              </a:tr>
              <a:tr h="1017157">
                <a:tc>
                  <a:txBody>
                    <a:bodyPr/>
                    <a:lstStyle/>
                    <a:p>
                      <a:pPr>
                        <a:buNone/>
                      </a:pPr>
                      <a:r>
                        <a:rPr lang="it-IT" sz="1300" dirty="0">
                          <a:effectLst/>
                        </a:rPr>
                        <a:t>Acquisto Garanzie d’Origine per sede (Sede Milano)</a:t>
                      </a:r>
                    </a:p>
                  </a:txBody>
                  <a:tcPr marL="83253" marR="83253" marT="55502" marB="555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it-IT" sz="1300" dirty="0">
                          <a:effectLst/>
                        </a:rPr>
                        <a:t>Set 2025, Nov 2025, </a:t>
                      </a:r>
                      <a:r>
                        <a:rPr lang="it-IT" sz="1300" dirty="0" err="1">
                          <a:effectLst/>
                        </a:rPr>
                        <a:t>Gen</a:t>
                      </a:r>
                      <a:r>
                        <a:rPr lang="it-IT" sz="1300" dirty="0">
                          <a:effectLst/>
                        </a:rPr>
                        <a:t> 2026, Mar 2026, </a:t>
                      </a:r>
                      <a:r>
                        <a:rPr lang="it-IT" sz="1300" dirty="0" err="1">
                          <a:effectLst/>
                        </a:rPr>
                        <a:t>Mag</a:t>
                      </a:r>
                      <a:r>
                        <a:rPr lang="it-IT" sz="1300" dirty="0">
                          <a:effectLst/>
                        </a:rPr>
                        <a:t> 2026</a:t>
                      </a:r>
                    </a:p>
                  </a:txBody>
                  <a:tcPr marL="83253" marR="83253" marT="55502" marB="555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it-IT" sz="1300" dirty="0">
                          <a:effectLst/>
                        </a:rPr>
                        <a:t>Celle rosse alternate a celle bianche</a:t>
                      </a:r>
                    </a:p>
                  </a:txBody>
                  <a:tcPr marL="83253" marR="83253" marT="55502" marB="555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it-IT" sz="1300" dirty="0">
                          <a:effectLst/>
                        </a:rPr>
                        <a:t>Nei mesi in rosso manca un record. I mesi bianchi potrebbero essere periodi in cui non era previsto alcun caricamento (ad esempio acquisti bimestrali o trimestrali).</a:t>
                      </a:r>
                    </a:p>
                  </a:txBody>
                  <a:tcPr marL="83253" marR="83253" marT="55502" marB="555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09099067"/>
                  </a:ext>
                </a:extLst>
              </a:tr>
              <a:tr h="639447">
                <a:tc>
                  <a:txBody>
                    <a:bodyPr/>
                    <a:lstStyle/>
                    <a:p>
                      <a:pPr>
                        <a:buNone/>
                      </a:pPr>
                      <a:r>
                        <a:rPr lang="it-IT" sz="1300">
                          <a:effectLst/>
                        </a:rPr>
                        <a:t>Energia Solare Esportata</a:t>
                      </a:r>
                    </a:p>
                  </a:txBody>
                  <a:tcPr marL="83253" marR="83253" marT="55502" marB="555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it-IT" sz="1300" dirty="0">
                          <a:effectLst/>
                        </a:rPr>
                        <a:t>Tutto il periodo Set 2025 – Ago 2026</a:t>
                      </a:r>
                    </a:p>
                  </a:txBody>
                  <a:tcPr marL="83253" marR="83253" marT="55502" marB="555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it-IT" sz="1300" dirty="0">
                          <a:effectLst/>
                        </a:rPr>
                        <a:t>Tutta la riga viola</a:t>
                      </a:r>
                    </a:p>
                  </a:txBody>
                  <a:tcPr marL="83253" marR="83253" marT="55502" marB="555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it-IT" sz="1300">
                          <a:effectLst/>
                        </a:rPr>
                        <a:t>Esistono record sovrapposti (duplicati) per tutto il periodo. È necessario verificare quale record mantenere.</a:t>
                      </a:r>
                    </a:p>
                  </a:txBody>
                  <a:tcPr marL="83253" marR="83253" marT="55502" marB="555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8934945"/>
                  </a:ext>
                </a:extLst>
              </a:tr>
              <a:tr h="294145">
                <a:tc>
                  <a:txBody>
                    <a:bodyPr/>
                    <a:lstStyle/>
                    <a:p>
                      <a:pPr>
                        <a:buNone/>
                      </a:pPr>
                      <a:r>
                        <a:rPr lang="it-IT" sz="1300">
                          <a:effectLst/>
                        </a:rPr>
                        <a:t>Elettricità POD 512456011 (Segrate)</a:t>
                      </a:r>
                    </a:p>
                  </a:txBody>
                  <a:tcPr marL="83253" marR="83253" marT="55502" marB="555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it-IT" sz="1300">
                          <a:effectLst/>
                        </a:rPr>
                        <a:t>Tutti i mesi</a:t>
                      </a:r>
                    </a:p>
                  </a:txBody>
                  <a:tcPr marL="83253" marR="83253" marT="55502" marB="555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it-IT" sz="1300" dirty="0">
                          <a:effectLst/>
                        </a:rPr>
                        <a:t>Tutta la riga verde</a:t>
                      </a:r>
                    </a:p>
                  </a:txBody>
                  <a:tcPr marL="83253" marR="83253" marT="55502" marB="555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it-IT" sz="1300" dirty="0">
                          <a:effectLst/>
                        </a:rPr>
                        <a:t>Nessuna anomalia: dati completi.</a:t>
                      </a:r>
                    </a:p>
                  </a:txBody>
                  <a:tcPr marL="83253" marR="83253" marT="55502" marB="555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106307"/>
                  </a:ext>
                </a:extLst>
              </a:tr>
              <a:tr h="409246">
                <a:tc>
                  <a:txBody>
                    <a:bodyPr/>
                    <a:lstStyle/>
                    <a:p>
                      <a:pPr>
                        <a:buNone/>
                      </a:pPr>
                      <a:r>
                        <a:rPr lang="it-IT" sz="1300">
                          <a:effectLst/>
                        </a:rPr>
                        <a:t>Acquisto Garanzie d’Origine per sede (Segrate)</a:t>
                      </a:r>
                    </a:p>
                  </a:txBody>
                  <a:tcPr marL="83253" marR="83253" marT="55502" marB="555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it-IT" sz="1300" dirty="0">
                          <a:effectLst/>
                        </a:rPr>
                        <a:t>Set, Nov, </a:t>
                      </a:r>
                      <a:r>
                        <a:rPr lang="it-IT" sz="1300" dirty="0" err="1">
                          <a:effectLst/>
                        </a:rPr>
                        <a:t>Gen</a:t>
                      </a:r>
                      <a:r>
                        <a:rPr lang="it-IT" sz="1300" dirty="0">
                          <a:effectLst/>
                        </a:rPr>
                        <a:t>, Mar, </a:t>
                      </a:r>
                      <a:r>
                        <a:rPr lang="it-IT" sz="1300" dirty="0" err="1">
                          <a:effectLst/>
                        </a:rPr>
                        <a:t>Mag</a:t>
                      </a:r>
                      <a:endParaRPr lang="it-IT" sz="1300" dirty="0">
                        <a:effectLst/>
                      </a:endParaRPr>
                    </a:p>
                  </a:txBody>
                  <a:tcPr marL="83253" marR="83253" marT="55502" marB="555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it-IT" sz="1300">
                          <a:effectLst/>
                        </a:rPr>
                        <a:t>Celle rosse</a:t>
                      </a:r>
                    </a:p>
                  </a:txBody>
                  <a:tcPr marL="83253" marR="83253" marT="55502" marB="555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it-IT" sz="1300" dirty="0">
                          <a:effectLst/>
                        </a:rPr>
                        <a:t>Mancano i record relativi a qu</a:t>
                      </a:r>
                    </a:p>
                  </a:txBody>
                  <a:tcPr marL="83253" marR="83253" marT="55502" marB="555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27155430"/>
                  </a:ext>
                </a:extLst>
              </a:tr>
            </a:tbl>
          </a:graphicData>
        </a:graphic>
      </p:graphicFrame>
      <p:pic>
        <p:nvPicPr>
          <p:cNvPr id="5" name="Immagine 4">
            <a:extLst>
              <a:ext uri="{FF2B5EF4-FFF2-40B4-BE49-F238E27FC236}">
                <a16:creationId xmlns:a16="http://schemas.microsoft.com/office/drawing/2014/main" id="{DD064F7B-9C0F-2221-B0EE-F0CA016E2F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5421" y="4117994"/>
            <a:ext cx="7777693" cy="1260837"/>
          </a:xfrm>
          <a:prstGeom prst="rect">
            <a:avLst/>
          </a:prstGeom>
        </p:spPr>
      </p:pic>
      <p:pic>
        <p:nvPicPr>
          <p:cNvPr id="7" name="Immagine 6">
            <a:extLst>
              <a:ext uri="{FF2B5EF4-FFF2-40B4-BE49-F238E27FC236}">
                <a16:creationId xmlns:a16="http://schemas.microsoft.com/office/drawing/2014/main" id="{2BA390EB-B221-C5F7-62A2-9621B94451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33627" y="5435480"/>
            <a:ext cx="7872543" cy="1260837"/>
          </a:xfrm>
          <a:prstGeom prst="rect">
            <a:avLst/>
          </a:prstGeom>
        </p:spPr>
      </p:pic>
      <p:sp>
        <p:nvSpPr>
          <p:cNvPr id="8" name="Ovale 7">
            <a:extLst>
              <a:ext uri="{FF2B5EF4-FFF2-40B4-BE49-F238E27FC236}">
                <a16:creationId xmlns:a16="http://schemas.microsoft.com/office/drawing/2014/main" id="{3F2B9FF8-9CB3-4458-088E-544F3D34806C}"/>
              </a:ext>
            </a:extLst>
          </p:cNvPr>
          <p:cNvSpPr/>
          <p:nvPr/>
        </p:nvSpPr>
        <p:spPr>
          <a:xfrm>
            <a:off x="1382923" y="4730795"/>
            <a:ext cx="1586281" cy="54736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dirty="0">
              <a:ln>
                <a:noFill/>
              </a:ln>
              <a:solidFill>
                <a:srgbClr val="FFFFFF"/>
              </a:solidFill>
              <a:effectLst/>
              <a:uLnTx/>
              <a:uFillTx/>
              <a:latin typeface="Calibri"/>
              <a:cs typeface="Calibri"/>
            </a:endParaRPr>
          </a:p>
        </p:txBody>
      </p:sp>
      <p:sp>
        <p:nvSpPr>
          <p:cNvPr id="9" name="Ovale 8">
            <a:extLst>
              <a:ext uri="{FF2B5EF4-FFF2-40B4-BE49-F238E27FC236}">
                <a16:creationId xmlns:a16="http://schemas.microsoft.com/office/drawing/2014/main" id="{76D2690E-CE5A-FBE2-7BFC-4B5021EFDC6D}"/>
              </a:ext>
            </a:extLst>
          </p:cNvPr>
          <p:cNvSpPr/>
          <p:nvPr/>
        </p:nvSpPr>
        <p:spPr>
          <a:xfrm>
            <a:off x="1382922" y="5292703"/>
            <a:ext cx="1586281" cy="54736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dirty="0">
              <a:ln>
                <a:noFill/>
              </a:ln>
              <a:solidFill>
                <a:srgbClr val="FFFFFF"/>
              </a:solidFill>
              <a:effectLst/>
              <a:uLnTx/>
              <a:uFillTx/>
              <a:latin typeface="Calibri"/>
              <a:cs typeface="Calibri"/>
            </a:endParaRPr>
          </a:p>
        </p:txBody>
      </p:sp>
      <p:sp>
        <p:nvSpPr>
          <p:cNvPr id="10" name="Ovale 9">
            <a:extLst>
              <a:ext uri="{FF2B5EF4-FFF2-40B4-BE49-F238E27FC236}">
                <a16:creationId xmlns:a16="http://schemas.microsoft.com/office/drawing/2014/main" id="{6722DC1D-F5F7-8726-05F1-5E71141C6F2A}"/>
              </a:ext>
            </a:extLst>
          </p:cNvPr>
          <p:cNvSpPr/>
          <p:nvPr/>
        </p:nvSpPr>
        <p:spPr>
          <a:xfrm>
            <a:off x="2875024" y="5840062"/>
            <a:ext cx="1880450" cy="241067"/>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dirty="0">
              <a:ln>
                <a:noFill/>
              </a:ln>
              <a:solidFill>
                <a:srgbClr val="FFFFFF"/>
              </a:solidFill>
              <a:effectLst/>
              <a:uLnTx/>
              <a:uFillTx/>
              <a:latin typeface="Calibri"/>
              <a:cs typeface="Calibri"/>
            </a:endParaRPr>
          </a:p>
        </p:txBody>
      </p:sp>
      <p:sp>
        <p:nvSpPr>
          <p:cNvPr id="11" name="Ovale 10">
            <a:extLst>
              <a:ext uri="{FF2B5EF4-FFF2-40B4-BE49-F238E27FC236}">
                <a16:creationId xmlns:a16="http://schemas.microsoft.com/office/drawing/2014/main" id="{0310D7FB-CE12-8851-0A67-04F96A374B0A}"/>
              </a:ext>
            </a:extLst>
          </p:cNvPr>
          <p:cNvSpPr/>
          <p:nvPr/>
        </p:nvSpPr>
        <p:spPr>
          <a:xfrm>
            <a:off x="2750978" y="6211797"/>
            <a:ext cx="1880450" cy="241067"/>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dirty="0">
              <a:ln>
                <a:noFill/>
              </a:ln>
              <a:solidFill>
                <a:srgbClr val="FFFFFF"/>
              </a:solidFill>
              <a:effectLst/>
              <a:uLnTx/>
              <a:uFillTx/>
              <a:latin typeface="Calibri"/>
              <a:cs typeface="Calibri"/>
            </a:endParaRPr>
          </a:p>
        </p:txBody>
      </p:sp>
      <p:sp>
        <p:nvSpPr>
          <p:cNvPr id="12" name="Ovale 11">
            <a:extLst>
              <a:ext uri="{FF2B5EF4-FFF2-40B4-BE49-F238E27FC236}">
                <a16:creationId xmlns:a16="http://schemas.microsoft.com/office/drawing/2014/main" id="{217F2C5C-CB36-769D-04F2-9CD88AB30D63}"/>
              </a:ext>
            </a:extLst>
          </p:cNvPr>
          <p:cNvSpPr/>
          <p:nvPr/>
        </p:nvSpPr>
        <p:spPr>
          <a:xfrm>
            <a:off x="2969203" y="4800435"/>
            <a:ext cx="1880450" cy="241067"/>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dirty="0">
              <a:ln>
                <a:noFill/>
              </a:ln>
              <a:solidFill>
                <a:srgbClr val="FFFFFF"/>
              </a:solidFill>
              <a:effectLst/>
              <a:uLnTx/>
              <a:uFillTx/>
              <a:latin typeface="Calibri"/>
              <a:cs typeface="Calibri"/>
            </a:endParaRPr>
          </a:p>
        </p:txBody>
      </p:sp>
      <p:sp>
        <p:nvSpPr>
          <p:cNvPr id="3" name="CasellaDiTesto 2">
            <a:extLst>
              <a:ext uri="{FF2B5EF4-FFF2-40B4-BE49-F238E27FC236}">
                <a16:creationId xmlns:a16="http://schemas.microsoft.com/office/drawing/2014/main" id="{2C60DA31-E75A-165C-BB13-05C0E2DB3A12}"/>
              </a:ext>
            </a:extLst>
          </p:cNvPr>
          <p:cNvSpPr txBox="1"/>
          <p:nvPr/>
        </p:nvSpPr>
        <p:spPr>
          <a:xfrm>
            <a:off x="9445612" y="4512150"/>
            <a:ext cx="1880450" cy="1200329"/>
          </a:xfrm>
          <a:prstGeom prst="rect">
            <a:avLst/>
          </a:prstGeom>
          <a:solidFill>
            <a:srgbClr val="FFFF00"/>
          </a:solidFill>
        </p:spPr>
        <p:txBody>
          <a:bodyPr wrap="square" rtlCol="0">
            <a:spAutoFit/>
          </a:bodyPr>
          <a:lstStyle/>
          <a:p>
            <a:r>
              <a:rPr lang="it-IT" dirty="0"/>
              <a:t>Mancano i dati di Garanzia d’Origine per la sede di Segrate</a:t>
            </a:r>
          </a:p>
        </p:txBody>
      </p:sp>
    </p:spTree>
    <p:extLst>
      <p:ext uri="{BB962C8B-B14F-4D97-AF65-F5344CB8AC3E}">
        <p14:creationId xmlns:p14="http://schemas.microsoft.com/office/powerpoint/2010/main" val="23107300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FB4F7-A279-71F6-2D6F-F0804AB02411}"/>
            </a:ext>
          </a:extLst>
        </p:cNvPr>
        <p:cNvGrpSpPr/>
        <p:nvPr/>
      </p:nvGrpSpPr>
      <p:grpSpPr>
        <a:xfrm>
          <a:off x="0" y="0"/>
          <a:ext cx="0" cy="0"/>
          <a:chOff x="0" y="0"/>
          <a:chExt cx="0" cy="0"/>
        </a:xfrm>
      </p:grpSpPr>
      <p:pic>
        <p:nvPicPr>
          <p:cNvPr id="3" name="Immagine 2">
            <a:extLst>
              <a:ext uri="{FF2B5EF4-FFF2-40B4-BE49-F238E27FC236}">
                <a16:creationId xmlns:a16="http://schemas.microsoft.com/office/drawing/2014/main" id="{08E4EC46-296E-6942-DC8A-7436CEA828DE}"/>
              </a:ext>
            </a:extLst>
          </p:cNvPr>
          <p:cNvPicPr>
            <a:picLocks noChangeAspect="1"/>
          </p:cNvPicPr>
          <p:nvPr/>
        </p:nvPicPr>
        <p:blipFill>
          <a:blip r:embed="rId2"/>
          <a:stretch>
            <a:fillRect/>
          </a:stretch>
        </p:blipFill>
        <p:spPr>
          <a:xfrm>
            <a:off x="879895" y="334297"/>
            <a:ext cx="1304803" cy="1498851"/>
          </a:xfrm>
          <a:prstGeom prst="rect">
            <a:avLst/>
          </a:prstGeom>
        </p:spPr>
      </p:pic>
      <p:sp>
        <p:nvSpPr>
          <p:cNvPr id="5" name="CasellaDiTesto 4">
            <a:extLst>
              <a:ext uri="{FF2B5EF4-FFF2-40B4-BE49-F238E27FC236}">
                <a16:creationId xmlns:a16="http://schemas.microsoft.com/office/drawing/2014/main" id="{0C15DF86-DC87-6C12-5334-1ECDD304132E}"/>
              </a:ext>
            </a:extLst>
          </p:cNvPr>
          <p:cNvSpPr txBox="1"/>
          <p:nvPr/>
        </p:nvSpPr>
        <p:spPr>
          <a:xfrm>
            <a:off x="879895" y="1685664"/>
            <a:ext cx="3702821" cy="2585323"/>
          </a:xfrm>
          <a:prstGeom prst="rect">
            <a:avLst/>
          </a:prstGeom>
          <a:solidFill>
            <a:schemeClr val="bg1"/>
          </a:solidFill>
        </p:spPr>
        <p:txBody>
          <a:bodyPr wrap="square" rtlCol="0">
            <a:spAutoFit/>
          </a:bodyPr>
          <a:lstStyle/>
          <a:p>
            <a:r>
              <a:rPr lang="it-IT" dirty="0"/>
              <a:t>Mara, Ruolo Aziendale </a:t>
            </a:r>
            <a:br>
              <a:rPr lang="it-IT" dirty="0"/>
            </a:br>
            <a:r>
              <a:rPr lang="it-IT" dirty="0"/>
              <a:t>ESG Manager</a:t>
            </a:r>
          </a:p>
          <a:p>
            <a:endParaRPr lang="it-IT" dirty="0"/>
          </a:p>
          <a:p>
            <a:r>
              <a:rPr lang="it-IT" dirty="0"/>
              <a:t>Ruolo di Accesso: </a:t>
            </a:r>
            <a:br>
              <a:rPr lang="it-IT" dirty="0"/>
            </a:br>
            <a:r>
              <a:rPr lang="it-IT" dirty="0"/>
              <a:t>Utente Generale</a:t>
            </a:r>
          </a:p>
          <a:p>
            <a:endParaRPr lang="it-IT" dirty="0"/>
          </a:p>
          <a:p>
            <a:r>
              <a:rPr lang="it-IT" dirty="0"/>
              <a:t>Work Role: </a:t>
            </a:r>
            <a:br>
              <a:rPr lang="it-IT" dirty="0"/>
            </a:br>
            <a:r>
              <a:rPr lang="it-IT" dirty="0" err="1"/>
              <a:t>Issue</a:t>
            </a:r>
            <a:r>
              <a:rPr lang="it-IT" dirty="0"/>
              <a:t> Manager</a:t>
            </a:r>
          </a:p>
          <a:p>
            <a:endParaRPr lang="it-IT" dirty="0"/>
          </a:p>
        </p:txBody>
      </p:sp>
      <p:sp>
        <p:nvSpPr>
          <p:cNvPr id="11" name="CasellaDiTesto 10">
            <a:extLst>
              <a:ext uri="{FF2B5EF4-FFF2-40B4-BE49-F238E27FC236}">
                <a16:creationId xmlns:a16="http://schemas.microsoft.com/office/drawing/2014/main" id="{96A34F68-60CC-04EE-9573-A5559E7ADFE0}"/>
              </a:ext>
            </a:extLst>
          </p:cNvPr>
          <p:cNvSpPr txBox="1"/>
          <p:nvPr/>
        </p:nvSpPr>
        <p:spPr>
          <a:xfrm>
            <a:off x="1941963" y="4773813"/>
            <a:ext cx="8740877" cy="1200329"/>
          </a:xfrm>
          <a:prstGeom prst="rect">
            <a:avLst/>
          </a:prstGeom>
          <a:solidFill>
            <a:schemeClr val="bg1"/>
          </a:solidFill>
        </p:spPr>
        <p:txBody>
          <a:bodyPr wrap="square" rtlCol="0">
            <a:spAutoFit/>
          </a:bodyPr>
          <a:lstStyle/>
          <a:p>
            <a:br>
              <a:rPr lang="it-IT" dirty="0"/>
            </a:br>
            <a:endParaRPr lang="it-IT" dirty="0"/>
          </a:p>
          <a:p>
            <a:r>
              <a:rPr lang="it-IT" dirty="0"/>
              <a:t>Mara attiva una </a:t>
            </a:r>
            <a:r>
              <a:rPr lang="it-IT" dirty="0" err="1"/>
              <a:t>Issue</a:t>
            </a:r>
            <a:r>
              <a:rPr lang="it-IT" dirty="0"/>
              <a:t> (attiva un Problema) termine per indicare una richiesta di intervento sui dati della sede di Milano.</a:t>
            </a:r>
          </a:p>
        </p:txBody>
      </p:sp>
      <p:pic>
        <p:nvPicPr>
          <p:cNvPr id="4" name="Immagine 3">
            <a:extLst>
              <a:ext uri="{FF2B5EF4-FFF2-40B4-BE49-F238E27FC236}">
                <a16:creationId xmlns:a16="http://schemas.microsoft.com/office/drawing/2014/main" id="{BBC7C7EC-B15D-FF5F-A322-301CD82DF1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74250" y="974678"/>
            <a:ext cx="7822775" cy="4288478"/>
          </a:xfrm>
          <a:prstGeom prst="rect">
            <a:avLst/>
          </a:prstGeom>
        </p:spPr>
      </p:pic>
    </p:spTree>
    <p:extLst>
      <p:ext uri="{BB962C8B-B14F-4D97-AF65-F5344CB8AC3E}">
        <p14:creationId xmlns:p14="http://schemas.microsoft.com/office/powerpoint/2010/main" val="4180836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24AF3-97D4-8A11-BCAA-8333E71F8FE3}"/>
            </a:ext>
          </a:extLst>
        </p:cNvPr>
        <p:cNvGrpSpPr/>
        <p:nvPr/>
      </p:nvGrpSpPr>
      <p:grpSpPr>
        <a:xfrm>
          <a:off x="0" y="0"/>
          <a:ext cx="0" cy="0"/>
          <a:chOff x="0" y="0"/>
          <a:chExt cx="0" cy="0"/>
        </a:xfrm>
      </p:grpSpPr>
      <p:pic>
        <p:nvPicPr>
          <p:cNvPr id="4" name="Immagine 3">
            <a:extLst>
              <a:ext uri="{FF2B5EF4-FFF2-40B4-BE49-F238E27FC236}">
                <a16:creationId xmlns:a16="http://schemas.microsoft.com/office/drawing/2014/main" id="{34C0184D-4BC3-D269-8E62-702D962EE6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088447"/>
            <a:ext cx="5345718" cy="4815909"/>
          </a:xfrm>
          <a:prstGeom prst="rect">
            <a:avLst/>
          </a:prstGeom>
        </p:spPr>
      </p:pic>
      <p:pic>
        <p:nvPicPr>
          <p:cNvPr id="6" name="Immagine 5">
            <a:extLst>
              <a:ext uri="{FF2B5EF4-FFF2-40B4-BE49-F238E27FC236}">
                <a16:creationId xmlns:a16="http://schemas.microsoft.com/office/drawing/2014/main" id="{CC76C880-5AEC-FD59-23FD-7488ED90F8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11620" y="1088447"/>
            <a:ext cx="5453660" cy="4815909"/>
          </a:xfrm>
          <a:prstGeom prst="rect">
            <a:avLst/>
          </a:prstGeom>
        </p:spPr>
      </p:pic>
      <p:sp>
        <p:nvSpPr>
          <p:cNvPr id="2" name="CasellaDiTesto 1">
            <a:extLst>
              <a:ext uri="{FF2B5EF4-FFF2-40B4-BE49-F238E27FC236}">
                <a16:creationId xmlns:a16="http://schemas.microsoft.com/office/drawing/2014/main" id="{81EB2C30-2BE5-A3BA-7AFE-A62CEABB3300}"/>
              </a:ext>
            </a:extLst>
          </p:cNvPr>
          <p:cNvSpPr txBox="1"/>
          <p:nvPr/>
        </p:nvSpPr>
        <p:spPr>
          <a:xfrm>
            <a:off x="457200" y="254000"/>
            <a:ext cx="11277600" cy="400110"/>
          </a:xfrm>
          <a:prstGeom prst="rect">
            <a:avLst/>
          </a:prstGeom>
          <a:noFill/>
          <a:ln>
            <a:noFill/>
          </a:ln>
        </p:spPr>
        <p:txBody>
          <a:bodyPr wrap="square">
            <a:spAutoFit/>
          </a:bodyPr>
          <a:lstStyle>
            <a:defPPr>
              <a:defRPr lang="it-IT"/>
            </a:defPPr>
            <a:lvl1pPr>
              <a:defRPr sz="1400" b="1"/>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2000" i="0" u="none" strike="noStrike" kern="1200" cap="none" spc="0" normalizeH="0" baseline="0" noProof="0" dirty="0">
                <a:ln>
                  <a:noFill/>
                </a:ln>
                <a:solidFill>
                  <a:srgbClr val="000000"/>
                </a:solidFill>
                <a:effectLst/>
                <a:uLnTx/>
                <a:uFillTx/>
                <a:latin typeface="Calibri"/>
                <a:ea typeface="Calibri"/>
                <a:cs typeface="Calibri"/>
              </a:rPr>
              <a:t>Il manager compila il modulo di data </a:t>
            </a:r>
            <a:r>
              <a:rPr lang="it-IT" sz="2000" dirty="0" err="1">
                <a:solidFill>
                  <a:srgbClr val="000000"/>
                </a:solidFill>
                <a:latin typeface="Calibri"/>
                <a:ea typeface="Calibri"/>
                <a:cs typeface="Calibri"/>
              </a:rPr>
              <a:t>capture</a:t>
            </a:r>
            <a:r>
              <a:rPr lang="it-IT" sz="2000" dirty="0">
                <a:solidFill>
                  <a:srgbClr val="000000"/>
                </a:solidFill>
                <a:latin typeface="Calibri"/>
                <a:ea typeface="Calibri"/>
                <a:cs typeface="Calibri"/>
              </a:rPr>
              <a:t>. </a:t>
            </a:r>
            <a:endParaRPr kumimoji="0" lang="it-IT" sz="2000" i="0" u="none" strike="noStrike" kern="1200" cap="none" spc="0" normalizeH="0" baseline="0" noProof="0" dirty="0">
              <a:ln>
                <a:noFill/>
              </a:ln>
              <a:solidFill>
                <a:srgbClr val="000000"/>
              </a:solidFill>
              <a:effectLst/>
              <a:uLnTx/>
              <a:uFillTx/>
              <a:latin typeface="Calibri"/>
              <a:ea typeface="Calibri"/>
              <a:cs typeface="Calibri"/>
            </a:endParaRPr>
          </a:p>
        </p:txBody>
      </p:sp>
      <p:sp>
        <p:nvSpPr>
          <p:cNvPr id="5" name="CasellaDiTesto 4">
            <a:extLst>
              <a:ext uri="{FF2B5EF4-FFF2-40B4-BE49-F238E27FC236}">
                <a16:creationId xmlns:a16="http://schemas.microsoft.com/office/drawing/2014/main" id="{F8EAF181-F533-5E0E-A8EB-7E040F351AA7}"/>
              </a:ext>
            </a:extLst>
          </p:cNvPr>
          <p:cNvSpPr txBox="1"/>
          <p:nvPr/>
        </p:nvSpPr>
        <p:spPr>
          <a:xfrm>
            <a:off x="1071716" y="6013931"/>
            <a:ext cx="6096000" cy="400110"/>
          </a:xfrm>
          <a:prstGeom prst="rect">
            <a:avLst/>
          </a:prstGeom>
          <a:noFill/>
        </p:spPr>
        <p:txBody>
          <a:bodyPr wrap="square">
            <a:spAutoFit/>
          </a:bodyPr>
          <a:lstStyle/>
          <a:p>
            <a:r>
              <a:rPr lang="it-IT" sz="2000" dirty="0">
                <a:solidFill>
                  <a:srgbClr val="000000"/>
                </a:solidFill>
                <a:latin typeface="Calibri"/>
                <a:ea typeface="Calibri"/>
                <a:cs typeface="Calibri"/>
              </a:rPr>
              <a:t>* campi obbligatori</a:t>
            </a:r>
            <a:endParaRPr lang="it-IT" dirty="0"/>
          </a:p>
        </p:txBody>
      </p:sp>
      <p:sp>
        <p:nvSpPr>
          <p:cNvPr id="7" name="CasellaDiTesto 6">
            <a:extLst>
              <a:ext uri="{FF2B5EF4-FFF2-40B4-BE49-F238E27FC236}">
                <a16:creationId xmlns:a16="http://schemas.microsoft.com/office/drawing/2014/main" id="{A19AF67C-B3FD-AEC8-D29F-588F83C404F8}"/>
              </a:ext>
            </a:extLst>
          </p:cNvPr>
          <p:cNvSpPr txBox="1"/>
          <p:nvPr/>
        </p:nvSpPr>
        <p:spPr>
          <a:xfrm>
            <a:off x="4277032" y="1396181"/>
            <a:ext cx="2005781" cy="369332"/>
          </a:xfrm>
          <a:prstGeom prst="rect">
            <a:avLst/>
          </a:prstGeom>
          <a:noFill/>
        </p:spPr>
        <p:txBody>
          <a:bodyPr wrap="square" rtlCol="0">
            <a:spAutoFit/>
          </a:bodyPr>
          <a:lstStyle/>
          <a:p>
            <a:r>
              <a:rPr lang="it-IT" dirty="0"/>
              <a:t>Sezione 1</a:t>
            </a:r>
          </a:p>
        </p:txBody>
      </p:sp>
      <p:sp>
        <p:nvSpPr>
          <p:cNvPr id="8" name="CasellaDiTesto 7">
            <a:extLst>
              <a:ext uri="{FF2B5EF4-FFF2-40B4-BE49-F238E27FC236}">
                <a16:creationId xmlns:a16="http://schemas.microsoft.com/office/drawing/2014/main" id="{F1D0C2D9-71FE-951F-9E36-4E15523CDDE6}"/>
              </a:ext>
            </a:extLst>
          </p:cNvPr>
          <p:cNvSpPr txBox="1"/>
          <p:nvPr/>
        </p:nvSpPr>
        <p:spPr>
          <a:xfrm>
            <a:off x="9896167" y="1396181"/>
            <a:ext cx="2005781" cy="369332"/>
          </a:xfrm>
          <a:prstGeom prst="rect">
            <a:avLst/>
          </a:prstGeom>
          <a:noFill/>
        </p:spPr>
        <p:txBody>
          <a:bodyPr wrap="square" rtlCol="0">
            <a:spAutoFit/>
          </a:bodyPr>
          <a:lstStyle/>
          <a:p>
            <a:r>
              <a:rPr lang="it-IT" dirty="0"/>
              <a:t>Sezione 2</a:t>
            </a:r>
          </a:p>
        </p:txBody>
      </p:sp>
    </p:spTree>
    <p:extLst>
      <p:ext uri="{BB962C8B-B14F-4D97-AF65-F5344CB8AC3E}">
        <p14:creationId xmlns:p14="http://schemas.microsoft.com/office/powerpoint/2010/main" val="36801116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magine 7">
            <a:extLst>
              <a:ext uri="{FF2B5EF4-FFF2-40B4-BE49-F238E27FC236}">
                <a16:creationId xmlns:a16="http://schemas.microsoft.com/office/drawing/2014/main" id="{0F54CDA7-D0E7-20C7-D913-0A4654B031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20887" y="630250"/>
            <a:ext cx="6475164" cy="6227750"/>
          </a:xfrm>
          <a:prstGeom prst="rect">
            <a:avLst/>
          </a:prstGeom>
        </p:spPr>
      </p:pic>
      <p:sp>
        <p:nvSpPr>
          <p:cNvPr id="9" name="CasellaDiTesto 8">
            <a:extLst>
              <a:ext uri="{FF2B5EF4-FFF2-40B4-BE49-F238E27FC236}">
                <a16:creationId xmlns:a16="http://schemas.microsoft.com/office/drawing/2014/main" id="{5CE0D02A-CDA0-0E86-58A3-DB455AEC6F52}"/>
              </a:ext>
            </a:extLst>
          </p:cNvPr>
          <p:cNvSpPr txBox="1"/>
          <p:nvPr/>
        </p:nvSpPr>
        <p:spPr>
          <a:xfrm>
            <a:off x="457200" y="254000"/>
            <a:ext cx="112776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2000" b="1" i="0" u="none" strike="noStrike" kern="1200" cap="none" spc="0" normalizeH="0" baseline="0" noProof="0" dirty="0">
                <a:ln>
                  <a:noFill/>
                </a:ln>
                <a:solidFill>
                  <a:srgbClr val="000000"/>
                </a:solidFill>
                <a:effectLst/>
                <a:uLnTx/>
                <a:uFillTx/>
                <a:latin typeface="Calibri"/>
                <a:ea typeface="Calibri"/>
                <a:cs typeface="Calibri"/>
              </a:rPr>
              <a:t>Il data </a:t>
            </a:r>
            <a:r>
              <a:rPr kumimoji="0" lang="it-IT" sz="2000" b="1" i="0" u="none" strike="noStrike" kern="1200" cap="none" spc="0" normalizeH="0" baseline="0" noProof="0" dirty="0" err="1">
                <a:ln>
                  <a:noFill/>
                </a:ln>
                <a:solidFill>
                  <a:srgbClr val="000000"/>
                </a:solidFill>
                <a:effectLst/>
                <a:uLnTx/>
                <a:uFillTx/>
                <a:latin typeface="Calibri"/>
                <a:ea typeface="Calibri"/>
                <a:cs typeface="Calibri"/>
              </a:rPr>
              <a:t>owner</a:t>
            </a:r>
            <a:r>
              <a:rPr kumimoji="0" lang="it-IT" sz="2000" b="1" i="0" u="none" strike="noStrike" kern="1200" cap="none" spc="0" normalizeH="0" baseline="0" noProof="0" dirty="0">
                <a:ln>
                  <a:noFill/>
                </a:ln>
                <a:solidFill>
                  <a:srgbClr val="000000"/>
                </a:solidFill>
                <a:effectLst/>
                <a:uLnTx/>
                <a:uFillTx/>
                <a:latin typeface="Calibri"/>
                <a:ea typeface="Calibri"/>
                <a:cs typeface="Calibri"/>
              </a:rPr>
              <a:t> della sede in ritardo riceve la mail con richiesta dati</a:t>
            </a:r>
          </a:p>
        </p:txBody>
      </p:sp>
      <p:pic>
        <p:nvPicPr>
          <p:cNvPr id="2" name="Immagine 1">
            <a:extLst>
              <a:ext uri="{FF2B5EF4-FFF2-40B4-BE49-F238E27FC236}">
                <a16:creationId xmlns:a16="http://schemas.microsoft.com/office/drawing/2014/main" id="{558AD5E2-A6E3-4A92-DC3D-B138F20D8668}"/>
              </a:ext>
            </a:extLst>
          </p:cNvPr>
          <p:cNvPicPr>
            <a:picLocks noChangeAspect="1"/>
          </p:cNvPicPr>
          <p:nvPr/>
        </p:nvPicPr>
        <p:blipFill>
          <a:blip r:embed="rId3"/>
          <a:stretch>
            <a:fillRect/>
          </a:stretch>
        </p:blipFill>
        <p:spPr>
          <a:xfrm>
            <a:off x="570272" y="1017931"/>
            <a:ext cx="1425677" cy="1126386"/>
          </a:xfrm>
          <a:prstGeom prst="rect">
            <a:avLst/>
          </a:prstGeom>
        </p:spPr>
      </p:pic>
      <p:sp>
        <p:nvSpPr>
          <p:cNvPr id="4" name="CasellaDiTesto 3">
            <a:extLst>
              <a:ext uri="{FF2B5EF4-FFF2-40B4-BE49-F238E27FC236}">
                <a16:creationId xmlns:a16="http://schemas.microsoft.com/office/drawing/2014/main" id="{1F1E3B70-0607-8358-0309-1C091EF691F4}"/>
              </a:ext>
            </a:extLst>
          </p:cNvPr>
          <p:cNvSpPr txBox="1"/>
          <p:nvPr/>
        </p:nvSpPr>
        <p:spPr>
          <a:xfrm>
            <a:off x="294968" y="2215750"/>
            <a:ext cx="6096000" cy="646331"/>
          </a:xfrm>
          <a:prstGeom prst="rect">
            <a:avLst/>
          </a:prstGeom>
          <a:noFill/>
        </p:spPr>
        <p:txBody>
          <a:bodyPr wrap="square">
            <a:spAutoFit/>
          </a:bodyPr>
          <a:lstStyle/>
          <a:p>
            <a:r>
              <a:rPr lang="it-IT" sz="1800" dirty="0"/>
              <a:t>Luigi, Ruolo Aziendale </a:t>
            </a:r>
            <a:br>
              <a:rPr lang="it-IT" sz="1800" dirty="0"/>
            </a:br>
            <a:r>
              <a:rPr lang="it-IT" sz="1800" dirty="0"/>
              <a:t>Energy Manager della sede di Milano </a:t>
            </a:r>
          </a:p>
        </p:txBody>
      </p:sp>
    </p:spTree>
    <p:extLst>
      <p:ext uri="{BB962C8B-B14F-4D97-AF65-F5344CB8AC3E}">
        <p14:creationId xmlns:p14="http://schemas.microsoft.com/office/powerpoint/2010/main" val="18262417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2">
            <a:extLst>
              <a:ext uri="{FF2B5EF4-FFF2-40B4-BE49-F238E27FC236}">
                <a16:creationId xmlns:a16="http://schemas.microsoft.com/office/drawing/2014/main" id="{61A89955-6E91-F791-B87E-EAB436B54B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199" y="1184399"/>
            <a:ext cx="10751688" cy="5419601"/>
          </a:xfrm>
          <a:prstGeom prst="rect">
            <a:avLst/>
          </a:prstGeom>
        </p:spPr>
      </p:pic>
      <p:sp>
        <p:nvSpPr>
          <p:cNvPr id="6" name="CasellaDiTesto 5">
            <a:extLst>
              <a:ext uri="{FF2B5EF4-FFF2-40B4-BE49-F238E27FC236}">
                <a16:creationId xmlns:a16="http://schemas.microsoft.com/office/drawing/2014/main" id="{4CBEDAD1-B47A-718E-D7C6-B17FEE34232B}"/>
              </a:ext>
            </a:extLst>
          </p:cNvPr>
          <p:cNvSpPr txBox="1"/>
          <p:nvPr/>
        </p:nvSpPr>
        <p:spPr>
          <a:xfrm>
            <a:off x="457199" y="227398"/>
            <a:ext cx="11277600" cy="707886"/>
          </a:xfrm>
          <a:prstGeom prst="rect">
            <a:avLst/>
          </a:prstGeom>
          <a:noFill/>
          <a:ln>
            <a:noFill/>
          </a:ln>
        </p:spPr>
        <p:txBody>
          <a:bodyPr wrap="square">
            <a:spAutoFit/>
          </a:bodyPr>
          <a:lstStyle>
            <a:defPPr>
              <a:defRPr lang="it-IT"/>
            </a:defPPr>
            <a:lvl1pPr>
              <a:defRPr sz="1400" b="1"/>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2000" i="0" u="none" strike="noStrike" kern="1200" cap="none" spc="0" normalizeH="0" baseline="0" noProof="0" dirty="0">
                <a:ln>
                  <a:noFill/>
                </a:ln>
                <a:solidFill>
                  <a:srgbClr val="000000"/>
                </a:solidFill>
                <a:effectLst/>
                <a:uLnTx/>
                <a:uFillTx/>
                <a:latin typeface="Calibri"/>
                <a:ea typeface="Calibri"/>
                <a:cs typeface="Calibri"/>
              </a:rPr>
              <a:t>Il data </a:t>
            </a:r>
            <a:r>
              <a:rPr kumimoji="0" lang="it-IT" sz="2000" i="0" u="none" strike="noStrike" kern="1200" cap="none" spc="0" normalizeH="0" baseline="0" noProof="0" dirty="0" err="1">
                <a:ln>
                  <a:noFill/>
                </a:ln>
                <a:solidFill>
                  <a:srgbClr val="000000"/>
                </a:solidFill>
                <a:effectLst/>
                <a:uLnTx/>
                <a:uFillTx/>
                <a:latin typeface="Calibri"/>
                <a:ea typeface="Calibri"/>
                <a:cs typeface="Calibri"/>
              </a:rPr>
              <a:t>owner</a:t>
            </a:r>
            <a:r>
              <a:rPr kumimoji="0" lang="it-IT" sz="2000" i="0" u="none" strike="noStrike" kern="1200" cap="none" spc="0" normalizeH="0" baseline="0" noProof="0" dirty="0">
                <a:ln>
                  <a:noFill/>
                </a:ln>
                <a:solidFill>
                  <a:srgbClr val="000000"/>
                </a:solidFill>
                <a:effectLst/>
                <a:uLnTx/>
                <a:uFillTx/>
                <a:latin typeface="Calibri"/>
                <a:ea typeface="Calibri"/>
                <a:cs typeface="Calibri"/>
              </a:rPr>
              <a:t> accedere alla sua lavagna di lavoro, click sul compito, click su </a:t>
            </a:r>
            <a:r>
              <a:rPr kumimoji="0" lang="it-IT" sz="2000" i="0" u="none" strike="noStrike" kern="1200" cap="none" spc="0" normalizeH="0" baseline="0" noProof="0" dirty="0" err="1">
                <a:ln>
                  <a:noFill/>
                </a:ln>
                <a:solidFill>
                  <a:srgbClr val="000000"/>
                </a:solidFill>
                <a:effectLst/>
                <a:uLnTx/>
                <a:uFillTx/>
                <a:latin typeface="Calibri"/>
                <a:ea typeface="Calibri"/>
                <a:cs typeface="Calibri"/>
              </a:rPr>
              <a:t>capture</a:t>
            </a:r>
            <a:r>
              <a:rPr kumimoji="0" lang="it-IT" sz="2000" i="0" u="none" strike="noStrike" kern="1200" cap="none" spc="0" normalizeH="0" baseline="0" noProof="0" dirty="0">
                <a:ln>
                  <a:noFill/>
                </a:ln>
                <a:solidFill>
                  <a:srgbClr val="000000"/>
                </a:solidFill>
                <a:effectLst/>
                <a:uLnTx/>
                <a:uFillTx/>
                <a:latin typeface="Calibri"/>
                <a:ea typeface="Calibri"/>
                <a:cs typeface="Calibri"/>
              </a:rPr>
              <a:t> data</a:t>
            </a:r>
          </a:p>
          <a:p>
            <a:pPr marL="0" marR="0" lvl="0" indent="0" algn="l" defTabSz="914400" rtl="0" eaLnBrk="1" fontAlgn="auto" latinLnBrk="0" hangingPunct="1">
              <a:lnSpc>
                <a:spcPct val="100000"/>
              </a:lnSpc>
              <a:spcBef>
                <a:spcPts val="0"/>
              </a:spcBef>
              <a:spcAft>
                <a:spcPts val="0"/>
              </a:spcAft>
              <a:buClrTx/>
              <a:buSzTx/>
              <a:buFontTx/>
              <a:buNone/>
              <a:tabLst/>
              <a:defRPr/>
            </a:pPr>
            <a:r>
              <a:rPr lang="it-IT" sz="2000" dirty="0">
                <a:solidFill>
                  <a:srgbClr val="000000"/>
                </a:solidFill>
                <a:latin typeface="Calibri"/>
                <a:ea typeface="Calibri"/>
                <a:cs typeface="Calibri"/>
              </a:rPr>
              <a:t>Al termine sposta lo status fino a </a:t>
            </a:r>
            <a:r>
              <a:rPr lang="it-IT" sz="2000" dirty="0" err="1">
                <a:solidFill>
                  <a:srgbClr val="000000"/>
                </a:solidFill>
                <a:latin typeface="Calibri"/>
                <a:ea typeface="Calibri"/>
                <a:cs typeface="Calibri"/>
              </a:rPr>
              <a:t>submitted</a:t>
            </a:r>
            <a:r>
              <a:rPr lang="it-IT" sz="2000" dirty="0">
                <a:solidFill>
                  <a:srgbClr val="000000"/>
                </a:solidFill>
                <a:latin typeface="Calibri"/>
                <a:ea typeface="Calibri"/>
                <a:cs typeface="Calibri"/>
              </a:rPr>
              <a:t> (non può </a:t>
            </a:r>
            <a:r>
              <a:rPr lang="it-IT" sz="2000" dirty="0" err="1">
                <a:solidFill>
                  <a:srgbClr val="000000"/>
                </a:solidFill>
                <a:latin typeface="Calibri"/>
                <a:ea typeface="Calibri"/>
                <a:cs typeface="Calibri"/>
              </a:rPr>
              <a:t>done</a:t>
            </a:r>
            <a:r>
              <a:rPr lang="it-IT" sz="2000" dirty="0">
                <a:solidFill>
                  <a:srgbClr val="000000"/>
                </a:solidFill>
                <a:latin typeface="Calibri"/>
                <a:ea typeface="Calibri"/>
                <a:cs typeface="Calibri"/>
              </a:rPr>
              <a:t>)</a:t>
            </a:r>
            <a:endParaRPr kumimoji="0" lang="it-IT" sz="2000" i="0" u="none" strike="noStrike" kern="1200" cap="none" spc="0" normalizeH="0" baseline="0" noProof="0" dirty="0">
              <a:ln>
                <a:noFill/>
              </a:ln>
              <a:solidFill>
                <a:srgbClr val="000000"/>
              </a:solidFill>
              <a:effectLst/>
              <a:uLnTx/>
              <a:uFillTx/>
              <a:latin typeface="Calibri"/>
              <a:ea typeface="Calibri"/>
              <a:cs typeface="Calibri"/>
            </a:endParaRPr>
          </a:p>
        </p:txBody>
      </p:sp>
      <p:sp>
        <p:nvSpPr>
          <p:cNvPr id="4" name="Freccia destra 3">
            <a:extLst>
              <a:ext uri="{FF2B5EF4-FFF2-40B4-BE49-F238E27FC236}">
                <a16:creationId xmlns:a16="http://schemas.microsoft.com/office/drawing/2014/main" id="{74B3285D-98E9-B362-039E-549343C0A75B}"/>
              </a:ext>
            </a:extLst>
          </p:cNvPr>
          <p:cNvSpPr/>
          <p:nvPr/>
        </p:nvSpPr>
        <p:spPr>
          <a:xfrm>
            <a:off x="1759527" y="4461164"/>
            <a:ext cx="1801091" cy="69272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7331689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magine 3">
            <a:extLst>
              <a:ext uri="{FF2B5EF4-FFF2-40B4-BE49-F238E27FC236}">
                <a16:creationId xmlns:a16="http://schemas.microsoft.com/office/drawing/2014/main" id="{C9965B2A-135E-CC13-CB19-442C10D934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3845" y="1691615"/>
            <a:ext cx="9809579" cy="4944712"/>
          </a:xfrm>
          <a:prstGeom prst="rect">
            <a:avLst/>
          </a:prstGeom>
        </p:spPr>
      </p:pic>
      <p:cxnSp>
        <p:nvCxnSpPr>
          <p:cNvPr id="6" name="Connettore diritto a freccia 5">
            <a:extLst>
              <a:ext uri="{FF2B5EF4-FFF2-40B4-BE49-F238E27FC236}">
                <a16:creationId xmlns:a16="http://schemas.microsoft.com/office/drawing/2014/main" id="{310BF28F-958C-10BC-A168-61B2A866983B}"/>
              </a:ext>
            </a:extLst>
          </p:cNvPr>
          <p:cNvCxnSpPr>
            <a:cxnSpLocks/>
          </p:cNvCxnSpPr>
          <p:nvPr/>
        </p:nvCxnSpPr>
        <p:spPr>
          <a:xfrm>
            <a:off x="1593272" y="4668982"/>
            <a:ext cx="3297383" cy="0"/>
          </a:xfrm>
          <a:prstGeom prst="straightConnector1">
            <a:avLst/>
          </a:prstGeom>
          <a:ln w="41275">
            <a:tailEnd type="triangle"/>
          </a:ln>
        </p:spPr>
        <p:style>
          <a:lnRef idx="1">
            <a:schemeClr val="accent1"/>
          </a:lnRef>
          <a:fillRef idx="0">
            <a:schemeClr val="accent1"/>
          </a:fillRef>
          <a:effectRef idx="0">
            <a:schemeClr val="accent1"/>
          </a:effectRef>
          <a:fontRef idx="minor">
            <a:schemeClr val="tx1"/>
          </a:fontRef>
        </p:style>
      </p:cxnSp>
      <p:sp>
        <p:nvSpPr>
          <p:cNvPr id="8" name="CasellaDiTesto 7">
            <a:extLst>
              <a:ext uri="{FF2B5EF4-FFF2-40B4-BE49-F238E27FC236}">
                <a16:creationId xmlns:a16="http://schemas.microsoft.com/office/drawing/2014/main" id="{3A9E88DA-C898-7F00-2819-D5AD3D231DAC}"/>
              </a:ext>
            </a:extLst>
          </p:cNvPr>
          <p:cNvSpPr txBox="1"/>
          <p:nvPr/>
        </p:nvSpPr>
        <p:spPr>
          <a:xfrm>
            <a:off x="263233" y="789067"/>
            <a:ext cx="10210801" cy="646331"/>
          </a:xfrm>
          <a:prstGeom prst="rect">
            <a:avLst/>
          </a:prstGeom>
          <a:noFill/>
        </p:spPr>
        <p:txBody>
          <a:bodyPr wrap="square">
            <a:spAutoFit/>
          </a:bodyPr>
          <a:lstStyle/>
          <a:p>
            <a:pPr>
              <a:buNone/>
            </a:pPr>
            <a:r>
              <a:rPr lang="it-IT" dirty="0"/>
              <a:t>In </a:t>
            </a:r>
            <a:r>
              <a:rPr lang="it-IT" b="1" dirty="0"/>
              <a:t>IBM </a:t>
            </a:r>
            <a:r>
              <a:rPr lang="it-IT" b="1" dirty="0" err="1"/>
              <a:t>Envizi</a:t>
            </a:r>
            <a:r>
              <a:rPr lang="it-IT" dirty="0"/>
              <a:t>, se un utente deve </a:t>
            </a:r>
            <a:r>
              <a:rPr lang="it-IT" b="1" dirty="0"/>
              <a:t>revisionare e chiudere le </a:t>
            </a:r>
            <a:r>
              <a:rPr lang="it-IT" b="1" dirty="0" err="1"/>
              <a:t>Issue</a:t>
            </a:r>
            <a:r>
              <a:rPr lang="it-IT" dirty="0"/>
              <a:t>, deve essere assegnato il </a:t>
            </a:r>
            <a:r>
              <a:rPr lang="it-IT" b="1" dirty="0"/>
              <a:t>Work Role “</a:t>
            </a:r>
            <a:r>
              <a:rPr lang="it-IT" b="1" dirty="0" err="1"/>
              <a:t>Issue</a:t>
            </a:r>
            <a:r>
              <a:rPr lang="it-IT" b="1" dirty="0"/>
              <a:t> Manager”</a:t>
            </a:r>
            <a:r>
              <a:rPr lang="it-IT" dirty="0"/>
              <a:t> (oltre ad avere l’Access Level che gli consente di vedere le </a:t>
            </a:r>
            <a:r>
              <a:rPr lang="it-IT" dirty="0" err="1"/>
              <a:t>Issue</a:t>
            </a:r>
            <a:r>
              <a:rPr lang="it-IT" dirty="0"/>
              <a:t> relative al proprio perimetro).</a:t>
            </a:r>
          </a:p>
        </p:txBody>
      </p:sp>
      <p:pic>
        <p:nvPicPr>
          <p:cNvPr id="13" name="Immagine 12">
            <a:extLst>
              <a:ext uri="{FF2B5EF4-FFF2-40B4-BE49-F238E27FC236}">
                <a16:creationId xmlns:a16="http://schemas.microsoft.com/office/drawing/2014/main" id="{C8F4EC21-E962-19C1-30B1-C822EE4D9B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67444" y="3735109"/>
            <a:ext cx="1212822" cy="2194630"/>
          </a:xfrm>
          <a:prstGeom prst="rect">
            <a:avLst/>
          </a:prstGeom>
        </p:spPr>
      </p:pic>
      <p:sp>
        <p:nvSpPr>
          <p:cNvPr id="14" name="CasellaDiTesto 13">
            <a:extLst>
              <a:ext uri="{FF2B5EF4-FFF2-40B4-BE49-F238E27FC236}">
                <a16:creationId xmlns:a16="http://schemas.microsoft.com/office/drawing/2014/main" id="{4F1C8267-730F-E492-2402-97381DCC2262}"/>
              </a:ext>
            </a:extLst>
          </p:cNvPr>
          <p:cNvSpPr txBox="1"/>
          <p:nvPr/>
        </p:nvSpPr>
        <p:spPr>
          <a:xfrm>
            <a:off x="263233" y="199293"/>
            <a:ext cx="10210801" cy="461665"/>
          </a:xfrm>
          <a:prstGeom prst="rect">
            <a:avLst/>
          </a:prstGeom>
          <a:noFill/>
        </p:spPr>
        <p:txBody>
          <a:bodyPr wrap="square">
            <a:spAutoFit/>
          </a:bodyPr>
          <a:lstStyle/>
          <a:p>
            <a:pPr>
              <a:buNone/>
            </a:pPr>
            <a:r>
              <a:rPr lang="it-IT" sz="2400" dirty="0"/>
              <a:t>L’</a:t>
            </a:r>
            <a:r>
              <a:rPr lang="it-IT" sz="2400" dirty="0" err="1"/>
              <a:t>issue</a:t>
            </a:r>
            <a:r>
              <a:rPr lang="it-IT" sz="2400" dirty="0"/>
              <a:t> manager verifica e cambia stato: </a:t>
            </a:r>
            <a:r>
              <a:rPr lang="it-IT" sz="2400" dirty="0" err="1"/>
              <a:t>done</a:t>
            </a:r>
            <a:r>
              <a:rPr lang="it-IT" sz="2400" dirty="0"/>
              <a:t> o reinviato al mittente</a:t>
            </a:r>
          </a:p>
        </p:txBody>
      </p:sp>
    </p:spTree>
    <p:extLst>
      <p:ext uri="{BB962C8B-B14F-4D97-AF65-F5344CB8AC3E}">
        <p14:creationId xmlns:p14="http://schemas.microsoft.com/office/powerpoint/2010/main" val="13684343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asellaDiTesto 5">
            <a:extLst>
              <a:ext uri="{FF2B5EF4-FFF2-40B4-BE49-F238E27FC236}">
                <a16:creationId xmlns:a16="http://schemas.microsoft.com/office/drawing/2014/main" id="{D49A0164-1FD7-7482-1222-725D3914E816}"/>
              </a:ext>
            </a:extLst>
          </p:cNvPr>
          <p:cNvSpPr txBox="1"/>
          <p:nvPr/>
        </p:nvSpPr>
        <p:spPr>
          <a:xfrm>
            <a:off x="235527" y="460628"/>
            <a:ext cx="11208328" cy="5170646"/>
          </a:xfrm>
          <a:prstGeom prst="rect">
            <a:avLst/>
          </a:prstGeom>
          <a:noFill/>
        </p:spPr>
        <p:txBody>
          <a:bodyPr wrap="square">
            <a:spAutoFit/>
          </a:bodyPr>
          <a:lstStyle/>
          <a:p>
            <a:pPr>
              <a:buNone/>
            </a:pPr>
            <a:r>
              <a:rPr lang="it-IT" sz="2400" b="1" dirty="0"/>
              <a:t>Flusso di gestione delle </a:t>
            </a:r>
            <a:r>
              <a:rPr lang="it-IT" sz="2400" b="1" dirty="0" err="1"/>
              <a:t>Issue</a:t>
            </a:r>
            <a:r>
              <a:rPr lang="it-IT" sz="2400" b="1" dirty="0"/>
              <a:t> in IBM </a:t>
            </a:r>
            <a:r>
              <a:rPr lang="it-IT" sz="2400" b="1" dirty="0" err="1"/>
              <a:t>Envizi</a:t>
            </a:r>
            <a:endParaRPr lang="it-IT" sz="2400" b="1" dirty="0"/>
          </a:p>
          <a:p>
            <a:pPr>
              <a:buNone/>
            </a:pPr>
            <a:endParaRPr lang="it-IT" b="1" dirty="0"/>
          </a:p>
          <a:p>
            <a:pPr>
              <a:buNone/>
            </a:pPr>
            <a:r>
              <a:rPr lang="it-IT" dirty="0"/>
              <a:t>Il processo di </a:t>
            </a:r>
            <a:r>
              <a:rPr lang="it-IT" b="1" dirty="0" err="1"/>
              <a:t>Issue</a:t>
            </a:r>
            <a:r>
              <a:rPr lang="it-IT" b="1" dirty="0"/>
              <a:t> Management</a:t>
            </a:r>
            <a:r>
              <a:rPr lang="it-IT" dirty="0"/>
              <a:t> consente di assegnare, tracciare e verificare la risoluzione di anomalie o attività operative legate alla qualità dei dati (dato mancante o dato anomalo)</a:t>
            </a:r>
          </a:p>
          <a:p>
            <a:pPr>
              <a:buNone/>
            </a:pPr>
            <a:endParaRPr lang="it-IT" dirty="0"/>
          </a:p>
          <a:p>
            <a:pPr>
              <a:buNone/>
            </a:pPr>
            <a:r>
              <a:rPr lang="it-IT" b="1" dirty="0"/>
              <a:t>Open - </a:t>
            </a:r>
            <a:r>
              <a:rPr lang="it-IT" dirty="0"/>
              <a:t>L’</a:t>
            </a:r>
            <a:r>
              <a:rPr lang="it-IT" dirty="0" err="1"/>
              <a:t>Issue</a:t>
            </a:r>
            <a:r>
              <a:rPr lang="it-IT" dirty="0"/>
              <a:t> viene creata da un utente per segnalare un’anomalia o un’attività da gestire.</a:t>
            </a:r>
          </a:p>
          <a:p>
            <a:pPr>
              <a:buNone/>
            </a:pPr>
            <a:endParaRPr lang="it-IT" b="1" dirty="0"/>
          </a:p>
          <a:p>
            <a:pPr>
              <a:buNone/>
            </a:pPr>
            <a:r>
              <a:rPr lang="it-IT" b="1" dirty="0"/>
              <a:t>In Progress - </a:t>
            </a:r>
            <a:r>
              <a:rPr lang="it-IT" dirty="0"/>
              <a:t>Un utente prende in carico l’</a:t>
            </a:r>
            <a:r>
              <a:rPr lang="it-IT" dirty="0" err="1"/>
              <a:t>Issue</a:t>
            </a:r>
            <a:r>
              <a:rPr lang="it-IT" dirty="0"/>
              <a:t> ed esegue le attività necessarie alla sua risoluzione.</a:t>
            </a:r>
          </a:p>
          <a:p>
            <a:pPr>
              <a:buNone/>
            </a:pPr>
            <a:endParaRPr lang="it-IT" b="1" dirty="0"/>
          </a:p>
          <a:p>
            <a:pPr>
              <a:buNone/>
            </a:pPr>
            <a:r>
              <a:rPr lang="it-IT" b="1" dirty="0"/>
              <a:t>Review - </a:t>
            </a:r>
            <a:r>
              <a:rPr lang="it-IT" dirty="0"/>
              <a:t>Se previsto dal processo aziendale, un altro utente con </a:t>
            </a:r>
            <a:r>
              <a:rPr lang="it-IT" b="1" dirty="0"/>
              <a:t>Work Role: </a:t>
            </a:r>
            <a:r>
              <a:rPr lang="it-IT" b="1" dirty="0" err="1"/>
              <a:t>Issue</a:t>
            </a:r>
            <a:r>
              <a:rPr lang="it-IT" b="1" dirty="0"/>
              <a:t> Manager</a:t>
            </a:r>
            <a:r>
              <a:rPr lang="it-IT" dirty="0"/>
              <a:t> verifica che le azioni intraprese abbiano risolto correttamente il problema e decide se richiedere ulteriori interventi oppure procedere alla chiusura.</a:t>
            </a:r>
          </a:p>
          <a:p>
            <a:pPr>
              <a:buNone/>
            </a:pPr>
            <a:endParaRPr lang="it-IT" b="1" dirty="0"/>
          </a:p>
          <a:p>
            <a:pPr>
              <a:buNone/>
            </a:pPr>
            <a:r>
              <a:rPr lang="it-IT" b="1" dirty="0"/>
              <a:t>Done - </a:t>
            </a:r>
            <a:r>
              <a:rPr lang="it-IT" dirty="0"/>
              <a:t>L’</a:t>
            </a:r>
            <a:r>
              <a:rPr lang="it-IT" dirty="0" err="1"/>
              <a:t>Issue</a:t>
            </a:r>
            <a:r>
              <a:rPr lang="it-IT" dirty="0"/>
              <a:t> viene chiusa perché il problema è stato risolto o l’attività richiesta è stata completata.</a:t>
            </a:r>
          </a:p>
          <a:p>
            <a:pPr>
              <a:buNone/>
            </a:pPr>
            <a:endParaRPr lang="it-IT" b="1" dirty="0"/>
          </a:p>
          <a:p>
            <a:pPr>
              <a:buNone/>
            </a:pPr>
            <a:r>
              <a:rPr lang="it-IT" b="1" dirty="0"/>
              <a:t>Nota:</a:t>
            </a:r>
            <a:r>
              <a:rPr lang="it-IT" dirty="0"/>
              <a:t> lo stato </a:t>
            </a:r>
            <a:r>
              <a:rPr lang="it-IT" b="1" dirty="0"/>
              <a:t>Done</a:t>
            </a:r>
            <a:r>
              <a:rPr lang="it-IT" dirty="0"/>
              <a:t> indica esclusivamente la conclusione dell’attività di gestione dell’</a:t>
            </a:r>
            <a:r>
              <a:rPr lang="it-IT" dirty="0" err="1"/>
              <a:t>Issue</a:t>
            </a:r>
            <a:r>
              <a:rPr lang="it-IT" dirty="0"/>
              <a:t>. Non rappresenta un’approvazione del dato, che avviene invece attraverso il processo di </a:t>
            </a:r>
            <a:r>
              <a:rPr lang="it-IT" b="1" dirty="0" err="1"/>
              <a:t>Approval</a:t>
            </a:r>
            <a:r>
              <a:rPr lang="it-IT" b="1" dirty="0"/>
              <a:t> Workflow</a:t>
            </a:r>
            <a:r>
              <a:rPr lang="it-IT" dirty="0"/>
              <a:t>, eventualmente configurato in modo indipendente.</a:t>
            </a:r>
          </a:p>
        </p:txBody>
      </p:sp>
    </p:spTree>
    <p:extLst>
      <p:ext uri="{BB962C8B-B14F-4D97-AF65-F5344CB8AC3E}">
        <p14:creationId xmlns:p14="http://schemas.microsoft.com/office/powerpoint/2010/main" val="41235665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55BB7B3C-A2F9-7EE1-AD4A-BDDD433A1124}"/>
              </a:ext>
            </a:extLst>
          </p:cNvPr>
          <p:cNvSpPr txBox="1"/>
          <p:nvPr/>
        </p:nvSpPr>
        <p:spPr>
          <a:xfrm>
            <a:off x="554182" y="446544"/>
            <a:ext cx="10764982" cy="4339650"/>
          </a:xfrm>
          <a:prstGeom prst="rect">
            <a:avLst/>
          </a:prstGeom>
          <a:noFill/>
        </p:spPr>
        <p:txBody>
          <a:bodyPr wrap="square">
            <a:spAutoFit/>
          </a:bodyPr>
          <a:lstStyle/>
          <a:p>
            <a:pPr>
              <a:buNone/>
            </a:pPr>
            <a:r>
              <a:rPr lang="it-IT" sz="2400" b="1" dirty="0" err="1"/>
              <a:t>Issue</a:t>
            </a:r>
            <a:r>
              <a:rPr lang="it-IT" sz="2400" b="1" dirty="0"/>
              <a:t> Management e processo di approvazione: due controlli con finalità differenti</a:t>
            </a:r>
          </a:p>
          <a:p>
            <a:pPr>
              <a:buNone/>
            </a:pPr>
            <a:endParaRPr lang="it-IT" b="1" dirty="0"/>
          </a:p>
          <a:p>
            <a:pPr>
              <a:buNone/>
            </a:pPr>
            <a:endParaRPr lang="it-IT" b="1" dirty="0"/>
          </a:p>
          <a:p>
            <a:pPr>
              <a:buNone/>
            </a:pPr>
            <a:r>
              <a:rPr lang="it-IT" dirty="0"/>
              <a:t>In IBM </a:t>
            </a:r>
            <a:r>
              <a:rPr lang="it-IT" dirty="0" err="1"/>
              <a:t>Envizi</a:t>
            </a:r>
            <a:r>
              <a:rPr lang="it-IT" dirty="0"/>
              <a:t> il controllo della qualità del dato si articola attraverso due processi distinti: </a:t>
            </a:r>
            <a:r>
              <a:rPr lang="it-IT" b="1" dirty="0" err="1"/>
              <a:t>Issue</a:t>
            </a:r>
            <a:r>
              <a:rPr lang="it-IT" b="1" dirty="0"/>
              <a:t> Management</a:t>
            </a:r>
            <a:r>
              <a:rPr lang="it-IT" dirty="0"/>
              <a:t> e </a:t>
            </a:r>
            <a:r>
              <a:rPr lang="it-IT" b="1" dirty="0" err="1"/>
              <a:t>Approval</a:t>
            </a:r>
            <a:r>
              <a:rPr lang="it-IT" b="1" dirty="0"/>
              <a:t> Workflow</a:t>
            </a:r>
            <a:r>
              <a:rPr lang="it-IT" dirty="0"/>
              <a:t>.</a:t>
            </a:r>
          </a:p>
          <a:p>
            <a:pPr>
              <a:buNone/>
            </a:pPr>
            <a:endParaRPr lang="it-IT" dirty="0"/>
          </a:p>
          <a:p>
            <a:pPr>
              <a:buNone/>
            </a:pPr>
            <a:r>
              <a:rPr lang="it-IT" dirty="0" err="1"/>
              <a:t>ùL’</a:t>
            </a:r>
            <a:r>
              <a:rPr lang="it-IT" b="1" dirty="0" err="1"/>
              <a:t>Issue</a:t>
            </a:r>
            <a:r>
              <a:rPr lang="it-IT" b="1" dirty="0"/>
              <a:t> Management</a:t>
            </a:r>
            <a:r>
              <a:rPr lang="it-IT" dirty="0"/>
              <a:t> ha lo scopo di individuare e gestire anomalie o attività operative che richiedono un intervento. Un’</a:t>
            </a:r>
            <a:r>
              <a:rPr lang="it-IT" dirty="0" err="1"/>
              <a:t>issue</a:t>
            </a:r>
            <a:r>
              <a:rPr lang="it-IT" dirty="0"/>
              <a:t> può essere generata automaticamente (ad esempio per dati mancanti, valori anomali o controlli configurati) oppure manualmente da un utente. L’</a:t>
            </a:r>
            <a:r>
              <a:rPr lang="it-IT" dirty="0" err="1"/>
              <a:t>issue</a:t>
            </a:r>
            <a:r>
              <a:rPr lang="it-IT" dirty="0"/>
              <a:t> viene assegnata a un responsabile che la prende in carico, esegue le verifiche necessarie e adotta le azioni correttive.</a:t>
            </a:r>
          </a:p>
          <a:p>
            <a:pPr>
              <a:buNone/>
            </a:pPr>
            <a:endParaRPr lang="it-IT" dirty="0"/>
          </a:p>
          <a:p>
            <a:pPr>
              <a:buNone/>
            </a:pPr>
            <a:r>
              <a:rPr lang="it-IT" dirty="0"/>
              <a:t>Quando il problema è stato risolto, l’</a:t>
            </a:r>
            <a:r>
              <a:rPr lang="it-IT" dirty="0" err="1"/>
              <a:t>issue</a:t>
            </a:r>
            <a:r>
              <a:rPr lang="it-IT" dirty="0"/>
              <a:t> viene portata nello stato </a:t>
            </a:r>
            <a:r>
              <a:rPr lang="it-IT" b="1" dirty="0"/>
              <a:t>Done</a:t>
            </a:r>
            <a:r>
              <a:rPr lang="it-IT" dirty="0"/>
              <a:t>. Questo stato significa esclusivamente che </a:t>
            </a:r>
            <a:r>
              <a:rPr lang="it-IT" b="1" dirty="0"/>
              <a:t>l’attività richiesta è stata completata</a:t>
            </a:r>
            <a:r>
              <a:rPr lang="it-IT" dirty="0"/>
              <a:t>: ad esempio il dato è stato inserito, corretto, verificato o è stata fornita una giustificazione documentata. Lo stato </a:t>
            </a:r>
            <a:r>
              <a:rPr lang="it-IT" b="1" dirty="0"/>
              <a:t>Done non rappresenta un’approvazione del dato</a:t>
            </a:r>
            <a:r>
              <a:rPr lang="it-IT" dirty="0"/>
              <a:t>, ma soltanto la chiusura dell’attività di gestione dell’anomalia.</a:t>
            </a:r>
          </a:p>
        </p:txBody>
      </p:sp>
    </p:spTree>
    <p:extLst>
      <p:ext uri="{BB962C8B-B14F-4D97-AF65-F5344CB8AC3E}">
        <p14:creationId xmlns:p14="http://schemas.microsoft.com/office/powerpoint/2010/main" val="36005445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sellaDiTesto 2">
            <a:extLst>
              <a:ext uri="{FF2B5EF4-FFF2-40B4-BE49-F238E27FC236}">
                <a16:creationId xmlns:a16="http://schemas.microsoft.com/office/drawing/2014/main" id="{D8B85AD2-A4A8-EE50-3281-5261A34248FD}"/>
              </a:ext>
            </a:extLst>
          </p:cNvPr>
          <p:cNvSpPr txBox="1"/>
          <p:nvPr/>
        </p:nvSpPr>
        <p:spPr>
          <a:xfrm>
            <a:off x="429491" y="294419"/>
            <a:ext cx="11291454" cy="5816977"/>
          </a:xfrm>
          <a:prstGeom prst="rect">
            <a:avLst/>
          </a:prstGeom>
          <a:noFill/>
        </p:spPr>
        <p:txBody>
          <a:bodyPr wrap="square">
            <a:spAutoFit/>
          </a:bodyPr>
          <a:lstStyle/>
          <a:p>
            <a:pPr>
              <a:buNone/>
            </a:pPr>
            <a:r>
              <a:rPr lang="it-IT" sz="2400" dirty="0"/>
              <a:t>Il </a:t>
            </a:r>
            <a:r>
              <a:rPr lang="it-IT" sz="2400" b="1" dirty="0"/>
              <a:t>processo di approvazione </a:t>
            </a:r>
            <a:r>
              <a:rPr lang="it-IT" sz="2400" dirty="0"/>
              <a:t> interviene invece successivamente, quando l’organizzazione desidera certificare formalmente la qualità e la validità dei dati raccolti. </a:t>
            </a:r>
          </a:p>
          <a:p>
            <a:pPr>
              <a:buNone/>
            </a:pPr>
            <a:endParaRPr lang="it-IT" dirty="0"/>
          </a:p>
          <a:p>
            <a:pPr>
              <a:buNone/>
            </a:pPr>
            <a:r>
              <a:rPr lang="it-IT" dirty="0"/>
              <a:t>Uno o più utenti con ruolo di </a:t>
            </a:r>
            <a:r>
              <a:rPr lang="it-IT" b="1" dirty="0" err="1"/>
              <a:t>Reviewer</a:t>
            </a:r>
            <a:r>
              <a:rPr lang="it-IT" dirty="0"/>
              <a:t> e/o </a:t>
            </a:r>
            <a:r>
              <a:rPr lang="it-IT" b="1" dirty="0" err="1"/>
              <a:t>Approver</a:t>
            </a:r>
            <a:r>
              <a:rPr lang="it-IT" dirty="0"/>
              <a:t> verificano i record e ne autorizzano l’utilizzo per dashboard, KPI, reporting ESG e Bilancio di Sostenibilità.</a:t>
            </a:r>
          </a:p>
          <a:p>
            <a:pPr>
              <a:buNone/>
            </a:pPr>
            <a:endParaRPr lang="it-IT" dirty="0"/>
          </a:p>
          <a:p>
            <a:pPr>
              <a:buNone/>
            </a:pPr>
            <a:r>
              <a:rPr lang="it-IT" dirty="0"/>
              <a:t>Le due funzionalità sono quindi indipendenti ma complementari:</a:t>
            </a:r>
          </a:p>
          <a:p>
            <a:pPr>
              <a:buNone/>
            </a:pPr>
            <a:endParaRPr lang="it-IT" dirty="0"/>
          </a:p>
          <a:p>
            <a:pPr marL="342900" lvl="0" indent="-342900">
              <a:buFont typeface="Arial" panose="020B0604020202020204" pitchFamily="34" charset="0"/>
              <a:buChar char="•"/>
            </a:pPr>
            <a:r>
              <a:rPr lang="it-IT" b="1" dirty="0" err="1"/>
              <a:t>Issue</a:t>
            </a:r>
            <a:r>
              <a:rPr lang="it-IT" b="1" dirty="0"/>
              <a:t> Management</a:t>
            </a:r>
            <a:r>
              <a:rPr lang="it-IT" dirty="0"/>
              <a:t> → gestisce le eccezioni e le attività operative necessarie per ottenere dati completi e corretti.</a:t>
            </a:r>
          </a:p>
          <a:p>
            <a:pPr marL="342900" lvl="0" indent="-342900">
              <a:buFont typeface="Arial" panose="020B0604020202020204" pitchFamily="34" charset="0"/>
              <a:buChar char="•"/>
            </a:pPr>
            <a:r>
              <a:rPr lang="it-IT" b="1" dirty="0" err="1"/>
              <a:t>Approval</a:t>
            </a:r>
            <a:r>
              <a:rPr lang="it-IT" b="1" dirty="0"/>
              <a:t> Workflow</a:t>
            </a:r>
            <a:r>
              <a:rPr lang="it-IT" dirty="0"/>
              <a:t> → certifica formalmente che i dati sono stati verificati e possono essere considerati affidabili per il reporting.</a:t>
            </a:r>
          </a:p>
          <a:p>
            <a:pPr>
              <a:buNone/>
            </a:pPr>
            <a:endParaRPr lang="it-IT" dirty="0"/>
          </a:p>
          <a:p>
            <a:pPr>
              <a:buNone/>
            </a:pPr>
            <a:r>
              <a:rPr lang="it-IT" dirty="0"/>
              <a:t>È quindi possibile che un dato:</a:t>
            </a:r>
          </a:p>
          <a:p>
            <a:pPr marL="342900" lvl="0" indent="-342900">
              <a:buFont typeface="Arial" panose="020B0604020202020204" pitchFamily="34" charset="0"/>
              <a:buChar char="•"/>
            </a:pPr>
            <a:r>
              <a:rPr lang="it-IT" dirty="0"/>
              <a:t>abbia un’</a:t>
            </a:r>
            <a:r>
              <a:rPr lang="it-IT" dirty="0" err="1"/>
              <a:t>issue</a:t>
            </a:r>
            <a:r>
              <a:rPr lang="it-IT" dirty="0"/>
              <a:t> chiusa (</a:t>
            </a:r>
            <a:r>
              <a:rPr lang="it-IT" b="1" dirty="0"/>
              <a:t>Done</a:t>
            </a:r>
            <a:r>
              <a:rPr lang="it-IT" dirty="0"/>
              <a:t>) ma non sia ancora stato approvato;</a:t>
            </a:r>
          </a:p>
          <a:p>
            <a:pPr marL="342900" lvl="0" indent="-342900">
              <a:buFont typeface="Arial" panose="020B0604020202020204" pitchFamily="34" charset="0"/>
              <a:buChar char="•"/>
            </a:pPr>
            <a:r>
              <a:rPr lang="it-IT" dirty="0"/>
              <a:t>venga approvato senza aver mai generato un’</a:t>
            </a:r>
            <a:r>
              <a:rPr lang="it-IT" dirty="0" err="1"/>
              <a:t>issue</a:t>
            </a:r>
            <a:r>
              <a:rPr lang="it-IT" dirty="0"/>
              <a:t>;</a:t>
            </a:r>
          </a:p>
          <a:p>
            <a:pPr marL="342900" lvl="0" indent="-342900">
              <a:buFont typeface="Arial" panose="020B0604020202020204" pitchFamily="34" charset="0"/>
              <a:buChar char="•"/>
            </a:pPr>
            <a:r>
              <a:rPr lang="it-IT" dirty="0"/>
              <a:t>sia stato corretto tramite </a:t>
            </a:r>
            <a:r>
              <a:rPr lang="it-IT" dirty="0" err="1"/>
              <a:t>Issue</a:t>
            </a:r>
            <a:r>
              <a:rPr lang="it-IT" dirty="0"/>
              <a:t> Management e successivamente sottoposto al normale iter di approvazione.</a:t>
            </a:r>
          </a:p>
          <a:p>
            <a:pPr>
              <a:buNone/>
            </a:pPr>
            <a:endParaRPr lang="it-IT" dirty="0"/>
          </a:p>
          <a:p>
            <a:pPr>
              <a:buNone/>
            </a:pPr>
            <a:r>
              <a:rPr lang="it-IT" dirty="0"/>
              <a:t>Questa separazione consente di distinguere chiaramente </a:t>
            </a:r>
            <a:r>
              <a:rPr lang="it-IT" b="1" dirty="0"/>
              <a:t>la risoluzione di un problema operativo</a:t>
            </a:r>
            <a:r>
              <a:rPr lang="it-IT" dirty="0"/>
              <a:t> dalla </a:t>
            </a:r>
            <a:r>
              <a:rPr lang="it-IT" b="1" dirty="0"/>
              <a:t>validazione ufficiale del dato</a:t>
            </a:r>
            <a:r>
              <a:rPr lang="it-IT" dirty="0"/>
              <a:t>, garantendo una governance più robusta e una completa tracciabilità dell’intero ciclo di vita delle informazioni ESG. </a:t>
            </a:r>
          </a:p>
        </p:txBody>
      </p:sp>
    </p:spTree>
    <p:extLst>
      <p:ext uri="{BB962C8B-B14F-4D97-AF65-F5344CB8AC3E}">
        <p14:creationId xmlns:p14="http://schemas.microsoft.com/office/powerpoint/2010/main" val="32417053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ella 1">
            <a:extLst>
              <a:ext uri="{FF2B5EF4-FFF2-40B4-BE49-F238E27FC236}">
                <a16:creationId xmlns:a16="http://schemas.microsoft.com/office/drawing/2014/main" id="{EA834402-5247-026B-EA78-A179F5AEB955}"/>
              </a:ext>
            </a:extLst>
          </p:cNvPr>
          <p:cNvGraphicFramePr>
            <a:graphicFrameLocks noGrp="1"/>
          </p:cNvGraphicFramePr>
          <p:nvPr/>
        </p:nvGraphicFramePr>
        <p:xfrm>
          <a:off x="838200" y="1353690"/>
          <a:ext cx="10515600" cy="3383280"/>
        </p:xfrm>
        <a:graphic>
          <a:graphicData uri="http://schemas.openxmlformats.org/drawingml/2006/table">
            <a:tbl>
              <a:tblPr>
                <a:tableStyleId>{7DF18680-E054-41AD-8BC1-D1AEF772440D}</a:tableStyleId>
              </a:tblPr>
              <a:tblGrid>
                <a:gridCol w="5257800">
                  <a:extLst>
                    <a:ext uri="{9D8B030D-6E8A-4147-A177-3AD203B41FA5}">
                      <a16:colId xmlns:a16="http://schemas.microsoft.com/office/drawing/2014/main" val="3288748844"/>
                    </a:ext>
                  </a:extLst>
                </a:gridCol>
                <a:gridCol w="5257800">
                  <a:extLst>
                    <a:ext uri="{9D8B030D-6E8A-4147-A177-3AD203B41FA5}">
                      <a16:colId xmlns:a16="http://schemas.microsoft.com/office/drawing/2014/main" val="3256950412"/>
                    </a:ext>
                  </a:extLst>
                </a:gridCol>
              </a:tblGrid>
              <a:tr h="0">
                <a:tc>
                  <a:txBody>
                    <a:bodyPr/>
                    <a:lstStyle/>
                    <a:p>
                      <a:pPr>
                        <a:buNone/>
                      </a:pPr>
                      <a:r>
                        <a:rPr lang="it-IT" dirty="0" err="1">
                          <a:effectLst/>
                        </a:rPr>
                        <a:t>Issue</a:t>
                      </a:r>
                      <a:r>
                        <a:rPr lang="it-IT" dirty="0">
                          <a:effectLst/>
                        </a:rPr>
                        <a:t> Management</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buNone/>
                      </a:pPr>
                      <a:r>
                        <a:rPr lang="it-IT" dirty="0" err="1">
                          <a:effectLst/>
                        </a:rPr>
                        <a:t>Approval</a:t>
                      </a:r>
                      <a:r>
                        <a:rPr lang="it-IT" dirty="0">
                          <a:effectLst/>
                        </a:rPr>
                        <a:t> Workflow</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323910490"/>
                  </a:ext>
                </a:extLst>
              </a:tr>
              <a:tr h="0">
                <a:tc>
                  <a:txBody>
                    <a:bodyPr/>
                    <a:lstStyle/>
                    <a:p>
                      <a:pPr>
                        <a:buNone/>
                      </a:pPr>
                      <a:r>
                        <a:rPr lang="it-IT" dirty="0">
                          <a:effectLst/>
                        </a:rPr>
                        <a:t>La revisione serve a risolvere un problema.</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it-IT">
                          <a:effectLst/>
                        </a:rPr>
                        <a:t>La revisione serve a validare un dato.</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02250120"/>
                  </a:ext>
                </a:extLst>
              </a:tr>
              <a:tr h="0">
                <a:tc>
                  <a:txBody>
                    <a:bodyPr/>
                    <a:lstStyle/>
                    <a:p>
                      <a:pPr>
                        <a:buNone/>
                      </a:pPr>
                      <a:r>
                        <a:rPr lang="it-IT" dirty="0">
                          <a:effectLst/>
                        </a:rPr>
                        <a:t>Il </a:t>
                      </a:r>
                      <a:r>
                        <a:rPr lang="it-IT" dirty="0" err="1">
                          <a:effectLst/>
                        </a:rPr>
                        <a:t>Reviewer</a:t>
                      </a:r>
                      <a:r>
                        <a:rPr lang="it-IT" dirty="0">
                          <a:effectLst/>
                        </a:rPr>
                        <a:t> verifica che l’anomalia sia stata compresa e che l’azione correttiva sia adeguata.</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it-IT">
                          <a:effectLst/>
                        </a:rPr>
                        <a:t>Il Reviewer verifica che il dato sia corretto, coerente e conforme alle regole aziendali.</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98138580"/>
                  </a:ext>
                </a:extLst>
              </a:tr>
              <a:tr h="0">
                <a:tc>
                  <a:txBody>
                    <a:bodyPr/>
                    <a:lstStyle/>
                    <a:p>
                      <a:pPr>
                        <a:buNone/>
                      </a:pPr>
                      <a:r>
                        <a:rPr lang="it-IT" dirty="0">
                          <a:effectLst/>
                        </a:rPr>
                        <a:t>L’oggetto della revisione è l’</a:t>
                      </a:r>
                      <a:r>
                        <a:rPr lang="it-IT" dirty="0" err="1">
                          <a:effectLst/>
                        </a:rPr>
                        <a:t>issue</a:t>
                      </a:r>
                      <a:r>
                        <a:rPr lang="it-IT" dirty="0">
                          <a:effectLst/>
                        </a:rPr>
                        <a:t> (il ticket).</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it-IT">
                          <a:effectLst/>
                        </a:rPr>
                        <a:t>L’oggetto della revisione è il record di dato.</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432409"/>
                  </a:ext>
                </a:extLst>
              </a:tr>
              <a:tr h="0">
                <a:tc>
                  <a:txBody>
                    <a:bodyPr/>
                    <a:lstStyle/>
                    <a:p>
                      <a:pPr>
                        <a:buNone/>
                      </a:pPr>
                      <a:r>
                        <a:rPr lang="it-IT" dirty="0">
                          <a:effectLst/>
                        </a:rPr>
                        <a:t>L’esito è la chiusura dell’</a:t>
                      </a:r>
                      <a:r>
                        <a:rPr lang="it-IT" dirty="0" err="1">
                          <a:effectLst/>
                        </a:rPr>
                        <a:t>issue</a:t>
                      </a:r>
                      <a:r>
                        <a:rPr lang="it-IT" dirty="0">
                          <a:effectLst/>
                        </a:rPr>
                        <a:t> (Done) oppure la richiesta di ulteriori interventi.</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it-IT">
                          <a:effectLst/>
                        </a:rPr>
                        <a:t>L’esito è l’approvazione del dato oppure il rinvio al Data Manager per modifiche.</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06502266"/>
                  </a:ext>
                </a:extLst>
              </a:tr>
              <a:tr h="0">
                <a:tc>
                  <a:txBody>
                    <a:bodyPr/>
                    <a:lstStyle/>
                    <a:p>
                      <a:pPr>
                        <a:buNone/>
                      </a:pPr>
                      <a:r>
                        <a:rPr lang="it-IT" dirty="0">
                          <a:effectLst/>
                        </a:rPr>
                        <a:t>La revisione riguarda la gestione operativa delle eccezioni.</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it-IT" dirty="0">
                          <a:effectLst/>
                        </a:rPr>
                        <a:t>La revisione riguarda la governance del dato.</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05931438"/>
                  </a:ext>
                </a:extLst>
              </a:tr>
            </a:tbl>
          </a:graphicData>
        </a:graphic>
      </p:graphicFrame>
      <p:sp>
        <p:nvSpPr>
          <p:cNvPr id="4" name="CasellaDiTesto 3">
            <a:extLst>
              <a:ext uri="{FF2B5EF4-FFF2-40B4-BE49-F238E27FC236}">
                <a16:creationId xmlns:a16="http://schemas.microsoft.com/office/drawing/2014/main" id="{BFA84B67-80C7-D4D4-ABC2-4F0582E73A08}"/>
              </a:ext>
            </a:extLst>
          </p:cNvPr>
          <p:cNvSpPr txBox="1"/>
          <p:nvPr/>
        </p:nvSpPr>
        <p:spPr>
          <a:xfrm>
            <a:off x="471054" y="0"/>
            <a:ext cx="11319163" cy="830997"/>
          </a:xfrm>
          <a:prstGeom prst="rect">
            <a:avLst/>
          </a:prstGeom>
          <a:noFill/>
        </p:spPr>
        <p:txBody>
          <a:bodyPr wrap="square">
            <a:spAutoFit/>
          </a:bodyPr>
          <a:lstStyle/>
          <a:p>
            <a:pPr>
              <a:buNone/>
            </a:pPr>
            <a:r>
              <a:rPr lang="it-IT" sz="2400" b="1" dirty="0"/>
              <a:t>La revisione nell’</a:t>
            </a:r>
            <a:r>
              <a:rPr lang="it-IT" sz="2400" b="1" dirty="0" err="1"/>
              <a:t>Issue</a:t>
            </a:r>
            <a:r>
              <a:rPr lang="it-IT" sz="2400" b="1" dirty="0"/>
              <a:t> Management verifica che il problema sia stato risolto; la revisione nel processo di Approvazione verifica che il dato sia affidabile per il reporting</a:t>
            </a:r>
            <a:endParaRPr lang="it-IT" sz="2400" dirty="0"/>
          </a:p>
        </p:txBody>
      </p:sp>
    </p:spTree>
    <p:extLst>
      <p:ext uri="{BB962C8B-B14F-4D97-AF65-F5344CB8AC3E}">
        <p14:creationId xmlns:p14="http://schemas.microsoft.com/office/powerpoint/2010/main" val="8259012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sellaDiTesto 2">
            <a:extLst>
              <a:ext uri="{FF2B5EF4-FFF2-40B4-BE49-F238E27FC236}">
                <a16:creationId xmlns:a16="http://schemas.microsoft.com/office/drawing/2014/main" id="{6AE807A4-3342-7F04-4A87-FDC047D0D4E0}"/>
              </a:ext>
            </a:extLst>
          </p:cNvPr>
          <p:cNvSpPr txBox="1"/>
          <p:nvPr/>
        </p:nvSpPr>
        <p:spPr>
          <a:xfrm>
            <a:off x="540327" y="942109"/>
            <a:ext cx="10709564" cy="5632311"/>
          </a:xfrm>
          <a:prstGeom prst="rect">
            <a:avLst/>
          </a:prstGeom>
          <a:solidFill>
            <a:schemeClr val="bg1"/>
          </a:solidFill>
        </p:spPr>
        <p:txBody>
          <a:bodyPr wrap="square">
            <a:spAutoFit/>
          </a:bodyPr>
          <a:lstStyle/>
          <a:p>
            <a:pPr>
              <a:buNone/>
            </a:pPr>
            <a:r>
              <a:rPr lang="it-IT" dirty="0"/>
              <a:t>Esempio:</a:t>
            </a:r>
          </a:p>
          <a:p>
            <a:pPr marL="342900" lvl="0" indent="-342900">
              <a:buFont typeface="Arial" panose="020B0604020202020204" pitchFamily="34" charset="0"/>
              <a:buChar char="•"/>
            </a:pPr>
            <a:r>
              <a:rPr lang="it-IT" dirty="0"/>
              <a:t>manca la bolletta di marzo;</a:t>
            </a:r>
          </a:p>
          <a:p>
            <a:pPr marL="342900" lvl="0" indent="-342900">
              <a:buFont typeface="Arial" panose="020B0604020202020204" pitchFamily="34" charset="0"/>
              <a:buChar char="•"/>
            </a:pPr>
            <a:r>
              <a:rPr lang="it-IT" dirty="0"/>
              <a:t>viene aperta un’</a:t>
            </a:r>
            <a:r>
              <a:rPr lang="it-IT" dirty="0" err="1"/>
              <a:t>Issue</a:t>
            </a:r>
            <a:r>
              <a:rPr lang="it-IT" dirty="0"/>
              <a:t>;</a:t>
            </a:r>
          </a:p>
          <a:p>
            <a:pPr marL="342900" lvl="0" indent="-342900">
              <a:buFont typeface="Arial" panose="020B0604020202020204" pitchFamily="34" charset="0"/>
              <a:buChar char="•"/>
            </a:pPr>
            <a:r>
              <a:rPr lang="it-IT" dirty="0"/>
              <a:t>il Data Manager carica la bolletta;</a:t>
            </a:r>
          </a:p>
          <a:p>
            <a:pPr marL="342900" lvl="0" indent="-342900">
              <a:buFont typeface="Arial" panose="020B0604020202020204" pitchFamily="34" charset="0"/>
              <a:buChar char="•"/>
            </a:pPr>
            <a:r>
              <a:rPr lang="it-IT" dirty="0"/>
              <a:t>il </a:t>
            </a:r>
            <a:r>
              <a:rPr lang="it-IT" dirty="0" err="1"/>
              <a:t>Reviewer</a:t>
            </a:r>
            <a:r>
              <a:rPr lang="it-IT" dirty="0"/>
              <a:t> controlla che il problema sia effettivamente risolto;</a:t>
            </a:r>
          </a:p>
          <a:p>
            <a:pPr marL="342900" lvl="0" indent="-342900">
              <a:buFont typeface="Arial" panose="020B0604020202020204" pitchFamily="34" charset="0"/>
              <a:buChar char="•"/>
            </a:pPr>
            <a:r>
              <a:rPr lang="it-IT" dirty="0"/>
              <a:t>l’</a:t>
            </a:r>
            <a:r>
              <a:rPr lang="it-IT" dirty="0" err="1"/>
              <a:t>Issue</a:t>
            </a:r>
            <a:r>
              <a:rPr lang="it-IT" dirty="0"/>
              <a:t> passa a </a:t>
            </a:r>
            <a:r>
              <a:rPr lang="it-IT" b="1" dirty="0"/>
              <a:t>Done</a:t>
            </a:r>
            <a:r>
              <a:rPr lang="it-IT" dirty="0"/>
              <a:t>.</a:t>
            </a:r>
          </a:p>
          <a:p>
            <a:pPr>
              <a:buNone/>
            </a:pPr>
            <a:r>
              <a:rPr lang="it-IT" dirty="0"/>
              <a:t>Il </a:t>
            </a:r>
            <a:r>
              <a:rPr lang="it-IT" dirty="0" err="1"/>
              <a:t>Reviewer</a:t>
            </a:r>
            <a:r>
              <a:rPr lang="it-IT" dirty="0"/>
              <a:t> </a:t>
            </a:r>
            <a:r>
              <a:rPr lang="it-IT" b="1" dirty="0"/>
              <a:t>non sta certificando che il dato entrerà nel reporting ESG</a:t>
            </a:r>
            <a:r>
              <a:rPr lang="it-IT" dirty="0"/>
              <a:t>, ma solo che il ticket è stato gestito correttamente.</a:t>
            </a:r>
          </a:p>
          <a:p>
            <a:pPr>
              <a:buNone/>
            </a:pPr>
            <a:endParaRPr lang="it-IT" dirty="0"/>
          </a:p>
          <a:p>
            <a:pPr>
              <a:buNone/>
            </a:pPr>
            <a:r>
              <a:rPr lang="it-IT" b="1" dirty="0" err="1"/>
              <a:t>Approval</a:t>
            </a:r>
            <a:r>
              <a:rPr lang="it-IT" b="1" dirty="0"/>
              <a:t> Workflow</a:t>
            </a:r>
            <a:endParaRPr lang="it-IT" dirty="0"/>
          </a:p>
          <a:p>
            <a:pPr>
              <a:buNone/>
            </a:pPr>
            <a:endParaRPr lang="it-IT" dirty="0"/>
          </a:p>
          <a:p>
            <a:pPr>
              <a:buNone/>
            </a:pPr>
            <a:r>
              <a:rPr lang="it-IT" dirty="0"/>
              <a:t>Successivamente, lo stesso dato entra nel processo di approvazione.</a:t>
            </a:r>
          </a:p>
          <a:p>
            <a:pPr>
              <a:buNone/>
            </a:pPr>
            <a:r>
              <a:rPr lang="it-IT" dirty="0"/>
              <a:t>Il </a:t>
            </a:r>
            <a:r>
              <a:rPr lang="it-IT" dirty="0" err="1"/>
              <a:t>Reviewer</a:t>
            </a:r>
            <a:r>
              <a:rPr lang="it-IT" dirty="0"/>
              <a:t> verifica ad esempio:</a:t>
            </a:r>
          </a:p>
          <a:p>
            <a:pPr marL="342900" lvl="0" indent="-342900">
              <a:buFont typeface="Arial" panose="020B0604020202020204" pitchFamily="34" charset="0"/>
              <a:buChar char="•"/>
            </a:pPr>
            <a:r>
              <a:rPr lang="it-IT" dirty="0"/>
              <a:t>correttezza del consumo;</a:t>
            </a:r>
          </a:p>
          <a:p>
            <a:pPr marL="342900" lvl="0" indent="-342900">
              <a:buFont typeface="Arial" panose="020B0604020202020204" pitchFamily="34" charset="0"/>
              <a:buChar char="•"/>
            </a:pPr>
            <a:r>
              <a:rPr lang="it-IT" dirty="0"/>
              <a:t>completezza delle informazioni;</a:t>
            </a:r>
          </a:p>
          <a:p>
            <a:pPr marL="342900" lvl="0" indent="-342900">
              <a:buFont typeface="Arial" panose="020B0604020202020204" pitchFamily="34" charset="0"/>
              <a:buChar char="•"/>
            </a:pPr>
            <a:r>
              <a:rPr lang="it-IT" dirty="0"/>
              <a:t>coerenza con i mesi precedenti;</a:t>
            </a:r>
          </a:p>
          <a:p>
            <a:pPr marL="342900" lvl="0" indent="-342900">
              <a:buFont typeface="Arial" panose="020B0604020202020204" pitchFamily="34" charset="0"/>
              <a:buChar char="•"/>
            </a:pPr>
            <a:r>
              <a:rPr lang="it-IT" dirty="0"/>
              <a:t>eventuali giustificazioni;</a:t>
            </a:r>
          </a:p>
          <a:p>
            <a:pPr marL="342900" lvl="0" indent="-342900">
              <a:buFont typeface="Arial" panose="020B0604020202020204" pitchFamily="34" charset="0"/>
              <a:buChar char="•"/>
            </a:pPr>
            <a:r>
              <a:rPr lang="it-IT" dirty="0"/>
              <a:t>conformità alle procedure aziendali.</a:t>
            </a:r>
          </a:p>
          <a:p>
            <a:pPr>
              <a:buNone/>
            </a:pPr>
            <a:r>
              <a:rPr lang="it-IT" dirty="0"/>
              <a:t>Se tutto è corretto, il dato viene inviato all’</a:t>
            </a:r>
            <a:r>
              <a:rPr lang="it-IT" dirty="0" err="1"/>
              <a:t>Approver</a:t>
            </a:r>
            <a:r>
              <a:rPr lang="it-IT" dirty="0"/>
              <a:t> (oppure approvato direttamente, nei workflow a un solo livello). Qui il </a:t>
            </a:r>
            <a:r>
              <a:rPr lang="it-IT" dirty="0" err="1"/>
              <a:t>Reviewer</a:t>
            </a:r>
            <a:r>
              <a:rPr lang="it-IT" dirty="0"/>
              <a:t> </a:t>
            </a:r>
            <a:r>
              <a:rPr lang="it-IT" b="1" dirty="0"/>
              <a:t>sta certificando la qualità del dato</a:t>
            </a:r>
            <a:r>
              <a:rPr lang="it-IT" dirty="0"/>
              <a:t>, non la risoluzione di un’anomalia.</a:t>
            </a:r>
          </a:p>
        </p:txBody>
      </p:sp>
      <p:sp>
        <p:nvSpPr>
          <p:cNvPr id="5" name="CasellaDiTesto 4">
            <a:extLst>
              <a:ext uri="{FF2B5EF4-FFF2-40B4-BE49-F238E27FC236}">
                <a16:creationId xmlns:a16="http://schemas.microsoft.com/office/drawing/2014/main" id="{61E770EC-1E85-4372-A525-401BC7F9511B}"/>
              </a:ext>
            </a:extLst>
          </p:cNvPr>
          <p:cNvSpPr txBox="1"/>
          <p:nvPr/>
        </p:nvSpPr>
        <p:spPr>
          <a:xfrm>
            <a:off x="443345" y="154908"/>
            <a:ext cx="11513128" cy="830997"/>
          </a:xfrm>
          <a:prstGeom prst="rect">
            <a:avLst/>
          </a:prstGeom>
          <a:noFill/>
        </p:spPr>
        <p:txBody>
          <a:bodyPr wrap="square">
            <a:spAutoFit/>
          </a:bodyPr>
          <a:lstStyle/>
          <a:p>
            <a:pPr>
              <a:buNone/>
            </a:pPr>
            <a:r>
              <a:rPr lang="it-IT" sz="2400" b="1" dirty="0"/>
              <a:t>La revisione nell’</a:t>
            </a:r>
            <a:r>
              <a:rPr lang="it-IT" sz="2400" b="1" dirty="0" err="1"/>
              <a:t>Issue</a:t>
            </a:r>
            <a:r>
              <a:rPr lang="it-IT" sz="2400" b="1" dirty="0"/>
              <a:t> Management verifica che il problema sia stato risolto; la revisione nel processo di Approvazione verifica che il dato sia affidabile per il reporting</a:t>
            </a:r>
            <a:endParaRPr lang="it-IT" sz="2400" dirty="0"/>
          </a:p>
        </p:txBody>
      </p:sp>
    </p:spTree>
    <p:extLst>
      <p:ext uri="{BB962C8B-B14F-4D97-AF65-F5344CB8AC3E}">
        <p14:creationId xmlns:p14="http://schemas.microsoft.com/office/powerpoint/2010/main" val="37791836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7673E00B-2B03-8E58-4266-084B49E912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8763" y="737223"/>
            <a:ext cx="5928583" cy="2691777"/>
          </a:xfrm>
          <a:prstGeom prst="rect">
            <a:avLst/>
          </a:prstGeom>
        </p:spPr>
      </p:pic>
      <p:sp>
        <p:nvSpPr>
          <p:cNvPr id="3" name="CasellaDiTesto 2">
            <a:extLst>
              <a:ext uri="{FF2B5EF4-FFF2-40B4-BE49-F238E27FC236}">
                <a16:creationId xmlns:a16="http://schemas.microsoft.com/office/drawing/2014/main" id="{DA720BCD-4DB8-1580-29D7-28FF198227BC}"/>
              </a:ext>
            </a:extLst>
          </p:cNvPr>
          <p:cNvSpPr txBox="1"/>
          <p:nvPr/>
        </p:nvSpPr>
        <p:spPr>
          <a:xfrm>
            <a:off x="942109" y="3854346"/>
            <a:ext cx="4239491" cy="369332"/>
          </a:xfrm>
          <a:prstGeom prst="rect">
            <a:avLst/>
          </a:prstGeom>
          <a:noFill/>
        </p:spPr>
        <p:txBody>
          <a:bodyPr wrap="square" rtlCol="0">
            <a:spAutoFit/>
          </a:bodyPr>
          <a:lstStyle/>
          <a:p>
            <a:r>
              <a:rPr lang="it-IT" dirty="0"/>
              <a:t>Caricamento normale dati</a:t>
            </a:r>
          </a:p>
        </p:txBody>
      </p:sp>
      <p:pic>
        <p:nvPicPr>
          <p:cNvPr id="5" name="Immagine 4">
            <a:extLst>
              <a:ext uri="{FF2B5EF4-FFF2-40B4-BE49-F238E27FC236}">
                <a16:creationId xmlns:a16="http://schemas.microsoft.com/office/drawing/2014/main" id="{B919ED6D-CCD5-D74F-7447-EB6BB67C0B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76178" y="737223"/>
            <a:ext cx="2248766" cy="1018309"/>
          </a:xfrm>
          <a:prstGeom prst="rect">
            <a:avLst/>
          </a:prstGeom>
        </p:spPr>
      </p:pic>
      <p:sp>
        <p:nvSpPr>
          <p:cNvPr id="6" name="CasellaDiTesto 5">
            <a:extLst>
              <a:ext uri="{FF2B5EF4-FFF2-40B4-BE49-F238E27FC236}">
                <a16:creationId xmlns:a16="http://schemas.microsoft.com/office/drawing/2014/main" id="{20BDDC5E-D027-90C9-020C-64204B7CD2FC}"/>
              </a:ext>
            </a:extLst>
          </p:cNvPr>
          <p:cNvSpPr txBox="1"/>
          <p:nvPr/>
        </p:nvSpPr>
        <p:spPr>
          <a:xfrm>
            <a:off x="7578436" y="3854346"/>
            <a:ext cx="4239491" cy="369332"/>
          </a:xfrm>
          <a:prstGeom prst="rect">
            <a:avLst/>
          </a:prstGeom>
          <a:noFill/>
        </p:spPr>
        <p:txBody>
          <a:bodyPr wrap="square" rtlCol="0">
            <a:spAutoFit/>
          </a:bodyPr>
          <a:lstStyle/>
          <a:p>
            <a:r>
              <a:rPr lang="it-IT" dirty="0"/>
              <a:t>Caricamento dati via </a:t>
            </a:r>
            <a:r>
              <a:rPr lang="it-IT" dirty="0" err="1"/>
              <a:t>Issue</a:t>
            </a:r>
            <a:r>
              <a:rPr lang="it-IT" dirty="0"/>
              <a:t> Management</a:t>
            </a:r>
          </a:p>
        </p:txBody>
      </p:sp>
      <p:sp>
        <p:nvSpPr>
          <p:cNvPr id="7" name="CasellaDiTesto 6">
            <a:extLst>
              <a:ext uri="{FF2B5EF4-FFF2-40B4-BE49-F238E27FC236}">
                <a16:creationId xmlns:a16="http://schemas.microsoft.com/office/drawing/2014/main" id="{E3425E19-9761-91A2-0F0F-381022D14169}"/>
              </a:ext>
            </a:extLst>
          </p:cNvPr>
          <p:cNvSpPr txBox="1"/>
          <p:nvPr/>
        </p:nvSpPr>
        <p:spPr>
          <a:xfrm>
            <a:off x="4868934" y="4674133"/>
            <a:ext cx="4975657" cy="646331"/>
          </a:xfrm>
          <a:prstGeom prst="rect">
            <a:avLst/>
          </a:prstGeom>
          <a:noFill/>
        </p:spPr>
        <p:txBody>
          <a:bodyPr wrap="square" rtlCol="0">
            <a:spAutoFit/>
          </a:bodyPr>
          <a:lstStyle/>
          <a:p>
            <a:r>
              <a:rPr lang="it-IT" dirty="0"/>
              <a:t>Revisione (Ruolo Lavorativo Revisore)</a:t>
            </a:r>
          </a:p>
          <a:p>
            <a:endParaRPr lang="it-IT" dirty="0"/>
          </a:p>
        </p:txBody>
      </p:sp>
      <p:sp>
        <p:nvSpPr>
          <p:cNvPr id="8" name="CasellaDiTesto 7">
            <a:extLst>
              <a:ext uri="{FF2B5EF4-FFF2-40B4-BE49-F238E27FC236}">
                <a16:creationId xmlns:a16="http://schemas.microsoft.com/office/drawing/2014/main" id="{4324ADC8-7BE7-023D-BA2D-2C59CCBC12D4}"/>
              </a:ext>
            </a:extLst>
          </p:cNvPr>
          <p:cNvSpPr txBox="1"/>
          <p:nvPr/>
        </p:nvSpPr>
        <p:spPr>
          <a:xfrm>
            <a:off x="4706509" y="5320464"/>
            <a:ext cx="5743853" cy="369332"/>
          </a:xfrm>
          <a:prstGeom prst="rect">
            <a:avLst/>
          </a:prstGeom>
          <a:noFill/>
        </p:spPr>
        <p:txBody>
          <a:bodyPr wrap="square" rtlCol="0">
            <a:spAutoFit/>
          </a:bodyPr>
          <a:lstStyle/>
          <a:p>
            <a:r>
              <a:rPr lang="it-IT" dirty="0"/>
              <a:t>Approvazione (Ruolo Lavorativo Approvatore)</a:t>
            </a:r>
          </a:p>
        </p:txBody>
      </p:sp>
      <p:sp>
        <p:nvSpPr>
          <p:cNvPr id="9" name="CasellaDiTesto 8">
            <a:extLst>
              <a:ext uri="{FF2B5EF4-FFF2-40B4-BE49-F238E27FC236}">
                <a16:creationId xmlns:a16="http://schemas.microsoft.com/office/drawing/2014/main" id="{831096D6-B154-3AC0-5104-038972C29CEB}"/>
              </a:ext>
            </a:extLst>
          </p:cNvPr>
          <p:cNvSpPr txBox="1"/>
          <p:nvPr/>
        </p:nvSpPr>
        <p:spPr>
          <a:xfrm>
            <a:off x="5237017" y="5984477"/>
            <a:ext cx="2341420" cy="369332"/>
          </a:xfrm>
          <a:prstGeom prst="rect">
            <a:avLst/>
          </a:prstGeom>
          <a:solidFill>
            <a:schemeClr val="bg1"/>
          </a:solidFill>
        </p:spPr>
        <p:txBody>
          <a:bodyPr wrap="square" rtlCol="0">
            <a:spAutoFit/>
          </a:bodyPr>
          <a:lstStyle/>
          <a:p>
            <a:r>
              <a:rPr lang="it-IT" dirty="0"/>
              <a:t>Pubblicazione Bilancio </a:t>
            </a:r>
          </a:p>
        </p:txBody>
      </p:sp>
      <p:sp>
        <p:nvSpPr>
          <p:cNvPr id="10" name="CasellaDiTesto 9">
            <a:extLst>
              <a:ext uri="{FF2B5EF4-FFF2-40B4-BE49-F238E27FC236}">
                <a16:creationId xmlns:a16="http://schemas.microsoft.com/office/drawing/2014/main" id="{C96FB3C3-D424-9E13-9CF3-B388E2DB2939}"/>
              </a:ext>
            </a:extLst>
          </p:cNvPr>
          <p:cNvSpPr txBox="1"/>
          <p:nvPr/>
        </p:nvSpPr>
        <p:spPr>
          <a:xfrm>
            <a:off x="6844145" y="2258982"/>
            <a:ext cx="5126182" cy="1200329"/>
          </a:xfrm>
          <a:prstGeom prst="rect">
            <a:avLst/>
          </a:prstGeom>
          <a:solidFill>
            <a:schemeClr val="bg1"/>
          </a:solidFill>
        </p:spPr>
        <p:txBody>
          <a:bodyPr wrap="square" rtlCol="0">
            <a:spAutoFit/>
          </a:bodyPr>
          <a:lstStyle/>
          <a:p>
            <a:pPr algn="ctr"/>
            <a:r>
              <a:rPr lang="it-IT" dirty="0"/>
              <a:t>Attivazione </a:t>
            </a:r>
            <a:r>
              <a:rPr lang="it-IT" dirty="0" err="1"/>
              <a:t>Issue</a:t>
            </a:r>
            <a:endParaRPr lang="it-IT" dirty="0"/>
          </a:p>
          <a:p>
            <a:pPr algn="ctr"/>
            <a:r>
              <a:rPr lang="it-IT" dirty="0"/>
              <a:t>Compilazione dati (</a:t>
            </a:r>
            <a:r>
              <a:rPr lang="it-IT" dirty="0" err="1"/>
              <a:t>Assignee</a:t>
            </a:r>
            <a:r>
              <a:rPr lang="it-IT" dirty="0"/>
              <a:t>)</a:t>
            </a:r>
          </a:p>
          <a:p>
            <a:pPr algn="ctr"/>
            <a:r>
              <a:rPr lang="it-IT" dirty="0"/>
              <a:t>Revisione (</a:t>
            </a:r>
            <a:r>
              <a:rPr lang="it-IT" dirty="0" err="1"/>
              <a:t>Reviewer</a:t>
            </a:r>
            <a:r>
              <a:rPr lang="it-IT" dirty="0"/>
              <a:t>)</a:t>
            </a:r>
          </a:p>
          <a:p>
            <a:pPr algn="ctr"/>
            <a:r>
              <a:rPr lang="it-IT" dirty="0"/>
              <a:t>Completamento e chiusura </a:t>
            </a:r>
            <a:r>
              <a:rPr lang="it-IT" dirty="0" err="1"/>
              <a:t>Issue</a:t>
            </a:r>
            <a:r>
              <a:rPr lang="it-IT" dirty="0"/>
              <a:t> (</a:t>
            </a:r>
            <a:r>
              <a:rPr lang="it-IT" dirty="0" err="1"/>
              <a:t>Issue</a:t>
            </a:r>
            <a:r>
              <a:rPr lang="it-IT" dirty="0"/>
              <a:t> Manager)</a:t>
            </a:r>
          </a:p>
        </p:txBody>
      </p:sp>
      <p:sp>
        <p:nvSpPr>
          <p:cNvPr id="11" name="CasellaDiTesto 10">
            <a:extLst>
              <a:ext uri="{FF2B5EF4-FFF2-40B4-BE49-F238E27FC236}">
                <a16:creationId xmlns:a16="http://schemas.microsoft.com/office/drawing/2014/main" id="{F2B509AD-6499-37FF-20D6-99B81D65F2F2}"/>
              </a:ext>
            </a:extLst>
          </p:cNvPr>
          <p:cNvSpPr txBox="1"/>
          <p:nvPr/>
        </p:nvSpPr>
        <p:spPr>
          <a:xfrm>
            <a:off x="7356763" y="1665812"/>
            <a:ext cx="4114801" cy="646331"/>
          </a:xfrm>
          <a:prstGeom prst="rect">
            <a:avLst/>
          </a:prstGeom>
          <a:noFill/>
        </p:spPr>
        <p:txBody>
          <a:bodyPr wrap="square" rtlCol="0">
            <a:spAutoFit/>
          </a:bodyPr>
          <a:lstStyle/>
          <a:p>
            <a:r>
              <a:rPr lang="it-IT" dirty="0"/>
              <a:t>Ruolo lavorativo </a:t>
            </a:r>
            <a:r>
              <a:rPr lang="it-IT" dirty="0" err="1"/>
              <a:t>Issue</a:t>
            </a:r>
            <a:r>
              <a:rPr lang="it-IT" dirty="0"/>
              <a:t> Manager, rileva dato mancante o dato anomalo.</a:t>
            </a:r>
          </a:p>
        </p:txBody>
      </p:sp>
      <p:cxnSp>
        <p:nvCxnSpPr>
          <p:cNvPr id="15" name="Connettore diritto a freccia 14">
            <a:extLst>
              <a:ext uri="{FF2B5EF4-FFF2-40B4-BE49-F238E27FC236}">
                <a16:creationId xmlns:a16="http://schemas.microsoft.com/office/drawing/2014/main" id="{06FF3E6F-8C69-A96A-94BF-35756444815B}"/>
              </a:ext>
            </a:extLst>
          </p:cNvPr>
          <p:cNvCxnSpPr/>
          <p:nvPr/>
        </p:nvCxnSpPr>
        <p:spPr>
          <a:xfrm>
            <a:off x="2396836" y="3403891"/>
            <a:ext cx="0" cy="4504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Connettore diritto a freccia 15">
            <a:extLst>
              <a:ext uri="{FF2B5EF4-FFF2-40B4-BE49-F238E27FC236}">
                <a16:creationId xmlns:a16="http://schemas.microsoft.com/office/drawing/2014/main" id="{CCA96154-6A34-1322-A476-670AB0DC11D7}"/>
              </a:ext>
            </a:extLst>
          </p:cNvPr>
          <p:cNvCxnSpPr/>
          <p:nvPr/>
        </p:nvCxnSpPr>
        <p:spPr>
          <a:xfrm>
            <a:off x="9185564" y="3203772"/>
            <a:ext cx="0" cy="4504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nettore dritto 17">
            <a:extLst>
              <a:ext uri="{FF2B5EF4-FFF2-40B4-BE49-F238E27FC236}">
                <a16:creationId xmlns:a16="http://schemas.microsoft.com/office/drawing/2014/main" id="{C3C09503-7594-90D0-BA48-7A2B62B387BB}"/>
              </a:ext>
            </a:extLst>
          </p:cNvPr>
          <p:cNvCxnSpPr/>
          <p:nvPr/>
        </p:nvCxnSpPr>
        <p:spPr>
          <a:xfrm>
            <a:off x="2396836" y="4223678"/>
            <a:ext cx="678872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Connettore diritto a freccia 18">
            <a:extLst>
              <a:ext uri="{FF2B5EF4-FFF2-40B4-BE49-F238E27FC236}">
                <a16:creationId xmlns:a16="http://schemas.microsoft.com/office/drawing/2014/main" id="{6EC1D31E-F815-340C-6AD9-473F41819FCB}"/>
              </a:ext>
            </a:extLst>
          </p:cNvPr>
          <p:cNvCxnSpPr/>
          <p:nvPr/>
        </p:nvCxnSpPr>
        <p:spPr>
          <a:xfrm>
            <a:off x="6427346" y="4223678"/>
            <a:ext cx="0" cy="4504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nettore diritto a freccia 19">
            <a:extLst>
              <a:ext uri="{FF2B5EF4-FFF2-40B4-BE49-F238E27FC236}">
                <a16:creationId xmlns:a16="http://schemas.microsoft.com/office/drawing/2014/main" id="{31688455-B3CE-48B2-DCBB-3061FC17B0A1}"/>
              </a:ext>
            </a:extLst>
          </p:cNvPr>
          <p:cNvCxnSpPr/>
          <p:nvPr/>
        </p:nvCxnSpPr>
        <p:spPr>
          <a:xfrm>
            <a:off x="6427346" y="4870009"/>
            <a:ext cx="0" cy="4504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Connettore diritto a freccia 20">
            <a:extLst>
              <a:ext uri="{FF2B5EF4-FFF2-40B4-BE49-F238E27FC236}">
                <a16:creationId xmlns:a16="http://schemas.microsoft.com/office/drawing/2014/main" id="{90E9EBA6-F5EA-C6C5-74F5-10E27429B19C}"/>
              </a:ext>
            </a:extLst>
          </p:cNvPr>
          <p:cNvCxnSpPr/>
          <p:nvPr/>
        </p:nvCxnSpPr>
        <p:spPr>
          <a:xfrm>
            <a:off x="6412328" y="5534022"/>
            <a:ext cx="0" cy="4504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CasellaDiTesto 22">
            <a:extLst>
              <a:ext uri="{FF2B5EF4-FFF2-40B4-BE49-F238E27FC236}">
                <a16:creationId xmlns:a16="http://schemas.microsoft.com/office/drawing/2014/main" id="{23394BBB-2201-DEAC-EC28-5D9ACCE33000}"/>
              </a:ext>
            </a:extLst>
          </p:cNvPr>
          <p:cNvSpPr txBox="1"/>
          <p:nvPr/>
        </p:nvSpPr>
        <p:spPr>
          <a:xfrm>
            <a:off x="415053" y="96152"/>
            <a:ext cx="11776945" cy="461665"/>
          </a:xfrm>
          <a:prstGeom prst="rect">
            <a:avLst/>
          </a:prstGeom>
          <a:noFill/>
        </p:spPr>
        <p:txBody>
          <a:bodyPr wrap="square">
            <a:spAutoFit/>
          </a:bodyPr>
          <a:lstStyle/>
          <a:p>
            <a:r>
              <a:rPr lang="it-IT" sz="2400" dirty="0"/>
              <a:t>Il </a:t>
            </a:r>
            <a:r>
              <a:rPr lang="it-IT" sz="2400" b="1" dirty="0"/>
              <a:t>processo di approvazione include tutti i dati caricati, normalmente o via </a:t>
            </a:r>
            <a:r>
              <a:rPr lang="it-IT" sz="2400" b="1" dirty="0" err="1"/>
              <a:t>issue</a:t>
            </a:r>
            <a:r>
              <a:rPr lang="it-IT" sz="2400" b="1" dirty="0"/>
              <a:t>.</a:t>
            </a:r>
            <a:endParaRPr lang="it-IT" dirty="0"/>
          </a:p>
        </p:txBody>
      </p:sp>
    </p:spTree>
    <p:extLst>
      <p:ext uri="{BB962C8B-B14F-4D97-AF65-F5344CB8AC3E}">
        <p14:creationId xmlns:p14="http://schemas.microsoft.com/office/powerpoint/2010/main" val="38431038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sellaDiTesto 2">
            <a:extLst>
              <a:ext uri="{FF2B5EF4-FFF2-40B4-BE49-F238E27FC236}">
                <a16:creationId xmlns:a16="http://schemas.microsoft.com/office/drawing/2014/main" id="{BDDDF8CC-0F03-73CB-7DE5-9093DD637D13}"/>
              </a:ext>
            </a:extLst>
          </p:cNvPr>
          <p:cNvSpPr txBox="1"/>
          <p:nvPr/>
        </p:nvSpPr>
        <p:spPr>
          <a:xfrm>
            <a:off x="374073" y="233295"/>
            <a:ext cx="10127672" cy="830997"/>
          </a:xfrm>
          <a:prstGeom prst="rect">
            <a:avLst/>
          </a:prstGeom>
          <a:noFill/>
        </p:spPr>
        <p:txBody>
          <a:bodyPr wrap="square">
            <a:spAutoFit/>
          </a:bodyPr>
          <a:lstStyle/>
          <a:p>
            <a:r>
              <a:rPr lang="it-IT" sz="2400" b="1" dirty="0"/>
              <a:t>L’</a:t>
            </a:r>
            <a:r>
              <a:rPr lang="it-IT" sz="2400" b="1" dirty="0" err="1"/>
              <a:t>Issue</a:t>
            </a:r>
            <a:r>
              <a:rPr lang="it-IT" sz="2400" b="1" dirty="0"/>
              <a:t> può essere attivata a fronte di record anomali, quando i valori sono sospetti, in particolare per una eccessiva varianza rispetto alla media.</a:t>
            </a:r>
            <a:endParaRPr lang="it-IT" dirty="0"/>
          </a:p>
        </p:txBody>
      </p:sp>
      <p:sp>
        <p:nvSpPr>
          <p:cNvPr id="4" name="CasellaDiTesto 3">
            <a:extLst>
              <a:ext uri="{FF2B5EF4-FFF2-40B4-BE49-F238E27FC236}">
                <a16:creationId xmlns:a16="http://schemas.microsoft.com/office/drawing/2014/main" id="{728DD91E-6603-D7CA-D057-24704A210954}"/>
              </a:ext>
            </a:extLst>
          </p:cNvPr>
          <p:cNvSpPr txBox="1"/>
          <p:nvPr/>
        </p:nvSpPr>
        <p:spPr>
          <a:xfrm>
            <a:off x="374072" y="1440873"/>
            <a:ext cx="7204363" cy="3970318"/>
          </a:xfrm>
          <a:prstGeom prst="rect">
            <a:avLst/>
          </a:prstGeom>
          <a:noFill/>
        </p:spPr>
        <p:txBody>
          <a:bodyPr wrap="square" rtlCol="0">
            <a:spAutoFit/>
          </a:bodyPr>
          <a:lstStyle/>
          <a:p>
            <a:r>
              <a:rPr lang="it-IT" dirty="0"/>
              <a:t>Ricerca report Account data  </a:t>
            </a:r>
            <a:r>
              <a:rPr lang="it-IT" dirty="0" err="1"/>
              <a:t>Variance</a:t>
            </a:r>
            <a:endParaRPr lang="it-IT" dirty="0"/>
          </a:p>
          <a:p>
            <a:endParaRPr lang="it-IT" dirty="0"/>
          </a:p>
          <a:p>
            <a:r>
              <a:rPr lang="it-IT" dirty="0"/>
              <a:t>Definisci la soglia di anomalia, es. &gt;10% o &gt;50% della media</a:t>
            </a:r>
          </a:p>
          <a:p>
            <a:endParaRPr lang="it-IT" dirty="0"/>
          </a:p>
          <a:p>
            <a:r>
              <a:rPr lang="it-IT" dirty="0"/>
              <a:t>Estrai il report in formato tabellare </a:t>
            </a:r>
          </a:p>
          <a:p>
            <a:endParaRPr lang="it-IT" dirty="0"/>
          </a:p>
          <a:p>
            <a:r>
              <a:rPr lang="it-IT" dirty="0"/>
              <a:t>Identifica i record anomali</a:t>
            </a:r>
          </a:p>
          <a:p>
            <a:endParaRPr lang="it-IT" dirty="0"/>
          </a:p>
          <a:p>
            <a:r>
              <a:rPr lang="it-IT" dirty="0"/>
              <a:t>Crea una </a:t>
            </a:r>
            <a:r>
              <a:rPr lang="it-IT" dirty="0" err="1"/>
              <a:t>issue</a:t>
            </a:r>
            <a:r>
              <a:rPr lang="it-IT" dirty="0"/>
              <a:t> per «Data </a:t>
            </a:r>
            <a:r>
              <a:rPr lang="it-IT" dirty="0" err="1"/>
              <a:t>Anomaly</a:t>
            </a:r>
            <a:r>
              <a:rPr lang="it-IT" dirty="0"/>
              <a:t>»</a:t>
            </a:r>
          </a:p>
          <a:p>
            <a:endParaRPr lang="it-IT" dirty="0"/>
          </a:p>
          <a:p>
            <a:r>
              <a:rPr lang="it-IT" dirty="0"/>
              <a:t>Assegnala a un utente nominativo o lasciala in carico alla location, </a:t>
            </a:r>
            <a:r>
              <a:rPr lang="it-IT" dirty="0" err="1"/>
              <a:t>envizi</a:t>
            </a:r>
            <a:r>
              <a:rPr lang="it-IT" dirty="0"/>
              <a:t> la assegnerà  all’utente configurato responsabile di sede.</a:t>
            </a:r>
          </a:p>
          <a:p>
            <a:endParaRPr lang="it-IT" dirty="0"/>
          </a:p>
          <a:p>
            <a:r>
              <a:rPr lang="it-IT" dirty="0"/>
              <a:t>Da qui riparte il processo di </a:t>
            </a:r>
            <a:r>
              <a:rPr lang="it-IT" dirty="0" err="1"/>
              <a:t>issue</a:t>
            </a:r>
            <a:r>
              <a:rPr lang="it-IT" dirty="0"/>
              <a:t> management </a:t>
            </a:r>
          </a:p>
        </p:txBody>
      </p:sp>
    </p:spTree>
    <p:extLst>
      <p:ext uri="{BB962C8B-B14F-4D97-AF65-F5344CB8AC3E}">
        <p14:creationId xmlns:p14="http://schemas.microsoft.com/office/powerpoint/2010/main" val="14944504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7" name="Testo originale sotto il titolo"/>
          <p:cNvSpPr txBox="1"/>
          <p:nvPr/>
        </p:nvSpPr>
        <p:spPr>
          <a:xfrm>
            <a:off x="548640" y="5641848"/>
            <a:ext cx="10881360" cy="307777"/>
          </a:xfrm>
          <a:prstGeom prst="rect">
            <a:avLst/>
          </a:prstGeom>
          <a:noFill/>
        </p:spPr>
        <p:txBody>
          <a:bodyPr wrap="square" lIns="0" tIns="0" rIns="0" bIns="0" anchor="t">
            <a:spAutoFit/>
          </a:bodyPr>
          <a:lstStyle/>
          <a:p>
            <a:pPr algn="l">
              <a:defRPr sz="2000">
                <a:solidFill>
                  <a:srgbClr val="073E31"/>
                </a:solidFill>
              </a:defRPr>
            </a:pPr>
            <a:r>
              <a:rPr sz="2000" b="0" i="0" dirty="0">
                <a:solidFill>
                  <a:srgbClr val="073E31"/>
                </a:solidFill>
                <a:latin typeface="Calibri"/>
              </a:rPr>
              <a:t> </a:t>
            </a:r>
            <a:endParaRPr sz="2400" b="0" i="0" dirty="0">
              <a:solidFill>
                <a:srgbClr val="D8E8DC"/>
              </a:solidFill>
              <a:latin typeface="Calibri"/>
            </a:endParaRPr>
          </a:p>
        </p:txBody>
      </p:sp>
      <p:sp>
        <p:nvSpPr>
          <p:cNvPr id="8"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pPr>
              <a:defRPr sz="2000">
                <a:solidFill>
                  <a:srgbClr val="073E31"/>
                </a:solidFill>
              </a:defRPr>
            </a:pPr>
            <a:endParaRPr lang="it-IT"/>
          </a:p>
        </p:txBody>
      </p:sp>
      <p:sp>
        <p:nvSpPr>
          <p:cNvPr id="5" name="TextBox 4"/>
          <p:cNvSpPr txBox="1"/>
          <p:nvPr/>
        </p:nvSpPr>
        <p:spPr>
          <a:xfrm>
            <a:off x="640080" y="457200"/>
            <a:ext cx="10908792" cy="369332"/>
          </a:xfrm>
          <a:prstGeom prst="rect">
            <a:avLst/>
          </a:prstGeom>
          <a:noFill/>
        </p:spPr>
        <p:txBody>
          <a:bodyPr wrap="square" lIns="0" tIns="0" rIns="0" bIns="0" anchor="t">
            <a:spAutoFit/>
          </a:bodyPr>
          <a:lstStyle/>
          <a:p>
            <a:pPr marL="0" indent="0" algn="l">
              <a:lnSpc>
                <a:spcPct val="100000"/>
              </a:lnSpc>
              <a:spcBef>
                <a:spcPts val="0"/>
              </a:spcBef>
              <a:spcAft>
                <a:spcPts val="500"/>
              </a:spcAft>
              <a:buNone/>
              <a:defRPr sz="2400" b="1">
                <a:solidFill>
                  <a:srgbClr val="073E31"/>
                </a:solidFill>
                <a:latin typeface="Calibri"/>
              </a:defRPr>
            </a:pPr>
            <a:r>
              <a:rPr lang="it-IT" sz="2400" b="1">
                <a:solidFill>
                  <a:srgbClr val="073E31"/>
                </a:solidFill>
                <a:latin typeface="Calibri"/>
              </a:rPr>
              <a:t>Grazie</a:t>
            </a:r>
          </a:p>
        </p:txBody>
      </p:sp>
      <p:sp>
        <p:nvSpPr>
          <p:cNvPr id="2" name="TextBox 3">
            <a:extLst>
              <a:ext uri="{FF2B5EF4-FFF2-40B4-BE49-F238E27FC236}">
                <a16:creationId xmlns:a16="http://schemas.microsoft.com/office/drawing/2014/main" id="{6EF24286-BAAB-56CB-EE5D-375D369C0873}"/>
              </a:ext>
            </a:extLst>
          </p:cNvPr>
          <p:cNvSpPr txBox="1"/>
          <p:nvPr/>
        </p:nvSpPr>
        <p:spPr>
          <a:xfrm>
            <a:off x="10058400" y="219456"/>
            <a:ext cx="2743200" cy="256032"/>
          </a:xfrm>
          <a:prstGeom prst="rect">
            <a:avLst/>
          </a:prstGeom>
          <a:noFill/>
        </p:spPr>
        <p:txBody>
          <a:bodyPr wrap="square" lIns="18288" tIns="9144" rIns="18288" bIns="9144">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0F62FE"/>
                </a:solidFill>
                <a:effectLst/>
                <a:uLnTx/>
                <a:uFillTx/>
                <a:latin typeface="IBM Plex Sans"/>
                <a:ea typeface="+mn-ea"/>
                <a:cs typeface="+mn-cs"/>
              </a:rPr>
              <a:t>IBM ENVIZI</a:t>
            </a:r>
          </a:p>
        </p:txBody>
      </p:sp>
      <p:sp>
        <p:nvSpPr>
          <p:cNvPr id="3" name="TextBox 4">
            <a:extLst>
              <a:ext uri="{FF2B5EF4-FFF2-40B4-BE49-F238E27FC236}">
                <a16:creationId xmlns:a16="http://schemas.microsoft.com/office/drawing/2014/main" id="{8CDF11D0-1C53-0547-9873-8FB7E1E39671}"/>
              </a:ext>
            </a:extLst>
          </p:cNvPr>
          <p:cNvSpPr txBox="1"/>
          <p:nvPr/>
        </p:nvSpPr>
        <p:spPr>
          <a:xfrm>
            <a:off x="640080" y="1280160"/>
            <a:ext cx="6217920" cy="640080"/>
          </a:xfrm>
          <a:prstGeom prst="rect">
            <a:avLst/>
          </a:prstGeom>
          <a:noFill/>
        </p:spPr>
        <p:txBody>
          <a:bodyPr wrap="square" lIns="18288" tIns="9144" rIns="18288" bIns="9144">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800" b="1" i="0" u="none" strike="noStrike" kern="1200" cap="none" spc="0" normalizeH="0" baseline="0" noProof="0" dirty="0">
                <a:ln>
                  <a:noFill/>
                </a:ln>
                <a:solidFill>
                  <a:srgbClr val="11233F"/>
                </a:solidFill>
                <a:effectLst/>
                <a:uLnTx/>
                <a:uFillTx/>
                <a:latin typeface="IBM Plex Sans"/>
                <a:ea typeface="+mn-ea"/>
                <a:cs typeface="+mn-cs"/>
              </a:rPr>
              <a:t>Thank you</a:t>
            </a:r>
          </a:p>
        </p:txBody>
      </p:sp>
      <p:sp>
        <p:nvSpPr>
          <p:cNvPr id="4" name="Rectangle 5">
            <a:extLst>
              <a:ext uri="{FF2B5EF4-FFF2-40B4-BE49-F238E27FC236}">
                <a16:creationId xmlns:a16="http://schemas.microsoft.com/office/drawing/2014/main" id="{46CC8070-723C-29F9-6B8C-870A277CC8CE}"/>
              </a:ext>
            </a:extLst>
          </p:cNvPr>
          <p:cNvSpPr/>
          <p:nvPr/>
        </p:nvSpPr>
        <p:spPr>
          <a:xfrm>
            <a:off x="640080" y="2084831"/>
            <a:ext cx="1005840" cy="54864"/>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6">
            <a:extLst>
              <a:ext uri="{FF2B5EF4-FFF2-40B4-BE49-F238E27FC236}">
                <a16:creationId xmlns:a16="http://schemas.microsoft.com/office/drawing/2014/main" id="{C5511781-77E8-AB51-35E5-D1D2C2451BA2}"/>
              </a:ext>
            </a:extLst>
          </p:cNvPr>
          <p:cNvSpPr txBox="1"/>
          <p:nvPr/>
        </p:nvSpPr>
        <p:spPr>
          <a:xfrm>
            <a:off x="640080" y="2423160"/>
            <a:ext cx="5897880" cy="438912"/>
          </a:xfrm>
          <a:prstGeom prst="rect">
            <a:avLst/>
          </a:prstGeom>
          <a:noFill/>
        </p:spPr>
        <p:txBody>
          <a:bodyPr wrap="square" lIns="18288" tIns="9144" rIns="18288" bIns="9144">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700" b="0" i="0" u="none" strike="noStrike" kern="1200" cap="none" spc="0" normalizeH="0" baseline="0" noProof="0">
                <a:ln>
                  <a:noFill/>
                </a:ln>
                <a:solidFill>
                  <a:srgbClr val="5B687A"/>
                </a:solidFill>
                <a:effectLst/>
                <a:uLnTx/>
                <a:uFillTx/>
                <a:latin typeface="IBM Plex Sans"/>
                <a:ea typeface="+mn-ea"/>
                <a:cs typeface="+mn-cs"/>
              </a:rPr>
              <a:t>Sustainability data that supports reporting, decisions and business value.</a:t>
            </a:r>
          </a:p>
        </p:txBody>
      </p:sp>
      <p:sp>
        <p:nvSpPr>
          <p:cNvPr id="9" name="TextBox 7">
            <a:extLst>
              <a:ext uri="{FF2B5EF4-FFF2-40B4-BE49-F238E27FC236}">
                <a16:creationId xmlns:a16="http://schemas.microsoft.com/office/drawing/2014/main" id="{8CE9F074-FDBC-705B-960A-8459F4BC17DE}"/>
              </a:ext>
            </a:extLst>
          </p:cNvPr>
          <p:cNvSpPr txBox="1"/>
          <p:nvPr/>
        </p:nvSpPr>
        <p:spPr>
          <a:xfrm>
            <a:off x="640080" y="3822191"/>
            <a:ext cx="4206240" cy="274320"/>
          </a:xfrm>
          <a:prstGeom prst="rect">
            <a:avLst/>
          </a:prstGeom>
          <a:noFill/>
        </p:spPr>
        <p:txBody>
          <a:bodyPr wrap="square" lIns="18288" tIns="9144" rIns="18288" bIns="9144">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dirty="0">
                <a:ln>
                  <a:noFill/>
                </a:ln>
                <a:solidFill>
                  <a:srgbClr val="11233F"/>
                </a:solidFill>
                <a:effectLst/>
                <a:uLnTx/>
                <a:uFillTx/>
                <a:latin typeface="IBM Plex Sans"/>
                <a:ea typeface="+mn-ea"/>
                <a:cs typeface="+mn-cs"/>
              </a:rPr>
              <a:t>Felice Petrignano</a:t>
            </a:r>
          </a:p>
        </p:txBody>
      </p:sp>
      <p:sp>
        <p:nvSpPr>
          <p:cNvPr id="10" name="TextBox 8">
            <a:extLst>
              <a:ext uri="{FF2B5EF4-FFF2-40B4-BE49-F238E27FC236}">
                <a16:creationId xmlns:a16="http://schemas.microsoft.com/office/drawing/2014/main" id="{434EFB8C-0790-AAB3-DB53-C9B2F350C225}"/>
              </a:ext>
            </a:extLst>
          </p:cNvPr>
          <p:cNvSpPr txBox="1"/>
          <p:nvPr/>
        </p:nvSpPr>
        <p:spPr>
          <a:xfrm>
            <a:off x="640080" y="4206240"/>
            <a:ext cx="5120640" cy="237744"/>
          </a:xfrm>
          <a:prstGeom prst="rect">
            <a:avLst/>
          </a:prstGeom>
          <a:noFill/>
        </p:spPr>
        <p:txBody>
          <a:bodyPr wrap="square" lIns="18288" tIns="9144" rIns="18288" bIns="9144">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a:ln>
                  <a:noFill/>
                </a:ln>
                <a:solidFill>
                  <a:srgbClr val="1F252E"/>
                </a:solidFill>
                <a:effectLst/>
                <a:uLnTx/>
                <a:uFillTx/>
                <a:latin typeface="IBM Plex Sans"/>
                <a:ea typeface="+mn-ea"/>
                <a:cs typeface="+mn-cs"/>
              </a:rPr>
              <a:t>Senior Technology Specialist</a:t>
            </a:r>
          </a:p>
        </p:txBody>
      </p:sp>
      <p:sp>
        <p:nvSpPr>
          <p:cNvPr id="11" name="TextBox 9">
            <a:extLst>
              <a:ext uri="{FF2B5EF4-FFF2-40B4-BE49-F238E27FC236}">
                <a16:creationId xmlns:a16="http://schemas.microsoft.com/office/drawing/2014/main" id="{6BEDC525-C44E-79D2-F7A4-4D024636405B}"/>
              </a:ext>
            </a:extLst>
          </p:cNvPr>
          <p:cNvSpPr txBox="1"/>
          <p:nvPr/>
        </p:nvSpPr>
        <p:spPr>
          <a:xfrm>
            <a:off x="640080" y="4517136"/>
            <a:ext cx="5303520" cy="237744"/>
          </a:xfrm>
          <a:prstGeom prst="rect">
            <a:avLst/>
          </a:prstGeom>
          <a:noFill/>
        </p:spPr>
        <p:txBody>
          <a:bodyPr wrap="square" lIns="18288" tIns="9144" rIns="18288" bIns="9144">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a:ln>
                  <a:noFill/>
                </a:ln>
                <a:solidFill>
                  <a:srgbClr val="1F252E"/>
                </a:solidFill>
                <a:effectLst/>
                <a:uLnTx/>
                <a:uFillTx/>
                <a:latin typeface="IBM Plex Sans"/>
                <a:ea typeface="+mn-ea"/>
                <a:cs typeface="+mn-cs"/>
              </a:rPr>
              <a:t>IBM Italy</a:t>
            </a:r>
          </a:p>
        </p:txBody>
      </p:sp>
      <p:sp>
        <p:nvSpPr>
          <p:cNvPr id="12" name="TextBox 10">
            <a:extLst>
              <a:ext uri="{FF2B5EF4-FFF2-40B4-BE49-F238E27FC236}">
                <a16:creationId xmlns:a16="http://schemas.microsoft.com/office/drawing/2014/main" id="{F621139D-38E0-2953-A093-2FC128265975}"/>
              </a:ext>
            </a:extLst>
          </p:cNvPr>
          <p:cNvSpPr txBox="1"/>
          <p:nvPr/>
        </p:nvSpPr>
        <p:spPr>
          <a:xfrm>
            <a:off x="640080" y="5047488"/>
            <a:ext cx="5303520" cy="237744"/>
          </a:xfrm>
          <a:prstGeom prst="rect">
            <a:avLst/>
          </a:prstGeom>
          <a:noFill/>
        </p:spPr>
        <p:txBody>
          <a:bodyPr wrap="square" lIns="18288" tIns="9144" rIns="18288" bIns="9144">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err="1">
                <a:ln>
                  <a:noFill/>
                </a:ln>
                <a:solidFill>
                  <a:srgbClr val="0F62FE"/>
                </a:solidFill>
                <a:effectLst/>
                <a:uLnTx/>
                <a:uFillTx/>
                <a:latin typeface="IBM Plex Sans"/>
                <a:ea typeface="+mn-ea"/>
                <a:cs typeface="+mn-cs"/>
              </a:rPr>
              <a:t>linkedin.com</a:t>
            </a:r>
            <a:r>
              <a:rPr kumimoji="0" sz="1400" b="1" i="0" u="none" strike="noStrike" kern="1200" cap="none" spc="0" normalizeH="0" baseline="0" noProof="0" dirty="0">
                <a:ln>
                  <a:noFill/>
                </a:ln>
                <a:solidFill>
                  <a:srgbClr val="0F62FE"/>
                </a:solidFill>
                <a:effectLst/>
                <a:uLnTx/>
                <a:uFillTx/>
                <a:latin typeface="IBM Plex Sans"/>
                <a:ea typeface="+mn-ea"/>
                <a:cs typeface="+mn-cs"/>
              </a:rPr>
              <a:t>/in/</a:t>
            </a:r>
            <a:r>
              <a:rPr kumimoji="0" sz="1400" b="1" i="0" u="none" strike="noStrike" kern="1200" cap="none" spc="0" normalizeH="0" baseline="0" noProof="0" dirty="0" err="1">
                <a:ln>
                  <a:noFill/>
                </a:ln>
                <a:solidFill>
                  <a:srgbClr val="0F62FE"/>
                </a:solidFill>
                <a:effectLst/>
                <a:uLnTx/>
                <a:uFillTx/>
                <a:latin typeface="IBM Plex Sans"/>
                <a:ea typeface="+mn-ea"/>
                <a:cs typeface="+mn-cs"/>
              </a:rPr>
              <a:t>fpetrignano</a:t>
            </a:r>
            <a:endParaRPr kumimoji="0" sz="1400" b="1" i="0" u="none" strike="noStrike" kern="1200" cap="none" spc="0" normalizeH="0" baseline="0" noProof="0" dirty="0">
              <a:ln>
                <a:noFill/>
              </a:ln>
              <a:solidFill>
                <a:srgbClr val="0F62FE"/>
              </a:solidFill>
              <a:effectLst/>
              <a:uLnTx/>
              <a:uFillTx/>
              <a:latin typeface="IBM Plex Sans"/>
              <a:ea typeface="+mn-ea"/>
              <a:cs typeface="+mn-cs"/>
            </a:endParaRPr>
          </a:p>
        </p:txBody>
      </p:sp>
      <p:sp>
        <p:nvSpPr>
          <p:cNvPr id="13" name="Rectangle 11">
            <a:extLst>
              <a:ext uri="{FF2B5EF4-FFF2-40B4-BE49-F238E27FC236}">
                <a16:creationId xmlns:a16="http://schemas.microsoft.com/office/drawing/2014/main" id="{306529D3-89C5-8762-7A9F-5369BAAECD79}"/>
              </a:ext>
            </a:extLst>
          </p:cNvPr>
          <p:cNvSpPr/>
          <p:nvPr/>
        </p:nvSpPr>
        <p:spPr>
          <a:xfrm>
            <a:off x="7635240" y="640080"/>
            <a:ext cx="3794760" cy="544068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TextBox 12">
            <a:extLst>
              <a:ext uri="{FF2B5EF4-FFF2-40B4-BE49-F238E27FC236}">
                <a16:creationId xmlns:a16="http://schemas.microsoft.com/office/drawing/2014/main" id="{9DED0332-C7E5-AB26-11BC-B0241C7CD2B4}"/>
              </a:ext>
            </a:extLst>
          </p:cNvPr>
          <p:cNvSpPr txBox="1"/>
          <p:nvPr/>
        </p:nvSpPr>
        <p:spPr>
          <a:xfrm>
            <a:off x="8001000" y="1078992"/>
            <a:ext cx="3063240" cy="274320"/>
          </a:xfrm>
          <a:prstGeom prst="rect">
            <a:avLst/>
          </a:prstGeom>
          <a:noFill/>
        </p:spPr>
        <p:txBody>
          <a:bodyPr wrap="square" lIns="18288" tIns="9144" rIns="18288" bIns="9144">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0F62FE"/>
                </a:solidFill>
                <a:effectLst/>
                <a:uLnTx/>
                <a:uFillTx/>
                <a:latin typeface="IBM Plex Sans"/>
                <a:ea typeface="+mn-ea"/>
                <a:cs typeface="+mn-cs"/>
              </a:rPr>
              <a:t>LET’S CONNECT</a:t>
            </a:r>
          </a:p>
        </p:txBody>
      </p:sp>
      <p:pic>
        <p:nvPicPr>
          <p:cNvPr id="15" name="Picture 13" descr="linkedin_qr_original.png">
            <a:extLst>
              <a:ext uri="{FF2B5EF4-FFF2-40B4-BE49-F238E27FC236}">
                <a16:creationId xmlns:a16="http://schemas.microsoft.com/office/drawing/2014/main" id="{5488A219-564D-1AA5-DC0B-80CAF2A9B24A}"/>
              </a:ext>
            </a:extLst>
          </p:cNvPr>
          <p:cNvPicPr>
            <a:picLocks noChangeAspect="1"/>
          </p:cNvPicPr>
          <p:nvPr/>
        </p:nvPicPr>
        <p:blipFill>
          <a:blip r:embed="rId2"/>
          <a:stretch>
            <a:fillRect/>
          </a:stretch>
        </p:blipFill>
        <p:spPr>
          <a:xfrm>
            <a:off x="8267735" y="1600200"/>
            <a:ext cx="2529767" cy="3154680"/>
          </a:xfrm>
          <a:prstGeom prst="rect">
            <a:avLst/>
          </a:prstGeom>
        </p:spPr>
      </p:pic>
      <p:sp>
        <p:nvSpPr>
          <p:cNvPr id="16" name="TextBox 14">
            <a:extLst>
              <a:ext uri="{FF2B5EF4-FFF2-40B4-BE49-F238E27FC236}">
                <a16:creationId xmlns:a16="http://schemas.microsoft.com/office/drawing/2014/main" id="{D4866AE4-DC69-6812-12BF-9F23A0B9733F}"/>
              </a:ext>
            </a:extLst>
          </p:cNvPr>
          <p:cNvSpPr txBox="1"/>
          <p:nvPr/>
        </p:nvSpPr>
        <p:spPr>
          <a:xfrm>
            <a:off x="8001000" y="5074920"/>
            <a:ext cx="3063240" cy="420624"/>
          </a:xfrm>
          <a:prstGeom prst="rect">
            <a:avLst/>
          </a:prstGeom>
          <a:noFill/>
        </p:spPr>
        <p:txBody>
          <a:bodyPr wrap="square" lIns="18288" tIns="9144" rIns="18288" bIns="9144">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11233F"/>
                </a:solidFill>
                <a:effectLst/>
                <a:uLnTx/>
                <a:uFillTx/>
                <a:latin typeface="IBM Plex Sans"/>
                <a:ea typeface="+mn-ea"/>
                <a:cs typeface="+mn-cs"/>
              </a:rPr>
              <a:t>Scan the QR code to connect on LinkedIn</a:t>
            </a:r>
          </a:p>
        </p:txBody>
      </p:sp>
    </p:spTree>
    <p:extLst>
      <p:ext uri="{BB962C8B-B14F-4D97-AF65-F5344CB8AC3E}">
        <p14:creationId xmlns:p14="http://schemas.microsoft.com/office/powerpoint/2010/main" val="3904177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tangolo 2">
            <a:extLst>
              <a:ext uri="{FF2B5EF4-FFF2-40B4-BE49-F238E27FC236}">
                <a16:creationId xmlns:a16="http://schemas.microsoft.com/office/drawing/2014/main" id="{E5692321-2990-921A-697F-F435F6803838}"/>
              </a:ext>
            </a:extLst>
          </p:cNvPr>
          <p:cNvSpPr/>
          <p:nvPr/>
        </p:nvSpPr>
        <p:spPr>
          <a:xfrm>
            <a:off x="9062519" y="176407"/>
            <a:ext cx="3029561" cy="2670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lIns="36576" tIns="0" rIns="36576"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a:ln>
                  <a:noFill/>
                </a:ln>
                <a:solidFill>
                  <a:srgbClr val="FFFFFF"/>
                </a:solidFill>
                <a:effectLst/>
                <a:uLnTx/>
                <a:uFillTx/>
                <a:latin typeface="Calibri"/>
                <a:cs typeface="Calibri"/>
              </a:rPr>
              <a:t>IBM Envizi</a:t>
            </a:r>
            <a:endParaRPr kumimoji="0" lang="it-IT" sz="1800" b="0" i="0" u="none" strike="noStrike" kern="1200" cap="none" spc="0" normalizeH="0" baseline="0" noProof="0">
              <a:ln>
                <a:noFill/>
              </a:ln>
              <a:solidFill>
                <a:srgbClr val="FFFFFF"/>
              </a:solidFill>
              <a:effectLst/>
              <a:uLnTx/>
              <a:uFillTx/>
              <a:latin typeface="Calibri"/>
              <a:cs typeface="Calibri"/>
            </a:endParaRPr>
          </a:p>
        </p:txBody>
      </p:sp>
      <p:sp>
        <p:nvSpPr>
          <p:cNvPr id="3"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srgbClr val="000000"/>
              </a:solidFill>
              <a:effectLst/>
              <a:uLnTx/>
              <a:uFillTx/>
              <a:latin typeface="Calibri"/>
              <a:cs typeface="Calibri"/>
            </a:endParaRPr>
          </a:p>
        </p:txBody>
      </p:sp>
      <p:sp>
        <p:nvSpPr>
          <p:cNvPr id="4" name="TextBox 1"/>
          <p:cNvSpPr txBox="1"/>
          <p:nvPr/>
        </p:nvSpPr>
        <p:spPr>
          <a:xfrm>
            <a:off x="640080" y="457200"/>
            <a:ext cx="10908792" cy="369332"/>
          </a:xfrm>
          <a:prstGeom prst="rect">
            <a:avLst/>
          </a:prstGeom>
          <a:noFill/>
        </p:spPr>
        <p:txBody>
          <a:bodyPr wrap="square" lIns="36576" tIns="0" rIns="36576"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400" b="1">
                <a:solidFill>
                  <a:srgbClr val="073E31"/>
                </a:solidFill>
                <a:latin typeface="Calibri"/>
              </a:defRPr>
            </a:pPr>
            <a:r>
              <a:rPr kumimoji="0" lang="it-IT" sz="2400" b="1" i="0" u="none" strike="noStrike" kern="1200" cap="none" spc="0" normalizeH="0" baseline="0" noProof="0">
                <a:ln>
                  <a:noFill/>
                </a:ln>
                <a:solidFill>
                  <a:srgbClr val="073E31"/>
                </a:solidFill>
                <a:effectLst/>
                <a:uLnTx/>
                <a:uFillTx/>
                <a:latin typeface="Calibri"/>
                <a:cs typeface="Calibri"/>
              </a:rPr>
              <a:t>Riferimenti ufficiali</a:t>
            </a:r>
            <a:r>
              <a:rPr kumimoji="0" sz="2400" b="1" i="0" u="none" strike="noStrike" kern="1200" cap="none" spc="0" normalizeH="0" baseline="0" noProof="0">
                <a:ln>
                  <a:noFill/>
                </a:ln>
                <a:solidFill>
                  <a:srgbClr val="073E31"/>
                </a:solidFill>
                <a:effectLst/>
                <a:uLnTx/>
                <a:uFillTx/>
                <a:latin typeface="Calibri"/>
                <a:cs typeface="Calibri"/>
              </a:rPr>
              <a:t> IBM</a:t>
            </a:r>
          </a:p>
        </p:txBody>
      </p:sp>
      <p:sp>
        <p:nvSpPr>
          <p:cNvPr id="5" name="TextBox 4"/>
          <p:cNvSpPr txBox="1"/>
          <p:nvPr/>
        </p:nvSpPr>
        <p:spPr>
          <a:xfrm>
            <a:off x="640080" y="1508760"/>
            <a:ext cx="5074920" cy="323165"/>
          </a:xfrm>
          <a:prstGeom prst="rect">
            <a:avLst/>
          </a:prstGeom>
          <a:noFill/>
        </p:spPr>
        <p:txBody>
          <a:bodyPr wrap="square" lIns="0" tIns="0" rIns="0" bIns="0">
            <a:spAutoFit/>
          </a:bodyPr>
          <a:lstStyle/>
          <a:p>
            <a:r>
              <a:rPr lang="it-IT" sz="2100" b="0" u="sng">
                <a:solidFill>
                  <a:srgbClr val="144D40"/>
                </a:solidFill>
                <a:latin typeface="Calibri"/>
                <a:hlinkClick r:id="rId3"/>
              </a:rPr>
              <a:t>Account Data Health Check</a:t>
            </a:r>
          </a:p>
        </p:txBody>
      </p:sp>
      <p:sp>
        <p:nvSpPr>
          <p:cNvPr id="6" name="TextBox 5"/>
          <p:cNvSpPr txBox="1"/>
          <p:nvPr/>
        </p:nvSpPr>
        <p:spPr>
          <a:xfrm>
            <a:off x="640080" y="1984248"/>
            <a:ext cx="5074920" cy="261610"/>
          </a:xfrm>
          <a:prstGeom prst="rect">
            <a:avLst/>
          </a:prstGeom>
          <a:noFill/>
        </p:spPr>
        <p:txBody>
          <a:bodyPr wrap="square" lIns="0" tIns="0" rIns="0" bIns="0">
            <a:spAutoFit/>
          </a:bodyPr>
          <a:lstStyle/>
          <a:p>
            <a:r>
              <a:rPr lang="it-IT" sz="1700" b="0">
                <a:solidFill>
                  <a:srgbClr val="333333"/>
                </a:solidFill>
                <a:latin typeface="Calibri"/>
              </a:rPr>
              <a:t>Attività, ritardi e lacune nei dati degli Account.</a:t>
            </a:r>
          </a:p>
        </p:txBody>
      </p:sp>
      <p:sp>
        <p:nvSpPr>
          <p:cNvPr id="7" name="TextBox 6"/>
          <p:cNvSpPr txBox="1"/>
          <p:nvPr/>
        </p:nvSpPr>
        <p:spPr>
          <a:xfrm>
            <a:off x="640080" y="2752344"/>
            <a:ext cx="5074920" cy="323165"/>
          </a:xfrm>
          <a:prstGeom prst="rect">
            <a:avLst/>
          </a:prstGeom>
          <a:noFill/>
        </p:spPr>
        <p:txBody>
          <a:bodyPr wrap="square" lIns="0" tIns="0" rIns="0" bIns="0">
            <a:spAutoFit/>
          </a:bodyPr>
          <a:lstStyle/>
          <a:p>
            <a:r>
              <a:rPr lang="it-IT" sz="2100" b="0" u="sng">
                <a:solidFill>
                  <a:srgbClr val="144D40"/>
                </a:solidFill>
                <a:latin typeface="Calibri"/>
                <a:hlinkClick r:id="rId4"/>
              </a:rPr>
              <a:t>Verifica della qualità dei dati</a:t>
            </a:r>
          </a:p>
        </p:txBody>
      </p:sp>
      <p:sp>
        <p:nvSpPr>
          <p:cNvPr id="8" name="TextBox 7"/>
          <p:cNvSpPr txBox="1"/>
          <p:nvPr/>
        </p:nvSpPr>
        <p:spPr>
          <a:xfrm>
            <a:off x="640080" y="3227832"/>
            <a:ext cx="5074920" cy="261610"/>
          </a:xfrm>
          <a:prstGeom prst="rect">
            <a:avLst/>
          </a:prstGeom>
          <a:noFill/>
        </p:spPr>
        <p:txBody>
          <a:bodyPr wrap="square" lIns="0" tIns="0" rIns="0" bIns="0">
            <a:spAutoFit/>
          </a:bodyPr>
          <a:lstStyle/>
          <a:p>
            <a:r>
              <a:rPr lang="it-IT" sz="1700" b="0">
                <a:solidFill>
                  <a:srgbClr val="333333"/>
                </a:solidFill>
                <a:latin typeface="Calibri"/>
              </a:rPr>
              <a:t>Report per dati mancanti e sovrapposizioni.</a:t>
            </a:r>
          </a:p>
        </p:txBody>
      </p:sp>
      <p:sp>
        <p:nvSpPr>
          <p:cNvPr id="9" name="TextBox 8"/>
          <p:cNvSpPr txBox="1"/>
          <p:nvPr/>
        </p:nvSpPr>
        <p:spPr>
          <a:xfrm>
            <a:off x="640080" y="3995928"/>
            <a:ext cx="5074920" cy="323165"/>
          </a:xfrm>
          <a:prstGeom prst="rect">
            <a:avLst/>
          </a:prstGeom>
          <a:noFill/>
        </p:spPr>
        <p:txBody>
          <a:bodyPr wrap="square" lIns="0" tIns="0" rIns="0" bIns="0">
            <a:spAutoFit/>
          </a:bodyPr>
          <a:lstStyle/>
          <a:p>
            <a:r>
              <a:rPr lang="it-IT" sz="2100" b="0" u="sng">
                <a:solidFill>
                  <a:srgbClr val="144D40"/>
                </a:solidFill>
                <a:latin typeface="Calibri"/>
                <a:hlinkClick r:id="rId5"/>
              </a:rPr>
              <a:t>Report di gestione dei dati</a:t>
            </a:r>
          </a:p>
        </p:txBody>
      </p:sp>
      <p:sp>
        <p:nvSpPr>
          <p:cNvPr id="10" name="TextBox 9"/>
          <p:cNvSpPr txBox="1"/>
          <p:nvPr/>
        </p:nvSpPr>
        <p:spPr>
          <a:xfrm>
            <a:off x="640080" y="4471416"/>
            <a:ext cx="5074920" cy="261610"/>
          </a:xfrm>
          <a:prstGeom prst="rect">
            <a:avLst/>
          </a:prstGeom>
          <a:noFill/>
        </p:spPr>
        <p:txBody>
          <a:bodyPr wrap="square" lIns="0" tIns="0" rIns="0" bIns="0">
            <a:spAutoFit/>
          </a:bodyPr>
          <a:lstStyle/>
          <a:p>
            <a:r>
              <a:rPr lang="it-IT" sz="1700" b="0">
                <a:solidFill>
                  <a:srgbClr val="333333"/>
                </a:solidFill>
                <a:latin typeface="Calibri"/>
              </a:rPr>
              <a:t>Completezza e periodi di attività degli Account.</a:t>
            </a:r>
          </a:p>
        </p:txBody>
      </p:sp>
      <p:sp>
        <p:nvSpPr>
          <p:cNvPr id="11" name="TextBox 10"/>
          <p:cNvSpPr txBox="1"/>
          <p:nvPr/>
        </p:nvSpPr>
        <p:spPr>
          <a:xfrm>
            <a:off x="6217920" y="1508760"/>
            <a:ext cx="5074920" cy="323165"/>
          </a:xfrm>
          <a:prstGeom prst="rect">
            <a:avLst/>
          </a:prstGeom>
          <a:noFill/>
        </p:spPr>
        <p:txBody>
          <a:bodyPr wrap="square" lIns="0" tIns="0" rIns="0" bIns="0">
            <a:spAutoFit/>
          </a:bodyPr>
          <a:lstStyle/>
          <a:p>
            <a:r>
              <a:rPr lang="it-IT" sz="2100" b="0" u="sng">
                <a:solidFill>
                  <a:srgbClr val="144D40"/>
                </a:solidFill>
                <a:latin typeface="Calibri"/>
                <a:hlinkClick r:id="rId6"/>
              </a:rPr>
              <a:t>Data Health Check for Utilities</a:t>
            </a:r>
          </a:p>
        </p:txBody>
      </p:sp>
      <p:sp>
        <p:nvSpPr>
          <p:cNvPr id="12" name="TextBox 11"/>
          <p:cNvSpPr txBox="1"/>
          <p:nvPr/>
        </p:nvSpPr>
        <p:spPr>
          <a:xfrm>
            <a:off x="6217920" y="1984248"/>
            <a:ext cx="5074920" cy="261610"/>
          </a:xfrm>
          <a:prstGeom prst="rect">
            <a:avLst/>
          </a:prstGeom>
          <a:noFill/>
        </p:spPr>
        <p:txBody>
          <a:bodyPr wrap="square" lIns="0" tIns="0" rIns="0" bIns="0">
            <a:spAutoFit/>
          </a:bodyPr>
          <a:lstStyle/>
          <a:p>
            <a:r>
              <a:rPr lang="it-IT" sz="1700" b="0">
                <a:solidFill>
                  <a:srgbClr val="333333"/>
                </a:solidFill>
                <a:latin typeface="Calibri"/>
              </a:rPr>
              <a:t>Controlli su bollette e consumi di luce, gas e acqua.</a:t>
            </a:r>
          </a:p>
        </p:txBody>
      </p:sp>
      <p:sp>
        <p:nvSpPr>
          <p:cNvPr id="13" name="TextBox 12"/>
          <p:cNvSpPr txBox="1"/>
          <p:nvPr/>
        </p:nvSpPr>
        <p:spPr>
          <a:xfrm>
            <a:off x="6217920" y="2752344"/>
            <a:ext cx="5074920" cy="323165"/>
          </a:xfrm>
          <a:prstGeom prst="rect">
            <a:avLst/>
          </a:prstGeom>
          <a:noFill/>
        </p:spPr>
        <p:txBody>
          <a:bodyPr wrap="square" lIns="0" tIns="0" rIns="0" bIns="0">
            <a:spAutoFit/>
          </a:bodyPr>
          <a:lstStyle/>
          <a:p>
            <a:r>
              <a:rPr lang="it-IT" sz="2100" b="0" u="sng">
                <a:solidFill>
                  <a:srgbClr val="144D40"/>
                </a:solidFill>
                <a:latin typeface="Calibri"/>
                <a:hlinkClick r:id="rId7"/>
              </a:rPr>
              <a:t>Gestione delle Issue</a:t>
            </a:r>
          </a:p>
        </p:txBody>
      </p:sp>
      <p:sp>
        <p:nvSpPr>
          <p:cNvPr id="14" name="TextBox 13"/>
          <p:cNvSpPr txBox="1"/>
          <p:nvPr/>
        </p:nvSpPr>
        <p:spPr>
          <a:xfrm>
            <a:off x="6217920" y="3227832"/>
            <a:ext cx="5074920" cy="261610"/>
          </a:xfrm>
          <a:prstGeom prst="rect">
            <a:avLst/>
          </a:prstGeom>
          <a:noFill/>
        </p:spPr>
        <p:txBody>
          <a:bodyPr wrap="square" lIns="0" tIns="0" rIns="0" bIns="0">
            <a:spAutoFit/>
          </a:bodyPr>
          <a:lstStyle/>
          <a:p>
            <a:r>
              <a:rPr lang="it-IT" sz="1700" b="0">
                <a:solidFill>
                  <a:srgbClr val="333333"/>
                </a:solidFill>
                <a:latin typeface="Calibri"/>
              </a:rPr>
              <a:t>Assegnazione, notifiche e ruolo Issue Manager.</a:t>
            </a:r>
          </a:p>
        </p:txBody>
      </p:sp>
      <p:sp>
        <p:nvSpPr>
          <p:cNvPr id="15" name="TextBox 14"/>
          <p:cNvSpPr txBox="1"/>
          <p:nvPr/>
        </p:nvSpPr>
        <p:spPr>
          <a:xfrm>
            <a:off x="6217920" y="3995928"/>
            <a:ext cx="5074920" cy="323165"/>
          </a:xfrm>
          <a:prstGeom prst="rect">
            <a:avLst/>
          </a:prstGeom>
          <a:noFill/>
        </p:spPr>
        <p:txBody>
          <a:bodyPr wrap="square" lIns="0" tIns="0" rIns="0" bIns="0">
            <a:spAutoFit/>
          </a:bodyPr>
          <a:lstStyle/>
          <a:p>
            <a:r>
              <a:rPr lang="it-IT" sz="2100" b="0" u="sng">
                <a:solidFill>
                  <a:srgbClr val="144D40"/>
                </a:solidFill>
                <a:latin typeface="Calibri"/>
                <a:hlinkClick r:id="rId8"/>
              </a:rPr>
              <a:t>Approvazione dei dati Account</a:t>
            </a:r>
          </a:p>
        </p:txBody>
      </p:sp>
      <p:sp>
        <p:nvSpPr>
          <p:cNvPr id="16" name="TextBox 15"/>
          <p:cNvSpPr txBox="1"/>
          <p:nvPr/>
        </p:nvSpPr>
        <p:spPr>
          <a:xfrm>
            <a:off x="6217920" y="4471416"/>
            <a:ext cx="5074920" cy="261610"/>
          </a:xfrm>
          <a:prstGeom prst="rect">
            <a:avLst/>
          </a:prstGeom>
          <a:noFill/>
        </p:spPr>
        <p:txBody>
          <a:bodyPr wrap="square" lIns="0" tIns="0" rIns="0" bIns="0">
            <a:spAutoFit/>
          </a:bodyPr>
          <a:lstStyle/>
          <a:p>
            <a:r>
              <a:rPr lang="it-IT" sz="1700" b="0">
                <a:solidFill>
                  <a:srgbClr val="333333"/>
                </a:solidFill>
                <a:latin typeface="Calibri"/>
              </a:rPr>
              <a:t>Workflow dedicato, ruoli e stati di approvazione.</a:t>
            </a:r>
          </a:p>
        </p:txBody>
      </p:sp>
      <p:sp>
        <p:nvSpPr>
          <p:cNvPr id="17" name="TextBox 16"/>
          <p:cNvSpPr txBox="1"/>
          <p:nvPr/>
        </p:nvSpPr>
        <p:spPr>
          <a:xfrm>
            <a:off x="640080" y="5650992"/>
            <a:ext cx="10908792" cy="230832"/>
          </a:xfrm>
          <a:prstGeom prst="rect">
            <a:avLst/>
          </a:prstGeom>
          <a:noFill/>
        </p:spPr>
        <p:txBody>
          <a:bodyPr wrap="square" lIns="0" tIns="0" rIns="0" bIns="0">
            <a:spAutoFit/>
          </a:bodyPr>
          <a:lstStyle/>
          <a:p>
            <a:r>
              <a:rPr lang="it-IT" sz="1500" b="0">
                <a:solidFill>
                  <a:srgbClr val="333333"/>
                </a:solidFill>
                <a:latin typeface="Calibri"/>
              </a:rPr>
              <a:t>Documentazione IBM in inglese. Consultazione: 9 ottobre 2026.</a:t>
            </a:r>
          </a:p>
        </p:txBody>
      </p:sp>
    </p:spTree>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76</TotalTime>
  <Words>4396</Words>
  <Application>Microsoft Macintosh PowerPoint</Application>
  <PresentationFormat>Widescreen</PresentationFormat>
  <Paragraphs>425</Paragraphs>
  <Slides>41</Slides>
  <Notes>7</Notes>
  <HiddenSlides>0</HiddenSlides>
  <MMClips>0</MMClips>
  <ScaleCrop>false</ScaleCrop>
  <HeadingPairs>
    <vt:vector size="6" baseType="variant">
      <vt:variant>
        <vt:lpstr>Caratteri utilizzati</vt:lpstr>
      </vt:variant>
      <vt:variant>
        <vt:i4>10</vt:i4>
      </vt:variant>
      <vt:variant>
        <vt:lpstr>Tema</vt:lpstr>
      </vt:variant>
      <vt:variant>
        <vt:i4>2</vt:i4>
      </vt:variant>
      <vt:variant>
        <vt:lpstr>Titoli diapositive</vt:lpstr>
      </vt:variant>
      <vt:variant>
        <vt:i4>41</vt:i4>
      </vt:variant>
    </vt:vector>
  </HeadingPairs>
  <TitlesOfParts>
    <vt:vector size="53" baseType="lpstr">
      <vt:lpstr>Aptos</vt:lpstr>
      <vt:lpstr>Aptos Display</vt:lpstr>
      <vt:lpstr>Arial</vt:lpstr>
      <vt:lpstr>Calibri</vt:lpstr>
      <vt:lpstr>IBM Plex Sans</vt:lpstr>
      <vt:lpstr>IBM Plex Sans Light</vt:lpstr>
      <vt:lpstr>inherit</vt:lpstr>
      <vt:lpstr>Symbol</vt:lpstr>
      <vt:lpstr>Times New Roman</vt:lpstr>
      <vt:lpstr>Wingdings</vt:lpstr>
      <vt:lpstr>Tema di Office</vt:lpstr>
      <vt:lpstr>ChatGPT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Felice Petrignano</dc:creator>
  <cp:lastModifiedBy>Felice Petrignano</cp:lastModifiedBy>
  <cp:revision>10</cp:revision>
  <dcterms:created xsi:type="dcterms:W3CDTF">2026-10-09T13:31:22Z</dcterms:created>
  <dcterms:modified xsi:type="dcterms:W3CDTF">2026-10-09T15:12:04Z</dcterms:modified>
</cp:coreProperties>
</file>