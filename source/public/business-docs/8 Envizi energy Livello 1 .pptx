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1" r:id="rId1"/>
    <p:sldMasterId id="2147484129" r:id="rId2"/>
  </p:sldMasterIdLst>
  <p:notesMasterIdLst>
    <p:notesMasterId r:id="rId23"/>
  </p:notesMasterIdLst>
  <p:handoutMasterIdLst>
    <p:handoutMasterId r:id="rId24"/>
  </p:handoutMasterIdLst>
  <p:sldIdLst>
    <p:sldId id="635" r:id="rId3"/>
    <p:sldId id="2142533165" r:id="rId4"/>
    <p:sldId id="2142533204" r:id="rId5"/>
    <p:sldId id="2142533152" r:id="rId6"/>
    <p:sldId id="2142533154" r:id="rId7"/>
    <p:sldId id="2142533153" r:id="rId8"/>
    <p:sldId id="2142533155" r:id="rId9"/>
    <p:sldId id="2142533158" r:id="rId10"/>
    <p:sldId id="2142533157" r:id="rId11"/>
    <p:sldId id="2142533161" r:id="rId12"/>
    <p:sldId id="2142533203" r:id="rId13"/>
    <p:sldId id="2142533163" r:id="rId14"/>
    <p:sldId id="2142533164" r:id="rId15"/>
    <p:sldId id="2142533162" r:id="rId16"/>
    <p:sldId id="2142533147" r:id="rId17"/>
    <p:sldId id="2142533151" r:id="rId18"/>
    <p:sldId id="2142533150" r:id="rId19"/>
    <p:sldId id="402" r:id="rId20"/>
    <p:sldId id="2147472656" r:id="rId21"/>
    <p:sldId id="560" r:id="rId22"/>
  </p:sldIdLst>
  <p:sldSz cx="24387175" cy="13716000"/>
  <p:notesSz cx="6858000" cy="9144000"/>
  <p:embeddedFontLst>
    <p:embeddedFont>
      <p:font typeface="IBM Plex Sans" panose="020B0503050203000203" pitchFamily="34" charset="0"/>
      <p:regular r:id="rId25"/>
      <p:bold r:id="rId26"/>
      <p:italic r:id="rId27"/>
      <p:boldItalic r:id="rId28"/>
    </p:embeddedFont>
    <p:embeddedFont>
      <p:font typeface="IBM Plex Sans ExtLt" panose="020B0303050203000203" pitchFamily="34" charset="0"/>
      <p:regular r:id="rId29"/>
      <p:bold r:id="rId30"/>
      <p:italic r:id="rId31"/>
      <p:boldItalic r:id="rId32"/>
    </p:embeddedFont>
    <p:embeddedFont>
      <p:font typeface="IBM Plex Sans Light" panose="020B0403050203000203" pitchFamily="34" charset="0"/>
      <p:regular r:id="rId33"/>
      <p:italic r:id="rId34"/>
    </p:embeddedFont>
    <p:embeddedFont>
      <p:font typeface="Nunito Sans" pitchFamily="2" charset="77"/>
      <p:regular r:id="rId35"/>
      <p:bold r:id="rId36"/>
      <p:italic r:id="rId37"/>
      <p:boldItalic r:id="rId38"/>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43ED59-20C7-4FDF-8DCA-8A14D1AA1C8C}" name="Microsoft Office User" initials="MOU" userId="Microsoft Office 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3F2"/>
    <a:srgbClr val="F3F3F3"/>
    <a:srgbClr val="F0F0F0"/>
    <a:srgbClr val="FCF4D6"/>
    <a:srgbClr val="FFF1F1"/>
    <a:srgbClr val="E5F6FF"/>
    <a:srgbClr val="F1A21B"/>
    <a:srgbClr val="E08A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7123" autoAdjust="0"/>
  </p:normalViewPr>
  <p:slideViewPr>
    <p:cSldViewPr snapToGrid="0" snapToObjects="1">
      <p:cViewPr varScale="1">
        <p:scale>
          <a:sx n="55" d="100"/>
          <a:sy n="55" d="100"/>
        </p:scale>
        <p:origin x="1544" y="208"/>
      </p:cViewPr>
      <p:guideLst/>
    </p:cSldViewPr>
  </p:slideViewPr>
  <p:outlineViewPr>
    <p:cViewPr>
      <p:scale>
        <a:sx n="33" d="100"/>
        <a:sy n="33" d="100"/>
      </p:scale>
      <p:origin x="0" y="-984"/>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1" d="100"/>
          <a:sy n="91" d="100"/>
        </p:scale>
        <p:origin x="4096"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4"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‹N›</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8163"/>
          </a:xfrm>
          <a:prstGeom prst="rect">
            <a:avLst/>
          </a:prstGeom>
          <a:noFill/>
          <a:ln w="12700">
            <a:solidFill>
              <a:prstClr val="black"/>
            </a:solidFill>
          </a:ln>
        </p:spPr>
        <p:txBody>
          <a:bodyPr vert="horz" lIns="91440" tIns="45720" rIns="91440" bIns="45720" rtlCol="0" anchor="ctr"/>
          <a:lstStyle/>
          <a:p>
            <a:endParaRPr lang="en-US"/>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‹N›</a:t>
            </a:fld>
            <a:endParaRPr lang="en-US"/>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spcBef>
        <a:spcPts val="1600"/>
      </a:spcBef>
      <a:defRPr sz="2667"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spcBef>
        <a:spcPts val="1600"/>
      </a:spcBef>
      <a:buFont typeface="IBM Plex Sans"/>
      <a:buChar char="–"/>
      <a:tabLst/>
      <a:defRPr sz="2667"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spcBef>
        <a:spcPts val="1600"/>
      </a:spcBef>
      <a:buFont typeface="IBM Plex Sans Light" panose="020B0604020202020204" pitchFamily="34" charset="0"/>
      <a:buChar char="•"/>
      <a:tabLst/>
      <a:defRPr sz="2667"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spcBef>
        <a:spcPts val="1600"/>
      </a:spcBef>
      <a:buFont typeface="IBM Plex Sans Light"/>
      <a:buChar char="–"/>
      <a:tabLst/>
      <a:defRPr sz="2667"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667"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https://www.ibm.com/docs/en/envizi-esg-suite?topic=powerreports-prebuilt</a:t>
            </a:r>
          </a:p>
          <a:p>
            <a:r>
              <a:rPr lang="it-IT"/>
              <a:t>https://www.ibm.com/docs/en/envizi-esg-suite?topic=powerreports</a:t>
            </a:r>
          </a:p>
          <a:p>
            <a:r>
              <a:rPr lang="it-IT"/>
              <a:t>https://www.ibm.com/docs/en/envizi-esg-suite?topic=powerreports-customization</a:t>
            </a:r>
          </a:p>
          <a:p>
            <a:r>
              <a:rPr lang="it-IT"/>
              <a:t>https://www.ibm.com/docs/en/envizi-esg-suite?topic=product-overview</a:t>
            </a:r>
          </a:p>
          <a:p>
            <a:r>
              <a:rPr lang="it-IT"/>
              <a:t>https://www.ibm.com/docs/en/envizi-esg-suite?topic=accounting-managed-emission-factors</a:t>
            </a:r>
          </a:p>
          <a:p>
            <a:r>
              <a:rPr lang="it-IT"/>
              <a:t>https://www.ibm.com/docs/en/envizi-esg-suite?topic=accounting-custom-factors</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br>
              <a:rPr lang="it-IT" dirty="0"/>
            </a:br>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3</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3721310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4</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1110583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5</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475619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7</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1518926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8</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4255022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11</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2167891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14</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1156280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16</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2938225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17</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2924397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modules-esg-reporting-frameworks</a:t>
            </a:r>
            <a:endParaRPr/>
          </a:p>
          <a:p>
            <a:r>
              <a:t>https://www.ibm.com/</a:t>
            </a:r>
            <a:r>
              <a:rPr lang="it-IT"/>
              <a:t>products</a:t>
            </a:r>
            <a:r>
              <a:t>/</a:t>
            </a:r>
            <a:r>
              <a:rPr lang="it-IT"/>
              <a:t>envizi</a:t>
            </a:r>
            <a:r>
              <a:t>/</a:t>
            </a:r>
            <a:r>
              <a:rPr lang="it-IT"/>
              <a:t>esg-reporting-frameworks</a:t>
            </a:r>
            <a:endParaRPr/>
          </a:p>
          <a:p>
            <a:r>
              <a:t>https://www.ibm.com/docs/en/envizi-esg-suite?topic=</a:t>
            </a:r>
            <a:r>
              <a:rPr lang="it-IT"/>
              <a:t>reference-sustainability-reporting-manager</a:t>
            </a:r>
            <a:endParaRPr/>
          </a:p>
          <a:p>
            <a:r>
              <a:t>https://www.ibm.com/docs/en/envizi-esg-suite?topic=</a:t>
            </a:r>
            <a:r>
              <a:rPr lang="it-IT"/>
              <a:t>frameworks-creating-custom-framework-by-copying-managed-framework</a:t>
            </a:r>
          </a:p>
          <a:p>
            <a:r>
              <a:rPr lang="it-IT"/>
              <a:t>https://www.ibm.com/docs/en/envizi-esg-suite?topic=whats-new-in-2026</a:t>
            </a:r>
          </a:p>
          <a:p>
            <a:r>
              <a:rPr lang="it-IT"/>
              <a:t>https://www.ibm.com/docs/en/envizi-esg-suite?topic=powerreports-prebuilt</a:t>
            </a:r>
            <a:endParaRPr/>
          </a:p>
          <a:p>
            <a:r>
              <a:rPr lang="it-IT"/>
              <a:t>Consultazione: 9 ottobre 2026</a:t>
            </a:r>
            <a:endParaRPr/>
          </a:p>
          <a:p>
            <a:r>
              <a:t>[/Sources]</a:t>
            </a:r>
            <a:endParaRPr lang="it-IT"/>
          </a:p>
          <a:p>
            <a:r>
              <a:rPr lang="it-IT"/>
              <a:t>La documentazione IBM delle novità di agosto 2026 descrive il response generator come preview. Verificare disponibilità e condizioni nell’istanza utilizzata. La demo del capitolo usa un servizio di AI generativa esterno a Envizi per l’impaginazione editoriale. La selezione di domande ESRS non dimostra da sola la conformità normativa del bilancio.</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10556114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7" name="Title 1">
            <a:extLst>
              <a:ext uri="{FF2B5EF4-FFF2-40B4-BE49-F238E27FC236}">
                <a16:creationId xmlns:a16="http://schemas.microsoft.com/office/drawing/2014/main" id="{184617A5-E44D-86DD-8C8E-5D85DFCA435B}"/>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7300131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81687210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30772753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278936574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98803886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0404683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5350821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01567899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60784074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22516076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↗︎00M</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endParaRPr lang="en-US" dirty="0"/>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80417605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64076728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99360980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68098609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endParaRPr lang="en-US" dirty="0"/>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85019330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1" name="Straight Connector 20" descr="Vertical column divider ">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2" name="Straight Connector 21" descr="Vertical column divider ">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endParaRPr lang="en-US" dirty="0"/>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79137965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endParaRPr lang="en-US" dirty="0"/>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85324684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dirty="0"/>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57878764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92584620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912483618"/>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55261208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86886507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734183900"/>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2000"/>
          </a:xfrm>
        </p:spPr>
        <p:txBody>
          <a:bodyPr rIns="0"/>
          <a:lstStyle>
            <a:lvl1pPr>
              <a:lnSpc>
                <a:spcPct val="100000"/>
              </a:lnSpc>
              <a:defRPr sz="2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00420382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915672" cy="914400"/>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915672" cy="914400"/>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dirty="0"/>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439489643"/>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dirty="0"/>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400444779"/>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091769836"/>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32359423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GB"/>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583444486"/>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024249331"/>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7" name="Straight Connector 6" descr="Vertical column divider ">
            <a:extLst>
              <a:ext uri="{FF2B5EF4-FFF2-40B4-BE49-F238E27FC236}">
                <a16:creationId xmlns:a16="http://schemas.microsoft.com/office/drawing/2014/main" id="{1F6D0C9D-C937-48E3-BE84-3DA0D1BC274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8" name="Straight Connector 7" descr="Vertical column divider ">
            <a:extLst>
              <a:ext uri="{FF2B5EF4-FFF2-40B4-BE49-F238E27FC236}">
                <a16:creationId xmlns:a16="http://schemas.microsoft.com/office/drawing/2014/main" id="{0B31714F-DB23-BEBB-75A7-6BFF47AECDDF}"/>
              </a:ext>
            </a:extLst>
          </p:cNvPr>
          <p:cNvCxnSpPr/>
          <p:nvPr userDrawn="1"/>
        </p:nvCxnSpPr>
        <p:spPr bwMode="auto">
          <a:xfrm>
            <a:off x="18294784"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3" name="Straight Connector 2" descr="Horizontal row divider">
            <a:extLst>
              <a:ext uri="{FF2B5EF4-FFF2-40B4-BE49-F238E27FC236}">
                <a16:creationId xmlns:a16="http://schemas.microsoft.com/office/drawing/2014/main" id="{3D492FDB-9D55-98D5-E9DE-229473DD5942}"/>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662478703"/>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GB"/>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cxnSp>
        <p:nvCxnSpPr>
          <p:cNvPr id="23" name="Straight Connector 22" descr="Horizontal row divider">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dirty="0"/>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94135085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GB"/>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19069879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960967149"/>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6004458"/>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‹N›</a:t>
            </a:fld>
            <a:endParaRPr lang="en-US" dirty="0"/>
          </a:p>
        </p:txBody>
      </p:sp>
    </p:spTree>
    <p:extLst>
      <p:ext uri="{BB962C8B-B14F-4D97-AF65-F5344CB8AC3E}">
        <p14:creationId xmlns:p14="http://schemas.microsoft.com/office/powerpoint/2010/main" val="3485144176"/>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723182277"/>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‹N›</a:t>
            </a:fld>
            <a:endParaRPr lang="en-US" dirty="0"/>
          </a:p>
        </p:txBody>
      </p:sp>
    </p:spTree>
    <p:extLst>
      <p:ext uri="{BB962C8B-B14F-4D97-AF65-F5344CB8AC3E}">
        <p14:creationId xmlns:p14="http://schemas.microsoft.com/office/powerpoint/2010/main" val="3430130626"/>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233576642"/>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dirty="0"/>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74920078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GB"/>
              <a:t>Click icon to add table</a:t>
            </a:r>
            <a:endParaRPr lang="en-US"/>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4112331850"/>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19793769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3814131483"/>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endParaRPr lang="en-US" dirty="0"/>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984166477"/>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288483331"/>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F33F66-F94F-4875-B865-64927C0A9665}"/>
              </a:ext>
            </a:extLst>
          </p:cNvPr>
          <p:cNvSpPr/>
          <p:nvPr userDrawn="1"/>
        </p:nvSpPr>
        <p:spPr>
          <a:xfrm>
            <a:off x="0" y="0"/>
            <a:ext cx="24387175" cy="133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7200" dirty="0">
              <a:latin typeface="Nunito Sans" panose="020B0604020202020204" charset="0"/>
            </a:endParaRPr>
          </a:p>
        </p:txBody>
      </p:sp>
      <p:pic>
        <p:nvPicPr>
          <p:cNvPr id="6" name="Graphic 5">
            <a:extLst>
              <a:ext uri="{FF2B5EF4-FFF2-40B4-BE49-F238E27FC236}">
                <a16:creationId xmlns:a16="http://schemas.microsoft.com/office/drawing/2014/main" id="{3D5C929B-8701-4D99-8CD6-84AF634F1E2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04066" y="414750"/>
            <a:ext cx="1512197" cy="504000"/>
          </a:xfrm>
          <a:prstGeom prst="rect">
            <a:avLst/>
          </a:prstGeom>
        </p:spPr>
      </p:pic>
      <p:cxnSp>
        <p:nvCxnSpPr>
          <p:cNvPr id="8" name="Straight Connector 7">
            <a:extLst>
              <a:ext uri="{FF2B5EF4-FFF2-40B4-BE49-F238E27FC236}">
                <a16:creationId xmlns:a16="http://schemas.microsoft.com/office/drawing/2014/main" id="{63662589-0AD4-44BE-AE8D-71E47837799C}"/>
              </a:ext>
            </a:extLst>
          </p:cNvPr>
          <p:cNvCxnSpPr>
            <a:cxnSpLocks/>
          </p:cNvCxnSpPr>
          <p:nvPr userDrawn="1"/>
        </p:nvCxnSpPr>
        <p:spPr>
          <a:xfrm flipV="1">
            <a:off x="2441088" y="152400"/>
            <a:ext cx="0" cy="100488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itle 13">
            <a:extLst>
              <a:ext uri="{FF2B5EF4-FFF2-40B4-BE49-F238E27FC236}">
                <a16:creationId xmlns:a16="http://schemas.microsoft.com/office/drawing/2014/main" id="{B99371AE-54C6-4A74-AC45-6B0A7BEC5EC8}"/>
              </a:ext>
            </a:extLst>
          </p:cNvPr>
          <p:cNvSpPr>
            <a:spLocks noGrp="1"/>
          </p:cNvSpPr>
          <p:nvPr>
            <p:ph type="title"/>
          </p:nvPr>
        </p:nvSpPr>
        <p:spPr>
          <a:xfrm>
            <a:off x="2714988" y="366450"/>
            <a:ext cx="20977575" cy="676800"/>
          </a:xfrm>
        </p:spPr>
        <p:txBody>
          <a:bodyPr>
            <a:normAutofit/>
          </a:bodyPr>
          <a:lstStyle>
            <a:lvl1pPr>
              <a:defRPr sz="3200" b="1">
                <a:solidFill>
                  <a:schemeClr val="bg1"/>
                </a:solidFill>
                <a:latin typeface="Nunito Sans" panose="020B0604020202020204" charset="0"/>
              </a:defRPr>
            </a:lvl1pPr>
          </a:lstStyle>
          <a:p>
            <a:r>
              <a:rPr lang="en-US"/>
              <a:t>Click to edit Master title style</a:t>
            </a:r>
            <a:endParaRPr lang="en-AU" dirty="0"/>
          </a:p>
        </p:txBody>
      </p:sp>
      <p:sp>
        <p:nvSpPr>
          <p:cNvPr id="9" name="Slide Number Placeholder 8">
            <a:extLst>
              <a:ext uri="{FF2B5EF4-FFF2-40B4-BE49-F238E27FC236}">
                <a16:creationId xmlns:a16="http://schemas.microsoft.com/office/drawing/2014/main" id="{B333576C-2751-3D47-A945-1F546388035F}"/>
              </a:ext>
            </a:extLst>
          </p:cNvPr>
          <p:cNvSpPr>
            <a:spLocks noGrp="1"/>
          </p:cNvSpPr>
          <p:nvPr>
            <p:ph type="sldNum" sz="quarter" idx="14"/>
          </p:nvPr>
        </p:nvSpPr>
        <p:spPr/>
        <p:txBody>
          <a:bodyPr/>
          <a:lstStyle>
            <a:lvl1pPr>
              <a:defRPr>
                <a:solidFill>
                  <a:schemeClr val="accent3"/>
                </a:solidFill>
              </a:defRPr>
            </a:lvl1pPr>
          </a:lstStyle>
          <a:p>
            <a:fld id="{585732F6-B2E4-4CE3-B902-ABF0CF5E15BE}" type="slidenum">
              <a:rPr lang="en-AU" smtClean="0"/>
              <a:pPr/>
              <a:t>‹N›</a:t>
            </a:fld>
            <a:endParaRPr lang="en-AU" dirty="0"/>
          </a:p>
        </p:txBody>
      </p:sp>
      <p:sp>
        <p:nvSpPr>
          <p:cNvPr id="10" name="Footer Placeholder 4">
            <a:extLst>
              <a:ext uri="{FF2B5EF4-FFF2-40B4-BE49-F238E27FC236}">
                <a16:creationId xmlns:a16="http://schemas.microsoft.com/office/drawing/2014/main" id="{8FB1FD44-CE5A-B742-B870-0DBFE5946BA7}"/>
              </a:ext>
            </a:extLst>
          </p:cNvPr>
          <p:cNvSpPr>
            <a:spLocks noGrp="1"/>
          </p:cNvSpPr>
          <p:nvPr>
            <p:ph type="ftr" sz="quarter" idx="11"/>
          </p:nvPr>
        </p:nvSpPr>
        <p:spPr>
          <a:xfrm>
            <a:off x="360047" y="13144667"/>
            <a:ext cx="8230672" cy="246221"/>
          </a:xfrm>
          <a:prstGeom prst="rect">
            <a:avLst/>
          </a:prstGeom>
        </p:spPr>
        <p:txBody>
          <a:bodyPr>
            <a:spAutoFit/>
          </a:bodyPr>
          <a:lstStyle/>
          <a:p>
            <a:r>
              <a:rPr lang="en-AU"/>
              <a:t>Envizi ©2020</a:t>
            </a:r>
          </a:p>
        </p:txBody>
      </p:sp>
    </p:spTree>
    <p:extLst>
      <p:ext uri="{BB962C8B-B14F-4D97-AF65-F5344CB8AC3E}">
        <p14:creationId xmlns:p14="http://schemas.microsoft.com/office/powerpoint/2010/main" val="27565915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260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3048397" y="2244726"/>
            <a:ext cx="18290381" cy="4775200"/>
          </a:xfrm>
        </p:spPr>
        <p:txBody>
          <a:bodyPr anchor="b"/>
          <a:lstStyle>
            <a:lvl1pPr algn="ctr">
              <a:defRPr sz="12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0755678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223671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1663917" y="3419477"/>
            <a:ext cx="21033938" cy="5705474"/>
          </a:xfrm>
        </p:spPr>
        <p:txBody>
          <a:bodyPr anchor="b"/>
          <a:lstStyle>
            <a:lvl1pPr>
              <a:defRPr sz="12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16524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1676618" y="3651250"/>
            <a:ext cx="10364549" cy="870267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12346008" y="3651250"/>
            <a:ext cx="10364549" cy="870267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2595328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1679795" y="730251"/>
            <a:ext cx="21033938" cy="2651126"/>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1679796" y="5010150"/>
            <a:ext cx="10316917" cy="736917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12346007" y="5010150"/>
            <a:ext cx="10367726" cy="736917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372676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932513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9740790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1679796" y="914400"/>
            <a:ext cx="7865498" cy="3200400"/>
          </a:xfrm>
        </p:spPr>
        <p:txBody>
          <a:bodyPr anchor="b"/>
          <a:lstStyle>
            <a:lvl1pPr>
              <a:defRPr sz="6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172528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1679796" y="914400"/>
            <a:ext cx="7865498" cy="3200400"/>
          </a:xfrm>
        </p:spPr>
        <p:txBody>
          <a:bodyPr anchor="b"/>
          <a:lstStyle>
            <a:lvl1pPr>
              <a:defRPr sz="6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10367726" y="1974851"/>
            <a:ext cx="12346007"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1763820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138652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17452072" y="730250"/>
            <a:ext cx="5258485" cy="11623676"/>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1676618" y="730250"/>
            <a:ext cx="15470614" cy="11623676"/>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7296141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24381078" cy="13716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942353" y="-47705"/>
            <a:ext cx="19940492" cy="954107"/>
          </a:xfrm>
          <a:prstGeom prst="rect">
            <a:avLst/>
          </a:prstGeom>
          <a:noFill/>
        </p:spPr>
        <p:txBody>
          <a:bodyPr wrap="square">
            <a:spAutoFit/>
          </a:bodyPr>
          <a:lstStyle/>
          <a:p>
            <a:endParaRPr lang="it-IT" sz="56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5293423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2.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8" name="Title Text"/>
          <p:cNvSpPr txBox="1">
            <a:spLocks noGrp="1"/>
          </p:cNvSpPr>
          <p:nvPr>
            <p:ph type="title"/>
          </p:nvPr>
        </p:nvSpPr>
        <p:spPr>
          <a:xfrm>
            <a:off x="574675" y="577850"/>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
        <p:nvSpPr>
          <p:cNvPr id="47" name="Slide Number"/>
          <p:cNvSpPr txBox="1">
            <a:spLocks noGrp="1"/>
          </p:cNvSpPr>
          <p:nvPr>
            <p:ph type="sldNum" sz="quarter" idx="2"/>
          </p:nvPr>
        </p:nvSpPr>
        <p:spPr>
          <a:xfrm>
            <a:off x="23541592" y="12938760"/>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a:p>
        </p:txBody>
      </p:sp>
    </p:spTree>
    <p:extLst>
      <p:ext uri="{BB962C8B-B14F-4D97-AF65-F5344CB8AC3E}">
        <p14:creationId xmlns:p14="http://schemas.microsoft.com/office/powerpoint/2010/main" val="506728418"/>
      </p:ext>
    </p:extLst>
  </p:cSld>
  <p:clrMap bg1="dk1" tx1="lt1" bg2="dk2" tx2="lt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 id="2147484016" r:id="rId12"/>
    <p:sldLayoutId id="2147484017" r:id="rId13"/>
    <p:sldLayoutId id="2147484018" r:id="rId14"/>
    <p:sldLayoutId id="2147484019" r:id="rId15"/>
    <p:sldLayoutId id="2147484020" r:id="rId16"/>
    <p:sldLayoutId id="2147484021" r:id="rId17"/>
    <p:sldLayoutId id="2147484022" r:id="rId18"/>
    <p:sldLayoutId id="2147484023" r:id="rId19"/>
    <p:sldLayoutId id="2147484024" r:id="rId20"/>
    <p:sldLayoutId id="2147484025" r:id="rId21"/>
    <p:sldLayoutId id="2147484026" r:id="rId22"/>
    <p:sldLayoutId id="2147484027" r:id="rId23"/>
    <p:sldLayoutId id="2147484028" r:id="rId24"/>
    <p:sldLayoutId id="2147484029" r:id="rId25"/>
    <p:sldLayoutId id="2147484030" r:id="rId26"/>
    <p:sldLayoutId id="2147484031" r:id="rId27"/>
    <p:sldLayoutId id="2147484032" r:id="rId28"/>
    <p:sldLayoutId id="2147484033" r:id="rId29"/>
    <p:sldLayoutId id="2147484034" r:id="rId30"/>
    <p:sldLayoutId id="2147484035" r:id="rId31"/>
    <p:sldLayoutId id="2147484036" r:id="rId32"/>
    <p:sldLayoutId id="2147484037" r:id="rId33"/>
    <p:sldLayoutId id="2147484038" r:id="rId34"/>
    <p:sldLayoutId id="2147484039" r:id="rId35"/>
    <p:sldLayoutId id="2147484040" r:id="rId36"/>
    <p:sldLayoutId id="2147484041" r:id="rId37"/>
    <p:sldLayoutId id="2147484042" r:id="rId38"/>
    <p:sldLayoutId id="2147484043" r:id="rId39"/>
    <p:sldLayoutId id="2147484044" r:id="rId40"/>
    <p:sldLayoutId id="2147484045" r:id="rId41"/>
    <p:sldLayoutId id="2147484046" r:id="rId42"/>
    <p:sldLayoutId id="2147484048" r:id="rId43"/>
    <p:sldLayoutId id="2147484047" r:id="rId44"/>
    <p:sldLayoutId id="2147484049" r:id="rId45"/>
    <p:sldLayoutId id="2147484050" r:id="rId46"/>
    <p:sldLayoutId id="2147484051" r:id="rId47"/>
    <p:sldLayoutId id="2147484052"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57572123"/>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it-I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0.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8" Type="http://schemas.openxmlformats.org/officeDocument/2006/relationships/hyperlink" Target="https://www.ibm.com/docs/en/envizi-esg-suite?topic=powerreports-prebuilt" TargetMode="External"/><Relationship Id="rId3" Type="http://schemas.openxmlformats.org/officeDocument/2006/relationships/hyperlink" Target="https://www.ibm.com/docs/en/envizi-esg-suite?topic=modules-esg-reporting-frameworks" TargetMode="External"/><Relationship Id="rId7" Type="http://schemas.openxmlformats.org/officeDocument/2006/relationships/hyperlink" Target="https://www.ibm.com/docs/en/envizi-esg-suite?topic=whats-new-in-2026" TargetMode="External"/><Relationship Id="rId2" Type="http://schemas.openxmlformats.org/officeDocument/2006/relationships/notesSlide" Target="../notesSlides/notesSlide11.xml"/><Relationship Id="rId1" Type="http://schemas.openxmlformats.org/officeDocument/2006/relationships/slideLayout" Target="../slideLayouts/slideLayout48.xml"/><Relationship Id="rId6" Type="http://schemas.openxmlformats.org/officeDocument/2006/relationships/hyperlink" Target="https://www.ibm.com/docs/en/envizi-esg-suite?topic=frameworks-creating-custom-framework-by-copying-managed-framework" TargetMode="External"/><Relationship Id="rId5" Type="http://schemas.openxmlformats.org/officeDocument/2006/relationships/hyperlink" Target="https://www.ibm.com/docs/en/envizi-esg-suite?topic=reference-sustainability-reporting-manager" TargetMode="External"/><Relationship Id="rId4" Type="http://schemas.openxmlformats.org/officeDocument/2006/relationships/hyperlink" Target="https://www.ibm.com/products/envizi/esg-reporting-framework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13096775" y="2194560"/>
            <a:ext cx="9906016" cy="6876204"/>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1281747" y="12070080"/>
            <a:ext cx="21762720" cy="18288"/>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12021902" y="2194560"/>
            <a:ext cx="10980890" cy="987552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1281747" y="1188720"/>
            <a:ext cx="1042416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defTabSz="1828800">
              <a:lnSpc>
                <a:spcPct val="105000"/>
              </a:lnSpc>
              <a:spcAft>
                <a:spcPts val="1600"/>
              </a:spcAft>
            </a:pPr>
            <a:r>
              <a:rPr lang="it-IT"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1281747" y="2468880"/>
            <a:ext cx="10058400" cy="1463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defTabSz="1828800">
              <a:lnSpc>
                <a:spcPct val="105000"/>
              </a:lnSpc>
              <a:spcAft>
                <a:spcPts val="1600"/>
              </a:spcAft>
            </a:pPr>
            <a:r>
              <a:rPr lang="it-IT" sz="88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1281747" y="4663440"/>
            <a:ext cx="10058400" cy="66751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defTabSz="1829014"/>
            <a:r>
              <a:rPr lang="it-IT" sz="4400" b="1" dirty="0">
                <a:solidFill>
                  <a:srgbClr val="161616"/>
                </a:solidFill>
                <a:latin typeface="IBM Plex Sans Light"/>
              </a:rPr>
              <a:t>Livello 1 – ESG Energy Foundation</a:t>
            </a:r>
          </a:p>
          <a:p>
            <a:pPr defTabSz="1829014"/>
            <a:br>
              <a:rPr lang="it-IT" sz="4400" dirty="0">
                <a:solidFill>
                  <a:srgbClr val="000000"/>
                </a:solidFill>
                <a:latin typeface="IBM Plex Sans Light"/>
              </a:rPr>
            </a:br>
            <a:r>
              <a:rPr lang="it-IT" sz="4800" dirty="0">
                <a:solidFill>
                  <a:srgbClr val="0F62FE"/>
                </a:solidFill>
                <a:latin typeface="IBM Plex Sans Light"/>
              </a:rPr>
              <a:t>Modulo: </a:t>
            </a:r>
            <a:r>
              <a:rPr lang="it-IT" sz="4800" i="1" dirty="0">
                <a:solidFill>
                  <a:srgbClr val="0F62FE"/>
                </a:solidFill>
                <a:latin typeface="IBM Plex Sans Light"/>
              </a:rPr>
              <a:t>Scope 1 &amp; 2 GHG Accounting &amp; Reporting</a:t>
            </a:r>
            <a:br>
              <a:rPr lang="it-IT" sz="4400" dirty="0">
                <a:solidFill>
                  <a:srgbClr val="000000"/>
                </a:solidFill>
                <a:latin typeface="IBM Plex Sans Light"/>
              </a:rPr>
            </a:br>
            <a:endParaRPr lang="it-IT" sz="4400" b="1" dirty="0">
              <a:solidFill>
                <a:srgbClr val="000000"/>
              </a:solidFill>
              <a:latin typeface="IBM Plex Sans Light"/>
            </a:endParaRPr>
          </a:p>
          <a:p>
            <a:pPr defTabSz="1829014"/>
            <a:r>
              <a:rPr lang="it-IT" sz="4400" dirty="0">
                <a:solidFill>
                  <a:srgbClr val="161616"/>
                </a:solidFill>
                <a:latin typeface="IBM Plex Sans Light"/>
              </a:rPr>
              <a:t>Misurare consumi ed emissioni, calcolare KPI energetici e predisporre dati affidabili per la rendicontazione ESG. </a:t>
            </a:r>
          </a:p>
          <a:p>
            <a:pPr defTabSz="1828800">
              <a:lnSpc>
                <a:spcPct val="105000"/>
              </a:lnSpc>
              <a:spcAft>
                <a:spcPts val="1600"/>
              </a:spcAft>
            </a:pPr>
            <a:endParaRPr lang="it-IT" sz="4400" dirty="0">
              <a:solidFill>
                <a:srgbClr val="5B6B70"/>
              </a:solidFill>
              <a:latin typeface="Calibri"/>
            </a:endParaRPr>
          </a:p>
          <a:p>
            <a:pPr defTabSz="1828800">
              <a:lnSpc>
                <a:spcPct val="105000"/>
              </a:lnSpc>
              <a:spcAft>
                <a:spcPts val="1600"/>
              </a:spcAft>
            </a:pPr>
            <a:endParaRPr lang="it-IT" sz="4400" dirty="0">
              <a:solidFill>
                <a:srgbClr val="5B6B70"/>
              </a:solidFill>
              <a:latin typeface="Calibri"/>
            </a:endParaRPr>
          </a:p>
          <a:p>
            <a:pPr defTabSz="1828800">
              <a:lnSpc>
                <a:spcPct val="105000"/>
              </a:lnSpc>
              <a:spcAft>
                <a:spcPts val="1600"/>
              </a:spcAft>
            </a:pPr>
            <a:endParaRPr lang="it-IT" sz="4400" dirty="0">
              <a:solidFill>
                <a:srgbClr val="5B6B70"/>
              </a:solidFill>
              <a:latin typeface="Calibri"/>
            </a:endParaRPr>
          </a:p>
          <a:p>
            <a:pPr defTabSz="1828800">
              <a:lnSpc>
                <a:spcPct val="105000"/>
              </a:lnSpc>
              <a:spcAft>
                <a:spcPts val="1600"/>
              </a:spcAft>
            </a:pPr>
            <a:endParaRPr lang="it-IT" sz="4400" dirty="0">
              <a:solidFill>
                <a:srgbClr val="5B6B70"/>
              </a:solidFill>
              <a:latin typeface="Calibri"/>
            </a:endParaRPr>
          </a:p>
          <a:p>
            <a:pPr defTabSz="1828800">
              <a:lnSpc>
                <a:spcPct val="105000"/>
              </a:lnSpc>
              <a:spcAft>
                <a:spcPts val="1600"/>
              </a:spcAft>
            </a:pPr>
            <a:r>
              <a:rPr lang="it-IT" sz="4400" dirty="0">
                <a:solidFill>
                  <a:srgbClr val="5B6B70"/>
                </a:solidFill>
                <a:latin typeface="Calibri"/>
              </a:rPr>
              <a:t>Felice Petrignano</a:t>
            </a:r>
          </a:p>
          <a:p>
            <a:pPr defTabSz="1828800">
              <a:lnSpc>
                <a:spcPct val="105000"/>
              </a:lnSpc>
              <a:spcAft>
                <a:spcPts val="1600"/>
              </a:spcAft>
            </a:pPr>
            <a:r>
              <a:rPr lang="it-IT" sz="4400" dirty="0">
                <a:solidFill>
                  <a:srgbClr val="5B6B70"/>
                </a:solidFill>
                <a:latin typeface="Calibri"/>
              </a:rPr>
              <a:t>SME </a:t>
            </a:r>
            <a:r>
              <a:rPr lang="it-IT" sz="4400" dirty="0" err="1">
                <a:solidFill>
                  <a:srgbClr val="5B6B70"/>
                </a:solidFill>
                <a:latin typeface="Calibri"/>
              </a:rPr>
              <a:t>Envizi</a:t>
            </a:r>
            <a:r>
              <a:rPr lang="it-IT" sz="440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1281747" y="548640"/>
            <a:ext cx="2011680" cy="146304"/>
          </a:xfrm>
          <a:prstGeom prst="rect">
            <a:avLst/>
          </a:prstGeom>
          <a:solidFill>
            <a:srgbClr val="4EA72E"/>
          </a:solidFill>
          <a:ln>
            <a:noFill/>
          </a:ln>
        </p:spPr>
        <p:txBody>
          <a:bodyPr/>
          <a:lstStyle/>
          <a:p>
            <a:pPr defTabSz="1828800"/>
            <a:endParaRPr lang="it-IT">
              <a:solidFill>
                <a:prstClr val="black"/>
              </a:solidFill>
              <a:latin typeface="Aptos" panose="02110004020202020204"/>
            </a:endParaRPr>
          </a:p>
        </p:txBody>
      </p:sp>
      <p:sp>
        <p:nvSpPr>
          <p:cNvPr id="26" name="Rettangolo 2">
            <a:extLst>
              <a:ext uri="{FF2B5EF4-FFF2-40B4-BE49-F238E27FC236}">
                <a16:creationId xmlns:a16="http://schemas.microsoft.com/office/drawing/2014/main" id="{B80EF3E5-EEB9-BD34-726E-465740FD31FE}"/>
              </a:ext>
            </a:extLst>
          </p:cNvPr>
          <p:cNvSpPr/>
          <p:nvPr/>
        </p:nvSpPr>
        <p:spPr>
          <a:xfrm>
            <a:off x="18072306" y="344489"/>
            <a:ext cx="6059122" cy="5341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28800"/>
            <a:r>
              <a:rPr lang="it-IT">
                <a:solidFill>
                  <a:prstClr val="white"/>
                </a:solidFill>
                <a:latin typeface="Aptos" panose="02110004020202020204"/>
              </a:rPr>
              <a:t>IBM </a:t>
            </a:r>
            <a:r>
              <a:rPr lang="it-IT" err="1">
                <a:solidFill>
                  <a:prstClr val="white"/>
                </a:solidFill>
                <a:latin typeface="Aptos" panose="02110004020202020204"/>
              </a:rPr>
              <a:t>Envizi</a:t>
            </a:r>
            <a:endParaRPr lang="it-IT">
              <a:solidFill>
                <a:prstClr val="white"/>
              </a:solidFill>
              <a:latin typeface="Aptos" panose="02110004020202020204"/>
            </a:endParaRPr>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la 2">
            <a:extLst>
              <a:ext uri="{FF2B5EF4-FFF2-40B4-BE49-F238E27FC236}">
                <a16:creationId xmlns:a16="http://schemas.microsoft.com/office/drawing/2014/main" id="{9C1E8BF5-C57D-B279-A935-5B6A5253E5E0}"/>
              </a:ext>
            </a:extLst>
          </p:cNvPr>
          <p:cNvGraphicFramePr>
            <a:graphicFrameLocks noGrp="1"/>
          </p:cNvGraphicFramePr>
          <p:nvPr>
            <p:extLst>
              <p:ext uri="{D42A27DB-BD31-4B8C-83A1-F6EECF244321}">
                <p14:modId xmlns:p14="http://schemas.microsoft.com/office/powerpoint/2010/main" val="2451684808"/>
              </p:ext>
            </p:extLst>
          </p:nvPr>
        </p:nvGraphicFramePr>
        <p:xfrm>
          <a:off x="1148862" y="5394960"/>
          <a:ext cx="22264222" cy="6943344"/>
        </p:xfrm>
        <a:graphic>
          <a:graphicData uri="http://schemas.openxmlformats.org/drawingml/2006/table">
            <a:tbl>
              <a:tblPr>
                <a:tableStyleId>{5C22544A-7EE6-4342-B048-85BDC9FD1C3A}</a:tableStyleId>
              </a:tblPr>
              <a:tblGrid>
                <a:gridCol w="10969160">
                  <a:extLst>
                    <a:ext uri="{9D8B030D-6E8A-4147-A177-3AD203B41FA5}">
                      <a16:colId xmlns:a16="http://schemas.microsoft.com/office/drawing/2014/main" val="4261764209"/>
                    </a:ext>
                  </a:extLst>
                </a:gridCol>
                <a:gridCol w="11295062">
                  <a:extLst>
                    <a:ext uri="{9D8B030D-6E8A-4147-A177-3AD203B41FA5}">
                      <a16:colId xmlns:a16="http://schemas.microsoft.com/office/drawing/2014/main" val="308596144"/>
                    </a:ext>
                  </a:extLst>
                </a:gridCol>
              </a:tblGrid>
              <a:tr h="1152144">
                <a:tc>
                  <a:txBody>
                    <a:bodyPr/>
                    <a:lstStyle/>
                    <a:p>
                      <a:pPr algn="l">
                        <a:buNone/>
                      </a:pPr>
                      <a:r>
                        <a:rPr lang="it-IT" sz="2800" b="1" dirty="0">
                          <a:solidFill>
                            <a:srgbClr val="FFFFFF"/>
                          </a:solidFill>
                          <a:effectLst/>
                          <a:latin typeface="IBM Plex Sans Light" panose="020F0502020204030204" pitchFamily="34" charset="0"/>
                          <a:cs typeface="Calibri" panose="020F0502020204030204" pitchFamily="34" charset="0"/>
                        </a:rPr>
                        <a:t>Domanda dell’Energy Manager</a:t>
                      </a:r>
                    </a:p>
                  </a:txBody>
                  <a:tcPr marL="228600" marR="114300" marT="164592" marB="164592" anchor="ctr">
                    <a:solidFill>
                      <a:srgbClr val="0F62FE"/>
                    </a:solidFill>
                  </a:tcPr>
                </a:tc>
                <a:tc>
                  <a:txBody>
                    <a:bodyPr/>
                    <a:lstStyle/>
                    <a:p>
                      <a:pPr algn="l">
                        <a:buNone/>
                      </a:pPr>
                      <a:r>
                        <a:rPr lang="it-IT" sz="2800" b="1">
                          <a:solidFill>
                            <a:srgbClr val="FFFFFF"/>
                          </a:solidFill>
                          <a:effectLst/>
                          <a:latin typeface="IBM Plex Sans Light" panose="020F0502020204030204" pitchFamily="34" charset="0"/>
                          <a:cs typeface="Calibri" panose="020F0502020204030204" pitchFamily="34" charset="0"/>
                        </a:rPr>
                        <a:t>Dashboard Envizi</a:t>
                      </a:r>
                    </a:p>
                  </a:txBody>
                  <a:tcPr marL="228600" marR="114300" marT="164592" marB="164592" anchor="ctr">
                    <a:solidFill>
                      <a:srgbClr val="0F62FE"/>
                    </a:solidFill>
                  </a:tcPr>
                </a:tc>
                <a:extLst>
                  <a:ext uri="{0D108BD9-81ED-4DB2-BD59-A6C34878D82A}">
                    <a16:rowId xmlns:a16="http://schemas.microsoft.com/office/drawing/2014/main" val="613152135"/>
                  </a:ext>
                </a:extLst>
              </a:tr>
              <a:tr h="1152144">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Possiamo fidarci dei dati energetici?</a:t>
                      </a:r>
                    </a:p>
                  </a:txBody>
                  <a:tcPr marL="228600" marR="114300" marT="164592" marB="164592" anchor="ctr">
                    <a:solidFill>
                      <a:srgbClr val="FFFFFF"/>
                    </a:solidFill>
                  </a:tcPr>
                </a:tc>
                <a:tc>
                  <a:txBody>
                    <a:bodyPr/>
                    <a:lstStyle/>
                    <a:p>
                      <a:pPr algn="l">
                        <a:buNone/>
                      </a:pPr>
                      <a:r>
                        <a:rPr lang="it-IT" sz="2800" b="0">
                          <a:solidFill>
                            <a:srgbClr val="161616"/>
                          </a:solidFill>
                          <a:effectLst/>
                          <a:latin typeface="IBM Plex Sans Light" panose="020F0502020204030204" pitchFamily="34" charset="0"/>
                          <a:cs typeface="Calibri" panose="020F0502020204030204" pitchFamily="34" charset="0"/>
                        </a:rPr>
                        <a:t>Organization Summary</a:t>
                      </a:r>
                    </a:p>
                  </a:txBody>
                  <a:tcPr marL="228600" marR="114300" marT="164592" marB="164592" anchor="ctr">
                    <a:solidFill>
                      <a:srgbClr val="FFFFFF"/>
                    </a:solidFill>
                  </a:tcPr>
                </a:tc>
                <a:extLst>
                  <a:ext uri="{0D108BD9-81ED-4DB2-BD59-A6C34878D82A}">
                    <a16:rowId xmlns:a16="http://schemas.microsoft.com/office/drawing/2014/main" val="1941762186"/>
                  </a:ext>
                </a:extLst>
              </a:tr>
              <a:tr h="1152144">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Quali sedi presentano le maggiori criticità energetiche?</a:t>
                      </a:r>
                    </a:p>
                  </a:txBody>
                  <a:tcPr marL="228600" marR="114300" marT="164592" marB="164592" anchor="ctr">
                    <a:solidFill>
                      <a:srgbClr val="FFFFFF"/>
                    </a:solidFill>
                  </a:tcPr>
                </a:tc>
                <a:tc>
                  <a:txBody>
                    <a:bodyPr/>
                    <a:lstStyle/>
                    <a:p>
                      <a:pPr algn="l">
                        <a:buNone/>
                      </a:pPr>
                      <a:r>
                        <a:rPr lang="it-IT" sz="2800" b="0">
                          <a:solidFill>
                            <a:srgbClr val="161616"/>
                          </a:solidFill>
                          <a:effectLst/>
                          <a:latin typeface="IBM Plex Sans Light" panose="020F0502020204030204" pitchFamily="34" charset="0"/>
                          <a:cs typeface="Calibri" panose="020F0502020204030204" pitchFamily="34" charset="0"/>
                        </a:rPr>
                        <a:t>Performance &gt; Ranking Locations by Intensity</a:t>
                      </a:r>
                      <a:endParaRPr lang="it-IT" sz="2800" b="0">
                        <a:solidFill>
                          <a:srgbClr val="161616"/>
                        </a:solidFill>
                        <a:effectLst/>
                        <a:latin typeface="Calibri" panose="020F0502020204030204" pitchFamily="34" charset="0"/>
                        <a:cs typeface="Calibri" panose="020F0502020204030204" pitchFamily="34" charset="0"/>
                      </a:endParaRPr>
                    </a:p>
                  </a:txBody>
                  <a:tcPr marL="228600" marR="114300" marT="164592" marB="164592" anchor="ctr">
                    <a:solidFill>
                      <a:srgbClr val="FFFFFF"/>
                    </a:solidFill>
                  </a:tcPr>
                </a:tc>
                <a:extLst>
                  <a:ext uri="{0D108BD9-81ED-4DB2-BD59-A6C34878D82A}">
                    <a16:rowId xmlns:a16="http://schemas.microsoft.com/office/drawing/2014/main" val="568501001"/>
                  </a:ext>
                </a:extLst>
              </a:tr>
              <a:tr h="1152144">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La nostra strategia di decarbonizzazione sta producendo risultati?</a:t>
                      </a:r>
                    </a:p>
                  </a:txBody>
                  <a:tcPr marL="228600" marR="114300" marT="164592" marB="164592" anchor="ctr">
                    <a:solidFill>
                      <a:srgbClr val="FFFFFF"/>
                    </a:solidFill>
                  </a:tcPr>
                </a:tc>
                <a:tc>
                  <a:txBody>
                    <a:bodyPr/>
                    <a:lstStyle/>
                    <a:p>
                      <a:pPr algn="l">
                        <a:buNone/>
                      </a:pPr>
                      <a:r>
                        <a:rPr lang="it-IT" sz="2800" b="0">
                          <a:solidFill>
                            <a:srgbClr val="161616"/>
                          </a:solidFill>
                          <a:effectLst/>
                          <a:latin typeface="IBM Plex Sans Light" panose="020F0502020204030204" pitchFamily="34" charset="0"/>
                          <a:cs typeface="Calibri" panose="020F0502020204030204" pitchFamily="34" charset="0"/>
                        </a:rPr>
                        <a:t>Performance by Scope</a:t>
                      </a:r>
                    </a:p>
                  </a:txBody>
                  <a:tcPr marL="228600" marR="114300" marT="164592" marB="164592" anchor="ctr">
                    <a:solidFill>
                      <a:srgbClr val="FFFFFF"/>
                    </a:solidFill>
                  </a:tcPr>
                </a:tc>
                <a:extLst>
                  <a:ext uri="{0D108BD9-81ED-4DB2-BD59-A6C34878D82A}">
                    <a16:rowId xmlns:a16="http://schemas.microsoft.com/office/drawing/2014/main" val="2061609569"/>
                  </a:ext>
                </a:extLst>
              </a:tr>
              <a:tr h="1152144">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Qual è il beneficio dell’energia rinnovabile acquistata?</a:t>
                      </a:r>
                    </a:p>
                  </a:txBody>
                  <a:tcPr marL="228600" marR="114300" marT="164592" marB="164592" anchor="ctr">
                    <a:solidFill>
                      <a:srgbClr val="FFFFFF"/>
                    </a:solidFill>
                  </a:tcPr>
                </a:tc>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Report Market Based </a:t>
                      </a:r>
                      <a:r>
                        <a:rPr lang="it-IT" sz="2800" b="0" dirty="0" err="1">
                          <a:solidFill>
                            <a:srgbClr val="161616"/>
                          </a:solidFill>
                          <a:effectLst/>
                          <a:latin typeface="IBM Plex Sans Light" panose="020F0502020204030204" pitchFamily="34" charset="0"/>
                          <a:cs typeface="Calibri" panose="020F0502020204030204" pitchFamily="34" charset="0"/>
                        </a:rPr>
                        <a:t>Emissions</a:t>
                      </a:r>
                      <a:r>
                        <a:rPr lang="it-IT" sz="2800" b="0" dirty="0">
                          <a:solidFill>
                            <a:srgbClr val="161616"/>
                          </a:solidFill>
                          <a:effectLst/>
                          <a:latin typeface="IBM Plex Sans Light" panose="020F0502020204030204" pitchFamily="34" charset="0"/>
                          <a:cs typeface="Calibri" panose="020F0502020204030204" pitchFamily="34" charset="0"/>
                        </a:rPr>
                        <a:t> (MBE)</a:t>
                      </a:r>
                    </a:p>
                  </a:txBody>
                  <a:tcPr marL="228600" marR="114300" marT="164592" marB="164592" anchor="ctr">
                    <a:solidFill>
                      <a:srgbClr val="FFFFFF"/>
                    </a:solidFill>
                  </a:tcPr>
                </a:tc>
                <a:extLst>
                  <a:ext uri="{0D108BD9-81ED-4DB2-BD59-A6C34878D82A}">
                    <a16:rowId xmlns:a16="http://schemas.microsoft.com/office/drawing/2014/main" val="1237208339"/>
                  </a:ext>
                </a:extLst>
              </a:tr>
              <a:tr h="1152144">
                <a:tc>
                  <a:txBody>
                    <a:bodyPr/>
                    <a:lstStyle/>
                    <a:p>
                      <a:pPr algn="l">
                        <a:buNone/>
                      </a:pPr>
                      <a:r>
                        <a:rPr lang="it-IT" sz="2800" b="0">
                          <a:solidFill>
                            <a:srgbClr val="161616"/>
                          </a:solidFill>
                          <a:effectLst/>
                          <a:latin typeface="IBM Plex Sans Light" panose="020F0502020204030204" pitchFamily="34" charset="0"/>
                          <a:cs typeface="Calibri" panose="020F0502020204030204" pitchFamily="34" charset="0"/>
                        </a:rPr>
                        <a:t>Dove conviene concentrare i prossimi investimenti di decarbonizzazione?</a:t>
                      </a:r>
                    </a:p>
                  </a:txBody>
                  <a:tcPr marL="228600" marR="114300" marT="164592" marB="164592" anchor="ctr">
                    <a:solidFill>
                      <a:srgbClr val="FFFFFF"/>
                    </a:solidFill>
                  </a:tcPr>
                </a:tc>
                <a:tc>
                  <a:txBody>
                    <a:bodyPr/>
                    <a:lstStyle/>
                    <a:p>
                      <a:pPr algn="l">
                        <a:buNone/>
                      </a:pPr>
                      <a:r>
                        <a:rPr lang="it-IT" sz="2800" b="0" dirty="0">
                          <a:solidFill>
                            <a:srgbClr val="161616"/>
                          </a:solidFill>
                          <a:effectLst/>
                          <a:latin typeface="IBM Plex Sans Light" panose="020F0502020204030204" pitchFamily="34" charset="0"/>
                          <a:cs typeface="Calibri" panose="020F0502020204030204" pitchFamily="34" charset="0"/>
                        </a:rPr>
                        <a:t>Zoom Report MBE&gt; </a:t>
                      </a:r>
                      <a:r>
                        <a:rPr lang="it-IT" sz="2800" b="0" dirty="0" err="1">
                          <a:solidFill>
                            <a:srgbClr val="161616"/>
                          </a:solidFill>
                          <a:effectLst/>
                          <a:latin typeface="IBM Plex Sans Light" panose="020F0502020204030204" pitchFamily="34" charset="0"/>
                          <a:cs typeface="Calibri" panose="020F0502020204030204" pitchFamily="34" charset="0"/>
                        </a:rPr>
                        <a:t>Electricity</a:t>
                      </a:r>
                      <a:r>
                        <a:rPr lang="it-IT" sz="2800" b="0" dirty="0">
                          <a:solidFill>
                            <a:srgbClr val="161616"/>
                          </a:solidFill>
                          <a:effectLst/>
                          <a:latin typeface="IBM Plex Sans Light" panose="020F0502020204030204" pitchFamily="34" charset="0"/>
                          <a:cs typeface="Calibri" panose="020F0502020204030204" pitchFamily="34" charset="0"/>
                        </a:rPr>
                        <a:t> </a:t>
                      </a:r>
                      <a:r>
                        <a:rPr lang="it-IT" sz="2800" b="0" dirty="0" err="1">
                          <a:solidFill>
                            <a:srgbClr val="161616"/>
                          </a:solidFill>
                          <a:effectLst/>
                          <a:latin typeface="IBM Plex Sans Light" panose="020F0502020204030204" pitchFamily="34" charset="0"/>
                          <a:cs typeface="Calibri" panose="020F0502020204030204" pitchFamily="34" charset="0"/>
                        </a:rPr>
                        <a:t>Emissions</a:t>
                      </a:r>
                      <a:r>
                        <a:rPr lang="it-IT" sz="2800" b="0" dirty="0">
                          <a:solidFill>
                            <a:srgbClr val="161616"/>
                          </a:solidFill>
                          <a:effectLst/>
                          <a:latin typeface="IBM Plex Sans Light" panose="020F0502020204030204" pitchFamily="34" charset="0"/>
                          <a:cs typeface="Calibri" panose="020F0502020204030204" pitchFamily="34" charset="0"/>
                        </a:rPr>
                        <a:t> Inventory</a:t>
                      </a:r>
                    </a:p>
                  </a:txBody>
                  <a:tcPr marL="228600" marR="114300" marT="164592" marB="164592" anchor="ctr">
                    <a:solidFill>
                      <a:srgbClr val="FFFFFF"/>
                    </a:solidFill>
                  </a:tcPr>
                </a:tc>
                <a:extLst>
                  <a:ext uri="{0D108BD9-81ED-4DB2-BD59-A6C34878D82A}">
                    <a16:rowId xmlns:a16="http://schemas.microsoft.com/office/drawing/2014/main" val="909420738"/>
                  </a:ext>
                </a:extLst>
              </a:tr>
            </a:tbl>
          </a:graphicData>
        </a:graphic>
      </p:graphicFrame>
      <p:sp>
        <p:nvSpPr>
          <p:cNvPr id="5" name="CasellaDiTesto 4">
            <a:extLst>
              <a:ext uri="{FF2B5EF4-FFF2-40B4-BE49-F238E27FC236}">
                <a16:creationId xmlns:a16="http://schemas.microsoft.com/office/drawing/2014/main" id="{C8CED313-0A4E-0E50-8F7D-23B8ADE7A769}"/>
              </a:ext>
            </a:extLst>
          </p:cNvPr>
          <p:cNvSpPr txBox="1"/>
          <p:nvPr/>
        </p:nvSpPr>
        <p:spPr>
          <a:xfrm>
            <a:off x="974091" y="1784252"/>
            <a:ext cx="22677120" cy="378565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3200" b="0" dirty="0">
                <a:solidFill>
                  <a:srgbClr val="161616"/>
                </a:solidFill>
              </a:rPr>
              <a:t>IBM </a:t>
            </a:r>
            <a:r>
              <a:rPr lang="it-IT" sz="3200" b="0" dirty="0" err="1">
                <a:solidFill>
                  <a:srgbClr val="161616"/>
                </a:solidFill>
              </a:rPr>
              <a:t>Envizi</a:t>
            </a:r>
            <a:r>
              <a:rPr lang="it-IT" sz="3200" b="0" dirty="0">
                <a:solidFill>
                  <a:srgbClr val="161616"/>
                </a:solidFill>
              </a:rPr>
              <a:t> trasforma i dati energetici in informazioni affidabili e verificabili, consentendo di misurare le emissioni Scope 1 e Scope 2, confrontare le prestazioni delle sedi e pianificare in modo oggettivo il percorso di decarbonizzazione.</a:t>
            </a:r>
            <a:endParaRPr lang="it-IT" sz="3200" dirty="0"/>
          </a:p>
          <a:p>
            <a:pPr>
              <a:buNone/>
            </a:pPr>
            <a:endParaRPr lang="it-IT" sz="3200" dirty="0"/>
          </a:p>
          <a:p>
            <a:pPr>
              <a:buNone/>
            </a:pPr>
            <a:r>
              <a:rPr lang="it-IT" sz="3200" dirty="0">
                <a:solidFill>
                  <a:srgbClr val="161616"/>
                </a:solidFill>
              </a:rPr>
              <a:t>Prima di migliorare le prestazioni energetiche è necessario disporre di dati affidabili e misurabili.</a:t>
            </a:r>
          </a:p>
          <a:p>
            <a:pPr>
              <a:buNone/>
            </a:pPr>
            <a:endParaRPr lang="it-IT" sz="3200" dirty="0">
              <a:solidFill>
                <a:srgbClr val="161616"/>
              </a:solidFill>
            </a:endParaRPr>
          </a:p>
          <a:p>
            <a:pPr>
              <a:buNone/>
            </a:pPr>
            <a:r>
              <a:rPr lang="it-IT" sz="3200" dirty="0">
                <a:solidFill>
                  <a:srgbClr val="161616"/>
                </a:solidFill>
              </a:rPr>
              <a:t>Durante la demo del </a:t>
            </a:r>
            <a:r>
              <a:rPr lang="it-IT" sz="3200" dirty="0" err="1">
                <a:solidFill>
                  <a:srgbClr val="161616"/>
                </a:solidFill>
              </a:rPr>
              <a:t>level</a:t>
            </a:r>
            <a:r>
              <a:rPr lang="it-IT" sz="3200" dirty="0">
                <a:solidFill>
                  <a:srgbClr val="161616"/>
                </a:solidFill>
              </a:rPr>
              <a:t> 1 risponderemo a cinque domande.</a:t>
            </a:r>
          </a:p>
          <a:p>
            <a:pPr>
              <a:buNone/>
            </a:pPr>
            <a:br>
              <a:rPr lang="it-IT" sz="2400" dirty="0"/>
            </a:br>
            <a:endParaRPr lang="it-IT" sz="2400" dirty="0"/>
          </a:p>
        </p:txBody>
      </p:sp>
      <p:sp>
        <p:nvSpPr>
          <p:cNvPr id="6" name="TextBox 5"/>
          <p:cNvSpPr txBox="1"/>
          <p:nvPr/>
        </p:nvSpPr>
        <p:spPr>
          <a:xfrm>
            <a:off x="822960" y="457200"/>
            <a:ext cx="22677120" cy="646331"/>
          </a:xfrm>
          <a:prstGeom prst="rect">
            <a:avLst/>
          </a:prstGeom>
          <a:noFill/>
        </p:spPr>
        <p:txBody>
          <a:bodyPr wrap="square">
            <a:spAutoFit/>
          </a:bodyPr>
          <a:lstStyle/>
          <a:p>
            <a:r>
              <a:rPr b="1" dirty="0">
                <a:solidFill>
                  <a:srgbClr val="161616"/>
                </a:solidFill>
                <a:latin typeface="IBM Plex Sans Light"/>
              </a:rPr>
              <a:t>Level 1 – ESG Energy Foundation</a:t>
            </a:r>
          </a:p>
        </p:txBody>
      </p:sp>
    </p:spTree>
    <p:extLst>
      <p:ext uri="{BB962C8B-B14F-4D97-AF65-F5344CB8AC3E}">
        <p14:creationId xmlns:p14="http://schemas.microsoft.com/office/powerpoint/2010/main" val="81142900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0C72736F-77BE-D6FD-670A-585073CEF906}"/>
              </a:ext>
            </a:extLst>
          </p:cNvPr>
          <p:cNvPicPr>
            <a:picLocks noChangeAspect="1"/>
          </p:cNvPicPr>
          <p:nvPr/>
        </p:nvPicPr>
        <p:blipFill>
          <a:blip r:embed="rId3"/>
          <a:stretch>
            <a:fillRect/>
          </a:stretch>
        </p:blipFill>
        <p:spPr>
          <a:xfrm>
            <a:off x="4830462" y="3629797"/>
            <a:ext cx="15039513" cy="8297334"/>
          </a:xfrm>
          <a:prstGeom prst="rect">
            <a:avLst/>
          </a:prstGeom>
        </p:spPr>
      </p:pic>
      <p:sp>
        <p:nvSpPr>
          <p:cNvPr id="8" name="CasellaDiTesto 7">
            <a:extLst>
              <a:ext uri="{FF2B5EF4-FFF2-40B4-BE49-F238E27FC236}">
                <a16:creationId xmlns:a16="http://schemas.microsoft.com/office/drawing/2014/main" id="{C2BEA648-5F5A-021A-CADA-FF3E1881F734}"/>
              </a:ext>
            </a:extLst>
          </p:cNvPr>
          <p:cNvSpPr txBox="1"/>
          <p:nvPr/>
        </p:nvSpPr>
        <p:spPr>
          <a:xfrm>
            <a:off x="317093" y="1215829"/>
            <a:ext cx="18744630" cy="13849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800" b="1" dirty="0"/>
              <a:t>Con un’unica vista il management verifica che i dati siano completi, comprende l’andamento di consumi, costi ed emissioni, individua il sito prioritario su cui intervenire e decide dove approfondire l’analisi attraverso le dashboard di dettaglio.</a:t>
            </a:r>
            <a:endParaRPr lang="it-IT" sz="2800" dirty="0"/>
          </a:p>
        </p:txBody>
      </p:sp>
      <p:sp>
        <p:nvSpPr>
          <p:cNvPr id="10" name="CasellaDiTesto 9">
            <a:extLst>
              <a:ext uri="{FF2B5EF4-FFF2-40B4-BE49-F238E27FC236}">
                <a16:creationId xmlns:a16="http://schemas.microsoft.com/office/drawing/2014/main" id="{2FFEA25A-74BE-AA88-BAF8-8421802E8F7A}"/>
              </a:ext>
            </a:extLst>
          </p:cNvPr>
          <p:cNvSpPr txBox="1"/>
          <p:nvPr/>
        </p:nvSpPr>
        <p:spPr>
          <a:xfrm>
            <a:off x="261014" y="517708"/>
            <a:ext cx="1219200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t>Report </a:t>
            </a:r>
            <a:r>
              <a:rPr lang="it-IT" b="1" err="1"/>
              <a:t>Sustainability</a:t>
            </a:r>
            <a:r>
              <a:rPr lang="it-IT" b="1"/>
              <a:t> Executive – zoom Energy 1</a:t>
            </a:r>
          </a:p>
        </p:txBody>
      </p:sp>
      <p:sp>
        <p:nvSpPr>
          <p:cNvPr id="14" name="CasellaDiTesto 13">
            <a:extLst>
              <a:ext uri="{FF2B5EF4-FFF2-40B4-BE49-F238E27FC236}">
                <a16:creationId xmlns:a16="http://schemas.microsoft.com/office/drawing/2014/main" id="{A710FD47-6723-31F1-6DC5-E8E07BE3B34D}"/>
              </a:ext>
            </a:extLst>
          </p:cNvPr>
          <p:cNvSpPr txBox="1"/>
          <p:nvPr/>
        </p:nvSpPr>
        <p:spPr>
          <a:xfrm rot="10800000" flipV="1">
            <a:off x="815328" y="7178299"/>
            <a:ext cx="2469739"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2400"/>
              <a:t>I dati sono sufficientemente completi per supportare decisioni affidabili.</a:t>
            </a:r>
          </a:p>
        </p:txBody>
      </p:sp>
      <p:sp>
        <p:nvSpPr>
          <p:cNvPr id="15" name="Ovale 14">
            <a:extLst>
              <a:ext uri="{FF2B5EF4-FFF2-40B4-BE49-F238E27FC236}">
                <a16:creationId xmlns:a16="http://schemas.microsoft.com/office/drawing/2014/main" id="{4F84B7ED-73BF-D14A-A119-8C2711A7871B}"/>
              </a:ext>
            </a:extLst>
          </p:cNvPr>
          <p:cNvSpPr/>
          <p:nvPr/>
        </p:nvSpPr>
        <p:spPr bwMode="auto">
          <a:xfrm>
            <a:off x="4517200" y="6839633"/>
            <a:ext cx="3403600" cy="677333"/>
          </a:xfrm>
          <a:prstGeom prst="ellipse">
            <a:avLst/>
          </a:prstGeom>
          <a:noFill/>
          <a:ln w="85725">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sp>
        <p:nvSpPr>
          <p:cNvPr id="17" name="CasellaDiTesto 16">
            <a:extLst>
              <a:ext uri="{FF2B5EF4-FFF2-40B4-BE49-F238E27FC236}">
                <a16:creationId xmlns:a16="http://schemas.microsoft.com/office/drawing/2014/main" id="{D4434FA0-0B85-FDFE-767E-68413C1E2BBB}"/>
              </a:ext>
            </a:extLst>
          </p:cNvPr>
          <p:cNvSpPr txBox="1"/>
          <p:nvPr/>
        </p:nvSpPr>
        <p:spPr>
          <a:xfrm>
            <a:off x="537867" y="2796737"/>
            <a:ext cx="3979333"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2400"/>
              <a:t>I consumi energetici sono aumentati rispetto all’anno precedente.</a:t>
            </a:r>
          </a:p>
        </p:txBody>
      </p:sp>
      <p:sp>
        <p:nvSpPr>
          <p:cNvPr id="18" name="Ovale 17">
            <a:extLst>
              <a:ext uri="{FF2B5EF4-FFF2-40B4-BE49-F238E27FC236}">
                <a16:creationId xmlns:a16="http://schemas.microsoft.com/office/drawing/2014/main" id="{89210285-81C5-52AA-C961-CDD89A2DA8D0}"/>
              </a:ext>
            </a:extLst>
          </p:cNvPr>
          <p:cNvSpPr/>
          <p:nvPr/>
        </p:nvSpPr>
        <p:spPr bwMode="auto">
          <a:xfrm>
            <a:off x="4185708" y="5863482"/>
            <a:ext cx="3403600" cy="677333"/>
          </a:xfrm>
          <a:prstGeom prst="ellipse">
            <a:avLst/>
          </a:prstGeom>
          <a:noFill/>
          <a:ln w="85725">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cxnSp>
        <p:nvCxnSpPr>
          <p:cNvPr id="20" name="Connettore dritto 19">
            <a:extLst>
              <a:ext uri="{FF2B5EF4-FFF2-40B4-BE49-F238E27FC236}">
                <a16:creationId xmlns:a16="http://schemas.microsoft.com/office/drawing/2014/main" id="{C8422C68-422E-3D63-0420-2C831F72D3FB}"/>
              </a:ext>
            </a:extLst>
          </p:cNvPr>
          <p:cNvCxnSpPr>
            <a:endCxn id="18" idx="1"/>
          </p:cNvCxnSpPr>
          <p:nvPr/>
        </p:nvCxnSpPr>
        <p:spPr bwMode="auto">
          <a:xfrm>
            <a:off x="2929467" y="3629797"/>
            <a:ext cx="1754687" cy="233287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Connettore dritto 21">
            <a:extLst>
              <a:ext uri="{FF2B5EF4-FFF2-40B4-BE49-F238E27FC236}">
                <a16:creationId xmlns:a16="http://schemas.microsoft.com/office/drawing/2014/main" id="{40E5D7A4-D8A4-9FA7-E2FF-4E7EC371881E}"/>
              </a:ext>
            </a:extLst>
          </p:cNvPr>
          <p:cNvCxnSpPr>
            <a:cxnSpLocks/>
          </p:cNvCxnSpPr>
          <p:nvPr/>
        </p:nvCxnSpPr>
        <p:spPr bwMode="auto">
          <a:xfrm flipV="1">
            <a:off x="3285067" y="7332133"/>
            <a:ext cx="1399087" cy="63099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5" name="CasellaDiTesto 24">
            <a:extLst>
              <a:ext uri="{FF2B5EF4-FFF2-40B4-BE49-F238E27FC236}">
                <a16:creationId xmlns:a16="http://schemas.microsoft.com/office/drawing/2014/main" id="{CC55704D-7A86-2C99-2F55-36F3E64697C9}"/>
              </a:ext>
            </a:extLst>
          </p:cNvPr>
          <p:cNvSpPr txBox="1"/>
          <p:nvPr/>
        </p:nvSpPr>
        <p:spPr>
          <a:xfrm>
            <a:off x="537867" y="10572464"/>
            <a:ext cx="3889390"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2400" b="1"/>
          </a:p>
          <a:p>
            <a:pPr lvl="0"/>
            <a:r>
              <a:rPr lang="it-IT" sz="2400"/>
              <a:t>le emissioni diminuiscono grazie a un maggiore utilizzo di energia rinnovabile e a un mix energetico più sostenibile.</a:t>
            </a:r>
          </a:p>
        </p:txBody>
      </p:sp>
      <p:sp>
        <p:nvSpPr>
          <p:cNvPr id="27" name="Ovale 26">
            <a:extLst>
              <a:ext uri="{FF2B5EF4-FFF2-40B4-BE49-F238E27FC236}">
                <a16:creationId xmlns:a16="http://schemas.microsoft.com/office/drawing/2014/main" id="{B6F09FD0-E3AF-7769-A5BD-B6FCBC3CDD13}"/>
              </a:ext>
            </a:extLst>
          </p:cNvPr>
          <p:cNvSpPr/>
          <p:nvPr/>
        </p:nvSpPr>
        <p:spPr bwMode="auto">
          <a:xfrm>
            <a:off x="4427257" y="8223992"/>
            <a:ext cx="3403600" cy="677333"/>
          </a:xfrm>
          <a:prstGeom prst="ellipse">
            <a:avLst/>
          </a:prstGeom>
          <a:noFill/>
          <a:ln w="85725">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cxnSp>
        <p:nvCxnSpPr>
          <p:cNvPr id="28" name="Connettore dritto 27">
            <a:extLst>
              <a:ext uri="{FF2B5EF4-FFF2-40B4-BE49-F238E27FC236}">
                <a16:creationId xmlns:a16="http://schemas.microsoft.com/office/drawing/2014/main" id="{22BAFA2B-242D-EB17-4A2A-3CE05027B388}"/>
              </a:ext>
            </a:extLst>
          </p:cNvPr>
          <p:cNvCxnSpPr>
            <a:cxnSpLocks/>
          </p:cNvCxnSpPr>
          <p:nvPr/>
        </p:nvCxnSpPr>
        <p:spPr bwMode="auto">
          <a:xfrm flipV="1">
            <a:off x="1839675" y="8732590"/>
            <a:ext cx="2900844" cy="2186673"/>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 name="CasellaDiTesto 33">
            <a:extLst>
              <a:ext uri="{FF2B5EF4-FFF2-40B4-BE49-F238E27FC236}">
                <a16:creationId xmlns:a16="http://schemas.microsoft.com/office/drawing/2014/main" id="{786418CB-41C1-B7F2-9160-2E76691D1D45}"/>
              </a:ext>
            </a:extLst>
          </p:cNvPr>
          <p:cNvSpPr txBox="1"/>
          <p:nvPr/>
        </p:nvSpPr>
        <p:spPr>
          <a:xfrm>
            <a:off x="5266266" y="12431003"/>
            <a:ext cx="12192000" cy="83099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2400"/>
              <a:t>il costo complessivo dell’energia è leggermente diminuito, segnale di una gestione più efficiente degli approvvigionamenti o di condizioni economiche favorevoli.</a:t>
            </a:r>
          </a:p>
        </p:txBody>
      </p:sp>
      <p:sp>
        <p:nvSpPr>
          <p:cNvPr id="35" name="Ovale 34">
            <a:extLst>
              <a:ext uri="{FF2B5EF4-FFF2-40B4-BE49-F238E27FC236}">
                <a16:creationId xmlns:a16="http://schemas.microsoft.com/office/drawing/2014/main" id="{FA5C08CD-E2B6-D893-FBB9-326719B9F9C8}"/>
              </a:ext>
            </a:extLst>
          </p:cNvPr>
          <p:cNvSpPr/>
          <p:nvPr/>
        </p:nvSpPr>
        <p:spPr bwMode="auto">
          <a:xfrm>
            <a:off x="4340527" y="10495067"/>
            <a:ext cx="3403600" cy="677333"/>
          </a:xfrm>
          <a:prstGeom prst="ellipse">
            <a:avLst/>
          </a:prstGeom>
          <a:noFill/>
          <a:ln w="85725">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cxnSp>
        <p:nvCxnSpPr>
          <p:cNvPr id="36" name="Connettore dritto 35">
            <a:extLst>
              <a:ext uri="{FF2B5EF4-FFF2-40B4-BE49-F238E27FC236}">
                <a16:creationId xmlns:a16="http://schemas.microsoft.com/office/drawing/2014/main" id="{F7A5A65D-E247-22EC-9D06-4CB68DE067CA}"/>
              </a:ext>
            </a:extLst>
          </p:cNvPr>
          <p:cNvCxnSpPr>
            <a:cxnSpLocks/>
          </p:cNvCxnSpPr>
          <p:nvPr/>
        </p:nvCxnSpPr>
        <p:spPr bwMode="auto">
          <a:xfrm flipH="1" flipV="1">
            <a:off x="5785919" y="11172400"/>
            <a:ext cx="1142190" cy="1169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0" name="CasellaDiTesto 39">
            <a:extLst>
              <a:ext uri="{FF2B5EF4-FFF2-40B4-BE49-F238E27FC236}">
                <a16:creationId xmlns:a16="http://schemas.microsoft.com/office/drawing/2014/main" id="{8F32C28D-3EFC-EE83-CC22-B7796EFFDE8A}"/>
              </a:ext>
            </a:extLst>
          </p:cNvPr>
          <p:cNvSpPr txBox="1"/>
          <p:nvPr/>
        </p:nvSpPr>
        <p:spPr>
          <a:xfrm>
            <a:off x="18696797" y="8901325"/>
            <a:ext cx="5232401" cy="4154984"/>
          </a:xfrm>
          <a:prstGeom prst="rect">
            <a:avLst/>
          </a:prstGeom>
          <a:solidFill>
            <a:schemeClr val="bg1"/>
          </a:solidFill>
          <a:ln w="53975">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342900" lvl="0" indent="-342900">
              <a:buFont typeface="Arial" panose="020B0604020202020204" pitchFamily="34" charset="0"/>
              <a:buChar char="•"/>
            </a:pPr>
            <a:r>
              <a:rPr lang="it-IT" sz="2400" dirty="0"/>
              <a:t>I consumi energetici risultano </a:t>
            </a:r>
            <a:r>
              <a:rPr lang="it-IT" sz="2400" b="1" dirty="0"/>
              <a:t>superiori</a:t>
            </a:r>
            <a:r>
              <a:rPr lang="it-IT" sz="2400" dirty="0"/>
              <a:t> sia all’anno precedente sia alla </a:t>
            </a:r>
            <a:r>
              <a:rPr lang="it-IT" sz="2400" b="1" dirty="0"/>
              <a:t>baseline</a:t>
            </a:r>
            <a:r>
              <a:rPr lang="it-IT" sz="2400" dirty="0"/>
              <a:t> in quasi tutti i mesi.</a:t>
            </a:r>
          </a:p>
          <a:p>
            <a:pPr marL="342900" lvl="0" indent="-342900">
              <a:buFont typeface="Arial" panose="020B0604020202020204" pitchFamily="34" charset="0"/>
              <a:buChar char="•"/>
            </a:pPr>
            <a:r>
              <a:rPr lang="it-IT" sz="2400" dirty="0"/>
              <a:t>Esistono fattori che stanno determinando un consumo superiore al livello atteso.</a:t>
            </a:r>
          </a:p>
          <a:p>
            <a:pPr marL="342900" lvl="0" indent="-342900">
              <a:buFont typeface="Arial" panose="020B0604020202020204" pitchFamily="34" charset="0"/>
              <a:buChar char="•"/>
            </a:pPr>
            <a:r>
              <a:rPr lang="it-IT" sz="2400" dirty="0"/>
              <a:t>È necessario capire se l’aumento è giustificato (maggiore produzione) oppure se deriva da inefficienze operative.</a:t>
            </a:r>
          </a:p>
        </p:txBody>
      </p:sp>
      <p:cxnSp>
        <p:nvCxnSpPr>
          <p:cNvPr id="41" name="Connettore dritto 40">
            <a:extLst>
              <a:ext uri="{FF2B5EF4-FFF2-40B4-BE49-F238E27FC236}">
                <a16:creationId xmlns:a16="http://schemas.microsoft.com/office/drawing/2014/main" id="{A9558746-2996-BB72-2171-E2757181BC34}"/>
              </a:ext>
            </a:extLst>
          </p:cNvPr>
          <p:cNvCxnSpPr>
            <a:cxnSpLocks/>
          </p:cNvCxnSpPr>
          <p:nvPr/>
        </p:nvCxnSpPr>
        <p:spPr bwMode="auto">
          <a:xfrm flipH="1">
            <a:off x="15392121" y="9486623"/>
            <a:ext cx="3304676" cy="108584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6" name="CasellaDiTesto 45">
            <a:extLst>
              <a:ext uri="{FF2B5EF4-FFF2-40B4-BE49-F238E27FC236}">
                <a16:creationId xmlns:a16="http://schemas.microsoft.com/office/drawing/2014/main" id="{B6E94E41-0A50-D27D-7D56-637048CF8849}"/>
              </a:ext>
            </a:extLst>
          </p:cNvPr>
          <p:cNvSpPr txBox="1"/>
          <p:nvPr/>
        </p:nvSpPr>
        <p:spPr>
          <a:xfrm>
            <a:off x="19869975" y="2164746"/>
            <a:ext cx="3979333" cy="6001643"/>
          </a:xfrm>
          <a:prstGeom prst="rect">
            <a:avLst/>
          </a:prstGeom>
          <a:solidFill>
            <a:schemeClr val="bg1"/>
          </a:solidFill>
          <a:ln w="53975">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defPPr>
              <a:defRPr lang="en-US"/>
            </a:defPPr>
            <a:lvl1pPr marL="342900" lvl="0" indent="-342900">
              <a:buFont typeface="Arial" panose="020B0604020202020204" pitchFamily="34" charset="0"/>
              <a:buChar char="•"/>
              <a:defRPr sz="2400"/>
            </a:lvl1pPr>
          </a:lstStyle>
          <a:p>
            <a:pPr marL="0" indent="0">
              <a:buNone/>
            </a:pPr>
            <a:r>
              <a:rPr lang="it-IT" b="1"/>
              <a:t>Azioni</a:t>
            </a:r>
          </a:p>
          <a:p>
            <a:r>
              <a:rPr lang="it-IT"/>
              <a:t>Analizzare il consumo per stabilimento.</a:t>
            </a:r>
          </a:p>
          <a:p>
            <a:r>
              <a:rPr lang="it-IT"/>
              <a:t>Normalizzare i consumi rispetto ai driver di business (unità prodotte, superficie, </a:t>
            </a:r>
            <a:r>
              <a:rPr lang="it-IT" err="1"/>
              <a:t>headcount</a:t>
            </a:r>
            <a:r>
              <a:rPr lang="it-IT"/>
              <a:t>).</a:t>
            </a:r>
          </a:p>
          <a:p>
            <a:r>
              <a:rPr lang="it-IT"/>
              <a:t>Individuare i processi responsabili dell’aumento.</a:t>
            </a:r>
          </a:p>
          <a:p>
            <a:r>
              <a:rPr lang="it-IT"/>
              <a:t>Valutare interventi di efficientamento e monitorarne gli effetti</a:t>
            </a:r>
          </a:p>
          <a:p>
            <a:endParaRPr lang="it-IT"/>
          </a:p>
          <a:p>
            <a:r>
              <a:rPr lang="it-IT"/>
              <a:t>Usare dunque i report di dettaglio di </a:t>
            </a:r>
            <a:r>
              <a:rPr lang="it-IT" err="1"/>
              <a:t>Envizi</a:t>
            </a:r>
            <a:endParaRPr lang="it-IT"/>
          </a:p>
        </p:txBody>
      </p:sp>
      <p:cxnSp>
        <p:nvCxnSpPr>
          <p:cNvPr id="49" name="Connettore diritto a freccia 48">
            <a:extLst>
              <a:ext uri="{FF2B5EF4-FFF2-40B4-BE49-F238E27FC236}">
                <a16:creationId xmlns:a16="http://schemas.microsoft.com/office/drawing/2014/main" id="{43A867DC-4D9C-7078-8B84-F127183421DC}"/>
              </a:ext>
            </a:extLst>
          </p:cNvPr>
          <p:cNvCxnSpPr>
            <a:cxnSpLocks/>
          </p:cNvCxnSpPr>
          <p:nvPr/>
        </p:nvCxnSpPr>
        <p:spPr bwMode="auto">
          <a:xfrm flipV="1">
            <a:off x="21312998" y="8166389"/>
            <a:ext cx="158469" cy="734936"/>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1547994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5CDED6C2-D582-F485-9531-22F8890AD8D6}"/>
              </a:ext>
            </a:extLst>
          </p:cNvPr>
          <p:cNvSpPr txBox="1"/>
          <p:nvPr/>
        </p:nvSpPr>
        <p:spPr>
          <a:xfrm>
            <a:off x="508959" y="597954"/>
            <a:ext cx="20280702"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a:solidFill/>
              </a:rPr>
              <a:t>In un’unica dashboard il management dispone di una vista consolidata dei consumi energetici e delle emissioni dell’intera organizzazione.”</a:t>
            </a:r>
          </a:p>
        </p:txBody>
      </p:sp>
      <p:sp>
        <p:nvSpPr>
          <p:cNvPr id="6" name="CasellaDiTesto 5">
            <a:extLst>
              <a:ext uri="{FF2B5EF4-FFF2-40B4-BE49-F238E27FC236}">
                <a16:creationId xmlns:a16="http://schemas.microsoft.com/office/drawing/2014/main" id="{582369D5-106D-079E-B288-AC5BC417C894}"/>
              </a:ext>
            </a:extLst>
          </p:cNvPr>
          <p:cNvSpPr txBox="1"/>
          <p:nvPr/>
        </p:nvSpPr>
        <p:spPr>
          <a:xfrm>
            <a:off x="577970" y="2048146"/>
            <a:ext cx="12197750" cy="58477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3200" b="1" dirty="0">
                <a:solidFill/>
              </a:rPr>
              <a:t>Dashboard: </a:t>
            </a:r>
            <a:r>
              <a:rPr lang="it-IT" sz="3200" b="1" dirty="0">
                <a:solidFill/>
                <a:latin typeface="+mn-lt"/>
              </a:rPr>
              <a:t>Monitor → Organization </a:t>
            </a:r>
            <a:r>
              <a:rPr lang="it-IT" sz="3200" b="1" dirty="0" err="1">
                <a:solidFill/>
                <a:latin typeface="+mn-lt"/>
              </a:rPr>
              <a:t>Summary</a:t>
            </a:r>
            <a:endParaRPr lang="it-IT" sz="3200" b="1" dirty="0"/>
          </a:p>
        </p:txBody>
      </p:sp>
      <p:pic>
        <p:nvPicPr>
          <p:cNvPr id="8" name="Immagine 7">
            <a:extLst>
              <a:ext uri="{FF2B5EF4-FFF2-40B4-BE49-F238E27FC236}">
                <a16:creationId xmlns:a16="http://schemas.microsoft.com/office/drawing/2014/main" id="{91487486-DCA4-15BA-95F3-633559C1A6DD}"/>
              </a:ext>
            </a:extLst>
          </p:cNvPr>
          <p:cNvPicPr>
            <a:picLocks noChangeAspect="1"/>
          </p:cNvPicPr>
          <p:nvPr/>
        </p:nvPicPr>
        <p:blipFill>
          <a:blip r:embed="rId3"/>
          <a:stretch>
            <a:fillRect/>
          </a:stretch>
        </p:blipFill>
        <p:spPr>
          <a:xfrm>
            <a:off x="646982" y="2944340"/>
            <a:ext cx="17889960" cy="7357459"/>
          </a:xfrm>
          <a:prstGeom prst="rect">
            <a:avLst/>
          </a:prstGeom>
        </p:spPr>
      </p:pic>
      <p:pic>
        <p:nvPicPr>
          <p:cNvPr id="10" name="Immagine 9">
            <a:extLst>
              <a:ext uri="{FF2B5EF4-FFF2-40B4-BE49-F238E27FC236}">
                <a16:creationId xmlns:a16="http://schemas.microsoft.com/office/drawing/2014/main" id="{F2B27B20-19F1-53D3-B024-7F44F2A1B391}"/>
              </a:ext>
            </a:extLst>
          </p:cNvPr>
          <p:cNvPicPr>
            <a:picLocks noChangeAspect="1"/>
          </p:cNvPicPr>
          <p:nvPr/>
        </p:nvPicPr>
        <p:blipFill>
          <a:blip r:embed="rId4"/>
          <a:stretch>
            <a:fillRect/>
          </a:stretch>
        </p:blipFill>
        <p:spPr>
          <a:xfrm>
            <a:off x="508959" y="10632046"/>
            <a:ext cx="18227615" cy="2486000"/>
          </a:xfrm>
          <a:prstGeom prst="rect">
            <a:avLst/>
          </a:prstGeom>
        </p:spPr>
      </p:pic>
      <p:sp>
        <p:nvSpPr>
          <p:cNvPr id="12" name="CasellaDiTesto 11">
            <a:extLst>
              <a:ext uri="{FF2B5EF4-FFF2-40B4-BE49-F238E27FC236}">
                <a16:creationId xmlns:a16="http://schemas.microsoft.com/office/drawing/2014/main" id="{C4600D2F-3969-35DE-F42E-47D12ABC59DC}"/>
              </a:ext>
            </a:extLst>
          </p:cNvPr>
          <p:cNvSpPr txBox="1"/>
          <p:nvPr/>
        </p:nvSpPr>
        <p:spPr>
          <a:xfrm>
            <a:off x="18962384" y="2944368"/>
            <a:ext cx="4777809" cy="969496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2400" b="1" dirty="0">
                <a:solidFill/>
              </a:rPr>
              <a:t>Nel caso di </a:t>
            </a:r>
            <a:r>
              <a:rPr lang="it-IT" sz="2400" b="1" dirty="0" err="1">
                <a:solidFill/>
              </a:rPr>
              <a:t>Alfago</a:t>
            </a:r>
            <a:r>
              <a:rPr lang="it-IT" sz="2400" b="1" dirty="0">
                <a:solidFill/>
              </a:rPr>
              <a:t> osserviamo che:</a:t>
            </a:r>
          </a:p>
          <a:p>
            <a:pPr lvl="0"/>
            <a:endParaRPr lang="it-IT" sz="2400" b="1" dirty="0"/>
          </a:p>
          <a:p>
            <a:pPr marL="342900" lvl="0" indent="-342900">
              <a:buFont typeface="Arial" panose="020B0604020202020204" pitchFamily="34" charset="0"/>
              <a:buChar char="•"/>
            </a:pPr>
            <a:r>
              <a:rPr lang="it-IT" sz="2400" b="1" dirty="0">
                <a:solidFill/>
              </a:rPr>
              <a:t>I consumi energetici seguono un andamento stagionale</a:t>
            </a:r>
            <a:r>
              <a:rPr lang="it-IT" sz="2400" dirty="0">
                <a:solidFill/>
              </a:rPr>
              <a:t>, con una crescita nella prima parte dell’anno, una riduzione nei mesi estivi e una ripresa nell’ultimo trimestre.</a:t>
            </a:r>
          </a:p>
          <a:p>
            <a:pPr marL="342900" lvl="0" indent="-342900">
              <a:buFont typeface="Arial" panose="020B0604020202020204" pitchFamily="34" charset="0"/>
              <a:buChar char="•"/>
            </a:pPr>
            <a:endParaRPr lang="it-IT" sz="2400" b="1" dirty="0"/>
          </a:p>
          <a:p>
            <a:pPr marL="342900" lvl="0" indent="-342900">
              <a:buFont typeface="Arial" panose="020B0604020202020204" pitchFamily="34" charset="0"/>
              <a:buChar char="•"/>
            </a:pPr>
            <a:r>
              <a:rPr lang="it-IT" sz="2400" b="1" dirty="0">
                <a:solidFill/>
              </a:rPr>
              <a:t>Il 94,95% dei dati proviene da consumi effettivi</a:t>
            </a:r>
            <a:r>
              <a:rPr lang="it-IT" sz="2400" dirty="0">
                <a:solidFill/>
              </a:rPr>
              <a:t>, garantendo un’elevata affidabilità delle analisi.</a:t>
            </a:r>
          </a:p>
          <a:p>
            <a:pPr marL="342900" lvl="0" indent="-342900">
              <a:buFont typeface="Arial" panose="020B0604020202020204" pitchFamily="34" charset="0"/>
              <a:buChar char="•"/>
            </a:pPr>
            <a:endParaRPr lang="it-IT" sz="2400" b="1" dirty="0"/>
          </a:p>
          <a:p>
            <a:pPr marL="342900" lvl="0" indent="-342900">
              <a:buFont typeface="Arial" panose="020B0604020202020204" pitchFamily="34" charset="0"/>
              <a:buChar char="•"/>
            </a:pPr>
            <a:r>
              <a:rPr lang="it-IT" sz="2400" b="1" dirty="0">
                <a:solidFill/>
              </a:rPr>
              <a:t>La disponibilità di dati mensili consolidati consente di individuare rapidamente variazioni di consumo</a:t>
            </a:r>
            <a:r>
              <a:rPr lang="it-IT" sz="2400" dirty="0">
                <a:solidFill/>
              </a:rPr>
              <a:t>, che potranno essere approfondite confrontandole con i volumi produttivi nelle dashboard successive.</a:t>
            </a:r>
          </a:p>
          <a:p>
            <a:pPr lvl="0"/>
            <a:endParaRPr lang="it-IT" sz="2400" dirty="0"/>
          </a:p>
          <a:p>
            <a:pPr marL="342900" lvl="0" indent="-342900">
              <a:buFont typeface="Arial" panose="020B0604020202020204" pitchFamily="34" charset="0"/>
              <a:buChar char="•"/>
            </a:pPr>
            <a:r>
              <a:rPr lang="it-IT" sz="2400" b="1" dirty="0">
                <a:solidFill/>
              </a:rPr>
              <a:t>Questa dashboard fornisce la baseline energetica di </a:t>
            </a:r>
            <a:r>
              <a:rPr lang="it-IT" sz="2400" b="1" dirty="0" err="1">
                <a:solidFill/>
              </a:rPr>
              <a:t>Alfago</a:t>
            </a:r>
            <a:r>
              <a:rPr lang="it-IT" sz="2400" dirty="0">
                <a:solidFill/>
              </a:rPr>
              <a:t>,</a:t>
            </a:r>
          </a:p>
        </p:txBody>
      </p:sp>
    </p:spTree>
    <p:extLst>
      <p:ext uri="{BB962C8B-B14F-4D97-AF65-F5344CB8AC3E}">
        <p14:creationId xmlns:p14="http://schemas.microsoft.com/office/powerpoint/2010/main" val="5082073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39A90243-19C8-8D86-BCFF-A7FDDC3A73F0}"/>
              </a:ext>
            </a:extLst>
          </p:cNvPr>
          <p:cNvPicPr>
            <a:picLocks noChangeAspect="1"/>
          </p:cNvPicPr>
          <p:nvPr/>
        </p:nvPicPr>
        <p:blipFill>
          <a:blip r:embed="rId3"/>
          <a:stretch>
            <a:fillRect/>
          </a:stretch>
        </p:blipFill>
        <p:spPr>
          <a:xfrm>
            <a:off x="228600" y="4937760"/>
            <a:ext cx="23360295" cy="6262001"/>
          </a:xfrm>
          <a:prstGeom prst="rect">
            <a:avLst/>
          </a:prstGeom>
        </p:spPr>
      </p:pic>
      <p:pic>
        <p:nvPicPr>
          <p:cNvPr id="6" name="Immagine 5">
            <a:extLst>
              <a:ext uri="{FF2B5EF4-FFF2-40B4-BE49-F238E27FC236}">
                <a16:creationId xmlns:a16="http://schemas.microsoft.com/office/drawing/2014/main" id="{A2AE1E20-CBC4-B637-2B8E-EB63797BD786}"/>
              </a:ext>
            </a:extLst>
          </p:cNvPr>
          <p:cNvPicPr>
            <a:picLocks noChangeAspect="1"/>
          </p:cNvPicPr>
          <p:nvPr/>
        </p:nvPicPr>
        <p:blipFill>
          <a:blip r:embed="rId4"/>
          <a:stretch>
            <a:fillRect/>
          </a:stretch>
        </p:blipFill>
        <p:spPr>
          <a:xfrm>
            <a:off x="228600" y="3017520"/>
            <a:ext cx="23838408" cy="1629530"/>
          </a:xfrm>
          <a:prstGeom prst="rect">
            <a:avLst/>
          </a:prstGeom>
        </p:spPr>
      </p:pic>
      <p:sp>
        <p:nvSpPr>
          <p:cNvPr id="7" name="CasellaDiTesto 6">
            <a:extLst>
              <a:ext uri="{FF2B5EF4-FFF2-40B4-BE49-F238E27FC236}">
                <a16:creationId xmlns:a16="http://schemas.microsoft.com/office/drawing/2014/main" id="{2901007A-3879-8BA0-D4A5-AEBE393FAB52}"/>
              </a:ext>
            </a:extLst>
          </p:cNvPr>
          <p:cNvSpPr txBox="1"/>
          <p:nvPr/>
        </p:nvSpPr>
        <p:spPr>
          <a:xfrm>
            <a:off x="733246" y="443633"/>
            <a:ext cx="18676188" cy="212365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dirty="0">
                <a:solidFill/>
              </a:rPr>
              <a:t>Ranking Locations by </a:t>
            </a:r>
            <a:r>
              <a:rPr lang="it-IT" b="1" dirty="0" err="1">
                <a:solidFill/>
              </a:rPr>
              <a:t>Intensity</a:t>
            </a:r>
            <a:endParaRPr lang="it-IT" dirty="0"/>
          </a:p>
          <a:p>
            <a:pPr>
              <a:buNone/>
            </a:pPr>
            <a:r>
              <a:rPr lang="it-IT" b="1" dirty="0">
                <a:solidFill/>
              </a:rPr>
              <a:t>Dove le prestazioni sono migliori o peggiori? Consumi </a:t>
            </a:r>
            <a:r>
              <a:rPr lang="it-IT" b="1" dirty="0" err="1">
                <a:solidFill/>
              </a:rPr>
              <a:t>kwh</a:t>
            </a:r>
            <a:r>
              <a:rPr lang="it-IT" b="1" dirty="0">
                <a:solidFill/>
              </a:rPr>
              <a:t> / produzione</a:t>
            </a:r>
          </a:p>
          <a:p>
            <a:pPr>
              <a:buNone/>
            </a:pPr>
            <a:endParaRPr lang="it-IT" b="1" dirty="0"/>
          </a:p>
          <a:p>
            <a:pPr>
              <a:buNone/>
            </a:pPr>
            <a:r>
              <a:rPr lang="it-IT" sz="2400" b="1" dirty="0">
                <a:solidFill/>
              </a:rPr>
              <a:t>Monitor&gt;Performance&gt;Benchmark&gt;Ranking locations by </a:t>
            </a:r>
            <a:r>
              <a:rPr lang="it-IT" sz="2400" b="1" dirty="0" err="1">
                <a:solidFill/>
              </a:rPr>
              <a:t>intensity</a:t>
            </a:r>
            <a:r>
              <a:rPr lang="it-IT" sz="2400" b="1" dirty="0">
                <a:solidFill/>
              </a:rPr>
              <a:t>&gt;By Production Units</a:t>
            </a:r>
          </a:p>
        </p:txBody>
      </p:sp>
      <p:sp>
        <p:nvSpPr>
          <p:cNvPr id="9" name="CasellaDiTesto 8">
            <a:extLst>
              <a:ext uri="{FF2B5EF4-FFF2-40B4-BE49-F238E27FC236}">
                <a16:creationId xmlns:a16="http://schemas.microsoft.com/office/drawing/2014/main" id="{92AABCB2-B1FA-1EF2-9D62-171CD8FFD0AA}"/>
              </a:ext>
            </a:extLst>
          </p:cNvPr>
          <p:cNvSpPr txBox="1"/>
          <p:nvPr/>
        </p:nvSpPr>
        <p:spPr>
          <a:xfrm>
            <a:off x="626364" y="10698480"/>
            <a:ext cx="11521440" cy="267765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solidFill/>
              </a:rPr>
              <a:t>Segrate</a:t>
            </a:r>
          </a:p>
          <a:p>
            <a:pPr marL="342900" lvl="0" indent="-342900">
              <a:buFont typeface="Arial" panose="020B0604020202020204" pitchFamily="34" charset="0"/>
              <a:buChar char="•"/>
            </a:pPr>
            <a:r>
              <a:rPr lang="it-IT" sz="2400" dirty="0">
                <a:solidFill/>
              </a:rPr>
              <a:t>registra </a:t>
            </a:r>
            <a:r>
              <a:rPr lang="it-IT" sz="2400" b="1" dirty="0">
                <a:solidFill/>
              </a:rPr>
              <a:t>l’intensità energetica più elevata</a:t>
            </a:r>
            <a:r>
              <a:rPr lang="it-IT" sz="2400" dirty="0">
                <a:solidFill/>
              </a:rPr>
              <a:t> dell’azienda (</a:t>
            </a:r>
            <a:r>
              <a:rPr lang="it-IT" sz="2400" b="1" dirty="0">
                <a:solidFill/>
              </a:rPr>
              <a:t>122,1 kWh/unità prodotta</a:t>
            </a:r>
            <a:r>
              <a:rPr lang="it-IT" sz="2400" dirty="0">
                <a:solidFill/>
              </a:rPr>
              <a:t>);</a:t>
            </a:r>
          </a:p>
          <a:p>
            <a:pPr marL="342900" lvl="0" indent="-342900">
              <a:buFont typeface="Arial" panose="020B0604020202020204" pitchFamily="34" charset="0"/>
              <a:buChar char="•"/>
            </a:pPr>
            <a:r>
              <a:rPr lang="it-IT" sz="2400" dirty="0">
                <a:solidFill/>
              </a:rPr>
              <a:t>rispetto all’anno precedente </a:t>
            </a:r>
            <a:r>
              <a:rPr lang="it-IT" sz="2400" b="1" dirty="0">
                <a:solidFill/>
              </a:rPr>
              <a:t>consuma l’8,1% di energia in più per ogni unità prodotta</a:t>
            </a:r>
            <a:r>
              <a:rPr lang="it-IT" sz="2400" dirty="0">
                <a:solidFill/>
              </a:rPr>
              <a:t>;</a:t>
            </a:r>
          </a:p>
          <a:p>
            <a:pPr marL="342900" lvl="0" indent="-342900">
              <a:buFont typeface="Arial" panose="020B0604020202020204" pitchFamily="34" charset="0"/>
              <a:buChar char="•"/>
            </a:pPr>
            <a:r>
              <a:rPr lang="it-IT" sz="2400" dirty="0">
                <a:solidFill/>
              </a:rPr>
              <a:t>il consumo è cresciuto </a:t>
            </a:r>
            <a:r>
              <a:rPr lang="it-IT" sz="2400" b="1" dirty="0">
                <a:solidFill/>
              </a:rPr>
              <a:t>più rapidamente della produzione</a:t>
            </a:r>
            <a:r>
              <a:rPr lang="it-IT" sz="2400" dirty="0">
                <a:solidFill/>
              </a:rPr>
              <a:t>.</a:t>
            </a:r>
          </a:p>
          <a:p>
            <a:pPr lvl="0"/>
            <a:r>
              <a:rPr lang="it-IT" sz="2400" dirty="0">
                <a:solidFill/>
              </a:rPr>
              <a:t> </a:t>
            </a:r>
            <a:r>
              <a:rPr lang="it-IT" sz="2400" b="1" dirty="0">
                <a:solidFill/>
              </a:rPr>
              <a:t>È il sito prioritario da analizzare.</a:t>
            </a:r>
            <a:r>
              <a:rPr lang="it-IT" sz="2400" dirty="0">
                <a:solidFill/>
              </a:rPr>
              <a:t> </a:t>
            </a:r>
          </a:p>
        </p:txBody>
      </p:sp>
      <p:sp>
        <p:nvSpPr>
          <p:cNvPr id="10" name="CasellaDiTesto 9">
            <a:extLst>
              <a:ext uri="{FF2B5EF4-FFF2-40B4-BE49-F238E27FC236}">
                <a16:creationId xmlns:a16="http://schemas.microsoft.com/office/drawing/2014/main" id="{93859D22-9510-9DBC-F4CC-40677BB8B77A}"/>
              </a:ext>
            </a:extLst>
          </p:cNvPr>
          <p:cNvSpPr txBox="1"/>
          <p:nvPr/>
        </p:nvSpPr>
        <p:spPr>
          <a:xfrm>
            <a:off x="12637135" y="10828751"/>
            <a:ext cx="11521440"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solidFill/>
              </a:rPr>
              <a:t>Sesto San Giovanni</a:t>
            </a:r>
          </a:p>
          <a:p>
            <a:pPr marL="342900" lvl="0" indent="-342900">
              <a:buFont typeface="Arial" panose="020B0604020202020204" pitchFamily="34" charset="0"/>
              <a:buChar char="•"/>
            </a:pPr>
            <a:r>
              <a:rPr lang="it-IT" sz="2400" dirty="0">
                <a:solidFill/>
              </a:rPr>
              <a:t>presenta un’intensità molto inferiore (</a:t>
            </a:r>
            <a:r>
              <a:rPr lang="it-IT" sz="2400" b="1" dirty="0">
                <a:solidFill/>
              </a:rPr>
              <a:t>84,6 kWh/unità</a:t>
            </a:r>
            <a:r>
              <a:rPr lang="it-IT" sz="2400" dirty="0">
                <a:solidFill/>
              </a:rPr>
              <a:t>);</a:t>
            </a:r>
          </a:p>
          <a:p>
            <a:pPr marL="342900" lvl="0" indent="-342900">
              <a:buFont typeface="Arial" panose="020B0604020202020204" pitchFamily="34" charset="0"/>
              <a:buChar char="•"/>
            </a:pPr>
            <a:r>
              <a:rPr lang="it-IT" sz="2400" dirty="0">
                <a:solidFill/>
              </a:rPr>
              <a:t>migliora leggermente rispetto all’anno precedente (</a:t>
            </a:r>
            <a:r>
              <a:rPr lang="it-IT" sz="2400" b="1" dirty="0">
                <a:solidFill/>
              </a:rPr>
              <a:t>-0,9%</a:t>
            </a:r>
            <a:r>
              <a:rPr lang="it-IT" sz="2400" dirty="0">
                <a:solidFill/>
              </a:rPr>
              <a:t>).</a:t>
            </a:r>
          </a:p>
          <a:p>
            <a:pPr>
              <a:buNone/>
            </a:pPr>
            <a:r>
              <a:rPr lang="it-IT" sz="2400" dirty="0">
                <a:solidFill/>
              </a:rPr>
              <a:t> </a:t>
            </a:r>
            <a:r>
              <a:rPr lang="it-IT" sz="2400" b="1" dirty="0">
                <a:solidFill/>
              </a:rPr>
              <a:t>È il benchmark interno da prendere come riferimento.</a:t>
            </a:r>
            <a:r>
              <a:rPr lang="it-IT" sz="2400" dirty="0">
                <a:solidFill/>
              </a:rPr>
              <a:t> </a:t>
            </a:r>
          </a:p>
          <a:p>
            <a:pPr>
              <a:buNone/>
            </a:pPr>
            <a:endParaRPr lang="it-IT" sz="2400" dirty="0"/>
          </a:p>
          <a:p>
            <a:pPr>
              <a:buNone/>
            </a:pPr>
            <a:r>
              <a:rPr lang="it-IT" sz="2400" dirty="0">
                <a:solidFill/>
              </a:rPr>
              <a:t>Milano sede Amministrativa non ha produzione e non è in grafico.</a:t>
            </a:r>
          </a:p>
        </p:txBody>
      </p:sp>
    </p:spTree>
    <p:extLst>
      <p:ext uri="{BB962C8B-B14F-4D97-AF65-F5344CB8AC3E}">
        <p14:creationId xmlns:p14="http://schemas.microsoft.com/office/powerpoint/2010/main" val="283354307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2127ADF-A118-E793-CAEB-2D1D654FCA4A}"/>
              </a:ext>
            </a:extLst>
          </p:cNvPr>
          <p:cNvSpPr txBox="1"/>
          <p:nvPr/>
        </p:nvSpPr>
        <p:spPr>
          <a:xfrm>
            <a:off x="733246" y="443633"/>
            <a:ext cx="18676188" cy="212365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dirty="0">
                <a:solidFill/>
              </a:rPr>
              <a:t>Ranking Locations by </a:t>
            </a:r>
            <a:r>
              <a:rPr lang="it-IT" b="1" dirty="0" err="1">
                <a:solidFill/>
              </a:rPr>
              <a:t>Intensity</a:t>
            </a:r>
            <a:endParaRPr lang="it-IT" dirty="0"/>
          </a:p>
          <a:p>
            <a:pPr>
              <a:buNone/>
            </a:pPr>
            <a:r>
              <a:rPr lang="it-IT" b="1" dirty="0">
                <a:solidFill/>
              </a:rPr>
              <a:t>Dove le prestazioni sono migliori o peggiori? Consumi Kwh/Spazi sedi </a:t>
            </a:r>
          </a:p>
          <a:p>
            <a:pPr>
              <a:buNone/>
            </a:pPr>
            <a:endParaRPr lang="it-IT" b="1" dirty="0"/>
          </a:p>
          <a:p>
            <a:pPr>
              <a:buNone/>
            </a:pPr>
            <a:r>
              <a:rPr lang="it-IT" sz="2400" b="1" dirty="0">
                <a:solidFill/>
              </a:rPr>
              <a:t>Monitor&gt;Performance&gt;Benchmark&gt;Ranking locations by </a:t>
            </a:r>
            <a:r>
              <a:rPr lang="it-IT" sz="2400" b="1" dirty="0" err="1">
                <a:solidFill/>
              </a:rPr>
              <a:t>intensity</a:t>
            </a:r>
            <a:r>
              <a:rPr lang="it-IT" sz="2400" b="1" dirty="0">
                <a:solidFill/>
              </a:rPr>
              <a:t>&gt;by m2</a:t>
            </a:r>
          </a:p>
        </p:txBody>
      </p:sp>
      <p:pic>
        <p:nvPicPr>
          <p:cNvPr id="10" name="Immagine 9">
            <a:extLst>
              <a:ext uri="{FF2B5EF4-FFF2-40B4-BE49-F238E27FC236}">
                <a16:creationId xmlns:a16="http://schemas.microsoft.com/office/drawing/2014/main" id="{0B06DE0E-AEA7-62B9-C21F-C4046DC2DFC7}"/>
              </a:ext>
            </a:extLst>
          </p:cNvPr>
          <p:cNvPicPr>
            <a:picLocks noChangeAspect="1"/>
          </p:cNvPicPr>
          <p:nvPr/>
        </p:nvPicPr>
        <p:blipFill>
          <a:blip r:embed="rId2"/>
          <a:stretch>
            <a:fillRect/>
          </a:stretch>
        </p:blipFill>
        <p:spPr>
          <a:xfrm>
            <a:off x="226295" y="2909579"/>
            <a:ext cx="24160880" cy="6182663"/>
          </a:xfrm>
          <a:prstGeom prst="rect">
            <a:avLst/>
          </a:prstGeom>
        </p:spPr>
      </p:pic>
      <p:sp>
        <p:nvSpPr>
          <p:cNvPr id="12" name="CasellaDiTesto 11">
            <a:extLst>
              <a:ext uri="{FF2B5EF4-FFF2-40B4-BE49-F238E27FC236}">
                <a16:creationId xmlns:a16="http://schemas.microsoft.com/office/drawing/2014/main" id="{20430A46-DF32-8356-DEA2-0416C4837B0E}"/>
              </a:ext>
            </a:extLst>
          </p:cNvPr>
          <p:cNvSpPr txBox="1"/>
          <p:nvPr/>
        </p:nvSpPr>
        <p:spPr>
          <a:xfrm>
            <a:off x="731520" y="9418320"/>
            <a:ext cx="11521440" cy="415498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solidFill/>
              </a:rPr>
              <a:t>Il confronto normalizzato per superficie evidenzia differenze significative tra le sedi.</a:t>
            </a:r>
          </a:p>
          <a:p>
            <a:pPr>
              <a:buNone/>
            </a:pPr>
            <a:endParaRPr lang="it-IT" sz="2400" dirty="0"/>
          </a:p>
          <a:p>
            <a:pPr>
              <a:buNone/>
            </a:pPr>
            <a:r>
              <a:rPr lang="it-IT" sz="2400" dirty="0">
                <a:solidFill/>
              </a:rPr>
              <a:t>Lo Stabilimento Segrate registra l’intensità energetica più elevata (254 kWh/m²), con un peggioramento del 14% rispetto all’anno precedente. </a:t>
            </a:r>
          </a:p>
          <a:p>
            <a:pPr>
              <a:buNone/>
            </a:pPr>
            <a:endParaRPr lang="it-IT" sz="2400" dirty="0"/>
          </a:p>
          <a:p>
            <a:pPr>
              <a:buNone/>
            </a:pPr>
            <a:r>
              <a:rPr lang="it-IT" sz="2400" dirty="0">
                <a:solidFill/>
              </a:rPr>
              <a:t>Al contrario, la sede amministrativa mantiene prestazioni stabili e Sesto San Giovanni mostra un incremento più contenuto (+4,5%). </a:t>
            </a:r>
          </a:p>
          <a:p>
            <a:pPr>
              <a:buNone/>
            </a:pPr>
            <a:endParaRPr lang="it-IT" sz="2400" dirty="0"/>
          </a:p>
          <a:p>
            <a:pPr>
              <a:buNone/>
            </a:pPr>
            <a:r>
              <a:rPr lang="it-IT" sz="2400" dirty="0">
                <a:solidFill/>
              </a:rPr>
              <a:t>Il benchmark indirizza quindi le analisi di efficientamento verso Segrate, dove il potenziale di miglioramento è maggiore.</a:t>
            </a:r>
            <a:endParaRPr lang="it-IT" sz="2400" dirty="0"/>
          </a:p>
        </p:txBody>
      </p:sp>
      <p:sp>
        <p:nvSpPr>
          <p:cNvPr id="14" name="CasellaDiTesto 13">
            <a:extLst>
              <a:ext uri="{FF2B5EF4-FFF2-40B4-BE49-F238E27FC236}">
                <a16:creationId xmlns:a16="http://schemas.microsoft.com/office/drawing/2014/main" id="{5AFBAA94-7537-2CD6-F35E-9045E2892ABF}"/>
              </a:ext>
            </a:extLst>
          </p:cNvPr>
          <p:cNvSpPr txBox="1"/>
          <p:nvPr/>
        </p:nvSpPr>
        <p:spPr>
          <a:xfrm>
            <a:off x="12984480" y="9418320"/>
            <a:ext cx="11155680"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dirty="0">
                <a:solidFill/>
              </a:rPr>
              <a:t>Questa è una conclusione completamente supportata dalla dashboard e introduce perfettamente la domanda della slide successiva: </a:t>
            </a:r>
            <a:r>
              <a:rPr lang="it-IT" sz="2400" b="1" dirty="0">
                <a:solidFill/>
              </a:rPr>
              <a:t>“Perché Segrate consuma così tanto?”</a:t>
            </a:r>
            <a:r>
              <a:rPr lang="it-IT" sz="2400" dirty="0">
                <a:solidFill/>
              </a:rPr>
              <a:t>, </a:t>
            </a:r>
          </a:p>
          <a:p>
            <a:pPr>
              <a:buNone/>
            </a:pPr>
            <a:endParaRPr lang="it-IT" sz="2400" dirty="0"/>
          </a:p>
          <a:p>
            <a:pPr>
              <a:buNone/>
            </a:pPr>
            <a:r>
              <a:rPr lang="it-IT" sz="2400" dirty="0">
                <a:solidFill/>
              </a:rPr>
              <a:t>che </a:t>
            </a:r>
            <a:r>
              <a:rPr lang="it-IT" sz="2400" b="1" dirty="0">
                <a:solidFill/>
              </a:rPr>
              <a:t>troverà risposta nelle dashboard di Utility Bill Analytics</a:t>
            </a:r>
            <a:r>
              <a:rPr lang="it-IT" sz="2400" dirty="0">
                <a:solidFill/>
              </a:rPr>
              <a:t> (</a:t>
            </a:r>
            <a:r>
              <a:rPr lang="it-IT" sz="2400" dirty="0" err="1">
                <a:solidFill/>
              </a:rPr>
              <a:t>Consumption</a:t>
            </a:r>
            <a:r>
              <a:rPr lang="it-IT" sz="2400" dirty="0">
                <a:solidFill/>
              </a:rPr>
              <a:t> Analysis, Trend Analysis, Weather </a:t>
            </a:r>
            <a:r>
              <a:rPr lang="it-IT" sz="2400" dirty="0" err="1">
                <a:solidFill/>
              </a:rPr>
              <a:t>Normalization</a:t>
            </a:r>
            <a:r>
              <a:rPr lang="it-IT" sz="2400" dirty="0">
                <a:solidFill/>
              </a:rPr>
              <a:t>, ecc.).</a:t>
            </a:r>
          </a:p>
        </p:txBody>
      </p:sp>
    </p:spTree>
    <p:extLst>
      <p:ext uri="{BB962C8B-B14F-4D97-AF65-F5344CB8AC3E}">
        <p14:creationId xmlns:p14="http://schemas.microsoft.com/office/powerpoint/2010/main" val="22976335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7E9C2089-B6E1-DF03-5C6F-543FA612F56A}"/>
              </a:ext>
            </a:extLst>
          </p:cNvPr>
          <p:cNvSpPr txBox="1"/>
          <p:nvPr/>
        </p:nvSpPr>
        <p:spPr>
          <a:xfrm>
            <a:off x="474454" y="634367"/>
            <a:ext cx="1219775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solidFill/>
              </a:rPr>
              <a:t>Monitor&gt;Performance by Scope</a:t>
            </a:r>
          </a:p>
        </p:txBody>
      </p:sp>
      <p:pic>
        <p:nvPicPr>
          <p:cNvPr id="6" name="Immagine 5">
            <a:extLst>
              <a:ext uri="{FF2B5EF4-FFF2-40B4-BE49-F238E27FC236}">
                <a16:creationId xmlns:a16="http://schemas.microsoft.com/office/drawing/2014/main" id="{7FA8D15B-5EF3-73A0-63FD-B5EF1752A3B7}"/>
              </a:ext>
            </a:extLst>
          </p:cNvPr>
          <p:cNvPicPr>
            <a:picLocks noChangeAspect="1"/>
          </p:cNvPicPr>
          <p:nvPr/>
        </p:nvPicPr>
        <p:blipFill>
          <a:blip r:embed="rId3"/>
          <a:stretch>
            <a:fillRect/>
          </a:stretch>
        </p:blipFill>
        <p:spPr>
          <a:xfrm>
            <a:off x="474454" y="3472755"/>
            <a:ext cx="22894506" cy="6282027"/>
          </a:xfrm>
          <a:prstGeom prst="rect">
            <a:avLst/>
          </a:prstGeom>
        </p:spPr>
      </p:pic>
      <p:sp>
        <p:nvSpPr>
          <p:cNvPr id="10" name="CasellaDiTesto 9">
            <a:extLst>
              <a:ext uri="{FF2B5EF4-FFF2-40B4-BE49-F238E27FC236}">
                <a16:creationId xmlns:a16="http://schemas.microsoft.com/office/drawing/2014/main" id="{E1CE921C-E911-DC20-7057-8EAD9B7C14FC}"/>
              </a:ext>
            </a:extLst>
          </p:cNvPr>
          <p:cNvSpPr txBox="1"/>
          <p:nvPr/>
        </p:nvSpPr>
        <p:spPr>
          <a:xfrm>
            <a:off x="474454" y="1476895"/>
            <a:ext cx="20522240" cy="304698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2400" b="1" dirty="0" err="1">
                <a:solidFill/>
              </a:rPr>
              <a:t>Alfago</a:t>
            </a:r>
            <a:r>
              <a:rPr lang="it-IT" sz="2400" b="1" dirty="0">
                <a:solidFill/>
              </a:rPr>
              <a:t> sta riducendo le emissioni nette principalmente grazie al miglioramento delle emissioni Scope 2 e all’incremento delle iniziative di riduzione, nonostante la crescita delle emissioni Scope 1 e Scope 3. </a:t>
            </a:r>
            <a:br>
              <a:rPr lang="it-IT" sz="2400" b="1" dirty="0">
                <a:solidFill/>
              </a:rPr>
            </a:br>
            <a:br>
              <a:rPr lang="it-IT" sz="2400" b="1" dirty="0">
                <a:solidFill/>
              </a:rPr>
            </a:br>
            <a:r>
              <a:rPr lang="it-IT" sz="2400" b="1" dirty="0">
                <a:solidFill/>
              </a:rPr>
              <a:t>I dati mostrano che l</a:t>
            </a:r>
            <a:r>
              <a:rPr lang="it-IT" sz="2400" b="1" dirty="0"/>
              <a:t>e azioni sullo Scope 2 stanno funzionando; le prossime priorità di investimento devono concentrarsi sulla riduzione delle emissioni Scope 1 e Scope 3.</a:t>
            </a:r>
            <a:endParaRPr lang="it-IT" sz="2400" dirty="0"/>
          </a:p>
          <a:p>
            <a:pPr>
              <a:buNone/>
            </a:pPr>
            <a:endParaRPr lang="it-IT" sz="2400" b="1" dirty="0">
              <a:solidFill/>
            </a:endParaRPr>
          </a:p>
          <a:p>
            <a:pPr>
              <a:buNone/>
            </a:pPr>
            <a:endParaRPr lang="it-IT" sz="2400" b="1" dirty="0"/>
          </a:p>
          <a:p>
            <a:pPr>
              <a:buNone/>
            </a:pPr>
            <a:endParaRPr lang="it-IT" sz="2400" dirty="0"/>
          </a:p>
        </p:txBody>
      </p:sp>
      <p:sp>
        <p:nvSpPr>
          <p:cNvPr id="12" name="CasellaDiTesto 11">
            <a:extLst>
              <a:ext uri="{FF2B5EF4-FFF2-40B4-BE49-F238E27FC236}">
                <a16:creationId xmlns:a16="http://schemas.microsoft.com/office/drawing/2014/main" id="{3860EE0B-4637-9207-EC7D-249B25924AED}"/>
              </a:ext>
            </a:extLst>
          </p:cNvPr>
          <p:cNvSpPr txBox="1"/>
          <p:nvPr/>
        </p:nvSpPr>
        <p:spPr>
          <a:xfrm>
            <a:off x="474454" y="9930782"/>
            <a:ext cx="9066361" cy="378565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342900" lvl="0" indent="-342900">
              <a:buFont typeface="Arial" panose="020B0604020202020204" pitchFamily="34" charset="0"/>
              <a:buChar char="•"/>
            </a:pPr>
            <a:r>
              <a:rPr lang="it-IT" sz="2400" b="1" dirty="0"/>
              <a:t>Le emissioni nette diminuiscono del 3,1%</a:t>
            </a:r>
            <a:r>
              <a:rPr lang="it-IT" sz="2400" dirty="0"/>
              <a:t> (da </a:t>
            </a:r>
            <a:r>
              <a:rPr lang="it-IT" sz="2400" b="1" dirty="0"/>
              <a:t>3.292</a:t>
            </a:r>
            <a:r>
              <a:rPr lang="it-IT" sz="2400" dirty="0"/>
              <a:t> a </a:t>
            </a:r>
            <a:r>
              <a:rPr lang="it-IT" sz="2400" b="1" dirty="0"/>
              <a:t>3.190 </a:t>
            </a:r>
            <a:r>
              <a:rPr lang="it-IT" sz="2400" b="1" dirty="0" err="1"/>
              <a:t>tCO₂e</a:t>
            </a:r>
            <a:r>
              <a:rPr lang="it-IT" sz="2400" dirty="0"/>
              <a:t>), segnale che la strategia complessiva sta producendo risultati.</a:t>
            </a:r>
          </a:p>
          <a:p>
            <a:pPr marL="342900" lvl="0" indent="-342900">
              <a:buFont typeface="Arial" panose="020B0604020202020204" pitchFamily="34" charset="0"/>
              <a:buChar char="•"/>
            </a:pPr>
            <a:r>
              <a:rPr lang="it-IT" sz="2400" b="1" dirty="0"/>
              <a:t>Lo Scope 2 si riduce del 7,7%</a:t>
            </a:r>
            <a:r>
              <a:rPr lang="it-IT" sz="2400" dirty="0"/>
              <a:t>, confermando l’efficacia dell’utilizzo di energia rinnovabile e delle Garanzie d’Origine.</a:t>
            </a:r>
          </a:p>
          <a:p>
            <a:pPr marL="342900" lvl="0" indent="-342900">
              <a:buFont typeface="Arial" panose="020B0604020202020204" pitchFamily="34" charset="0"/>
              <a:buChar char="•"/>
            </a:pPr>
            <a:r>
              <a:rPr lang="it-IT" sz="2400" b="1" dirty="0"/>
              <a:t>Scope 1 (+3,0%) e Scope 3 (+5,0%) sono invece in crescita</a:t>
            </a:r>
            <a:r>
              <a:rPr lang="it-IT" sz="2400" dirty="0"/>
              <a:t>, indicando ulteriori aree di miglioramento.</a:t>
            </a:r>
          </a:p>
          <a:p>
            <a:pPr marL="342900" lvl="0" indent="-342900">
              <a:buFont typeface="Arial" panose="020B0604020202020204" pitchFamily="34" charset="0"/>
              <a:buChar char="•"/>
            </a:pPr>
            <a:r>
              <a:rPr lang="it-IT" sz="2400" b="1" dirty="0"/>
              <a:t>Le iniziative di riduzione delle emissioni aumentano del 66%</a:t>
            </a:r>
            <a:r>
              <a:rPr lang="it-IT" sz="2400" dirty="0"/>
              <a:t>, contribuendo in modo significativo alla diminuzione delle emissioni nette.</a:t>
            </a:r>
          </a:p>
        </p:txBody>
      </p:sp>
      <p:sp>
        <p:nvSpPr>
          <p:cNvPr id="15" name="CasellaDiTesto 14">
            <a:extLst>
              <a:ext uri="{FF2B5EF4-FFF2-40B4-BE49-F238E27FC236}">
                <a16:creationId xmlns:a16="http://schemas.microsoft.com/office/drawing/2014/main" id="{890E7D27-40EF-9391-68CD-7A5E7E3CAB26}"/>
              </a:ext>
            </a:extLst>
          </p:cNvPr>
          <p:cNvSpPr txBox="1"/>
          <p:nvPr/>
        </p:nvSpPr>
        <p:spPr>
          <a:xfrm>
            <a:off x="11921707" y="9811650"/>
            <a:ext cx="11283350"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t>Il grafico evidenzia una riduzione delle emissioni a </a:t>
            </a:r>
            <a:r>
              <a:rPr lang="it-IT" sz="2400" dirty="0"/>
              <a:t>partire da gennaio 2026, seguita da un andamento stabile nei mesi successivi. </a:t>
            </a:r>
          </a:p>
          <a:p>
            <a:pPr>
              <a:buNone/>
            </a:pPr>
            <a:endParaRPr lang="it-IT" sz="2400" dirty="0"/>
          </a:p>
          <a:p>
            <a:pPr>
              <a:buNone/>
            </a:pPr>
            <a:r>
              <a:rPr lang="it-IT" sz="2400" dirty="0"/>
              <a:t>Gli offset contribuiscono ulteriormente alla diminuzione delle emissioni nette, confermando che le iniziative di decarbonizzazione producono benefici continuativi nel corso dell’anno.</a:t>
            </a:r>
          </a:p>
        </p:txBody>
      </p:sp>
    </p:spTree>
    <p:extLst>
      <p:ext uri="{BB962C8B-B14F-4D97-AF65-F5344CB8AC3E}">
        <p14:creationId xmlns:p14="http://schemas.microsoft.com/office/powerpoint/2010/main" val="281378461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F5EE5168-6917-5508-1FF5-FA004AA56950}"/>
              </a:ext>
            </a:extLst>
          </p:cNvPr>
          <p:cNvPicPr>
            <a:picLocks noChangeAspect="1"/>
          </p:cNvPicPr>
          <p:nvPr/>
        </p:nvPicPr>
        <p:blipFill>
          <a:blip r:embed="rId3"/>
          <a:stretch>
            <a:fillRect/>
          </a:stretch>
        </p:blipFill>
        <p:spPr>
          <a:xfrm>
            <a:off x="526510" y="2125049"/>
            <a:ext cx="17183820" cy="7830276"/>
          </a:xfrm>
          <a:prstGeom prst="rect">
            <a:avLst/>
          </a:prstGeom>
        </p:spPr>
      </p:pic>
      <p:sp>
        <p:nvSpPr>
          <p:cNvPr id="4" name="CasellaDiTesto 3">
            <a:extLst>
              <a:ext uri="{FF2B5EF4-FFF2-40B4-BE49-F238E27FC236}">
                <a16:creationId xmlns:a16="http://schemas.microsoft.com/office/drawing/2014/main" id="{54A2575C-172D-4F74-ECF9-D156403C75AE}"/>
              </a:ext>
            </a:extLst>
          </p:cNvPr>
          <p:cNvSpPr txBox="1"/>
          <p:nvPr/>
        </p:nvSpPr>
        <p:spPr>
          <a:xfrm>
            <a:off x="526511" y="414069"/>
            <a:ext cx="22359668" cy="14710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it-IT" kern="0">
                <a:solidFill>
                  <a:srgbClr val="000000"/>
                </a:solidFill>
                <a:ea typeface="+mj-ea"/>
                <a:cs typeface="+mj-cs"/>
                <a:sym typeface="IBM Plex Sans Light"/>
              </a:rPr>
              <a:t>Report Market Based </a:t>
            </a:r>
            <a:r>
              <a:rPr lang="it-IT" kern="0" err="1">
                <a:solidFill>
                  <a:srgbClr val="000000"/>
                </a:solidFill>
                <a:ea typeface="+mj-ea"/>
                <a:cs typeface="+mj-cs"/>
                <a:sym typeface="IBM Plex Sans Light"/>
              </a:rPr>
              <a:t>Emissions</a:t>
            </a:r>
            <a:r>
              <a:rPr lang="it-IT" kern="0">
                <a:solidFill>
                  <a:srgbClr val="000000"/>
                </a:solidFill>
                <a:ea typeface="+mj-ea"/>
                <a:cs typeface="+mj-cs"/>
                <a:sym typeface="IBM Plex Sans Light"/>
              </a:rPr>
              <a:t> V3</a:t>
            </a:r>
          </a:p>
        </p:txBody>
      </p:sp>
      <p:sp>
        <p:nvSpPr>
          <p:cNvPr id="6" name="CasellaDiTesto 5">
            <a:extLst>
              <a:ext uri="{FF2B5EF4-FFF2-40B4-BE49-F238E27FC236}">
                <a16:creationId xmlns:a16="http://schemas.microsoft.com/office/drawing/2014/main" id="{814BFEFE-4578-9F77-BECB-8DD8949DDC4F}"/>
              </a:ext>
            </a:extLst>
          </p:cNvPr>
          <p:cNvSpPr txBox="1"/>
          <p:nvPr/>
        </p:nvSpPr>
        <p:spPr>
          <a:xfrm>
            <a:off x="526510" y="1007949"/>
            <a:ext cx="21332825" cy="5232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800" b="1">
                <a:solidFill/>
              </a:rPr>
              <a:t>Qual è l’impatto delle nostre scelte di approvvigionamento di energia rinnovabile sulla riduzione delle emissioni?</a:t>
            </a:r>
            <a:endParaRPr lang="it-IT" sz="2800"/>
          </a:p>
        </p:txBody>
      </p:sp>
      <p:sp>
        <p:nvSpPr>
          <p:cNvPr id="8" name="CasellaDiTesto 7">
            <a:extLst>
              <a:ext uri="{FF2B5EF4-FFF2-40B4-BE49-F238E27FC236}">
                <a16:creationId xmlns:a16="http://schemas.microsoft.com/office/drawing/2014/main" id="{4198BF7F-63E5-E6DB-776A-A87E8B4B8F3D}"/>
              </a:ext>
            </a:extLst>
          </p:cNvPr>
          <p:cNvSpPr txBox="1"/>
          <p:nvPr/>
        </p:nvSpPr>
        <p:spPr>
          <a:xfrm>
            <a:off x="18322506" y="2125049"/>
            <a:ext cx="4787660" cy="969496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342900" lvl="0" indent="-342900">
              <a:buFont typeface="Arial" panose="020B0604020202020204" pitchFamily="34" charset="0"/>
              <a:buChar char="•"/>
            </a:pPr>
            <a:r>
              <a:rPr lang="it-IT" sz="2400" dirty="0">
                <a:solidFill/>
              </a:rPr>
              <a:t>Oltre </a:t>
            </a:r>
            <a:r>
              <a:rPr lang="it-IT" sz="2400" b="1" dirty="0">
                <a:solidFill/>
              </a:rPr>
              <a:t>due terzi dell’energia elettrica</a:t>
            </a:r>
            <a:r>
              <a:rPr lang="it-IT" sz="2400" dirty="0">
                <a:solidFill/>
              </a:rPr>
              <a:t> è coperta da fonti rinnovabili o certificati.</a:t>
            </a:r>
          </a:p>
          <a:p>
            <a:pPr lvl="0"/>
            <a:endParaRPr lang="it-IT" sz="2400" dirty="0"/>
          </a:p>
          <a:p>
            <a:pPr marL="342900" lvl="0" indent="-342900">
              <a:buFont typeface="Arial" panose="020B0604020202020204" pitchFamily="34" charset="0"/>
              <a:buChar char="•"/>
            </a:pPr>
            <a:r>
              <a:rPr lang="it-IT" sz="2400" dirty="0">
                <a:solidFill/>
              </a:rPr>
              <a:t>Grazie a questa scelta, </a:t>
            </a:r>
            <a:r>
              <a:rPr lang="it-IT" sz="2400" b="1" dirty="0">
                <a:solidFill/>
              </a:rPr>
              <a:t>le emissioni Scope 2 si riducono da 482,3 a 334,1 </a:t>
            </a:r>
            <a:r>
              <a:rPr lang="it-IT" sz="2400" b="1" dirty="0" err="1">
                <a:solidFill/>
              </a:rPr>
              <a:t>tCO₂e</a:t>
            </a:r>
            <a:r>
              <a:rPr lang="it-IT" sz="2400" dirty="0">
                <a:solidFill/>
              </a:rPr>
              <a:t>.</a:t>
            </a:r>
          </a:p>
          <a:p>
            <a:pPr lvl="0"/>
            <a:endParaRPr lang="it-IT" sz="2400" dirty="0"/>
          </a:p>
          <a:p>
            <a:pPr marL="342900" lvl="0" indent="-342900">
              <a:buFont typeface="Arial" panose="020B0604020202020204" pitchFamily="34" charset="0"/>
              <a:buChar char="•"/>
            </a:pPr>
            <a:r>
              <a:rPr lang="it-IT" sz="2400" dirty="0">
                <a:solidFill/>
              </a:rPr>
              <a:t>La differenza (</a:t>
            </a:r>
            <a:r>
              <a:rPr lang="it-IT" sz="2400" b="1" dirty="0">
                <a:solidFill/>
              </a:rPr>
              <a:t>148,2 </a:t>
            </a:r>
            <a:r>
              <a:rPr lang="it-IT" sz="2400" b="1" dirty="0" err="1">
                <a:solidFill/>
              </a:rPr>
              <a:t>tCO₂e</a:t>
            </a:r>
            <a:r>
              <a:rPr lang="it-IT" sz="2400" dirty="0">
                <a:solidFill/>
              </a:rPr>
              <a:t>) rappresenta il beneficio della strategia di acquisto di energia rinnovabile.</a:t>
            </a:r>
          </a:p>
          <a:p>
            <a:pPr>
              <a:buNone/>
            </a:pPr>
            <a:br>
              <a:rPr lang="it-IT" sz="2400" dirty="0"/>
            </a:br>
            <a:endParaRPr lang="it-IT" sz="2400" dirty="0"/>
          </a:p>
          <a:p>
            <a:pPr>
              <a:buNone/>
            </a:pPr>
            <a:r>
              <a:rPr lang="it-IT" sz="2400" b="1" dirty="0">
                <a:solidFill/>
              </a:rPr>
              <a:t>Decisione</a:t>
            </a:r>
          </a:p>
          <a:p>
            <a:pPr>
              <a:buNone/>
            </a:pPr>
            <a:endParaRPr lang="it-IT" sz="2400" b="1" dirty="0"/>
          </a:p>
          <a:p>
            <a:pPr>
              <a:buNone/>
            </a:pPr>
            <a:r>
              <a:rPr lang="it-IT" sz="2400" dirty="0">
                <a:solidFill/>
              </a:rPr>
              <a:t>L’investimento in energia rinnovabile produce un beneficio ambientale misurabile. </a:t>
            </a:r>
          </a:p>
          <a:p>
            <a:pPr>
              <a:buNone/>
            </a:pPr>
            <a:endParaRPr lang="it-IT" sz="2400" dirty="0"/>
          </a:p>
          <a:p>
            <a:pPr>
              <a:buNone/>
            </a:pPr>
            <a:r>
              <a:rPr lang="it-IT" sz="2400" dirty="0" err="1">
                <a:solidFill/>
              </a:rPr>
              <a:t>Envizi</a:t>
            </a:r>
            <a:r>
              <a:rPr lang="it-IT" sz="2400" dirty="0">
                <a:solidFill/>
              </a:rPr>
              <a:t> consente di quantificare tale beneficio e di valutare se aumentare ulteriormente la copertura da fonti rinnovabili per accelerare il percorso di decarbonizzazione.</a:t>
            </a:r>
          </a:p>
        </p:txBody>
      </p:sp>
    </p:spTree>
    <p:extLst>
      <p:ext uri="{BB962C8B-B14F-4D97-AF65-F5344CB8AC3E}">
        <p14:creationId xmlns:p14="http://schemas.microsoft.com/office/powerpoint/2010/main" val="8132079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490E41E1-D5F2-3043-1F3F-FDBCEC58F0C4}"/>
              </a:ext>
            </a:extLst>
          </p:cNvPr>
          <p:cNvPicPr>
            <a:picLocks noChangeAspect="1"/>
          </p:cNvPicPr>
          <p:nvPr/>
        </p:nvPicPr>
        <p:blipFill>
          <a:blip r:embed="rId2"/>
          <a:stretch>
            <a:fillRect/>
          </a:stretch>
        </p:blipFill>
        <p:spPr>
          <a:xfrm>
            <a:off x="465827" y="1537253"/>
            <a:ext cx="18122320" cy="8147809"/>
          </a:xfrm>
          <a:prstGeom prst="rect">
            <a:avLst/>
          </a:prstGeom>
        </p:spPr>
      </p:pic>
      <p:sp>
        <p:nvSpPr>
          <p:cNvPr id="5" name="CasellaDiTesto 4">
            <a:extLst>
              <a:ext uri="{FF2B5EF4-FFF2-40B4-BE49-F238E27FC236}">
                <a16:creationId xmlns:a16="http://schemas.microsoft.com/office/drawing/2014/main" id="{A8A8D533-0374-2F11-F366-4A15F5A3F0A9}"/>
              </a:ext>
            </a:extLst>
          </p:cNvPr>
          <p:cNvSpPr txBox="1"/>
          <p:nvPr/>
        </p:nvSpPr>
        <p:spPr>
          <a:xfrm>
            <a:off x="646982" y="444586"/>
            <a:ext cx="1219775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l" defTabSz="2438400">
              <a:spcBef>
                <a:spcPts val="2900"/>
              </a:spcBef>
              <a:buSzPct val="100000"/>
            </a:pPr>
            <a:r>
              <a:rPr lang="it-IT" sz="3600" kern="0">
                <a:solidFill>
                  <a:srgbClr val="000000"/>
                </a:solidFill>
                <a:ea typeface="+mj-ea"/>
                <a:cs typeface="+mj-cs"/>
                <a:sym typeface="IBM Plex Sans Light"/>
              </a:rPr>
              <a:t>Report Market Based </a:t>
            </a:r>
            <a:r>
              <a:rPr lang="it-IT" sz="3600" kern="0" err="1">
                <a:solidFill>
                  <a:srgbClr val="000000"/>
                </a:solidFill>
                <a:ea typeface="+mj-ea"/>
                <a:cs typeface="+mj-cs"/>
                <a:sym typeface="IBM Plex Sans Light"/>
              </a:rPr>
              <a:t>Emissions</a:t>
            </a:r>
            <a:r>
              <a:rPr lang="it-IT" sz="3600" kern="0">
                <a:solidFill>
                  <a:srgbClr val="000000"/>
                </a:solidFill>
                <a:ea typeface="+mj-ea"/>
                <a:cs typeface="+mj-cs"/>
                <a:sym typeface="IBM Plex Sans Light"/>
              </a:rPr>
              <a:t> V3 &gt; Certificate </a:t>
            </a:r>
            <a:r>
              <a:rPr lang="it-IT" sz="3600" kern="0" err="1">
                <a:solidFill>
                  <a:srgbClr val="000000"/>
                </a:solidFill>
                <a:ea typeface="+mj-ea"/>
                <a:cs typeface="+mj-cs"/>
                <a:sym typeface="IBM Plex Sans Light"/>
              </a:rPr>
              <a:t>Allocation</a:t>
            </a:r>
            <a:endParaRPr lang="it-IT" sz="3600" kern="0">
              <a:solidFill>
                <a:srgbClr val="000000"/>
              </a:solidFill>
              <a:ea typeface="+mj-ea"/>
              <a:cs typeface="+mj-cs"/>
              <a:sym typeface="IBM Plex Sans Light"/>
            </a:endParaRPr>
          </a:p>
        </p:txBody>
      </p:sp>
      <p:sp>
        <p:nvSpPr>
          <p:cNvPr id="7" name="CasellaDiTesto 6">
            <a:extLst>
              <a:ext uri="{FF2B5EF4-FFF2-40B4-BE49-F238E27FC236}">
                <a16:creationId xmlns:a16="http://schemas.microsoft.com/office/drawing/2014/main" id="{8F9FAA78-EB31-324C-311D-D1D113A1A7E3}"/>
              </a:ext>
            </a:extLst>
          </p:cNvPr>
          <p:cNvSpPr txBox="1"/>
          <p:nvPr/>
        </p:nvSpPr>
        <p:spPr>
          <a:xfrm>
            <a:off x="18754126" y="1537253"/>
            <a:ext cx="5167222" cy="1080295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err="1">
                <a:solidFill/>
              </a:rPr>
              <a:t>Envizi</a:t>
            </a:r>
            <a:r>
              <a:rPr lang="it-IT" sz="2400" b="1" dirty="0">
                <a:solidFill/>
              </a:rPr>
              <a:t> mostra in modo trasparente come viene costruito il calcolo Market Based, distinguendo energia rinnovabile </a:t>
            </a:r>
            <a:r>
              <a:rPr lang="it-IT" sz="2400" b="1" dirty="0" err="1">
                <a:solidFill/>
              </a:rPr>
              <a:t>onsite</a:t>
            </a:r>
            <a:r>
              <a:rPr lang="it-IT" sz="2400" b="1" dirty="0">
                <a:solidFill/>
              </a:rPr>
              <a:t>, Green Power e Garanzie d’Origine. </a:t>
            </a:r>
          </a:p>
          <a:p>
            <a:pPr>
              <a:buNone/>
            </a:pPr>
            <a:endParaRPr lang="it-IT" sz="2400" b="1" dirty="0"/>
          </a:p>
          <a:p>
            <a:pPr>
              <a:buNone/>
            </a:pPr>
            <a:r>
              <a:rPr lang="it-IT" sz="2400" b="1" dirty="0">
                <a:solidFill/>
              </a:rPr>
              <a:t>Per </a:t>
            </a:r>
            <a:r>
              <a:rPr lang="it-IT" sz="2400" b="1" dirty="0" err="1">
                <a:solidFill/>
              </a:rPr>
              <a:t>Alfago</a:t>
            </a:r>
            <a:r>
              <a:rPr lang="it-IT" sz="2400" b="1" dirty="0">
                <a:solidFill/>
              </a:rPr>
              <a:t>, oltre 1,1 GWh di consumi elettrici sono già coperti da fonti rinnovabili, mentre 716 MWh rappresentano il potenziale residuo di decarbonizzazione. </a:t>
            </a:r>
          </a:p>
          <a:p>
            <a:pPr>
              <a:buNone/>
            </a:pPr>
            <a:endParaRPr lang="it-IT" sz="2400" b="1" dirty="0"/>
          </a:p>
          <a:p>
            <a:pPr>
              <a:buNone/>
            </a:pPr>
            <a:r>
              <a:rPr lang="it-IT" sz="2400" b="1" dirty="0">
                <a:solidFill/>
              </a:rPr>
              <a:t>La dashboard consente di quantificare il contributo di ciascuna iniziativa e di pianificare gli investimenti futuri.</a:t>
            </a:r>
            <a:endParaRPr lang="it-IT" sz="2400" dirty="0"/>
          </a:p>
          <a:p>
            <a:pPr>
              <a:buNone/>
            </a:pPr>
            <a:br>
              <a:rPr lang="it-IT" sz="2400" dirty="0"/>
            </a:br>
            <a:endParaRPr lang="it-IT" sz="2400" dirty="0"/>
          </a:p>
          <a:p>
            <a:pPr>
              <a:buNone/>
            </a:pPr>
            <a:r>
              <a:rPr lang="it-IT" sz="2400" dirty="0">
                <a:solidFill/>
              </a:rPr>
              <a:t>Rispetto alla dashboard precedente, qui non mostri solo il risultato (“le emissioni diminuiscono”), ma </a:t>
            </a:r>
            <a:r>
              <a:rPr lang="it-IT" sz="2400" b="1" dirty="0">
                <a:solidFill/>
              </a:rPr>
              <a:t>spieghi il meccanismo</a:t>
            </a:r>
            <a:r>
              <a:rPr lang="it-IT" sz="2400" dirty="0">
                <a:solidFill/>
              </a:rPr>
              <a:t> con cui il risultato è ottenuto. </a:t>
            </a:r>
          </a:p>
          <a:p>
            <a:pPr>
              <a:buNone/>
            </a:pPr>
            <a:endParaRPr lang="it-IT" sz="2400" dirty="0"/>
          </a:p>
          <a:p>
            <a:pPr>
              <a:buNone/>
            </a:pPr>
            <a:r>
              <a:rPr lang="it-IT" sz="2400" dirty="0">
                <a:solidFill/>
              </a:rPr>
              <a:t>È una distinzione importante per un Energy Manager e anche per un revisore o una banca: il dato è </a:t>
            </a:r>
            <a:r>
              <a:rPr lang="it-IT" sz="2400" b="1" dirty="0">
                <a:solidFill/>
              </a:rPr>
              <a:t>trasparente e tracciabile</a:t>
            </a:r>
            <a:r>
              <a:rPr lang="it-IT" sz="2400" dirty="0">
                <a:solidFill/>
              </a:rPr>
              <a:t>, non solo un numero finale</a:t>
            </a:r>
          </a:p>
        </p:txBody>
      </p:sp>
    </p:spTree>
    <p:extLst>
      <p:ext uri="{BB962C8B-B14F-4D97-AF65-F5344CB8AC3E}">
        <p14:creationId xmlns:p14="http://schemas.microsoft.com/office/powerpoint/2010/main" val="317551335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5E21FA-CC58-813D-EADE-21EA6EC08E65}"/>
            </a:ext>
          </a:extLst>
        </p:cNvPr>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1CB2A0B4-BAB0-0CBC-E582-AA584D54F648}"/>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507DF463-976C-8A20-5470-58FA5F996B52}"/>
              </a:ext>
            </a:extLst>
          </p:cNvPr>
          <p:cNvSpPr>
            <a:spLocks noGrp="1"/>
          </p:cNvSpPr>
          <p:nvPr>
            <p:ph type="sldNum" sz="quarter" idx="4"/>
          </p:nvPr>
        </p:nvSpPr>
        <p:spPr/>
        <p:txBody>
          <a:bodyPr/>
          <a:lstStyle/>
          <a:p>
            <a:fld id="{86CB4B4D-7CA3-9044-876B-883B54F8677D}" type="slidenum">
              <a:rPr lang="en-US" smtClean="0"/>
              <a:pPr/>
              <a:t>10</a:t>
            </a:fld>
            <a:endParaRPr lang="en-US" dirty="0"/>
          </a:p>
        </p:txBody>
      </p:sp>
      <p:sp>
        <p:nvSpPr>
          <p:cNvPr id="2" name="CasellaDiTesto 1">
            <a:extLst>
              <a:ext uri="{FF2B5EF4-FFF2-40B4-BE49-F238E27FC236}">
                <a16:creationId xmlns:a16="http://schemas.microsoft.com/office/drawing/2014/main" id="{BD66BBD2-26CB-B1D4-8FCC-AB2C31B541B1}"/>
              </a:ext>
            </a:extLst>
          </p:cNvPr>
          <p:cNvSpPr txBox="1"/>
          <p:nvPr/>
        </p:nvSpPr>
        <p:spPr>
          <a:xfrm>
            <a:off x="646982" y="444586"/>
            <a:ext cx="18348384"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l" defTabSz="2438400">
              <a:spcBef>
                <a:spcPts val="2900"/>
              </a:spcBef>
              <a:buSzPct val="100000"/>
            </a:pPr>
            <a:r>
              <a:rPr lang="it-IT" sz="3600" kern="0">
                <a:solidFill>
                  <a:srgbClr val="000000"/>
                </a:solidFill>
                <a:ea typeface="+mj-ea"/>
                <a:cs typeface="+mj-cs"/>
                <a:sym typeface="IBM Plex Sans Light"/>
              </a:rPr>
              <a:t>Report Market Based </a:t>
            </a:r>
            <a:r>
              <a:rPr lang="it-IT" sz="3600" kern="0" err="1">
                <a:solidFill>
                  <a:srgbClr val="000000"/>
                </a:solidFill>
                <a:ea typeface="+mj-ea"/>
                <a:cs typeface="+mj-cs"/>
                <a:sym typeface="IBM Plex Sans Light"/>
              </a:rPr>
              <a:t>Emissions</a:t>
            </a:r>
            <a:r>
              <a:rPr lang="it-IT" sz="3600" kern="0">
                <a:solidFill>
                  <a:srgbClr val="000000"/>
                </a:solidFill>
                <a:ea typeface="+mj-ea"/>
                <a:cs typeface="+mj-cs"/>
                <a:sym typeface="IBM Plex Sans Light"/>
              </a:rPr>
              <a:t> V3 &gt; </a:t>
            </a:r>
            <a:r>
              <a:rPr lang="it-IT" sz="3600" kern="0" err="1">
                <a:solidFill>
                  <a:srgbClr val="000000"/>
                </a:solidFill>
                <a:ea typeface="+mj-ea"/>
                <a:cs typeface="+mj-cs"/>
                <a:sym typeface="IBM Plex Sans Light"/>
              </a:rPr>
              <a:t>Electricity</a:t>
            </a:r>
            <a:r>
              <a:rPr lang="it-IT" sz="3600" kern="0">
                <a:solidFill>
                  <a:srgbClr val="000000"/>
                </a:solidFill>
                <a:ea typeface="+mj-ea"/>
                <a:cs typeface="+mj-cs"/>
                <a:sym typeface="IBM Plex Sans Light"/>
              </a:rPr>
              <a:t> </a:t>
            </a:r>
            <a:r>
              <a:rPr lang="it-IT" sz="3600" kern="0" err="1">
                <a:solidFill>
                  <a:srgbClr val="000000"/>
                </a:solidFill>
                <a:ea typeface="+mj-ea"/>
                <a:cs typeface="+mj-cs"/>
                <a:sym typeface="IBM Plex Sans Light"/>
              </a:rPr>
              <a:t>Emission</a:t>
            </a:r>
            <a:r>
              <a:rPr lang="it-IT" sz="3600" kern="0">
                <a:solidFill>
                  <a:srgbClr val="000000"/>
                </a:solidFill>
                <a:ea typeface="+mj-ea"/>
                <a:cs typeface="+mj-cs"/>
                <a:sym typeface="IBM Plex Sans Light"/>
              </a:rPr>
              <a:t> Inventory</a:t>
            </a:r>
          </a:p>
        </p:txBody>
      </p:sp>
      <p:pic>
        <p:nvPicPr>
          <p:cNvPr id="10" name="Immagine 9">
            <a:extLst>
              <a:ext uri="{FF2B5EF4-FFF2-40B4-BE49-F238E27FC236}">
                <a16:creationId xmlns:a16="http://schemas.microsoft.com/office/drawing/2014/main" id="{49E78063-022F-8B25-B44F-098D71F66678}"/>
              </a:ext>
            </a:extLst>
          </p:cNvPr>
          <p:cNvPicPr>
            <a:picLocks noChangeAspect="1"/>
          </p:cNvPicPr>
          <p:nvPr/>
        </p:nvPicPr>
        <p:blipFill>
          <a:blip r:embed="rId2"/>
          <a:stretch>
            <a:fillRect/>
          </a:stretch>
        </p:blipFill>
        <p:spPr>
          <a:xfrm>
            <a:off x="568324" y="2624065"/>
            <a:ext cx="17697574" cy="8647022"/>
          </a:xfrm>
          <a:prstGeom prst="rect">
            <a:avLst/>
          </a:prstGeom>
        </p:spPr>
      </p:pic>
      <p:sp>
        <p:nvSpPr>
          <p:cNvPr id="12" name="CasellaDiTesto 11">
            <a:extLst>
              <a:ext uri="{FF2B5EF4-FFF2-40B4-BE49-F238E27FC236}">
                <a16:creationId xmlns:a16="http://schemas.microsoft.com/office/drawing/2014/main" id="{2AFB4CB5-F440-8912-C2E0-28AA4C164E85}"/>
              </a:ext>
            </a:extLst>
          </p:cNvPr>
          <p:cNvSpPr txBox="1"/>
          <p:nvPr/>
        </p:nvSpPr>
        <p:spPr>
          <a:xfrm>
            <a:off x="646982" y="1176864"/>
            <a:ext cx="1219775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solidFill/>
              </a:rPr>
              <a:t>Dove investire per ridurre le emissioni Scope 2</a:t>
            </a:r>
            <a:endParaRPr lang="it-IT"/>
          </a:p>
        </p:txBody>
      </p:sp>
      <p:sp>
        <p:nvSpPr>
          <p:cNvPr id="16" name="CasellaDiTesto 15">
            <a:extLst>
              <a:ext uri="{FF2B5EF4-FFF2-40B4-BE49-F238E27FC236}">
                <a16:creationId xmlns:a16="http://schemas.microsoft.com/office/drawing/2014/main" id="{A816CCA9-F79D-8D80-F75A-982A6DCD4DFE}"/>
              </a:ext>
            </a:extLst>
          </p:cNvPr>
          <p:cNvSpPr txBox="1"/>
          <p:nvPr/>
        </p:nvSpPr>
        <p:spPr>
          <a:xfrm>
            <a:off x="18781025" y="2624065"/>
            <a:ext cx="5037826" cy="563231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solidFill/>
              </a:rPr>
              <a:t>Cosa comprende il management</a:t>
            </a:r>
          </a:p>
          <a:p>
            <a:pPr>
              <a:buNone/>
            </a:pPr>
            <a:endParaRPr lang="it-IT" sz="2400" b="1" dirty="0"/>
          </a:p>
          <a:p>
            <a:pPr>
              <a:buNone/>
            </a:pPr>
            <a:r>
              <a:rPr lang="it-IT" sz="2400" b="1" dirty="0">
                <a:solidFill/>
              </a:rPr>
              <a:t>La decarbonizzazione non deve essere uniforme.</a:t>
            </a:r>
            <a:endParaRPr lang="it-IT" sz="2400" dirty="0"/>
          </a:p>
          <a:p>
            <a:pPr>
              <a:buNone/>
            </a:pPr>
            <a:endParaRPr lang="it-IT" sz="2400" dirty="0"/>
          </a:p>
          <a:p>
            <a:pPr>
              <a:buNone/>
            </a:pPr>
            <a:r>
              <a:rPr lang="it-IT" sz="2400" dirty="0">
                <a:solidFill/>
              </a:rPr>
              <a:t>Le priorità sono diverse.</a:t>
            </a:r>
          </a:p>
          <a:p>
            <a:pPr>
              <a:buNone/>
            </a:pPr>
            <a:endParaRPr lang="it-IT" sz="2400" dirty="0"/>
          </a:p>
          <a:p>
            <a:pPr marL="342900" lvl="0" indent="-342900">
              <a:buFont typeface="Arial" panose="020B0604020202020204" pitchFamily="34" charset="0"/>
              <a:buChar char="•"/>
            </a:pPr>
            <a:r>
              <a:rPr lang="it-IT" sz="2400" dirty="0">
                <a:solidFill/>
              </a:rPr>
              <a:t>Milano è già completamente coperta.</a:t>
            </a:r>
          </a:p>
          <a:p>
            <a:pPr marL="342900" lvl="0" indent="-342900">
              <a:buFont typeface="Arial" panose="020B0604020202020204" pitchFamily="34" charset="0"/>
              <a:buChar char="•"/>
            </a:pPr>
            <a:r>
              <a:rPr lang="it-IT" sz="2400" dirty="0">
                <a:solidFill/>
              </a:rPr>
              <a:t>Sesto è in buona posizione.</a:t>
            </a:r>
          </a:p>
          <a:p>
            <a:pPr marL="342900" lvl="0" indent="-342900">
              <a:buFont typeface="Arial" panose="020B0604020202020204" pitchFamily="34" charset="0"/>
              <a:buChar char="•"/>
            </a:pPr>
            <a:r>
              <a:rPr lang="it-IT" sz="2400" b="1" dirty="0">
                <a:solidFill/>
              </a:rPr>
              <a:t>Segrate è il sito dove ogni euro investito produce il maggiore beneficio ambientale.</a:t>
            </a:r>
            <a:endParaRPr lang="it-IT" sz="2400" dirty="0"/>
          </a:p>
          <a:p>
            <a:pPr>
              <a:buNone/>
            </a:pPr>
            <a:br>
              <a:rPr lang="it-IT" sz="2400" dirty="0"/>
            </a:br>
            <a:endParaRPr lang="it-IT" sz="2400" dirty="0"/>
          </a:p>
        </p:txBody>
      </p:sp>
    </p:spTree>
    <p:extLst>
      <p:ext uri="{BB962C8B-B14F-4D97-AF65-F5344CB8AC3E}">
        <p14:creationId xmlns:p14="http://schemas.microsoft.com/office/powerpoint/2010/main" val="287875104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975DFF0B-C296-4FF4-41A7-B193DDDFD155}"/>
              </a:ext>
            </a:extLst>
          </p:cNvPr>
          <p:cNvSpPr>
            <a:spLocks noGrp="1"/>
          </p:cNvSpPr>
          <p:nvPr>
            <p:ph type="sldNum" sz="quarter" idx="4"/>
          </p:nvPr>
        </p:nvSpPr>
        <p:spPr/>
        <p:txBody>
          <a:bodyPr/>
          <a:lstStyle/>
          <a:p>
            <a:fld id="{86CB4B4D-7CA3-9044-876B-883B54F8677D}" type="slidenum">
              <a:rPr lang="en-US" smtClean="0"/>
              <a:pPr/>
              <a:t>11</a:t>
            </a:fld>
            <a:endParaRPr lang="en-US" dirty="0"/>
          </a:p>
        </p:txBody>
      </p:sp>
      <p:pic>
        <p:nvPicPr>
          <p:cNvPr id="6" name="Immagine 5">
            <a:extLst>
              <a:ext uri="{FF2B5EF4-FFF2-40B4-BE49-F238E27FC236}">
                <a16:creationId xmlns:a16="http://schemas.microsoft.com/office/drawing/2014/main" id="{05D225DD-6F72-21F2-8703-552C01603238}"/>
              </a:ext>
            </a:extLst>
          </p:cNvPr>
          <p:cNvPicPr>
            <a:picLocks noChangeAspect="1"/>
          </p:cNvPicPr>
          <p:nvPr/>
        </p:nvPicPr>
        <p:blipFill>
          <a:blip r:embed="rId3"/>
          <a:stretch>
            <a:fillRect/>
          </a:stretch>
        </p:blipFill>
        <p:spPr>
          <a:xfrm>
            <a:off x="1480827" y="1247775"/>
            <a:ext cx="20948214" cy="11220450"/>
          </a:xfrm>
          <a:prstGeom prst="rect">
            <a:avLst/>
          </a:prstGeom>
        </p:spPr>
      </p:pic>
      <p:sp>
        <p:nvSpPr>
          <p:cNvPr id="8" name="CasellaDiTesto 7">
            <a:extLst>
              <a:ext uri="{FF2B5EF4-FFF2-40B4-BE49-F238E27FC236}">
                <a16:creationId xmlns:a16="http://schemas.microsoft.com/office/drawing/2014/main" id="{95997F06-79C6-3FD4-6E38-B29ADD24A64A}"/>
              </a:ext>
            </a:extLst>
          </p:cNvPr>
          <p:cNvSpPr txBox="1"/>
          <p:nvPr/>
        </p:nvSpPr>
        <p:spPr>
          <a:xfrm>
            <a:off x="14137650" y="8705504"/>
            <a:ext cx="6769074" cy="3416320"/>
          </a:xfrm>
          <a:prstGeom prst="rect">
            <a:avLst/>
          </a:prstGeom>
          <a:solidFill>
            <a:schemeClr val="bg1"/>
          </a:solidFill>
          <a:ln w="111125">
            <a:solidFill>
              <a:srgbClr val="D7E0F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a:t>Certificates – Green Power kWh = 459.103 kWh</a:t>
            </a:r>
            <a:endParaRPr lang="it-IT" sz="2400"/>
          </a:p>
          <a:p>
            <a:pPr>
              <a:buNone/>
            </a:pPr>
            <a:r>
              <a:rPr lang="it-IT" sz="2400"/>
              <a:t>Questa è la colonna dove </a:t>
            </a:r>
            <a:r>
              <a:rPr lang="it-IT" sz="2400" err="1"/>
              <a:t>Envizi</a:t>
            </a:r>
            <a:r>
              <a:rPr lang="it-IT" sz="2400"/>
              <a:t> contabilizza normalmente:</a:t>
            </a:r>
          </a:p>
          <a:p>
            <a:pPr marL="342900" lvl="0" indent="-342900">
              <a:buFont typeface="Arial" panose="020B0604020202020204" pitchFamily="34" charset="0"/>
              <a:buChar char="•"/>
            </a:pPr>
            <a:r>
              <a:rPr lang="it-IT" sz="2400"/>
              <a:t>Garanzie d’Origine (Europa)</a:t>
            </a:r>
          </a:p>
          <a:p>
            <a:pPr marL="342900" lvl="0" indent="-342900">
              <a:buFont typeface="Arial" panose="020B0604020202020204" pitchFamily="34" charset="0"/>
              <a:buChar char="•"/>
            </a:pPr>
            <a:r>
              <a:rPr lang="it-IT" sz="2400"/>
              <a:t>REC (USA)</a:t>
            </a:r>
          </a:p>
          <a:p>
            <a:pPr marL="342900" lvl="0" indent="-342900">
              <a:buFont typeface="Arial" panose="020B0604020202020204" pitchFamily="34" charset="0"/>
              <a:buChar char="•"/>
            </a:pPr>
            <a:r>
              <a:rPr lang="it-IT" sz="2400"/>
              <a:t>I-REC</a:t>
            </a:r>
          </a:p>
          <a:p>
            <a:pPr marL="342900" lvl="0" indent="-342900">
              <a:buFont typeface="Arial" panose="020B0604020202020204" pitchFamily="34" charset="0"/>
              <a:buChar char="•"/>
            </a:pPr>
            <a:r>
              <a:rPr lang="it-IT" sz="2400"/>
              <a:t>certificati equivalenti</a:t>
            </a:r>
          </a:p>
          <a:p>
            <a:pPr>
              <a:buNone/>
            </a:pPr>
            <a:r>
              <a:rPr lang="it-IT" sz="2400"/>
              <a:t>rappresenta le </a:t>
            </a:r>
            <a:r>
              <a:rPr lang="it-IT" sz="2400" b="1"/>
              <a:t>GO</a:t>
            </a:r>
            <a:r>
              <a:rPr lang="it-IT" sz="2400"/>
              <a:t>.</a:t>
            </a:r>
          </a:p>
        </p:txBody>
      </p:sp>
      <p:sp>
        <p:nvSpPr>
          <p:cNvPr id="10" name="CasellaDiTesto 9">
            <a:extLst>
              <a:ext uri="{FF2B5EF4-FFF2-40B4-BE49-F238E27FC236}">
                <a16:creationId xmlns:a16="http://schemas.microsoft.com/office/drawing/2014/main" id="{61D74CE0-C7CF-591A-8C70-664969A05275}"/>
              </a:ext>
            </a:extLst>
          </p:cNvPr>
          <p:cNvSpPr txBox="1"/>
          <p:nvPr/>
        </p:nvSpPr>
        <p:spPr>
          <a:xfrm>
            <a:off x="1480826" y="47446"/>
            <a:ext cx="20176907"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l" defTabSz="2438400">
              <a:spcBef>
                <a:spcPts val="2900"/>
              </a:spcBef>
              <a:buSzPct val="100000"/>
            </a:pPr>
            <a:r>
              <a:rPr lang="it-IT" sz="3600" kern="0">
                <a:solidFill>
                  <a:srgbClr val="000000"/>
                </a:solidFill>
                <a:ea typeface="+mj-ea"/>
                <a:cs typeface="+mj-cs"/>
                <a:sym typeface="IBM Plex Sans Light"/>
              </a:rPr>
              <a:t>Report Market Based </a:t>
            </a:r>
            <a:r>
              <a:rPr lang="it-IT" sz="3600" kern="0" err="1">
                <a:solidFill>
                  <a:srgbClr val="000000"/>
                </a:solidFill>
                <a:ea typeface="+mj-ea"/>
                <a:cs typeface="+mj-cs"/>
                <a:sym typeface="IBM Plex Sans Light"/>
              </a:rPr>
              <a:t>Emissions</a:t>
            </a:r>
            <a:r>
              <a:rPr lang="it-IT" sz="3600" kern="0">
                <a:solidFill>
                  <a:srgbClr val="000000"/>
                </a:solidFill>
                <a:ea typeface="+mj-ea"/>
                <a:cs typeface="+mj-cs"/>
                <a:sym typeface="IBM Plex Sans Light"/>
              </a:rPr>
              <a:t> V3 &gt; </a:t>
            </a:r>
            <a:r>
              <a:rPr lang="it-IT" sz="3600" kern="0" err="1">
                <a:solidFill>
                  <a:srgbClr val="000000"/>
                </a:solidFill>
                <a:ea typeface="+mj-ea"/>
                <a:cs typeface="+mj-cs"/>
                <a:sym typeface="IBM Plex Sans Light"/>
              </a:rPr>
              <a:t>Electricity</a:t>
            </a:r>
            <a:r>
              <a:rPr lang="it-IT" sz="3600" kern="0">
                <a:solidFill>
                  <a:srgbClr val="000000"/>
                </a:solidFill>
                <a:ea typeface="+mj-ea"/>
                <a:cs typeface="+mj-cs"/>
                <a:sym typeface="IBM Plex Sans Light"/>
              </a:rPr>
              <a:t> </a:t>
            </a:r>
            <a:r>
              <a:rPr lang="it-IT" sz="3600" kern="0" err="1">
                <a:solidFill>
                  <a:srgbClr val="000000"/>
                </a:solidFill>
                <a:ea typeface="+mj-ea"/>
                <a:cs typeface="+mj-cs"/>
                <a:sym typeface="IBM Plex Sans Light"/>
              </a:rPr>
              <a:t>Emission</a:t>
            </a:r>
            <a:r>
              <a:rPr lang="it-IT" sz="3600" kern="0">
                <a:solidFill>
                  <a:srgbClr val="000000"/>
                </a:solidFill>
                <a:ea typeface="+mj-ea"/>
                <a:cs typeface="+mj-cs"/>
                <a:sym typeface="IBM Plex Sans Light"/>
              </a:rPr>
              <a:t> Inventory  &gt; </a:t>
            </a:r>
            <a:r>
              <a:rPr lang="it-IT" sz="3600" kern="0" err="1">
                <a:solidFill>
                  <a:srgbClr val="000000"/>
                </a:solidFill>
                <a:ea typeface="+mj-ea"/>
                <a:cs typeface="+mj-cs"/>
                <a:sym typeface="IBM Plex Sans Light"/>
              </a:rPr>
              <a:t>Detailed</a:t>
            </a:r>
            <a:r>
              <a:rPr lang="it-IT" sz="3600" kern="0">
                <a:solidFill>
                  <a:srgbClr val="000000"/>
                </a:solidFill>
                <a:ea typeface="+mj-ea"/>
                <a:cs typeface="+mj-cs"/>
                <a:sym typeface="IBM Plex Sans Light"/>
              </a:rPr>
              <a:t> View</a:t>
            </a:r>
          </a:p>
        </p:txBody>
      </p:sp>
      <p:sp>
        <p:nvSpPr>
          <p:cNvPr id="11" name="Ovale 10">
            <a:extLst>
              <a:ext uri="{FF2B5EF4-FFF2-40B4-BE49-F238E27FC236}">
                <a16:creationId xmlns:a16="http://schemas.microsoft.com/office/drawing/2014/main" id="{51C8865D-1527-9C95-0157-492C984B516B}"/>
              </a:ext>
            </a:extLst>
          </p:cNvPr>
          <p:cNvSpPr/>
          <p:nvPr/>
        </p:nvSpPr>
        <p:spPr bwMode="auto">
          <a:xfrm>
            <a:off x="13580533" y="3657601"/>
            <a:ext cx="2607734" cy="2032000"/>
          </a:xfrm>
          <a:prstGeom prst="ellipse">
            <a:avLst/>
          </a:prstGeom>
          <a:solidFill>
            <a:srgbClr val="E5F6FF">
              <a:alpha val="23000"/>
            </a:srgbClr>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sp>
        <p:nvSpPr>
          <p:cNvPr id="13" name="CasellaDiTesto 12">
            <a:extLst>
              <a:ext uri="{FF2B5EF4-FFF2-40B4-BE49-F238E27FC236}">
                <a16:creationId xmlns:a16="http://schemas.microsoft.com/office/drawing/2014/main" id="{C84A70B0-7727-80DD-1767-260D02C4979B}"/>
              </a:ext>
            </a:extLst>
          </p:cNvPr>
          <p:cNvSpPr txBox="1"/>
          <p:nvPr/>
        </p:nvSpPr>
        <p:spPr>
          <a:xfrm>
            <a:off x="6983562" y="9268576"/>
            <a:ext cx="5631772" cy="3046988"/>
          </a:xfrm>
          <a:prstGeom prst="rect">
            <a:avLst/>
          </a:prstGeom>
          <a:solidFill>
            <a:schemeClr val="bg1"/>
          </a:solidFill>
          <a:ln w="66675">
            <a:solidFill>
              <a:srgbClr val="D7E0F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t>Nel nostro esempio, 459.103 kWh sono coperti da certificati di energia verde (Green Power), mentre 128.500 kWh provengono da produzione rinnovabile </a:t>
            </a:r>
            <a:r>
              <a:rPr lang="it-IT" sz="2400" b="1" dirty="0" err="1"/>
              <a:t>onsite</a:t>
            </a:r>
            <a:r>
              <a:rPr lang="it-IT" sz="2400" b="1" dirty="0"/>
              <a:t>.</a:t>
            </a:r>
          </a:p>
          <a:p>
            <a:pPr>
              <a:buNone/>
            </a:pPr>
            <a:r>
              <a:rPr lang="it-IT" sz="2400" b="1" dirty="0"/>
              <a:t>Insieme riducono l’energia di rete priva di attributi rinnovabili e quindi le emissioni Scope 2 market-</a:t>
            </a:r>
            <a:r>
              <a:rPr lang="it-IT" sz="2400" b="1" dirty="0" err="1"/>
              <a:t>based</a:t>
            </a:r>
            <a:r>
              <a:rPr lang="it-IT" sz="2400" b="1" dirty="0"/>
              <a:t>.</a:t>
            </a:r>
            <a:endParaRPr lang="it-IT" sz="2400" dirty="0"/>
          </a:p>
        </p:txBody>
      </p:sp>
      <p:sp>
        <p:nvSpPr>
          <p:cNvPr id="14" name="Ovale 13">
            <a:extLst>
              <a:ext uri="{FF2B5EF4-FFF2-40B4-BE49-F238E27FC236}">
                <a16:creationId xmlns:a16="http://schemas.microsoft.com/office/drawing/2014/main" id="{35CDD129-FBB7-0C3C-6F43-C0918CD9D505}"/>
              </a:ext>
            </a:extLst>
          </p:cNvPr>
          <p:cNvSpPr/>
          <p:nvPr/>
        </p:nvSpPr>
        <p:spPr bwMode="auto">
          <a:xfrm>
            <a:off x="7789333" y="3701006"/>
            <a:ext cx="2607734" cy="2032000"/>
          </a:xfrm>
          <a:prstGeom prst="ellipse">
            <a:avLst/>
          </a:prstGeom>
          <a:solidFill>
            <a:srgbClr val="E5F6FF">
              <a:alpha val="23000"/>
            </a:srgbClr>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it-IT" sz="2000" b="0" i="0" u="none" strike="noStrike" cap="none" normalizeH="0" baseline="0">
              <a:ln>
                <a:noFill/>
              </a:ln>
              <a:solidFill>
                <a:schemeClr val="bg1"/>
              </a:solidFill>
              <a:effectLst/>
              <a:latin typeface="IBM Plex Sans" panose="020B0503050203000203" pitchFamily="34" charset="0"/>
            </a:endParaRPr>
          </a:p>
        </p:txBody>
      </p:sp>
      <p:sp>
        <p:nvSpPr>
          <p:cNvPr id="16" name="CasellaDiTesto 15">
            <a:extLst>
              <a:ext uri="{FF2B5EF4-FFF2-40B4-BE49-F238E27FC236}">
                <a16:creationId xmlns:a16="http://schemas.microsoft.com/office/drawing/2014/main" id="{CE92F69B-593C-39D9-39A1-C873FC9CDDB9}"/>
              </a:ext>
            </a:extLst>
          </p:cNvPr>
          <p:cNvSpPr txBox="1"/>
          <p:nvPr/>
        </p:nvSpPr>
        <p:spPr>
          <a:xfrm>
            <a:off x="2624667" y="12708005"/>
            <a:ext cx="20286158"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2400" b="1"/>
              <a:t>** PPA Parco Eolico Alfa: esempio di nome account da usare per </a:t>
            </a:r>
            <a:r>
              <a:rPr lang="it-IT" sz="2400" b="1" err="1"/>
              <a:t>mostraree</a:t>
            </a:r>
            <a:r>
              <a:rPr lang="it-IT" sz="2400" b="1"/>
              <a:t> </a:t>
            </a:r>
            <a:r>
              <a:rPr lang="it-IT" sz="2400"/>
              <a:t>da dove arrivano i kWh rinnovabili, anche se il report li aggrega poi nella colonna </a:t>
            </a:r>
            <a:r>
              <a:rPr lang="it-IT" sz="2400" b="1"/>
              <a:t>Certificates – Green Power</a:t>
            </a:r>
            <a:endParaRPr lang="it-IT" sz="2400"/>
          </a:p>
          <a:p>
            <a:pPr lvl="0"/>
            <a:endParaRPr lang="it-IT" sz="2400"/>
          </a:p>
        </p:txBody>
      </p:sp>
      <p:sp>
        <p:nvSpPr>
          <p:cNvPr id="17" name="CasellaDiTesto 16">
            <a:extLst>
              <a:ext uri="{FF2B5EF4-FFF2-40B4-BE49-F238E27FC236}">
                <a16:creationId xmlns:a16="http://schemas.microsoft.com/office/drawing/2014/main" id="{AF895AA6-B775-C6CF-0244-05C4CAB17CD7}"/>
              </a:ext>
            </a:extLst>
          </p:cNvPr>
          <p:cNvSpPr txBox="1"/>
          <p:nvPr/>
        </p:nvSpPr>
        <p:spPr>
          <a:xfrm>
            <a:off x="2624667" y="8474672"/>
            <a:ext cx="7349066"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2400" b="1"/>
              <a:t>**</a:t>
            </a:r>
            <a:endParaRPr lang="it-IT" sz="2400"/>
          </a:p>
        </p:txBody>
      </p:sp>
    </p:spTree>
    <p:extLst>
      <p:ext uri="{BB962C8B-B14F-4D97-AF65-F5344CB8AC3E}">
        <p14:creationId xmlns:p14="http://schemas.microsoft.com/office/powerpoint/2010/main" val="51214913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909180AC-4375-7751-A1F7-C95F518A1B1A}"/>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22BEB83E-BBEE-51AD-5E81-AFF99A041683}"/>
              </a:ext>
            </a:extLst>
          </p:cNvPr>
          <p:cNvSpPr>
            <a:spLocks noGrp="1"/>
          </p:cNvSpPr>
          <p:nvPr>
            <p:ph type="sldNum" sz="quarter" idx="4"/>
          </p:nvPr>
        </p:nvSpPr>
        <p:spPr/>
        <p:txBody>
          <a:bodyPr/>
          <a:lstStyle/>
          <a:p>
            <a:fld id="{86CB4B4D-7CA3-9044-876B-883B54F8677D}" type="slidenum">
              <a:rPr lang="en-US" smtClean="0"/>
              <a:pPr/>
              <a:t>12</a:t>
            </a:fld>
            <a:endParaRPr lang="en-US" dirty="0"/>
          </a:p>
        </p:txBody>
      </p:sp>
      <p:graphicFrame>
        <p:nvGraphicFramePr>
          <p:cNvPr id="5" name="Tabella 4">
            <a:extLst>
              <a:ext uri="{FF2B5EF4-FFF2-40B4-BE49-F238E27FC236}">
                <a16:creationId xmlns:a16="http://schemas.microsoft.com/office/drawing/2014/main" id="{9FC48A68-CF80-2236-5FC1-78A0B17B8AA9}"/>
              </a:ext>
            </a:extLst>
          </p:cNvPr>
          <p:cNvGraphicFramePr>
            <a:graphicFrameLocks noGrp="1"/>
          </p:cNvGraphicFramePr>
          <p:nvPr>
            <p:extLst>
              <p:ext uri="{D42A27DB-BD31-4B8C-83A1-F6EECF244321}">
                <p14:modId xmlns:p14="http://schemas.microsoft.com/office/powerpoint/2010/main" val="1430864396"/>
              </p:ext>
            </p:extLst>
          </p:nvPr>
        </p:nvGraphicFramePr>
        <p:xfrm>
          <a:off x="1086920" y="1324530"/>
          <a:ext cx="22590126" cy="9265920"/>
        </p:xfrm>
        <a:graphic>
          <a:graphicData uri="http://schemas.openxmlformats.org/drawingml/2006/table">
            <a:tbl>
              <a:tblPr>
                <a:tableStyleId>{5C22544A-7EE6-4342-B048-85BDC9FD1C3A}</a:tableStyleId>
              </a:tblPr>
              <a:tblGrid>
                <a:gridCol w="7530042">
                  <a:extLst>
                    <a:ext uri="{9D8B030D-6E8A-4147-A177-3AD203B41FA5}">
                      <a16:colId xmlns:a16="http://schemas.microsoft.com/office/drawing/2014/main" val="240433612"/>
                    </a:ext>
                  </a:extLst>
                </a:gridCol>
                <a:gridCol w="7530042">
                  <a:extLst>
                    <a:ext uri="{9D8B030D-6E8A-4147-A177-3AD203B41FA5}">
                      <a16:colId xmlns:a16="http://schemas.microsoft.com/office/drawing/2014/main" val="873470980"/>
                    </a:ext>
                  </a:extLst>
                </a:gridCol>
                <a:gridCol w="7530042">
                  <a:extLst>
                    <a:ext uri="{9D8B030D-6E8A-4147-A177-3AD203B41FA5}">
                      <a16:colId xmlns:a16="http://schemas.microsoft.com/office/drawing/2014/main" val="480850705"/>
                    </a:ext>
                  </a:extLst>
                </a:gridCol>
              </a:tblGrid>
              <a:tr h="396240">
                <a:tc>
                  <a:txBody>
                    <a:bodyPr/>
                    <a:lstStyle/>
                    <a:p>
                      <a:pPr algn="l">
                        <a:buNone/>
                      </a:pPr>
                      <a:r>
                        <a:rPr lang="it-IT" sz="2400" b="1" dirty="0">
                          <a:solidFill>
                            <a:schemeClr val="tx1"/>
                          </a:solidFill>
                          <a:effectLst/>
                        </a:rPr>
                        <a:t>Colonna</a:t>
                      </a:r>
                    </a:p>
                  </a:txBody>
                  <a:tcPr marL="114300" marR="114300" marT="76200" marB="76200" anchor="ctr"/>
                </a:tc>
                <a:tc>
                  <a:txBody>
                    <a:bodyPr/>
                    <a:lstStyle/>
                    <a:p>
                      <a:pPr algn="l">
                        <a:buNone/>
                      </a:pPr>
                      <a:r>
                        <a:rPr lang="it-IT" sz="2400" b="1" dirty="0">
                          <a:solidFill>
                            <a:schemeClr val="tx1"/>
                          </a:solidFill>
                          <a:effectLst/>
                        </a:rPr>
                        <a:t>Significato</a:t>
                      </a:r>
                    </a:p>
                  </a:txBody>
                  <a:tcPr marL="114300" marR="114300" marT="76200" marB="76200" anchor="ctr"/>
                </a:tc>
                <a:tc>
                  <a:txBody>
                    <a:bodyPr/>
                    <a:lstStyle/>
                    <a:p>
                      <a:pPr algn="l">
                        <a:buNone/>
                      </a:pPr>
                      <a:r>
                        <a:rPr lang="it-IT" sz="2400" b="1" dirty="0">
                          <a:solidFill>
                            <a:schemeClr val="tx1"/>
                          </a:solidFill>
                          <a:effectLst/>
                        </a:rPr>
                        <a:t>Come la interpreta l’Energy Manager</a:t>
                      </a:r>
                    </a:p>
                  </a:txBody>
                  <a:tcPr marL="114300" marR="114300" marT="76200" marB="76200" anchor="ctr"/>
                </a:tc>
                <a:extLst>
                  <a:ext uri="{0D108BD9-81ED-4DB2-BD59-A6C34878D82A}">
                    <a16:rowId xmlns:a16="http://schemas.microsoft.com/office/drawing/2014/main" val="1187759369"/>
                  </a:ext>
                </a:extLst>
              </a:tr>
              <a:tr h="396240">
                <a:tc>
                  <a:txBody>
                    <a:bodyPr/>
                    <a:lstStyle/>
                    <a:p>
                      <a:pPr algn="l">
                        <a:buNone/>
                      </a:pPr>
                      <a:r>
                        <a:rPr lang="it-IT" sz="2400" dirty="0">
                          <a:solidFill>
                            <a:schemeClr val="tx1"/>
                          </a:solidFill>
                          <a:effectLst/>
                        </a:rPr>
                        <a:t>Total </a:t>
                      </a:r>
                      <a:r>
                        <a:rPr lang="it-IT" sz="2400" dirty="0" err="1">
                          <a:solidFill>
                            <a:schemeClr val="tx1"/>
                          </a:solidFill>
                          <a:effectLst/>
                        </a:rPr>
                        <a:t>Consumption</a:t>
                      </a:r>
                      <a:r>
                        <a:rPr lang="it-IT" sz="2400" dirty="0">
                          <a:solidFill>
                            <a:schemeClr val="tx1"/>
                          </a:solidFill>
                          <a:effectLst/>
                        </a:rPr>
                        <a:t> (kWh)</a:t>
                      </a:r>
                    </a:p>
                  </a:txBody>
                  <a:tcPr marL="114300" marR="114300" marT="76200" marB="76200" anchor="ctr">
                    <a:solidFill>
                      <a:schemeClr val="bg1"/>
                    </a:solidFill>
                  </a:tcPr>
                </a:tc>
                <a:tc>
                  <a:txBody>
                    <a:bodyPr/>
                    <a:lstStyle/>
                    <a:p>
                      <a:pPr algn="l">
                        <a:buNone/>
                      </a:pPr>
                      <a:r>
                        <a:rPr lang="it-IT" sz="2400" dirty="0">
                          <a:solidFill>
                            <a:schemeClr val="tx1"/>
                          </a:solidFill>
                          <a:effectLst/>
                        </a:rPr>
                        <a:t>Consumo totale di energia elettrica della location nel periodo.</a:t>
                      </a:r>
                    </a:p>
                  </a:txBody>
                  <a:tcPr marL="114300" marR="114300" marT="76200" marB="76200" anchor="ctr">
                    <a:solidFill>
                      <a:schemeClr val="bg1"/>
                    </a:solidFill>
                  </a:tcPr>
                </a:tc>
                <a:tc>
                  <a:txBody>
                    <a:bodyPr/>
                    <a:lstStyle/>
                    <a:p>
                      <a:pPr algn="l">
                        <a:buNone/>
                      </a:pPr>
                      <a:r>
                        <a:rPr lang="it-IT" sz="2400" dirty="0">
                          <a:solidFill>
                            <a:schemeClr val="tx1"/>
                          </a:solidFill>
                          <a:effectLst/>
                        </a:rPr>
                        <a:t>Quanta elettricità è stata utilizzata dalla sede. È il punto di partenza del calcolo.</a:t>
                      </a:r>
                    </a:p>
                  </a:txBody>
                  <a:tcPr marL="114300" marR="114300" marT="76200" marB="76200" anchor="ctr">
                    <a:solidFill>
                      <a:schemeClr val="bg1"/>
                    </a:solidFill>
                  </a:tcPr>
                </a:tc>
                <a:extLst>
                  <a:ext uri="{0D108BD9-81ED-4DB2-BD59-A6C34878D82A}">
                    <a16:rowId xmlns:a16="http://schemas.microsoft.com/office/drawing/2014/main" val="2982264388"/>
                  </a:ext>
                </a:extLst>
              </a:tr>
              <a:tr h="640080">
                <a:tc>
                  <a:txBody>
                    <a:bodyPr/>
                    <a:lstStyle/>
                    <a:p>
                      <a:pPr algn="l">
                        <a:buNone/>
                      </a:pPr>
                      <a:r>
                        <a:rPr lang="it-IT" sz="2400" dirty="0" err="1">
                          <a:solidFill>
                            <a:schemeClr val="tx1"/>
                          </a:solidFill>
                          <a:effectLst/>
                        </a:rPr>
                        <a:t>Renewables</a:t>
                      </a:r>
                      <a:r>
                        <a:rPr lang="it-IT" sz="2400" dirty="0">
                          <a:solidFill>
                            <a:schemeClr val="tx1"/>
                          </a:solidFill>
                          <a:effectLst/>
                        </a:rPr>
                        <a:t> (kWh)</a:t>
                      </a:r>
                    </a:p>
                  </a:txBody>
                  <a:tcPr marL="114300" marR="114300" marT="76200" marB="76200" anchor="ctr">
                    <a:solidFill>
                      <a:schemeClr val="bg1"/>
                    </a:solidFill>
                  </a:tcPr>
                </a:tc>
                <a:tc>
                  <a:txBody>
                    <a:bodyPr/>
                    <a:lstStyle/>
                    <a:p>
                      <a:pPr algn="l">
                        <a:buNone/>
                      </a:pPr>
                      <a:r>
                        <a:rPr lang="it-IT" sz="2400" dirty="0">
                          <a:solidFill>
                            <a:schemeClr val="tx1"/>
                          </a:solidFill>
                          <a:effectLst/>
                        </a:rPr>
                        <a:t>Quota di consumo coperta da energia rinnovabile (energia prodotta </a:t>
                      </a:r>
                      <a:r>
                        <a:rPr lang="it-IT" sz="2400" dirty="0" err="1">
                          <a:solidFill>
                            <a:schemeClr val="tx1"/>
                          </a:solidFill>
                          <a:effectLst/>
                        </a:rPr>
                        <a:t>onsite</a:t>
                      </a:r>
                      <a:r>
                        <a:rPr lang="it-IT" sz="2400" dirty="0">
                          <a:solidFill>
                            <a:schemeClr val="tx1"/>
                          </a:solidFill>
                          <a:effectLst/>
                        </a:rPr>
                        <a:t>, Green Power, GO o altri certificati).</a:t>
                      </a:r>
                    </a:p>
                  </a:txBody>
                  <a:tcPr marL="114300" marR="114300" marT="76200" marB="76200" anchor="ctr">
                    <a:solidFill>
                      <a:schemeClr val="bg1"/>
                    </a:solidFill>
                  </a:tcPr>
                </a:tc>
                <a:tc>
                  <a:txBody>
                    <a:bodyPr/>
                    <a:lstStyle/>
                    <a:p>
                      <a:pPr algn="l">
                        <a:buNone/>
                      </a:pPr>
                      <a:r>
                        <a:rPr lang="it-IT" sz="2400">
                          <a:solidFill>
                            <a:schemeClr val="tx1"/>
                          </a:solidFill>
                          <a:effectLst/>
                        </a:rPr>
                        <a:t>Quanta parte del fabbisogno è già stata decarbonizzata. Più è alta, minori saranno le emissioni Market Based.</a:t>
                      </a:r>
                    </a:p>
                  </a:txBody>
                  <a:tcPr marL="114300" marR="114300" marT="76200" marB="76200" anchor="ctr">
                    <a:solidFill>
                      <a:schemeClr val="bg1"/>
                    </a:solidFill>
                  </a:tcPr>
                </a:tc>
                <a:extLst>
                  <a:ext uri="{0D108BD9-81ED-4DB2-BD59-A6C34878D82A}">
                    <a16:rowId xmlns:a16="http://schemas.microsoft.com/office/drawing/2014/main" val="2803381363"/>
                  </a:ext>
                </a:extLst>
              </a:tr>
              <a:tr h="640080">
                <a:tc>
                  <a:txBody>
                    <a:bodyPr/>
                    <a:lstStyle/>
                    <a:p>
                      <a:pPr algn="l">
                        <a:buNone/>
                      </a:pPr>
                      <a:r>
                        <a:rPr lang="it-IT" sz="2400" dirty="0" err="1">
                          <a:solidFill>
                            <a:schemeClr val="tx1"/>
                          </a:solidFill>
                          <a:effectLst/>
                        </a:rPr>
                        <a:t>Remaining</a:t>
                      </a:r>
                      <a:r>
                        <a:rPr lang="it-IT" sz="2400" dirty="0">
                          <a:solidFill>
                            <a:schemeClr val="tx1"/>
                          </a:solidFill>
                          <a:effectLst/>
                        </a:rPr>
                        <a:t> </a:t>
                      </a:r>
                      <a:r>
                        <a:rPr lang="it-IT" sz="2400" dirty="0" err="1">
                          <a:solidFill>
                            <a:schemeClr val="tx1"/>
                          </a:solidFill>
                          <a:effectLst/>
                        </a:rPr>
                        <a:t>Electricity</a:t>
                      </a:r>
                      <a:r>
                        <a:rPr lang="it-IT" sz="2400" dirty="0">
                          <a:solidFill>
                            <a:schemeClr val="tx1"/>
                          </a:solidFill>
                          <a:effectLst/>
                        </a:rPr>
                        <a:t> (kWh)</a:t>
                      </a:r>
                    </a:p>
                  </a:txBody>
                  <a:tcPr marL="114300" marR="114300" marT="76200" marB="76200" anchor="ctr">
                    <a:solidFill>
                      <a:schemeClr val="bg1"/>
                    </a:solidFill>
                  </a:tcPr>
                </a:tc>
                <a:tc>
                  <a:txBody>
                    <a:bodyPr/>
                    <a:lstStyle/>
                    <a:p>
                      <a:pPr algn="l">
                        <a:buNone/>
                      </a:pPr>
                      <a:r>
                        <a:rPr lang="it-IT" sz="2400" dirty="0">
                          <a:solidFill>
                            <a:schemeClr val="tx1"/>
                          </a:solidFill>
                          <a:effectLst/>
                        </a:rPr>
                        <a:t>Consumo ancora non coperto da fonti rinnovabili o certificati. È la differenza tra consumo totale e quota rinnovabile.</a:t>
                      </a:r>
                    </a:p>
                  </a:txBody>
                  <a:tcPr marL="114300" marR="114300" marT="76200" marB="76200" anchor="ctr">
                    <a:solidFill>
                      <a:schemeClr val="bg1"/>
                    </a:solidFill>
                  </a:tcPr>
                </a:tc>
                <a:tc>
                  <a:txBody>
                    <a:bodyPr/>
                    <a:lstStyle/>
                    <a:p>
                      <a:pPr algn="l">
                        <a:buNone/>
                      </a:pPr>
                      <a:r>
                        <a:rPr lang="it-IT" sz="2400">
                          <a:solidFill>
                            <a:schemeClr val="tx1"/>
                          </a:solidFill>
                          <a:effectLst/>
                        </a:rPr>
                        <a:t>È il potenziale residuo di decarbonizzazione. Se questa colonna è elevata, la sede rappresenta una priorità.</a:t>
                      </a:r>
                    </a:p>
                  </a:txBody>
                  <a:tcPr marL="114300" marR="114300" marT="76200" marB="76200" anchor="ctr">
                    <a:solidFill>
                      <a:schemeClr val="bg1"/>
                    </a:solidFill>
                  </a:tcPr>
                </a:tc>
                <a:extLst>
                  <a:ext uri="{0D108BD9-81ED-4DB2-BD59-A6C34878D82A}">
                    <a16:rowId xmlns:a16="http://schemas.microsoft.com/office/drawing/2014/main" val="3131165594"/>
                  </a:ext>
                </a:extLst>
              </a:tr>
              <a:tr h="883920">
                <a:tc>
                  <a:txBody>
                    <a:bodyPr/>
                    <a:lstStyle/>
                    <a:p>
                      <a:pPr algn="l">
                        <a:buNone/>
                      </a:pPr>
                      <a:r>
                        <a:rPr lang="it-IT" sz="2400" dirty="0" err="1">
                          <a:solidFill>
                            <a:schemeClr val="tx1"/>
                          </a:solidFill>
                          <a:effectLst/>
                        </a:rPr>
                        <a:t>Renewables</a:t>
                      </a:r>
                      <a:r>
                        <a:rPr lang="it-IT" sz="2400" dirty="0">
                          <a:solidFill>
                            <a:schemeClr val="tx1"/>
                          </a:solidFill>
                          <a:effectLst/>
                        </a:rPr>
                        <a:t> </a:t>
                      </a:r>
                      <a:r>
                        <a:rPr lang="it-IT" sz="2400" dirty="0" err="1">
                          <a:solidFill>
                            <a:schemeClr val="tx1"/>
                          </a:solidFill>
                          <a:effectLst/>
                        </a:rPr>
                        <a:t>Exported</a:t>
                      </a:r>
                      <a:r>
                        <a:rPr lang="it-IT" sz="2400" dirty="0">
                          <a:solidFill>
                            <a:schemeClr val="tx1"/>
                          </a:solidFill>
                          <a:effectLst/>
                        </a:rPr>
                        <a:t> (</a:t>
                      </a:r>
                      <a:r>
                        <a:rPr lang="it-IT" sz="2400" dirty="0" err="1">
                          <a:solidFill>
                            <a:schemeClr val="tx1"/>
                          </a:solidFill>
                          <a:effectLst/>
                        </a:rPr>
                        <a:t>tCO₂e</a:t>
                      </a:r>
                      <a:r>
                        <a:rPr lang="it-IT" sz="2400" dirty="0">
                          <a:solidFill>
                            <a:schemeClr val="tx1"/>
                          </a:solidFill>
                          <a:effectLst/>
                        </a:rPr>
                        <a:t>)</a:t>
                      </a:r>
                    </a:p>
                  </a:txBody>
                  <a:tcPr marL="114300" marR="114300" marT="76200" marB="76200" anchor="ctr">
                    <a:solidFill>
                      <a:schemeClr val="bg1"/>
                    </a:solidFill>
                  </a:tcPr>
                </a:tc>
                <a:tc>
                  <a:txBody>
                    <a:bodyPr/>
                    <a:lstStyle/>
                    <a:p>
                      <a:pPr algn="l">
                        <a:buNone/>
                      </a:pPr>
                      <a:r>
                        <a:rPr lang="it-IT" sz="2400" dirty="0">
                          <a:solidFill>
                            <a:schemeClr val="tx1"/>
                          </a:solidFill>
                          <a:effectLst/>
                        </a:rPr>
                        <a:t>Beneficio emissivo derivante dall’energia rinnovabile prodotta ed esportata in rete (ad esempio fotovoltaico). Compare come valore negativo perché riduce il bilancio emissivo.</a:t>
                      </a:r>
                    </a:p>
                  </a:txBody>
                  <a:tcPr marL="114300" marR="114300" marT="76200" marB="76200" anchor="ctr">
                    <a:solidFill>
                      <a:schemeClr val="bg1"/>
                    </a:solidFill>
                  </a:tcPr>
                </a:tc>
                <a:tc>
                  <a:txBody>
                    <a:bodyPr/>
                    <a:lstStyle/>
                    <a:p>
                      <a:pPr algn="l">
                        <a:buNone/>
                      </a:pPr>
                      <a:r>
                        <a:rPr lang="it-IT" sz="2400">
                          <a:solidFill>
                            <a:schemeClr val="tx1"/>
                          </a:solidFill>
                          <a:effectLst/>
                        </a:rPr>
                        <a:t>Permette di valorizzare la produzione rinnovabile eccedente il consumo locale.</a:t>
                      </a:r>
                    </a:p>
                  </a:txBody>
                  <a:tcPr marL="114300" marR="114300" marT="76200" marB="76200" anchor="ctr">
                    <a:solidFill>
                      <a:schemeClr val="bg1"/>
                    </a:solidFill>
                  </a:tcPr>
                </a:tc>
                <a:extLst>
                  <a:ext uri="{0D108BD9-81ED-4DB2-BD59-A6C34878D82A}">
                    <a16:rowId xmlns:a16="http://schemas.microsoft.com/office/drawing/2014/main" val="1812272172"/>
                  </a:ext>
                </a:extLst>
              </a:tr>
              <a:tr h="640080">
                <a:tc>
                  <a:txBody>
                    <a:bodyPr/>
                    <a:lstStyle/>
                    <a:p>
                      <a:pPr algn="l">
                        <a:buNone/>
                      </a:pPr>
                      <a:r>
                        <a:rPr lang="it-IT" sz="2400">
                          <a:solidFill>
                            <a:schemeClr val="tx1"/>
                          </a:solidFill>
                          <a:effectLst/>
                        </a:rPr>
                        <a:t>Market-based Emissions (tCO₂e)</a:t>
                      </a:r>
                    </a:p>
                  </a:txBody>
                  <a:tcPr marL="114300" marR="114300" marT="76200" marB="76200" anchor="ctr">
                    <a:solidFill>
                      <a:schemeClr val="bg1"/>
                    </a:solidFill>
                  </a:tcPr>
                </a:tc>
                <a:tc>
                  <a:txBody>
                    <a:bodyPr/>
                    <a:lstStyle/>
                    <a:p>
                      <a:pPr algn="l">
                        <a:buNone/>
                      </a:pPr>
                      <a:r>
                        <a:rPr lang="it-IT" sz="2400" dirty="0">
                          <a:solidFill>
                            <a:schemeClr val="tx1"/>
                          </a:solidFill>
                          <a:effectLst/>
                        </a:rPr>
                        <a:t>Emissioni Scope 2 calcolate secondo il metodo Market Based, considerando l’effetto dell’energia rinnovabile acquistata e dei certificati.</a:t>
                      </a:r>
                    </a:p>
                  </a:txBody>
                  <a:tcPr marL="114300" marR="114300" marT="76200" marB="76200" anchor="ctr">
                    <a:solidFill>
                      <a:schemeClr val="bg1"/>
                    </a:solidFill>
                  </a:tcPr>
                </a:tc>
                <a:tc>
                  <a:txBody>
                    <a:bodyPr/>
                    <a:lstStyle/>
                    <a:p>
                      <a:pPr algn="l">
                        <a:buNone/>
                      </a:pPr>
                      <a:r>
                        <a:rPr lang="it-IT" sz="2400" dirty="0">
                          <a:solidFill>
                            <a:schemeClr val="tx1"/>
                          </a:solidFill>
                          <a:effectLst/>
                        </a:rPr>
                        <a:t>È il dato che verrà utilizzato nel reporting GHG </a:t>
                      </a:r>
                      <a:r>
                        <a:rPr lang="it-IT" sz="2400" dirty="0" err="1">
                          <a:solidFill>
                            <a:schemeClr val="tx1"/>
                          </a:solidFill>
                          <a:effectLst/>
                        </a:rPr>
                        <a:t>Protocol</a:t>
                      </a:r>
                      <a:r>
                        <a:rPr lang="it-IT" sz="2400" dirty="0">
                          <a:solidFill>
                            <a:schemeClr val="tx1"/>
                          </a:solidFill>
                          <a:effectLst/>
                        </a:rPr>
                        <a:t> quando si adotta l’approccio Market Based.</a:t>
                      </a:r>
                    </a:p>
                  </a:txBody>
                  <a:tcPr marL="114300" marR="114300" marT="76200" marB="76200" anchor="ctr">
                    <a:solidFill>
                      <a:schemeClr val="bg1"/>
                    </a:solidFill>
                  </a:tcPr>
                </a:tc>
                <a:extLst>
                  <a:ext uri="{0D108BD9-81ED-4DB2-BD59-A6C34878D82A}">
                    <a16:rowId xmlns:a16="http://schemas.microsoft.com/office/drawing/2014/main" val="2597277245"/>
                  </a:ext>
                </a:extLst>
              </a:tr>
              <a:tr h="640080">
                <a:tc>
                  <a:txBody>
                    <a:bodyPr/>
                    <a:lstStyle/>
                    <a:p>
                      <a:pPr algn="l">
                        <a:buNone/>
                      </a:pPr>
                      <a:r>
                        <a:rPr lang="it-IT" sz="2400">
                          <a:solidFill>
                            <a:schemeClr val="tx1"/>
                          </a:solidFill>
                          <a:effectLst/>
                        </a:rPr>
                        <a:t>Location-based Emissions (tCO₂e)</a:t>
                      </a:r>
                    </a:p>
                  </a:txBody>
                  <a:tcPr marL="114300" marR="114300" marT="76200" marB="76200" anchor="ctr">
                    <a:solidFill>
                      <a:schemeClr val="bg1"/>
                    </a:solidFill>
                  </a:tcPr>
                </a:tc>
                <a:tc>
                  <a:txBody>
                    <a:bodyPr/>
                    <a:lstStyle/>
                    <a:p>
                      <a:pPr algn="l">
                        <a:buNone/>
                      </a:pPr>
                      <a:r>
                        <a:rPr lang="it-IT" sz="2400" dirty="0">
                          <a:solidFill>
                            <a:schemeClr val="tx1"/>
                          </a:solidFill>
                          <a:effectLst/>
                        </a:rPr>
                        <a:t>Emissioni Scope 2 calcolate applicando il fattore medio della rete elettrica nazionale, senza considerare contratti o certificati.</a:t>
                      </a:r>
                    </a:p>
                  </a:txBody>
                  <a:tcPr marL="114300" marR="114300" marT="76200" marB="76200" anchor="ctr">
                    <a:solidFill>
                      <a:schemeClr val="bg1"/>
                    </a:solidFill>
                  </a:tcPr>
                </a:tc>
                <a:tc>
                  <a:txBody>
                    <a:bodyPr/>
                    <a:lstStyle/>
                    <a:p>
                      <a:pPr algn="l">
                        <a:buNone/>
                      </a:pPr>
                      <a:r>
                        <a:rPr lang="it-IT" sz="2400" dirty="0">
                          <a:solidFill>
                            <a:schemeClr val="tx1"/>
                          </a:solidFill>
                          <a:effectLst/>
                        </a:rPr>
                        <a:t>È il valore di riferimento per confrontare il beneficio ottenuto grazie alla strategia di approvvigionamento.</a:t>
                      </a:r>
                    </a:p>
                  </a:txBody>
                  <a:tcPr marL="114300" marR="114300" marT="76200" marB="76200" anchor="ctr">
                    <a:solidFill>
                      <a:schemeClr val="bg1"/>
                    </a:solidFill>
                  </a:tcPr>
                </a:tc>
                <a:extLst>
                  <a:ext uri="{0D108BD9-81ED-4DB2-BD59-A6C34878D82A}">
                    <a16:rowId xmlns:a16="http://schemas.microsoft.com/office/drawing/2014/main" val="4135115002"/>
                  </a:ext>
                </a:extLst>
              </a:tr>
              <a:tr h="640080">
                <a:tc>
                  <a:txBody>
                    <a:bodyPr/>
                    <a:lstStyle/>
                    <a:p>
                      <a:pPr algn="l">
                        <a:buNone/>
                      </a:pPr>
                      <a:r>
                        <a:rPr lang="it-IT" sz="2400" dirty="0" err="1">
                          <a:solidFill>
                            <a:schemeClr val="tx1"/>
                          </a:solidFill>
                          <a:effectLst/>
                        </a:rPr>
                        <a:t>Renewables</a:t>
                      </a:r>
                      <a:r>
                        <a:rPr lang="it-IT" sz="2400" dirty="0">
                          <a:solidFill>
                            <a:schemeClr val="tx1"/>
                          </a:solidFill>
                          <a:effectLst/>
                        </a:rPr>
                        <a:t> %</a:t>
                      </a:r>
                    </a:p>
                  </a:txBody>
                  <a:tcPr marL="114300" marR="114300" marT="76200" marB="76200" anchor="ctr">
                    <a:solidFill>
                      <a:schemeClr val="bg1"/>
                    </a:solidFill>
                  </a:tcPr>
                </a:tc>
                <a:tc>
                  <a:txBody>
                    <a:bodyPr/>
                    <a:lstStyle/>
                    <a:p>
                      <a:pPr algn="l">
                        <a:buNone/>
                      </a:pPr>
                      <a:r>
                        <a:rPr lang="it-IT" sz="2400" dirty="0">
                          <a:solidFill>
                            <a:schemeClr val="tx1"/>
                          </a:solidFill>
                          <a:effectLst/>
                        </a:rPr>
                        <a:t>Percentuale del consumo elettrico coperta da energia rinnovabile.</a:t>
                      </a:r>
                    </a:p>
                  </a:txBody>
                  <a:tcPr marL="114300" marR="114300" marT="76200" marB="76200" anchor="ctr">
                    <a:solidFill>
                      <a:schemeClr val="bg1"/>
                    </a:solidFill>
                  </a:tcPr>
                </a:tc>
                <a:tc>
                  <a:txBody>
                    <a:bodyPr/>
                    <a:lstStyle/>
                    <a:p>
                      <a:pPr algn="l">
                        <a:buNone/>
                      </a:pPr>
                      <a:r>
                        <a:rPr lang="it-IT" sz="2400" dirty="0">
                          <a:solidFill>
                            <a:schemeClr val="tx1"/>
                          </a:solidFill>
                          <a:effectLst/>
                        </a:rPr>
                        <a:t>Indica il livello di maturità della strategia di approvvigionamento. Più è alta, minori saranno normalmente le emissioni Market Based.</a:t>
                      </a:r>
                    </a:p>
                  </a:txBody>
                  <a:tcPr marL="114300" marR="114300" marT="76200" marB="76200" anchor="ctr">
                    <a:solidFill>
                      <a:schemeClr val="bg1"/>
                    </a:solidFill>
                  </a:tcPr>
                </a:tc>
                <a:extLst>
                  <a:ext uri="{0D108BD9-81ED-4DB2-BD59-A6C34878D82A}">
                    <a16:rowId xmlns:a16="http://schemas.microsoft.com/office/drawing/2014/main" val="2704961786"/>
                  </a:ext>
                </a:extLst>
              </a:tr>
            </a:tbl>
          </a:graphicData>
        </a:graphic>
      </p:graphicFrame>
      <p:sp>
        <p:nvSpPr>
          <p:cNvPr id="7" name="CasellaDiTesto 6">
            <a:extLst>
              <a:ext uri="{FF2B5EF4-FFF2-40B4-BE49-F238E27FC236}">
                <a16:creationId xmlns:a16="http://schemas.microsoft.com/office/drawing/2014/main" id="{7437389B-0C4D-58AF-CE63-13B6CFA0EEEA}"/>
              </a:ext>
            </a:extLst>
          </p:cNvPr>
          <p:cNvSpPr txBox="1"/>
          <p:nvPr/>
        </p:nvSpPr>
        <p:spPr>
          <a:xfrm>
            <a:off x="1086920" y="10912512"/>
            <a:ext cx="21307254"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b="1" dirty="0">
                <a:solidFill/>
              </a:rPr>
              <a:t>Le emissioni Location Based rappresentano l’impatto teorico dei consumi elettrici utilizzando il fattore medio della rete nazionale. Le emissioni Market Based tengono invece conto delle scelte di approvvigionamento energetico dell’azienda, come energia rinnovabile, Garanzie d’Origine e autoproduzione. La differenza tra i due valori misura il beneficio ottenuto dalle politiche di decarbonizzazione dello Scope 2 e consente di valutarne l’efficacia nel tempo.</a:t>
            </a:r>
            <a:endParaRPr lang="it-IT" sz="2400" dirty="0"/>
          </a:p>
        </p:txBody>
      </p:sp>
      <p:sp>
        <p:nvSpPr>
          <p:cNvPr id="9" name="CasellaDiTesto 8">
            <a:extLst>
              <a:ext uri="{FF2B5EF4-FFF2-40B4-BE49-F238E27FC236}">
                <a16:creationId xmlns:a16="http://schemas.microsoft.com/office/drawing/2014/main" id="{416420B0-C93F-1FEC-AE8F-00764F0972CF}"/>
              </a:ext>
            </a:extLst>
          </p:cNvPr>
          <p:cNvSpPr txBox="1"/>
          <p:nvPr/>
        </p:nvSpPr>
        <p:spPr>
          <a:xfrm>
            <a:off x="1086920" y="356136"/>
            <a:ext cx="20036084"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l" defTabSz="2438400">
              <a:spcBef>
                <a:spcPts val="2900"/>
              </a:spcBef>
              <a:buSzPct val="100000"/>
            </a:pPr>
            <a:r>
              <a:rPr lang="it-IT" sz="3600" kern="0">
                <a:solidFill>
                  <a:srgbClr val="000000"/>
                </a:solidFill>
                <a:ea typeface="+mj-ea"/>
                <a:cs typeface="+mj-cs"/>
                <a:sym typeface="IBM Plex Sans Light"/>
              </a:rPr>
              <a:t>Report Market Based </a:t>
            </a:r>
            <a:r>
              <a:rPr lang="it-IT" sz="3600" kern="0" err="1">
                <a:solidFill>
                  <a:srgbClr val="000000"/>
                </a:solidFill>
                <a:ea typeface="+mj-ea"/>
                <a:cs typeface="+mj-cs"/>
                <a:sym typeface="IBM Plex Sans Light"/>
              </a:rPr>
              <a:t>Emissions</a:t>
            </a:r>
            <a:r>
              <a:rPr lang="it-IT" sz="3600" kern="0">
                <a:solidFill>
                  <a:srgbClr val="000000"/>
                </a:solidFill>
                <a:ea typeface="+mj-ea"/>
                <a:cs typeface="+mj-cs"/>
                <a:sym typeface="IBM Plex Sans Light"/>
              </a:rPr>
              <a:t> V3 &gt; </a:t>
            </a:r>
            <a:r>
              <a:rPr lang="it-IT" sz="3600" kern="0" err="1">
                <a:solidFill>
                  <a:srgbClr val="000000"/>
                </a:solidFill>
                <a:ea typeface="+mj-ea"/>
                <a:cs typeface="+mj-cs"/>
                <a:sym typeface="IBM Plex Sans Light"/>
              </a:rPr>
              <a:t>Electricity</a:t>
            </a:r>
            <a:r>
              <a:rPr lang="it-IT" sz="3600" kern="0">
                <a:solidFill>
                  <a:srgbClr val="000000"/>
                </a:solidFill>
                <a:ea typeface="+mj-ea"/>
                <a:cs typeface="+mj-cs"/>
                <a:sym typeface="IBM Plex Sans Light"/>
              </a:rPr>
              <a:t> </a:t>
            </a:r>
            <a:r>
              <a:rPr lang="it-IT" sz="3600" kern="0" err="1">
                <a:solidFill>
                  <a:srgbClr val="000000"/>
                </a:solidFill>
                <a:ea typeface="+mj-ea"/>
                <a:cs typeface="+mj-cs"/>
                <a:sym typeface="IBM Plex Sans Light"/>
              </a:rPr>
              <a:t>Emission</a:t>
            </a:r>
            <a:r>
              <a:rPr lang="it-IT" sz="3600" kern="0">
                <a:solidFill>
                  <a:srgbClr val="000000"/>
                </a:solidFill>
                <a:ea typeface="+mj-ea"/>
                <a:cs typeface="+mj-cs"/>
                <a:sym typeface="IBM Plex Sans Light"/>
              </a:rPr>
              <a:t> Inventory – Significato campi</a:t>
            </a:r>
          </a:p>
        </p:txBody>
      </p:sp>
    </p:spTree>
    <p:extLst>
      <p:ext uri="{BB962C8B-B14F-4D97-AF65-F5344CB8AC3E}">
        <p14:creationId xmlns:p14="http://schemas.microsoft.com/office/powerpoint/2010/main" val="42926490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6D9BB842-6BB2-4DFC-3E9D-281EF08DD96A}"/>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D77754EC-E496-62B8-6649-7FAF3B7B688B}"/>
              </a:ext>
            </a:extLst>
          </p:cNvPr>
          <p:cNvSpPr>
            <a:spLocks noGrp="1"/>
          </p:cNvSpPr>
          <p:nvPr>
            <p:ph type="sldNum" sz="quarter" idx="4"/>
          </p:nvPr>
        </p:nvSpPr>
        <p:spPr/>
        <p:txBody>
          <a:bodyPr/>
          <a:lstStyle/>
          <a:p>
            <a:fld id="{86CB4B4D-7CA3-9044-876B-883B54F8677D}" type="slidenum">
              <a:rPr lang="en-US" smtClean="0"/>
              <a:pPr/>
              <a:t>13</a:t>
            </a:fld>
            <a:endParaRPr lang="en-US" dirty="0"/>
          </a:p>
        </p:txBody>
      </p:sp>
      <p:graphicFrame>
        <p:nvGraphicFramePr>
          <p:cNvPr id="5" name="Tabella 4">
            <a:extLst>
              <a:ext uri="{FF2B5EF4-FFF2-40B4-BE49-F238E27FC236}">
                <a16:creationId xmlns:a16="http://schemas.microsoft.com/office/drawing/2014/main" id="{48EF32AD-12D7-F58A-B60B-87548B2CCE4A}"/>
              </a:ext>
            </a:extLst>
          </p:cNvPr>
          <p:cNvGraphicFramePr>
            <a:graphicFrameLocks noGrp="1"/>
          </p:cNvGraphicFramePr>
          <p:nvPr>
            <p:extLst>
              <p:ext uri="{D42A27DB-BD31-4B8C-83A1-F6EECF244321}">
                <p14:modId xmlns:p14="http://schemas.microsoft.com/office/powerpoint/2010/main" val="4172747807"/>
              </p:ext>
            </p:extLst>
          </p:nvPr>
        </p:nvGraphicFramePr>
        <p:xfrm>
          <a:off x="695445" y="4721324"/>
          <a:ext cx="22590126" cy="5455920"/>
        </p:xfrm>
        <a:graphic>
          <a:graphicData uri="http://schemas.openxmlformats.org/drawingml/2006/table">
            <a:tbl>
              <a:tblPr>
                <a:tableStyleId>{5C22544A-7EE6-4342-B048-85BDC9FD1C3A}</a:tableStyleId>
              </a:tblPr>
              <a:tblGrid>
                <a:gridCol w="7530042">
                  <a:extLst>
                    <a:ext uri="{9D8B030D-6E8A-4147-A177-3AD203B41FA5}">
                      <a16:colId xmlns:a16="http://schemas.microsoft.com/office/drawing/2014/main" val="2048412991"/>
                    </a:ext>
                  </a:extLst>
                </a:gridCol>
                <a:gridCol w="7530042">
                  <a:extLst>
                    <a:ext uri="{9D8B030D-6E8A-4147-A177-3AD203B41FA5}">
                      <a16:colId xmlns:a16="http://schemas.microsoft.com/office/drawing/2014/main" val="1125774828"/>
                    </a:ext>
                  </a:extLst>
                </a:gridCol>
                <a:gridCol w="7530042">
                  <a:extLst>
                    <a:ext uri="{9D8B030D-6E8A-4147-A177-3AD203B41FA5}">
                      <a16:colId xmlns:a16="http://schemas.microsoft.com/office/drawing/2014/main" val="1746528524"/>
                    </a:ext>
                  </a:extLst>
                </a:gridCol>
              </a:tblGrid>
              <a:tr h="396240">
                <a:tc>
                  <a:txBody>
                    <a:bodyPr/>
                    <a:lstStyle/>
                    <a:p>
                      <a:pPr algn="l">
                        <a:buNone/>
                      </a:pPr>
                      <a:r>
                        <a:rPr lang="it-IT" sz="2400" b="1" dirty="0">
                          <a:solidFill>
                            <a:schemeClr val="tx1"/>
                          </a:solidFill>
                          <a:effectLst/>
                        </a:rPr>
                        <a:t>Sede di Segrate</a:t>
                      </a:r>
                    </a:p>
                  </a:txBody>
                  <a:tcPr marL="114300" marR="114300" marT="76200" marB="76200" anchor="ctr"/>
                </a:tc>
                <a:tc>
                  <a:txBody>
                    <a:bodyPr/>
                    <a:lstStyle/>
                    <a:p>
                      <a:pPr algn="l">
                        <a:buNone/>
                      </a:pPr>
                      <a:r>
                        <a:rPr lang="it-IT" sz="2400" b="1" dirty="0">
                          <a:solidFill>
                            <a:schemeClr val="tx1"/>
                          </a:solidFill>
                          <a:effectLst/>
                        </a:rPr>
                        <a:t>Valore</a:t>
                      </a:r>
                    </a:p>
                  </a:txBody>
                  <a:tcPr marL="114300" marR="114300" marT="76200" marB="76200" anchor="ctr"/>
                </a:tc>
                <a:tc>
                  <a:txBody>
                    <a:bodyPr/>
                    <a:lstStyle/>
                    <a:p>
                      <a:pPr algn="l">
                        <a:buNone/>
                      </a:pPr>
                      <a:r>
                        <a:rPr lang="it-IT" sz="2400" b="1" dirty="0">
                          <a:solidFill>
                            <a:schemeClr val="tx1"/>
                          </a:solidFill>
                          <a:effectLst/>
                        </a:rPr>
                        <a:t>Interpretazione</a:t>
                      </a:r>
                    </a:p>
                  </a:txBody>
                  <a:tcPr marL="114300" marR="114300" marT="76200" marB="76200" anchor="ctr"/>
                </a:tc>
                <a:extLst>
                  <a:ext uri="{0D108BD9-81ED-4DB2-BD59-A6C34878D82A}">
                    <a16:rowId xmlns:a16="http://schemas.microsoft.com/office/drawing/2014/main" val="2385291362"/>
                  </a:ext>
                </a:extLst>
              </a:tr>
              <a:tr h="396240">
                <a:tc>
                  <a:txBody>
                    <a:bodyPr/>
                    <a:lstStyle/>
                    <a:p>
                      <a:pPr algn="l">
                        <a:buNone/>
                      </a:pPr>
                      <a:r>
                        <a:rPr lang="it-IT" sz="2400" dirty="0">
                          <a:solidFill>
                            <a:schemeClr val="tx1"/>
                          </a:solidFill>
                          <a:effectLst/>
                        </a:rPr>
                        <a:t>Total </a:t>
                      </a:r>
                      <a:r>
                        <a:rPr lang="it-IT" sz="2400" dirty="0" err="1">
                          <a:solidFill>
                            <a:schemeClr val="tx1"/>
                          </a:solidFill>
                          <a:effectLst/>
                        </a:rPr>
                        <a:t>Consumption</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dirty="0">
                          <a:solidFill>
                            <a:schemeClr val="tx1"/>
                          </a:solidFill>
                          <a:effectLst/>
                        </a:rPr>
                        <a:t>1.048.969 kWh</a:t>
                      </a:r>
                    </a:p>
                  </a:txBody>
                  <a:tcPr marL="114300" marR="114300" marT="76200" marB="76200" anchor="ctr">
                    <a:solidFill>
                      <a:schemeClr val="bg1"/>
                    </a:solidFill>
                  </a:tcPr>
                </a:tc>
                <a:tc>
                  <a:txBody>
                    <a:bodyPr/>
                    <a:lstStyle/>
                    <a:p>
                      <a:pPr algn="l">
                        <a:buNone/>
                      </a:pPr>
                      <a:r>
                        <a:rPr lang="it-IT" sz="2400" dirty="0">
                          <a:solidFill>
                            <a:schemeClr val="tx1"/>
                          </a:solidFill>
                          <a:effectLst/>
                        </a:rPr>
                        <a:t>È il principale consumatore dell’azienda.</a:t>
                      </a:r>
                    </a:p>
                  </a:txBody>
                  <a:tcPr marL="114300" marR="114300" marT="76200" marB="76200" anchor="ctr">
                    <a:solidFill>
                      <a:schemeClr val="bg1"/>
                    </a:solidFill>
                  </a:tcPr>
                </a:tc>
                <a:extLst>
                  <a:ext uri="{0D108BD9-81ED-4DB2-BD59-A6C34878D82A}">
                    <a16:rowId xmlns:a16="http://schemas.microsoft.com/office/drawing/2014/main" val="3079003809"/>
                  </a:ext>
                </a:extLst>
              </a:tr>
              <a:tr h="396240">
                <a:tc>
                  <a:txBody>
                    <a:bodyPr/>
                    <a:lstStyle/>
                    <a:p>
                      <a:pPr algn="l">
                        <a:buNone/>
                      </a:pPr>
                      <a:r>
                        <a:rPr lang="it-IT" sz="2400" dirty="0" err="1">
                          <a:solidFill>
                            <a:schemeClr val="tx1"/>
                          </a:solidFill>
                          <a:effectLst/>
                        </a:rPr>
                        <a:t>Renewables</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dirty="0">
                          <a:solidFill>
                            <a:schemeClr val="tx1"/>
                          </a:solidFill>
                          <a:effectLst/>
                        </a:rPr>
                        <a:t>530.980 kWh</a:t>
                      </a:r>
                    </a:p>
                  </a:txBody>
                  <a:tcPr marL="114300" marR="114300" marT="76200" marB="76200" anchor="ctr">
                    <a:solidFill>
                      <a:schemeClr val="bg1"/>
                    </a:solidFill>
                  </a:tcPr>
                </a:tc>
                <a:tc>
                  <a:txBody>
                    <a:bodyPr/>
                    <a:lstStyle/>
                    <a:p>
                      <a:pPr algn="l">
                        <a:buNone/>
                      </a:pPr>
                      <a:r>
                        <a:rPr lang="it-IT" sz="2400">
                          <a:solidFill>
                            <a:schemeClr val="tx1"/>
                          </a:solidFill>
                          <a:effectLst/>
                        </a:rPr>
                        <a:t>Solo circa metà del fabbisogno è coperto da energia rinnovabile.</a:t>
                      </a:r>
                    </a:p>
                  </a:txBody>
                  <a:tcPr marL="114300" marR="114300" marT="76200" marB="76200" anchor="ctr">
                    <a:solidFill>
                      <a:schemeClr val="bg1"/>
                    </a:solidFill>
                  </a:tcPr>
                </a:tc>
                <a:extLst>
                  <a:ext uri="{0D108BD9-81ED-4DB2-BD59-A6C34878D82A}">
                    <a16:rowId xmlns:a16="http://schemas.microsoft.com/office/drawing/2014/main" val="543330691"/>
                  </a:ext>
                </a:extLst>
              </a:tr>
              <a:tr h="640080">
                <a:tc>
                  <a:txBody>
                    <a:bodyPr/>
                    <a:lstStyle/>
                    <a:p>
                      <a:pPr algn="l">
                        <a:buNone/>
                      </a:pPr>
                      <a:r>
                        <a:rPr lang="it-IT" sz="2400" dirty="0" err="1">
                          <a:solidFill>
                            <a:schemeClr val="tx1"/>
                          </a:solidFill>
                          <a:effectLst/>
                        </a:rPr>
                        <a:t>Remaining</a:t>
                      </a:r>
                      <a:r>
                        <a:rPr lang="it-IT" sz="2400" dirty="0">
                          <a:solidFill>
                            <a:schemeClr val="tx1"/>
                          </a:solidFill>
                          <a:effectLst/>
                        </a:rPr>
                        <a:t> </a:t>
                      </a:r>
                      <a:r>
                        <a:rPr lang="it-IT" sz="2400" dirty="0" err="1">
                          <a:solidFill>
                            <a:schemeClr val="tx1"/>
                          </a:solidFill>
                          <a:effectLst/>
                        </a:rPr>
                        <a:t>Electricity</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a:solidFill>
                            <a:schemeClr val="tx1"/>
                          </a:solidFill>
                          <a:effectLst/>
                        </a:rPr>
                        <a:t>517.989 kWh</a:t>
                      </a:r>
                    </a:p>
                  </a:txBody>
                  <a:tcPr marL="114300" marR="114300" marT="76200" marB="76200" anchor="ctr">
                    <a:solidFill>
                      <a:schemeClr val="bg1"/>
                    </a:solidFill>
                  </a:tcPr>
                </a:tc>
                <a:tc>
                  <a:txBody>
                    <a:bodyPr/>
                    <a:lstStyle/>
                    <a:p>
                      <a:pPr algn="l">
                        <a:buNone/>
                      </a:pPr>
                      <a:r>
                        <a:rPr lang="it-IT" sz="2400" dirty="0">
                          <a:solidFill>
                            <a:schemeClr val="tx1"/>
                          </a:solidFill>
                          <a:effectLst/>
                        </a:rPr>
                        <a:t>Oltre mezzo GWh è ancora alimentato con energia della rete: è qui che si concentra il potenziale di miglioramento.</a:t>
                      </a:r>
                    </a:p>
                  </a:txBody>
                  <a:tcPr marL="114300" marR="114300" marT="76200" marB="76200" anchor="ctr">
                    <a:solidFill>
                      <a:schemeClr val="bg1"/>
                    </a:solidFill>
                  </a:tcPr>
                </a:tc>
                <a:extLst>
                  <a:ext uri="{0D108BD9-81ED-4DB2-BD59-A6C34878D82A}">
                    <a16:rowId xmlns:a16="http://schemas.microsoft.com/office/drawing/2014/main" val="2615286429"/>
                  </a:ext>
                </a:extLst>
              </a:tr>
              <a:tr h="396240">
                <a:tc>
                  <a:txBody>
                    <a:bodyPr/>
                    <a:lstStyle/>
                    <a:p>
                      <a:pPr algn="l">
                        <a:buNone/>
                      </a:pPr>
                      <a:r>
                        <a:rPr lang="it-IT" sz="2400" dirty="0">
                          <a:solidFill>
                            <a:schemeClr val="tx1"/>
                          </a:solidFill>
                          <a:effectLst/>
                        </a:rPr>
                        <a:t>Market Based</a:t>
                      </a:r>
                    </a:p>
                  </a:txBody>
                  <a:tcPr marL="114300" marR="114300" marT="76200" marB="76200" anchor="ctr">
                    <a:solidFill>
                      <a:schemeClr val="bg1"/>
                    </a:solidFill>
                  </a:tcPr>
                </a:tc>
                <a:tc>
                  <a:txBody>
                    <a:bodyPr/>
                    <a:lstStyle/>
                    <a:p>
                      <a:pPr algn="l">
                        <a:buNone/>
                      </a:pPr>
                      <a:r>
                        <a:rPr lang="it-IT" sz="2400" dirty="0">
                          <a:solidFill>
                            <a:schemeClr val="tx1"/>
                          </a:solidFill>
                          <a:effectLst/>
                        </a:rPr>
                        <a:t>235,41 </a:t>
                      </a:r>
                      <a:r>
                        <a:rPr lang="it-IT" sz="2400" dirty="0" err="1">
                          <a:solidFill>
                            <a:schemeClr val="tx1"/>
                          </a:solidFill>
                          <a:effectLst/>
                        </a:rPr>
                        <a:t>tCO₂e</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a:solidFill>
                            <a:schemeClr val="tx1"/>
                          </a:solidFill>
                          <a:effectLst/>
                        </a:rPr>
                        <a:t>Sono le emissioni residue dopo aver considerato la quota rinnovabile.</a:t>
                      </a:r>
                    </a:p>
                  </a:txBody>
                  <a:tcPr marL="114300" marR="114300" marT="76200" marB="76200" anchor="ctr">
                    <a:solidFill>
                      <a:schemeClr val="bg1"/>
                    </a:solidFill>
                  </a:tcPr>
                </a:tc>
                <a:extLst>
                  <a:ext uri="{0D108BD9-81ED-4DB2-BD59-A6C34878D82A}">
                    <a16:rowId xmlns:a16="http://schemas.microsoft.com/office/drawing/2014/main" val="2396739631"/>
                  </a:ext>
                </a:extLst>
              </a:tr>
              <a:tr h="396240">
                <a:tc>
                  <a:txBody>
                    <a:bodyPr/>
                    <a:lstStyle/>
                    <a:p>
                      <a:pPr algn="l">
                        <a:buNone/>
                      </a:pPr>
                      <a:r>
                        <a:rPr lang="it-IT" sz="2400" dirty="0">
                          <a:solidFill>
                            <a:schemeClr val="tx1"/>
                          </a:solidFill>
                          <a:effectLst/>
                        </a:rPr>
                        <a:t>Location Based</a:t>
                      </a:r>
                    </a:p>
                  </a:txBody>
                  <a:tcPr marL="114300" marR="114300" marT="76200" marB="76200" anchor="ctr">
                    <a:solidFill>
                      <a:schemeClr val="bg1"/>
                    </a:solidFill>
                  </a:tcPr>
                </a:tc>
                <a:tc>
                  <a:txBody>
                    <a:bodyPr/>
                    <a:lstStyle/>
                    <a:p>
                      <a:pPr algn="l">
                        <a:buNone/>
                      </a:pPr>
                      <a:r>
                        <a:rPr lang="it-IT" sz="2400" dirty="0">
                          <a:solidFill>
                            <a:schemeClr val="tx1"/>
                          </a:solidFill>
                          <a:effectLst/>
                        </a:rPr>
                        <a:t>292,52 </a:t>
                      </a:r>
                      <a:r>
                        <a:rPr lang="it-IT" sz="2400" dirty="0" err="1">
                          <a:solidFill>
                            <a:schemeClr val="tx1"/>
                          </a:solidFill>
                          <a:effectLst/>
                        </a:rPr>
                        <a:t>tCO₂e</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dirty="0">
                          <a:solidFill>
                            <a:schemeClr val="tx1"/>
                          </a:solidFill>
                          <a:effectLst/>
                        </a:rPr>
                        <a:t>Senza energia rinnovabile le emissioni sarebbero molto più elevate.</a:t>
                      </a:r>
                    </a:p>
                  </a:txBody>
                  <a:tcPr marL="114300" marR="114300" marT="76200" marB="76200" anchor="ctr">
                    <a:solidFill>
                      <a:schemeClr val="bg1"/>
                    </a:solidFill>
                  </a:tcPr>
                </a:tc>
                <a:extLst>
                  <a:ext uri="{0D108BD9-81ED-4DB2-BD59-A6C34878D82A}">
                    <a16:rowId xmlns:a16="http://schemas.microsoft.com/office/drawing/2014/main" val="575684128"/>
                  </a:ext>
                </a:extLst>
              </a:tr>
              <a:tr h="396240">
                <a:tc>
                  <a:txBody>
                    <a:bodyPr/>
                    <a:lstStyle/>
                    <a:p>
                      <a:pPr algn="l">
                        <a:buNone/>
                      </a:pPr>
                      <a:r>
                        <a:rPr lang="it-IT" sz="2400" dirty="0" err="1">
                          <a:solidFill>
                            <a:schemeClr val="tx1"/>
                          </a:solidFill>
                          <a:effectLst/>
                        </a:rPr>
                        <a:t>Renewables</a:t>
                      </a:r>
                      <a:r>
                        <a:rPr lang="it-IT" sz="2400" dirty="0">
                          <a:solidFill>
                            <a:schemeClr val="tx1"/>
                          </a:solidFill>
                          <a:effectLst/>
                        </a:rPr>
                        <a:t> %</a:t>
                      </a:r>
                    </a:p>
                  </a:txBody>
                  <a:tcPr marL="114300" marR="114300" marT="76200" marB="76200" anchor="ctr">
                    <a:solidFill>
                      <a:schemeClr val="bg1"/>
                    </a:solidFill>
                  </a:tcPr>
                </a:tc>
                <a:tc>
                  <a:txBody>
                    <a:bodyPr/>
                    <a:lstStyle/>
                    <a:p>
                      <a:pPr algn="l">
                        <a:buNone/>
                      </a:pPr>
                      <a:r>
                        <a:rPr lang="it-IT" sz="2400" dirty="0">
                          <a:solidFill>
                            <a:schemeClr val="tx1"/>
                          </a:solidFill>
                          <a:effectLst/>
                        </a:rPr>
                        <a:t>50,62%</a:t>
                      </a:r>
                    </a:p>
                  </a:txBody>
                  <a:tcPr marL="114300" marR="114300" marT="76200" marB="76200" anchor="ctr">
                    <a:solidFill>
                      <a:schemeClr val="bg1"/>
                    </a:solidFill>
                  </a:tcPr>
                </a:tc>
                <a:tc>
                  <a:txBody>
                    <a:bodyPr/>
                    <a:lstStyle/>
                    <a:p>
                      <a:pPr algn="l">
                        <a:buNone/>
                      </a:pPr>
                      <a:r>
                        <a:rPr lang="it-IT" sz="2400" dirty="0">
                          <a:solidFill>
                            <a:schemeClr val="tx1"/>
                          </a:solidFill>
                          <a:effectLst/>
                        </a:rPr>
                        <a:t>Copertura rinnovabile inferiore rispetto alle altre sedi.</a:t>
                      </a:r>
                    </a:p>
                  </a:txBody>
                  <a:tcPr marL="114300" marR="114300" marT="76200" marB="76200" anchor="ctr">
                    <a:solidFill>
                      <a:schemeClr val="bg1"/>
                    </a:solidFill>
                  </a:tcPr>
                </a:tc>
                <a:extLst>
                  <a:ext uri="{0D108BD9-81ED-4DB2-BD59-A6C34878D82A}">
                    <a16:rowId xmlns:a16="http://schemas.microsoft.com/office/drawing/2014/main" val="1697876493"/>
                  </a:ext>
                </a:extLst>
              </a:tr>
            </a:tbl>
          </a:graphicData>
        </a:graphic>
      </p:graphicFrame>
      <p:sp>
        <p:nvSpPr>
          <p:cNvPr id="6" name="CasellaDiTesto 5">
            <a:extLst>
              <a:ext uri="{FF2B5EF4-FFF2-40B4-BE49-F238E27FC236}">
                <a16:creationId xmlns:a16="http://schemas.microsoft.com/office/drawing/2014/main" id="{5C593C48-EBFE-4454-F95F-781E73994289}"/>
              </a:ext>
            </a:extLst>
          </p:cNvPr>
          <p:cNvSpPr txBox="1"/>
          <p:nvPr/>
        </p:nvSpPr>
        <p:spPr>
          <a:xfrm>
            <a:off x="833467" y="1341648"/>
            <a:ext cx="17710029"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dirty="0">
                <a:solidFill/>
              </a:rPr>
              <a:t>Con una sola tabella il management può rispondere a quattro domande:</a:t>
            </a:r>
          </a:p>
          <a:p>
            <a:pPr>
              <a:buNone/>
            </a:pPr>
            <a:endParaRPr lang="it-IT" sz="2400" dirty="0"/>
          </a:p>
          <a:p>
            <a:pPr marL="342900" lvl="0" indent="-342900">
              <a:buFont typeface="+mj-lt"/>
              <a:buAutoNum type="arabicPeriod"/>
            </a:pPr>
            <a:r>
              <a:rPr lang="it-IT" sz="2400" b="1" dirty="0">
                <a:solidFill/>
              </a:rPr>
              <a:t>Chi consuma di più?</a:t>
            </a:r>
            <a:r>
              <a:rPr lang="it-IT" sz="2400" dirty="0">
                <a:solidFill/>
              </a:rPr>
              <a:t> → </a:t>
            </a:r>
            <a:r>
              <a:rPr lang="it-IT" sz="2400" b="1" dirty="0">
                <a:solidFill/>
              </a:rPr>
              <a:t>Total </a:t>
            </a:r>
            <a:r>
              <a:rPr lang="it-IT" sz="2400" b="1" dirty="0" err="1">
                <a:solidFill/>
              </a:rPr>
              <a:t>Consumption</a:t>
            </a:r>
            <a:r>
              <a:rPr lang="it-IT" sz="2400" b="1" dirty="0">
                <a:solidFill/>
              </a:rPr>
              <a:t> </a:t>
            </a:r>
            <a:endParaRPr lang="it-IT" sz="2400" dirty="0"/>
          </a:p>
          <a:p>
            <a:pPr marL="342900" lvl="0" indent="-342900">
              <a:buFont typeface="+mj-lt"/>
              <a:buAutoNum type="arabicPeriod"/>
            </a:pPr>
            <a:r>
              <a:rPr lang="it-IT" sz="2400" b="1" dirty="0">
                <a:solidFill/>
              </a:rPr>
              <a:t>Quanto è già decarbonizzato?</a:t>
            </a:r>
            <a:r>
              <a:rPr lang="it-IT" sz="2400" dirty="0">
                <a:solidFill/>
              </a:rPr>
              <a:t> → </a:t>
            </a:r>
            <a:r>
              <a:rPr lang="it-IT" sz="2400" b="1" dirty="0" err="1">
                <a:solidFill/>
              </a:rPr>
              <a:t>Renewables</a:t>
            </a:r>
            <a:r>
              <a:rPr lang="it-IT" sz="2400" b="1" dirty="0">
                <a:solidFill/>
              </a:rPr>
              <a:t> kWh</a:t>
            </a:r>
            <a:r>
              <a:rPr lang="it-IT" sz="2400" dirty="0">
                <a:solidFill/>
              </a:rPr>
              <a:t> e </a:t>
            </a:r>
            <a:r>
              <a:rPr lang="it-IT" sz="2400" b="1" dirty="0" err="1">
                <a:solidFill/>
              </a:rPr>
              <a:t>Renewables</a:t>
            </a:r>
            <a:r>
              <a:rPr lang="it-IT" sz="2400" b="1" dirty="0">
                <a:solidFill/>
              </a:rPr>
              <a:t> %</a:t>
            </a:r>
            <a:endParaRPr lang="it-IT" sz="2400" dirty="0"/>
          </a:p>
          <a:p>
            <a:pPr marL="342900" lvl="0" indent="-342900">
              <a:buFont typeface="+mj-lt"/>
              <a:buAutoNum type="arabicPeriod"/>
            </a:pPr>
            <a:r>
              <a:rPr lang="it-IT" sz="2400" b="1" dirty="0">
                <a:solidFill/>
              </a:rPr>
              <a:t>Dove resta il maggiore potenziale di miglioramento?</a:t>
            </a:r>
            <a:r>
              <a:rPr lang="it-IT" sz="2400" dirty="0">
                <a:solidFill/>
              </a:rPr>
              <a:t> → </a:t>
            </a:r>
            <a:r>
              <a:rPr lang="it-IT" sz="2400" b="1" dirty="0" err="1">
                <a:solidFill/>
              </a:rPr>
              <a:t>Remaining</a:t>
            </a:r>
            <a:r>
              <a:rPr lang="it-IT" sz="2400" b="1" dirty="0">
                <a:solidFill/>
              </a:rPr>
              <a:t> </a:t>
            </a:r>
            <a:r>
              <a:rPr lang="it-IT" sz="2400" b="1" dirty="0" err="1">
                <a:solidFill/>
              </a:rPr>
              <a:t>Electricity</a:t>
            </a:r>
            <a:endParaRPr lang="it-IT" sz="2400" dirty="0"/>
          </a:p>
          <a:p>
            <a:pPr marL="342900" lvl="0" indent="-342900">
              <a:buFont typeface="+mj-lt"/>
              <a:buAutoNum type="arabicPeriod"/>
            </a:pPr>
            <a:r>
              <a:rPr lang="it-IT" sz="2400" b="1" dirty="0">
                <a:solidFill/>
              </a:rPr>
              <a:t>Qual è il beneficio ambientale ottenuto?</a:t>
            </a:r>
            <a:r>
              <a:rPr lang="it-IT" sz="2400" dirty="0">
                <a:solidFill/>
              </a:rPr>
              <a:t> → confronto tra </a:t>
            </a:r>
            <a:r>
              <a:rPr lang="it-IT" sz="2400" b="1" dirty="0">
                <a:solidFill/>
              </a:rPr>
              <a:t>Location-</a:t>
            </a:r>
            <a:r>
              <a:rPr lang="it-IT" sz="2400" b="1" dirty="0" err="1">
                <a:solidFill/>
              </a:rPr>
              <a:t>based</a:t>
            </a:r>
            <a:r>
              <a:rPr lang="it-IT" sz="2400" b="1" dirty="0">
                <a:solidFill/>
              </a:rPr>
              <a:t> </a:t>
            </a:r>
            <a:r>
              <a:rPr lang="it-IT" sz="2400" b="1" dirty="0" err="1">
                <a:solidFill/>
              </a:rPr>
              <a:t>Emissions</a:t>
            </a:r>
            <a:r>
              <a:rPr lang="it-IT" sz="2400" dirty="0">
                <a:solidFill/>
              </a:rPr>
              <a:t> e </a:t>
            </a:r>
            <a:r>
              <a:rPr lang="it-IT" sz="2400" b="1" dirty="0">
                <a:solidFill/>
              </a:rPr>
              <a:t>Market-</a:t>
            </a:r>
            <a:r>
              <a:rPr lang="it-IT" sz="2400" b="1" dirty="0" err="1">
                <a:solidFill/>
              </a:rPr>
              <a:t>based</a:t>
            </a:r>
            <a:r>
              <a:rPr lang="it-IT" sz="2400" b="1" dirty="0">
                <a:solidFill/>
              </a:rPr>
              <a:t> </a:t>
            </a:r>
            <a:r>
              <a:rPr lang="it-IT" sz="2400" b="1" dirty="0" err="1">
                <a:solidFill/>
              </a:rPr>
              <a:t>Emissions</a:t>
            </a:r>
            <a:endParaRPr lang="it-IT" sz="2400" dirty="0"/>
          </a:p>
        </p:txBody>
      </p:sp>
      <p:sp>
        <p:nvSpPr>
          <p:cNvPr id="7" name="CasellaDiTesto 6">
            <a:extLst>
              <a:ext uri="{FF2B5EF4-FFF2-40B4-BE49-F238E27FC236}">
                <a16:creationId xmlns:a16="http://schemas.microsoft.com/office/drawing/2014/main" id="{B73E740E-6177-8B62-03D2-65C054A9FC42}"/>
              </a:ext>
            </a:extLst>
          </p:cNvPr>
          <p:cNvSpPr txBox="1"/>
          <p:nvPr/>
        </p:nvSpPr>
        <p:spPr>
          <a:xfrm>
            <a:off x="184233" y="253851"/>
            <a:ext cx="20036084"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l" defTabSz="2438400">
              <a:spcBef>
                <a:spcPts val="2900"/>
              </a:spcBef>
              <a:buSzPct val="100000"/>
            </a:pPr>
            <a:r>
              <a:rPr lang="it-IT" sz="3600" kern="0">
                <a:solidFill>
                  <a:srgbClr val="000000"/>
                </a:solidFill>
                <a:ea typeface="+mj-ea"/>
                <a:cs typeface="+mj-cs"/>
                <a:sym typeface="IBM Plex Sans Light"/>
              </a:rPr>
              <a:t>Report Market Based </a:t>
            </a:r>
            <a:r>
              <a:rPr lang="it-IT" sz="3600" kern="0" err="1">
                <a:solidFill>
                  <a:srgbClr val="000000"/>
                </a:solidFill>
                <a:ea typeface="+mj-ea"/>
                <a:cs typeface="+mj-cs"/>
                <a:sym typeface="IBM Plex Sans Light"/>
              </a:rPr>
              <a:t>Emissions</a:t>
            </a:r>
            <a:r>
              <a:rPr lang="it-IT" sz="3600" kern="0">
                <a:solidFill>
                  <a:srgbClr val="000000"/>
                </a:solidFill>
                <a:ea typeface="+mj-ea"/>
                <a:cs typeface="+mj-cs"/>
                <a:sym typeface="IBM Plex Sans Light"/>
              </a:rPr>
              <a:t> V3 &gt; </a:t>
            </a:r>
            <a:r>
              <a:rPr lang="it-IT" sz="3600" kern="0" err="1">
                <a:solidFill>
                  <a:srgbClr val="000000"/>
                </a:solidFill>
                <a:ea typeface="+mj-ea"/>
                <a:cs typeface="+mj-cs"/>
                <a:sym typeface="IBM Plex Sans Light"/>
              </a:rPr>
              <a:t>Electricity</a:t>
            </a:r>
            <a:r>
              <a:rPr lang="it-IT" sz="3600" kern="0">
                <a:solidFill>
                  <a:srgbClr val="000000"/>
                </a:solidFill>
                <a:ea typeface="+mj-ea"/>
                <a:cs typeface="+mj-cs"/>
                <a:sym typeface="IBM Plex Sans Light"/>
              </a:rPr>
              <a:t> </a:t>
            </a:r>
            <a:r>
              <a:rPr lang="it-IT" sz="3600" kern="0" err="1">
                <a:solidFill>
                  <a:srgbClr val="000000"/>
                </a:solidFill>
                <a:ea typeface="+mj-ea"/>
                <a:cs typeface="+mj-cs"/>
                <a:sym typeface="IBM Plex Sans Light"/>
              </a:rPr>
              <a:t>Emission</a:t>
            </a:r>
            <a:r>
              <a:rPr lang="it-IT" sz="3600" kern="0">
                <a:solidFill>
                  <a:srgbClr val="000000"/>
                </a:solidFill>
                <a:ea typeface="+mj-ea"/>
                <a:cs typeface="+mj-cs"/>
                <a:sym typeface="IBM Plex Sans Light"/>
              </a:rPr>
              <a:t> Inventory – Supporto decisionale</a:t>
            </a:r>
          </a:p>
        </p:txBody>
      </p:sp>
    </p:spTree>
    <p:extLst>
      <p:ext uri="{BB962C8B-B14F-4D97-AF65-F5344CB8AC3E}">
        <p14:creationId xmlns:p14="http://schemas.microsoft.com/office/powerpoint/2010/main" val="387373672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5E2C50-B24E-5194-2045-1526061371AC}"/>
              </a:ext>
            </a:extLst>
          </p:cNvPr>
          <p:cNvSpPr>
            <a:spLocks noGrp="1"/>
          </p:cNvSpPr>
          <p:nvPr>
            <p:ph type="title"/>
          </p:nvPr>
        </p:nvSpPr>
        <p:spPr>
          <a:xfrm>
            <a:off x="576071" y="384048"/>
            <a:ext cx="19885785" cy="2859087"/>
          </a:xfrm>
        </p:spPr>
        <p:txBody>
          <a:bodyPr/>
          <a:lstStyle/>
          <a:p>
            <a:r>
              <a:rPr lang="it-IT" sz="3600" dirty="0">
                <a:solidFill>
                  <a:srgbClr val="000000"/>
                </a:solidFill>
                <a:latin typeface="+mn-lt"/>
              </a:rPr>
              <a:t>Trasforma il Net Zero da obiettivo teorico a piano operativo:</a:t>
            </a:r>
          </a:p>
        </p:txBody>
      </p:sp>
      <p:sp>
        <p:nvSpPr>
          <p:cNvPr id="3" name="Segnaposto piè di pagina 2">
            <a:extLst>
              <a:ext uri="{FF2B5EF4-FFF2-40B4-BE49-F238E27FC236}">
                <a16:creationId xmlns:a16="http://schemas.microsoft.com/office/drawing/2014/main" id="{59C9AC01-FFF8-DB6F-E6FD-15FA097F7D61}"/>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EDE244E1-9EE5-8A4B-44DB-1014D5BA2C71}"/>
              </a:ext>
            </a:extLst>
          </p:cNvPr>
          <p:cNvSpPr>
            <a:spLocks noGrp="1"/>
          </p:cNvSpPr>
          <p:nvPr>
            <p:ph type="sldNum" sz="quarter" idx="4"/>
          </p:nvPr>
        </p:nvSpPr>
        <p:spPr/>
        <p:txBody>
          <a:bodyPr/>
          <a:lstStyle/>
          <a:p>
            <a:fld id="{86CB4B4D-7CA3-9044-876B-883B54F8677D}" type="slidenum">
              <a:rPr lang="en-US" smtClean="0"/>
              <a:pPr/>
              <a:t>14</a:t>
            </a:fld>
            <a:endParaRPr lang="en-US" dirty="0"/>
          </a:p>
        </p:txBody>
      </p:sp>
      <p:sp>
        <p:nvSpPr>
          <p:cNvPr id="6" name="CasellaDiTesto 5">
            <a:extLst>
              <a:ext uri="{FF2B5EF4-FFF2-40B4-BE49-F238E27FC236}">
                <a16:creationId xmlns:a16="http://schemas.microsoft.com/office/drawing/2014/main" id="{6BEC18BC-4D1C-5CE5-10B3-6F09D2678F08}"/>
              </a:ext>
            </a:extLst>
          </p:cNvPr>
          <p:cNvSpPr txBox="1"/>
          <p:nvPr/>
        </p:nvSpPr>
        <p:spPr>
          <a:xfrm>
            <a:off x="1155940" y="1331243"/>
            <a:ext cx="20504987" cy="249299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2400" dirty="0">
                <a:solidFill/>
              </a:rPr>
              <a:t>Il report non si limita a dire che restano emissioni da abbattere, ma mostra </a:t>
            </a:r>
            <a:r>
              <a:rPr lang="it-IT" sz="2400" b="1" dirty="0">
                <a:solidFill/>
              </a:rPr>
              <a:t>quali sedi hanno ancora energia non coperta da fonti rinnovabili, quante emissioni residue producono e dove conviene concentrare gli interventi</a:t>
            </a:r>
            <a:r>
              <a:rPr lang="it-IT" sz="2400" dirty="0">
                <a:solidFill/>
              </a:rPr>
              <a:t>. </a:t>
            </a:r>
          </a:p>
          <a:p>
            <a:pPr>
              <a:buNone/>
            </a:pPr>
            <a:endParaRPr lang="it-IT" sz="2400" dirty="0"/>
          </a:p>
          <a:p>
            <a:pPr>
              <a:buNone/>
            </a:pPr>
            <a:r>
              <a:rPr lang="it-IT" sz="2400" dirty="0">
                <a:solidFill/>
              </a:rPr>
              <a:t>Per </a:t>
            </a:r>
            <a:r>
              <a:rPr lang="it-IT" sz="2400" dirty="0" err="1">
                <a:solidFill/>
              </a:rPr>
              <a:t>Alfago</a:t>
            </a:r>
            <a:r>
              <a:rPr lang="it-IT" sz="2400" dirty="0">
                <a:solidFill/>
              </a:rPr>
              <a:t> il messaggio è chiaro: </a:t>
            </a:r>
            <a:r>
              <a:rPr lang="it-IT" sz="2400" b="1" dirty="0">
                <a:solidFill/>
              </a:rPr>
              <a:t>Segrate è la priorità</a:t>
            </a:r>
            <a:r>
              <a:rPr lang="it-IT" sz="2400" dirty="0">
                <a:solidFill/>
              </a:rPr>
              <a:t>, perché concentra circa </a:t>
            </a:r>
            <a:r>
              <a:rPr lang="it-IT" sz="2400" b="1" dirty="0">
                <a:solidFill/>
              </a:rPr>
              <a:t>518 MWh</a:t>
            </a:r>
            <a:r>
              <a:rPr lang="it-IT" sz="2400" dirty="0">
                <a:solidFill/>
              </a:rPr>
              <a:t> di consumi elettrici ancora non coperti e </a:t>
            </a:r>
            <a:r>
              <a:rPr lang="it-IT" sz="2400" b="1" dirty="0">
                <a:solidFill/>
              </a:rPr>
              <a:t>235 </a:t>
            </a:r>
            <a:r>
              <a:rPr lang="it-IT" sz="2400" b="1" dirty="0" err="1">
                <a:solidFill/>
              </a:rPr>
              <a:t>tCO₂e</a:t>
            </a:r>
            <a:r>
              <a:rPr lang="it-IT" sz="2400" dirty="0">
                <a:solidFill/>
              </a:rPr>
              <a:t> di emissioni Market Based, mentre Milano è già oltre il 100% di copertura e Sesto presenta un fabbisogno residuo molto più contenuto. </a:t>
            </a:r>
          </a:p>
          <a:p>
            <a:pPr>
              <a:buNone/>
            </a:pPr>
            <a:r>
              <a:rPr lang="it-IT" sz="2400" dirty="0">
                <a:solidFill/>
              </a:rPr>
              <a:t>Questa è un’informazione direttamente utilizzabile dal management per pianificare gli investimenti</a:t>
            </a:r>
            <a:r>
              <a:rPr lang="it-IT" dirty="0">
                <a:solidFill/>
              </a:rPr>
              <a:t>.</a:t>
            </a:r>
          </a:p>
        </p:txBody>
      </p:sp>
      <p:pic>
        <p:nvPicPr>
          <p:cNvPr id="7" name="Immagine 6">
            <a:extLst>
              <a:ext uri="{FF2B5EF4-FFF2-40B4-BE49-F238E27FC236}">
                <a16:creationId xmlns:a16="http://schemas.microsoft.com/office/drawing/2014/main" id="{BADF070B-1EAF-3035-6C2C-4B2238FDC82F}"/>
              </a:ext>
            </a:extLst>
          </p:cNvPr>
          <p:cNvPicPr>
            <a:picLocks noChangeAspect="1"/>
          </p:cNvPicPr>
          <p:nvPr/>
        </p:nvPicPr>
        <p:blipFill>
          <a:blip r:embed="rId3"/>
          <a:stretch>
            <a:fillRect/>
          </a:stretch>
        </p:blipFill>
        <p:spPr>
          <a:xfrm>
            <a:off x="766664" y="4563631"/>
            <a:ext cx="23045836" cy="3166374"/>
          </a:xfrm>
          <a:prstGeom prst="rect">
            <a:avLst/>
          </a:prstGeom>
        </p:spPr>
      </p:pic>
    </p:spTree>
    <p:extLst>
      <p:ext uri="{BB962C8B-B14F-4D97-AF65-F5344CB8AC3E}">
        <p14:creationId xmlns:p14="http://schemas.microsoft.com/office/powerpoint/2010/main" val="305135708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8" name="Tabella 7">
            <a:extLst>
              <a:ext uri="{FF2B5EF4-FFF2-40B4-BE49-F238E27FC236}">
                <a16:creationId xmlns:a16="http://schemas.microsoft.com/office/drawing/2014/main" id="{4DECDD2F-2D4C-0AC3-CE46-2E1501AE89FD}"/>
              </a:ext>
            </a:extLst>
          </p:cNvPr>
          <p:cNvGraphicFramePr>
            <a:graphicFrameLocks noGrp="1"/>
          </p:cNvGraphicFramePr>
          <p:nvPr>
            <p:extLst>
              <p:ext uri="{D42A27DB-BD31-4B8C-83A1-F6EECF244321}">
                <p14:modId xmlns:p14="http://schemas.microsoft.com/office/powerpoint/2010/main" val="1271023121"/>
              </p:ext>
            </p:extLst>
          </p:nvPr>
        </p:nvGraphicFramePr>
        <p:xfrm>
          <a:off x="898525" y="1967965"/>
          <a:ext cx="22590124" cy="9997440"/>
        </p:xfrm>
        <a:graphic>
          <a:graphicData uri="http://schemas.openxmlformats.org/drawingml/2006/table">
            <a:tbl>
              <a:tblPr>
                <a:tableStyleId>{5C22544A-7EE6-4342-B048-85BDC9FD1C3A}</a:tableStyleId>
              </a:tblPr>
              <a:tblGrid>
                <a:gridCol w="1240826">
                  <a:extLst>
                    <a:ext uri="{9D8B030D-6E8A-4147-A177-3AD203B41FA5}">
                      <a16:colId xmlns:a16="http://schemas.microsoft.com/office/drawing/2014/main" val="944619486"/>
                    </a:ext>
                  </a:extLst>
                </a:gridCol>
                <a:gridCol w="10054236">
                  <a:extLst>
                    <a:ext uri="{9D8B030D-6E8A-4147-A177-3AD203B41FA5}">
                      <a16:colId xmlns:a16="http://schemas.microsoft.com/office/drawing/2014/main" val="1008449931"/>
                    </a:ext>
                  </a:extLst>
                </a:gridCol>
                <a:gridCol w="5647531">
                  <a:extLst>
                    <a:ext uri="{9D8B030D-6E8A-4147-A177-3AD203B41FA5}">
                      <a16:colId xmlns:a16="http://schemas.microsoft.com/office/drawing/2014/main" val="42919203"/>
                    </a:ext>
                  </a:extLst>
                </a:gridCol>
                <a:gridCol w="5647531">
                  <a:extLst>
                    <a:ext uri="{9D8B030D-6E8A-4147-A177-3AD203B41FA5}">
                      <a16:colId xmlns:a16="http://schemas.microsoft.com/office/drawing/2014/main" val="3489087484"/>
                    </a:ext>
                  </a:extLst>
                </a:gridCol>
              </a:tblGrid>
              <a:tr h="0">
                <a:tc>
                  <a:txBody>
                    <a:bodyPr/>
                    <a:lstStyle/>
                    <a:p>
                      <a:pPr algn="l">
                        <a:buNone/>
                      </a:pPr>
                      <a:endParaRPr lang="it-IT" sz="2400" dirty="0">
                        <a:solidFill>
                          <a:schemeClr val="tx1"/>
                        </a:solidFill>
                        <a:effectLst/>
                      </a:endParaRPr>
                    </a:p>
                  </a:txBody>
                  <a:tcPr marL="114300" marR="114300" marT="76200" marB="76200" anchor="ctr"/>
                </a:tc>
                <a:tc>
                  <a:txBody>
                    <a:bodyPr/>
                    <a:lstStyle/>
                    <a:p>
                      <a:pPr algn="l">
                        <a:buNone/>
                      </a:pPr>
                      <a:r>
                        <a:rPr lang="it-IT" sz="2400" b="1" dirty="0">
                          <a:solidFill>
                            <a:schemeClr val="tx1"/>
                          </a:solidFill>
                          <a:effectLst/>
                        </a:rPr>
                        <a:t>Dashboard</a:t>
                      </a:r>
                    </a:p>
                  </a:txBody>
                  <a:tcPr marL="114300" marR="114300" marT="76200" marB="76200" anchor="ctr"/>
                </a:tc>
                <a:tc>
                  <a:txBody>
                    <a:bodyPr/>
                    <a:lstStyle/>
                    <a:p>
                      <a:pPr algn="l">
                        <a:buNone/>
                      </a:pPr>
                      <a:r>
                        <a:rPr lang="it-IT" sz="2400" b="1" dirty="0">
                          <a:solidFill>
                            <a:schemeClr val="tx1"/>
                          </a:solidFill>
                          <a:effectLst/>
                        </a:rPr>
                        <a:t>Domanda del management</a:t>
                      </a:r>
                    </a:p>
                  </a:txBody>
                  <a:tcPr marL="114300" marR="114300" marT="76200" marB="76200" anchor="ctr"/>
                </a:tc>
                <a:tc>
                  <a:txBody>
                    <a:bodyPr/>
                    <a:lstStyle/>
                    <a:p>
                      <a:pPr algn="l">
                        <a:buNone/>
                      </a:pPr>
                      <a:r>
                        <a:rPr lang="it-IT" sz="2400" b="1" dirty="0">
                          <a:solidFill>
                            <a:schemeClr val="tx1"/>
                          </a:solidFill>
                          <a:effectLst/>
                        </a:rPr>
                        <a:t>Messaggio chiave</a:t>
                      </a:r>
                    </a:p>
                  </a:txBody>
                  <a:tcPr marL="114300" marR="114300" marT="76200" marB="76200" anchor="ctr"/>
                </a:tc>
                <a:extLst>
                  <a:ext uri="{0D108BD9-81ED-4DB2-BD59-A6C34878D82A}">
                    <a16:rowId xmlns:a16="http://schemas.microsoft.com/office/drawing/2014/main" val="2657406363"/>
                  </a:ext>
                </a:extLst>
              </a:tr>
              <a:tr h="0">
                <a:tc>
                  <a:txBody>
                    <a:bodyPr/>
                    <a:lstStyle/>
                    <a:p>
                      <a:pPr algn="l">
                        <a:buNone/>
                      </a:pPr>
                      <a:r>
                        <a:rPr lang="it-IT" sz="2400" dirty="0">
                          <a:solidFill>
                            <a:schemeClr val="tx1"/>
                          </a:solidFill>
                          <a:effectLst/>
                        </a:rPr>
                        <a:t>1</a:t>
                      </a:r>
                    </a:p>
                  </a:txBody>
                  <a:tcPr marL="114300" marR="114300" marT="76200" marB="76200" anchor="ctr">
                    <a:solidFill>
                      <a:schemeClr val="bg1"/>
                    </a:solidFill>
                  </a:tcPr>
                </a:tc>
                <a:tc>
                  <a:txBody>
                    <a:bodyPr/>
                    <a:lstStyle/>
                    <a:p>
                      <a:pPr algn="l">
                        <a:buNone/>
                      </a:pPr>
                      <a:r>
                        <a:rPr lang="it-IT" sz="2400" dirty="0">
                          <a:solidFill>
                            <a:schemeClr val="tx1"/>
                          </a:solidFill>
                          <a:effectLst/>
                        </a:rPr>
                        <a:t>Organization </a:t>
                      </a:r>
                      <a:r>
                        <a:rPr lang="it-IT" sz="2400" dirty="0" err="1">
                          <a:solidFill>
                            <a:schemeClr val="tx1"/>
                          </a:solidFill>
                          <a:effectLst/>
                        </a:rPr>
                        <a:t>Summary</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dirty="0">
                          <a:solidFill>
                            <a:schemeClr val="tx1"/>
                          </a:solidFill>
                          <a:effectLst/>
                        </a:rPr>
                        <a:t>Possiamo fidarci dei dati?</a:t>
                      </a:r>
                    </a:p>
                  </a:txBody>
                  <a:tcPr marL="114300" marR="114300" marT="76200" marB="76200" anchor="ctr">
                    <a:solidFill>
                      <a:schemeClr val="bg1"/>
                    </a:solidFill>
                  </a:tcPr>
                </a:tc>
                <a:tc>
                  <a:txBody>
                    <a:bodyPr/>
                    <a:lstStyle/>
                    <a:p>
                      <a:pPr algn="l">
                        <a:buNone/>
                      </a:pPr>
                      <a:r>
                        <a:rPr lang="it-IT" sz="2400">
                          <a:solidFill>
                            <a:schemeClr val="tx1"/>
                          </a:solidFill>
                          <a:effectLst/>
                        </a:rPr>
                        <a:t>I dati energetici sono completi, consolidati e di qualità. Disponiamo di una base affidabile per reporting ESG e decisioni.</a:t>
                      </a:r>
                    </a:p>
                  </a:txBody>
                  <a:tcPr marL="114300" marR="114300" marT="76200" marB="76200" anchor="ctr">
                    <a:solidFill>
                      <a:schemeClr val="bg1"/>
                    </a:solidFill>
                  </a:tcPr>
                </a:tc>
                <a:extLst>
                  <a:ext uri="{0D108BD9-81ED-4DB2-BD59-A6C34878D82A}">
                    <a16:rowId xmlns:a16="http://schemas.microsoft.com/office/drawing/2014/main" val="3287216378"/>
                  </a:ext>
                </a:extLst>
              </a:tr>
              <a:tr h="0">
                <a:tc>
                  <a:txBody>
                    <a:bodyPr/>
                    <a:lstStyle/>
                    <a:p>
                      <a:pPr algn="l">
                        <a:buNone/>
                      </a:pPr>
                      <a:r>
                        <a:rPr lang="it-IT" sz="2400" dirty="0">
                          <a:solidFill>
                            <a:schemeClr val="tx1"/>
                          </a:solidFill>
                          <a:effectLst/>
                        </a:rPr>
                        <a:t>2</a:t>
                      </a:r>
                    </a:p>
                  </a:txBody>
                  <a:tcPr marL="114300" marR="114300" marT="76200" marB="76200" anchor="ctr">
                    <a:solidFill>
                      <a:schemeClr val="bg1"/>
                    </a:solidFill>
                  </a:tcPr>
                </a:tc>
                <a:tc>
                  <a:txBody>
                    <a:bodyPr/>
                    <a:lstStyle/>
                    <a:p>
                      <a:pPr algn="l">
                        <a:buNone/>
                      </a:pPr>
                      <a:r>
                        <a:rPr lang="it-IT" sz="2400" dirty="0">
                          <a:solidFill>
                            <a:schemeClr val="tx1"/>
                          </a:solidFill>
                          <a:effectLst/>
                        </a:rPr>
                        <a:t>Ranking Locations by </a:t>
                      </a:r>
                      <a:r>
                        <a:rPr lang="it-IT" sz="2400" dirty="0" err="1">
                          <a:solidFill>
                            <a:schemeClr val="tx1"/>
                          </a:solidFill>
                          <a:effectLst/>
                        </a:rPr>
                        <a:t>Intensity</a:t>
                      </a:r>
                      <a:r>
                        <a:rPr lang="it-IT" sz="2400" dirty="0">
                          <a:solidFill>
                            <a:schemeClr val="tx1"/>
                          </a:solidFill>
                          <a:effectLst/>
                        </a:rPr>
                        <a:t> (kWh/m² oppure kWh/unità prodotta) </a:t>
                      </a:r>
                    </a:p>
                  </a:txBody>
                  <a:tcPr marL="114300" marR="114300" marT="76200" marB="76200" anchor="ctr">
                    <a:solidFill>
                      <a:schemeClr val="bg1"/>
                    </a:solid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it-IT" sz="2400" dirty="0">
                          <a:solidFill>
                            <a:schemeClr val="tx1"/>
                          </a:solidFill>
                          <a:effectLst/>
                        </a:rPr>
                        <a:t>Dove dobbiamo intervenire?</a:t>
                      </a:r>
                    </a:p>
                    <a:p>
                      <a:pPr algn="l"/>
                      <a:endParaRPr lang="it-IT" sz="2400" dirty="0">
                        <a:solidFill>
                          <a:schemeClr val="tx1"/>
                        </a:solidFill>
                      </a:endParaRPr>
                    </a:p>
                  </a:txBody>
                  <a:tcPr>
                    <a:solidFill>
                      <a:schemeClr val="bg1"/>
                    </a:solidFill>
                  </a:tcPr>
                </a:tc>
                <a:tc>
                  <a:txBody>
                    <a:bodyPr/>
                    <a:lstStyle/>
                    <a:p>
                      <a:pPr marL="0" marR="0" lvl="0" indent="0" algn="l" defTabSz="1829287" rtl="0" eaLnBrk="1" fontAlgn="auto" latinLnBrk="0" hangingPunct="1">
                        <a:lnSpc>
                          <a:spcPct val="100000"/>
                        </a:lnSpc>
                        <a:spcBef>
                          <a:spcPts val="0"/>
                        </a:spcBef>
                        <a:spcAft>
                          <a:spcPts val="0"/>
                        </a:spcAft>
                        <a:buClrTx/>
                        <a:buSzTx/>
                        <a:buFontTx/>
                        <a:buNone/>
                        <a:tabLst/>
                        <a:defRPr/>
                      </a:pPr>
                      <a:r>
                        <a:rPr lang="it-IT" sz="2400" dirty="0">
                          <a:solidFill>
                            <a:schemeClr val="tx1"/>
                          </a:solidFill>
                          <a:effectLst/>
                        </a:rPr>
                        <a:t>Il benchmark identifica Segrate come la sede con la maggiore intensità energetica. È la priorità per gli interventi di efficientamento.</a:t>
                      </a:r>
                    </a:p>
                    <a:p>
                      <a:pPr algn="l"/>
                      <a:endParaRPr lang="it-IT" sz="2400" dirty="0">
                        <a:solidFill>
                          <a:schemeClr val="tx1"/>
                        </a:solidFill>
                      </a:endParaRPr>
                    </a:p>
                  </a:txBody>
                  <a:tcPr>
                    <a:solidFill>
                      <a:schemeClr val="bg1"/>
                    </a:solidFill>
                  </a:tcPr>
                </a:tc>
                <a:extLst>
                  <a:ext uri="{0D108BD9-81ED-4DB2-BD59-A6C34878D82A}">
                    <a16:rowId xmlns:a16="http://schemas.microsoft.com/office/drawing/2014/main" val="80255093"/>
                  </a:ext>
                </a:extLst>
              </a:tr>
              <a:tr h="0">
                <a:tc>
                  <a:txBody>
                    <a:bodyPr/>
                    <a:lstStyle/>
                    <a:p>
                      <a:pPr algn="l">
                        <a:buNone/>
                      </a:pPr>
                      <a:r>
                        <a:rPr lang="it-IT" sz="2400">
                          <a:solidFill>
                            <a:schemeClr val="tx1"/>
                          </a:solidFill>
                          <a:effectLst/>
                        </a:rPr>
                        <a:t>3</a:t>
                      </a:r>
                    </a:p>
                  </a:txBody>
                  <a:tcPr marL="114300" marR="114300" marT="76200" marB="76200" anchor="ctr">
                    <a:solidFill>
                      <a:schemeClr val="bg1"/>
                    </a:solidFill>
                  </a:tcPr>
                </a:tc>
                <a:tc>
                  <a:txBody>
                    <a:bodyPr/>
                    <a:lstStyle/>
                    <a:p>
                      <a:pPr algn="l">
                        <a:buNone/>
                      </a:pPr>
                      <a:r>
                        <a:rPr lang="it-IT" sz="2400" dirty="0">
                          <a:solidFill>
                            <a:schemeClr val="tx1"/>
                          </a:solidFill>
                          <a:effectLst/>
                        </a:rPr>
                        <a:t>Performance by Scope</a:t>
                      </a:r>
                    </a:p>
                  </a:txBody>
                  <a:tcPr marL="114300" marR="114300" marT="76200" marB="76200" anchor="ctr">
                    <a:solidFill>
                      <a:schemeClr val="bg1"/>
                    </a:solidFill>
                  </a:tcPr>
                </a:tc>
                <a:tc>
                  <a:txBody>
                    <a:bodyPr/>
                    <a:lstStyle/>
                    <a:p>
                      <a:pPr algn="l">
                        <a:buNone/>
                      </a:pPr>
                      <a:r>
                        <a:rPr lang="it-IT" sz="2400">
                          <a:solidFill>
                            <a:schemeClr val="tx1"/>
                          </a:solidFill>
                          <a:effectLst/>
                        </a:rPr>
                        <a:t>La strategia ESG sta producendo risultati?</a:t>
                      </a:r>
                    </a:p>
                  </a:txBody>
                  <a:tcPr marL="114300" marR="114300" marT="76200" marB="76200" anchor="ctr">
                    <a:solidFill>
                      <a:schemeClr val="bg1"/>
                    </a:solidFill>
                  </a:tcPr>
                </a:tc>
                <a:tc>
                  <a:txBody>
                    <a:bodyPr/>
                    <a:lstStyle/>
                    <a:p>
                      <a:pPr algn="l">
                        <a:buNone/>
                      </a:pPr>
                      <a:r>
                        <a:rPr lang="it-IT" sz="2400">
                          <a:solidFill>
                            <a:schemeClr val="tx1"/>
                          </a:solidFill>
                          <a:effectLst/>
                        </a:rPr>
                        <a:t>Le emissioni nette diminuiscono del 3,1%. La riduzione dello Scope 2 compensa la crescita di Scope 1 e Scope 3.</a:t>
                      </a:r>
                    </a:p>
                  </a:txBody>
                  <a:tcPr marL="114300" marR="114300" marT="76200" marB="76200" anchor="ctr">
                    <a:solidFill>
                      <a:schemeClr val="bg1"/>
                    </a:solidFill>
                  </a:tcPr>
                </a:tc>
                <a:extLst>
                  <a:ext uri="{0D108BD9-81ED-4DB2-BD59-A6C34878D82A}">
                    <a16:rowId xmlns:a16="http://schemas.microsoft.com/office/drawing/2014/main" val="3152905373"/>
                  </a:ext>
                </a:extLst>
              </a:tr>
              <a:tr h="0">
                <a:tc>
                  <a:txBody>
                    <a:bodyPr/>
                    <a:lstStyle/>
                    <a:p>
                      <a:pPr algn="l">
                        <a:buNone/>
                      </a:pPr>
                      <a:r>
                        <a:rPr lang="it-IT" sz="2400">
                          <a:solidFill>
                            <a:schemeClr val="tx1"/>
                          </a:solidFill>
                          <a:effectLst/>
                        </a:rPr>
                        <a:t>4</a:t>
                      </a:r>
                    </a:p>
                  </a:txBody>
                  <a:tcPr marL="114300" marR="114300" marT="76200" marB="76200" anchor="ctr">
                    <a:solidFill>
                      <a:schemeClr val="bg1"/>
                    </a:solidFill>
                  </a:tcPr>
                </a:tc>
                <a:tc>
                  <a:txBody>
                    <a:bodyPr/>
                    <a:lstStyle/>
                    <a:p>
                      <a:pPr algn="l">
                        <a:buNone/>
                      </a:pPr>
                      <a:r>
                        <a:rPr lang="it-IT" sz="2400" dirty="0">
                          <a:solidFill>
                            <a:schemeClr val="tx1"/>
                          </a:solidFill>
                          <a:effectLst/>
                        </a:rPr>
                        <a:t>Market Based </a:t>
                      </a:r>
                      <a:r>
                        <a:rPr lang="it-IT" sz="2400" dirty="0" err="1">
                          <a:solidFill>
                            <a:schemeClr val="tx1"/>
                          </a:solidFill>
                          <a:effectLst/>
                        </a:rPr>
                        <a:t>Emissions</a:t>
                      </a:r>
                      <a:endParaRPr lang="it-IT" sz="2400" dirty="0">
                        <a:solidFill>
                          <a:schemeClr val="tx1"/>
                        </a:solidFill>
                        <a:effectLst/>
                      </a:endParaRPr>
                    </a:p>
                  </a:txBody>
                  <a:tcPr marL="114300" marR="114300" marT="76200" marB="76200" anchor="ctr">
                    <a:solidFill>
                      <a:schemeClr val="bg1"/>
                    </a:solidFill>
                  </a:tcPr>
                </a:tc>
                <a:tc>
                  <a:txBody>
                    <a:bodyPr/>
                    <a:lstStyle/>
                    <a:p>
                      <a:pPr algn="l">
                        <a:buNone/>
                      </a:pPr>
                      <a:r>
                        <a:rPr lang="it-IT" sz="2400" dirty="0">
                          <a:solidFill>
                            <a:schemeClr val="tx1"/>
                          </a:solidFill>
                          <a:effectLst/>
                        </a:rPr>
                        <a:t>Qual è il contributo dell’energia rinnovabile?</a:t>
                      </a:r>
                    </a:p>
                  </a:txBody>
                  <a:tcPr marL="114300" marR="114300" marT="76200" marB="76200" anchor="ctr">
                    <a:solidFill>
                      <a:schemeClr val="bg1"/>
                    </a:solidFill>
                  </a:tcPr>
                </a:tc>
                <a:tc>
                  <a:txBody>
                    <a:bodyPr/>
                    <a:lstStyle/>
                    <a:p>
                      <a:pPr algn="l">
                        <a:buNone/>
                      </a:pPr>
                      <a:r>
                        <a:rPr lang="it-IT" sz="2400">
                          <a:solidFill>
                            <a:schemeClr val="tx1"/>
                          </a:solidFill>
                          <a:effectLst/>
                        </a:rPr>
                        <a:t>Envizi confronta automaticamente Location Based e Market Based, quantificando il beneficio delle Garanzie d’Origine e dell’energia rinnovabile.</a:t>
                      </a:r>
                    </a:p>
                  </a:txBody>
                  <a:tcPr marL="114300" marR="114300" marT="76200" marB="76200" anchor="ctr">
                    <a:solidFill>
                      <a:schemeClr val="bg1"/>
                    </a:solidFill>
                  </a:tcPr>
                </a:tc>
                <a:extLst>
                  <a:ext uri="{0D108BD9-81ED-4DB2-BD59-A6C34878D82A}">
                    <a16:rowId xmlns:a16="http://schemas.microsoft.com/office/drawing/2014/main" val="2346961239"/>
                  </a:ext>
                </a:extLst>
              </a:tr>
              <a:tr h="0">
                <a:tc>
                  <a:txBody>
                    <a:bodyPr/>
                    <a:lstStyle/>
                    <a:p>
                      <a:pPr algn="l">
                        <a:buNone/>
                      </a:pPr>
                      <a:r>
                        <a:rPr lang="it-IT" sz="2400">
                          <a:solidFill>
                            <a:schemeClr val="tx1"/>
                          </a:solidFill>
                          <a:effectLst/>
                        </a:rPr>
                        <a:t>5</a:t>
                      </a:r>
                    </a:p>
                  </a:txBody>
                  <a:tcPr marL="114300" marR="114300" marT="76200" marB="76200" anchor="ctr">
                    <a:solidFill>
                      <a:schemeClr val="bg1"/>
                    </a:solidFill>
                  </a:tcPr>
                </a:tc>
                <a:tc>
                  <a:txBody>
                    <a:bodyPr/>
                    <a:lstStyle/>
                    <a:p>
                      <a:pPr algn="l">
                        <a:buNone/>
                      </a:pPr>
                      <a:r>
                        <a:rPr lang="it-IT" sz="2400">
                          <a:solidFill>
                            <a:schemeClr val="tx1"/>
                          </a:solidFill>
                          <a:effectLst/>
                        </a:rPr>
                        <a:t>Electricity Emissions Inventory</a:t>
                      </a:r>
                    </a:p>
                  </a:txBody>
                  <a:tcPr marL="114300" marR="114300" marT="76200" marB="76200" anchor="ctr">
                    <a:solidFill>
                      <a:schemeClr val="bg1"/>
                    </a:solidFill>
                  </a:tcPr>
                </a:tc>
                <a:tc>
                  <a:txBody>
                    <a:bodyPr/>
                    <a:lstStyle/>
                    <a:p>
                      <a:pPr algn="l">
                        <a:buNone/>
                      </a:pPr>
                      <a:r>
                        <a:rPr lang="it-IT" sz="2400" dirty="0">
                          <a:solidFill>
                            <a:schemeClr val="tx1"/>
                          </a:solidFill>
                          <a:effectLst/>
                        </a:rPr>
                        <a:t>Dove conviene investire per ridurre ancora le emissioni?</a:t>
                      </a:r>
                    </a:p>
                  </a:txBody>
                  <a:tcPr marL="114300" marR="114300" marT="76200" marB="76200" anchor="ctr">
                    <a:solidFill>
                      <a:schemeClr val="bg1"/>
                    </a:solidFill>
                  </a:tcPr>
                </a:tc>
                <a:tc>
                  <a:txBody>
                    <a:bodyPr/>
                    <a:lstStyle/>
                    <a:p>
                      <a:pPr algn="l">
                        <a:buNone/>
                      </a:pPr>
                      <a:r>
                        <a:rPr lang="it-IT" sz="2400" dirty="0">
                          <a:solidFill>
                            <a:schemeClr val="tx1"/>
                          </a:solidFill>
                          <a:effectLst/>
                        </a:rPr>
                        <a:t>La tabella evidenzia, per ogni sede, consumi, copertura rinnovabile ed emissioni residue. Segrate, con il 50,6% di copertura rinnovabile e 518 MWh ancora non coperti, rappresenta la principale opportunità di decarbonizzazione.</a:t>
                      </a:r>
                    </a:p>
                  </a:txBody>
                  <a:tcPr marL="114300" marR="114300" marT="76200" marB="76200" anchor="ctr">
                    <a:solidFill>
                      <a:schemeClr val="bg1"/>
                    </a:solidFill>
                  </a:tcPr>
                </a:tc>
                <a:extLst>
                  <a:ext uri="{0D108BD9-81ED-4DB2-BD59-A6C34878D82A}">
                    <a16:rowId xmlns:a16="http://schemas.microsoft.com/office/drawing/2014/main" val="4230767713"/>
                  </a:ext>
                </a:extLst>
              </a:tr>
            </a:tbl>
          </a:graphicData>
        </a:graphic>
      </p:graphicFrame>
      <p:sp>
        <p:nvSpPr>
          <p:cNvPr id="9" name="CasellaDiTesto 8">
            <a:extLst>
              <a:ext uri="{FF2B5EF4-FFF2-40B4-BE49-F238E27FC236}">
                <a16:creationId xmlns:a16="http://schemas.microsoft.com/office/drawing/2014/main" id="{46593BEA-A73A-C476-4864-6561C3FDBDA8}"/>
              </a:ext>
            </a:extLst>
          </p:cNvPr>
          <p:cNvSpPr txBox="1"/>
          <p:nvPr/>
        </p:nvSpPr>
        <p:spPr>
          <a:xfrm>
            <a:off x="898524" y="822068"/>
            <a:ext cx="20598501"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solidFill/>
              </a:rPr>
              <a:t>In sintesi </a:t>
            </a:r>
            <a:r>
              <a:rPr lang="it-IT" b="1" err="1">
                <a:solidFill/>
              </a:rPr>
              <a:t>Envizi</a:t>
            </a:r>
            <a:r>
              <a:rPr lang="it-IT" b="1">
                <a:solidFill/>
              </a:rPr>
              <a:t> Energy Level 1</a:t>
            </a:r>
            <a:endParaRPr lang="it-IT"/>
          </a:p>
        </p:txBody>
      </p:sp>
      <p:sp>
        <p:nvSpPr>
          <p:cNvPr id="11" name="CasellaDiTesto 10">
            <a:extLst>
              <a:ext uri="{FF2B5EF4-FFF2-40B4-BE49-F238E27FC236}">
                <a16:creationId xmlns:a16="http://schemas.microsoft.com/office/drawing/2014/main" id="{604664F4-1C9D-108A-9DDC-F1EEF1CF73ED}"/>
              </a:ext>
            </a:extLst>
          </p:cNvPr>
          <p:cNvSpPr txBox="1"/>
          <p:nvPr/>
        </p:nvSpPr>
        <p:spPr>
          <a:xfrm>
            <a:off x="898524" y="12570766"/>
            <a:ext cx="22057743"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2400" b="1">
                <a:solidFill/>
              </a:rPr>
              <a:t>Use case supportati in Modulo Base e Modulo Scope 1&amp;2 Reporting </a:t>
            </a:r>
            <a:endParaRPr lang="it-IT" sz="2400"/>
          </a:p>
        </p:txBody>
      </p:sp>
    </p:spTree>
    <p:extLst>
      <p:ext uri="{BB962C8B-B14F-4D97-AF65-F5344CB8AC3E}">
        <p14:creationId xmlns:p14="http://schemas.microsoft.com/office/powerpoint/2010/main" val="64842454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6072" y="640080"/>
            <a:ext cx="18288000" cy="457200"/>
          </a:xfrm>
          <a:prstGeom prst="rect">
            <a:avLst/>
          </a:prstGeom>
          <a:noFill/>
        </p:spPr>
        <p:txBody>
          <a:bodyPr wrap="square" lIns="0" tIns="0" rIns="0" bIns="0">
            <a:spAutoFit/>
          </a:bodyPr>
          <a:lstStyle/>
          <a:p>
            <a:pPr>
              <a:spcAft>
                <a:spcPts val="0"/>
              </a:spcAft>
            </a:pPr>
            <a:r>
              <a:rPr sz="2200" b="1">
                <a:solidFill>
                  <a:srgbClr val="0F62FE"/>
                </a:solidFill>
                <a:latin typeface="IBM Plex Sans Light"/>
              </a:rPr>
              <a:t>CHECKPOINT · FINE LIVELLO 1</a:t>
            </a:r>
          </a:p>
        </p:txBody>
      </p:sp>
      <p:sp>
        <p:nvSpPr>
          <p:cNvPr id="3" name="TextBox 2"/>
          <p:cNvSpPr txBox="1"/>
          <p:nvPr/>
        </p:nvSpPr>
        <p:spPr>
          <a:xfrm>
            <a:off x="576072" y="1188720"/>
            <a:ext cx="21945600" cy="1005840"/>
          </a:xfrm>
          <a:prstGeom prst="rect">
            <a:avLst/>
          </a:prstGeom>
          <a:noFill/>
        </p:spPr>
        <p:txBody>
          <a:bodyPr wrap="square" lIns="0" tIns="0" rIns="0" bIns="0">
            <a:spAutoFit/>
          </a:bodyPr>
          <a:lstStyle/>
          <a:p>
            <a:pPr>
              <a:spcAft>
                <a:spcPts val="0"/>
              </a:spcAft>
            </a:pPr>
            <a:r>
              <a:rPr sz="4800" b="1">
                <a:solidFill>
                  <a:srgbClr val="161616"/>
                </a:solidFill>
                <a:latin typeface="IBM Plex Sans Light"/>
              </a:rPr>
              <a:t>Il dato è affidabile: ora serve capirlo</a:t>
            </a:r>
          </a:p>
        </p:txBody>
      </p:sp>
      <p:sp>
        <p:nvSpPr>
          <p:cNvPr id="4" name="Rounded Rectangle 3"/>
          <p:cNvSpPr/>
          <p:nvPr/>
        </p:nvSpPr>
        <p:spPr>
          <a:xfrm>
            <a:off x="576072" y="3017520"/>
            <a:ext cx="4572000" cy="420624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33271" y="3429000"/>
            <a:ext cx="3657600" cy="548640"/>
          </a:xfrm>
          <a:prstGeom prst="rect">
            <a:avLst/>
          </a:prstGeom>
          <a:noFill/>
        </p:spPr>
        <p:txBody>
          <a:bodyPr wrap="square" lIns="0" tIns="0" rIns="0" bIns="0">
            <a:spAutoFit/>
          </a:bodyPr>
          <a:lstStyle/>
          <a:p>
            <a:pPr>
              <a:spcAft>
                <a:spcPts val="0"/>
              </a:spcAft>
            </a:pPr>
            <a:r>
              <a:rPr sz="2600" b="1">
                <a:solidFill>
                  <a:srgbClr val="009D9A"/>
                </a:solidFill>
                <a:latin typeface="IBM Plex Sans Light"/>
              </a:rPr>
              <a:t>01</a:t>
            </a:r>
          </a:p>
        </p:txBody>
      </p:sp>
      <p:sp>
        <p:nvSpPr>
          <p:cNvPr id="6" name="TextBox 5"/>
          <p:cNvSpPr txBox="1"/>
          <p:nvPr/>
        </p:nvSpPr>
        <p:spPr>
          <a:xfrm>
            <a:off x="1033271" y="4160520"/>
            <a:ext cx="3657600" cy="1292662"/>
          </a:xfrm>
          <a:prstGeom prst="rect">
            <a:avLst/>
          </a:prstGeom>
          <a:noFill/>
        </p:spPr>
        <p:txBody>
          <a:bodyPr wrap="square" lIns="0" tIns="0" rIns="0" bIns="0">
            <a:spAutoFit/>
          </a:bodyPr>
          <a:lstStyle/>
          <a:p>
            <a:pPr>
              <a:spcAft>
                <a:spcPts val="0"/>
              </a:spcAft>
            </a:pPr>
            <a:r>
              <a:rPr sz="2800" b="1" dirty="0" err="1">
                <a:solidFill>
                  <a:srgbClr val="161616"/>
                </a:solidFill>
                <a:latin typeface="IBM Plex Sans Light"/>
              </a:rPr>
              <a:t>Raccogliere</a:t>
            </a:r>
            <a:r>
              <a:rPr sz="2800" b="1" dirty="0">
                <a:solidFill>
                  <a:srgbClr val="161616"/>
                </a:solidFill>
                <a:latin typeface="IBM Plex Sans Light"/>
              </a:rPr>
              <a:t> </a:t>
            </a:r>
            <a:r>
              <a:rPr sz="2800" b="0" dirty="0" err="1">
                <a:solidFill>
                  <a:srgbClr val="161616"/>
                </a:solidFill>
                <a:latin typeface="IBM Plex Sans Light"/>
              </a:rPr>
              <a:t>i</a:t>
            </a:r>
            <a:r>
              <a:rPr sz="2800" b="0" dirty="0">
                <a:solidFill>
                  <a:srgbClr val="161616"/>
                </a:solidFill>
                <a:latin typeface="IBM Plex Sans Light"/>
              </a:rPr>
              <a:t> </a:t>
            </a:r>
            <a:r>
              <a:rPr sz="2800" b="0" dirty="0" err="1">
                <a:solidFill>
                  <a:srgbClr val="161616"/>
                </a:solidFill>
                <a:latin typeface="IBM Plex Sans Light"/>
              </a:rPr>
              <a:t>dati</a:t>
            </a:r>
            <a:r>
              <a:rPr sz="2800" b="0" dirty="0">
                <a:solidFill>
                  <a:srgbClr val="161616"/>
                </a:solidFill>
                <a:latin typeface="IBM Plex Sans Light"/>
              </a:rPr>
              <a:t> </a:t>
            </a:r>
            <a:r>
              <a:rPr sz="2800" b="0" dirty="0" err="1">
                <a:solidFill>
                  <a:srgbClr val="161616"/>
                </a:solidFill>
                <a:latin typeface="IBM Plex Sans Light"/>
              </a:rPr>
              <a:t>energetici</a:t>
            </a:r>
            <a:r>
              <a:rPr sz="2800" b="0" dirty="0">
                <a:solidFill>
                  <a:srgbClr val="161616"/>
                </a:solidFill>
                <a:latin typeface="IBM Plex Sans Light"/>
              </a:rPr>
              <a:t> da </a:t>
            </a:r>
            <a:r>
              <a:rPr sz="2800" b="0" dirty="0" err="1">
                <a:solidFill>
                  <a:srgbClr val="161616"/>
                </a:solidFill>
                <a:latin typeface="IBM Plex Sans Light"/>
              </a:rPr>
              <a:t>bollette</a:t>
            </a:r>
            <a:r>
              <a:rPr sz="2800" b="0" dirty="0">
                <a:solidFill>
                  <a:srgbClr val="161616"/>
                </a:solidFill>
                <a:latin typeface="IBM Plex Sans Light"/>
              </a:rPr>
              <a:t> e </a:t>
            </a:r>
            <a:r>
              <a:rPr sz="2800" b="0" dirty="0" err="1">
                <a:solidFill>
                  <a:srgbClr val="161616"/>
                </a:solidFill>
                <a:latin typeface="IBM Plex Sans Light"/>
              </a:rPr>
              <a:t>contatori</a:t>
            </a:r>
            <a:r>
              <a:rPr sz="2800" b="0" dirty="0">
                <a:solidFill>
                  <a:srgbClr val="161616"/>
                </a:solidFill>
                <a:latin typeface="IBM Plex Sans Light"/>
              </a:rPr>
              <a:t>.</a:t>
            </a:r>
          </a:p>
        </p:txBody>
      </p:sp>
      <p:sp>
        <p:nvSpPr>
          <p:cNvPr id="7" name="Rounded Rectangle 6"/>
          <p:cNvSpPr/>
          <p:nvPr/>
        </p:nvSpPr>
        <p:spPr>
          <a:xfrm>
            <a:off x="5358384" y="3017520"/>
            <a:ext cx="4572000" cy="420624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815584" y="3429000"/>
            <a:ext cx="3657600" cy="548640"/>
          </a:xfrm>
          <a:prstGeom prst="rect">
            <a:avLst/>
          </a:prstGeom>
          <a:noFill/>
        </p:spPr>
        <p:txBody>
          <a:bodyPr wrap="square" lIns="0" tIns="0" rIns="0" bIns="0">
            <a:spAutoFit/>
          </a:bodyPr>
          <a:lstStyle/>
          <a:p>
            <a:pPr>
              <a:spcAft>
                <a:spcPts val="0"/>
              </a:spcAft>
            </a:pPr>
            <a:r>
              <a:rPr sz="2600" b="1">
                <a:solidFill>
                  <a:srgbClr val="009D9A"/>
                </a:solidFill>
                <a:latin typeface="IBM Plex Sans Light"/>
              </a:rPr>
              <a:t>02</a:t>
            </a:r>
          </a:p>
        </p:txBody>
      </p:sp>
      <p:sp>
        <p:nvSpPr>
          <p:cNvPr id="9" name="TextBox 8"/>
          <p:cNvSpPr txBox="1"/>
          <p:nvPr/>
        </p:nvSpPr>
        <p:spPr>
          <a:xfrm>
            <a:off x="5815584" y="4160520"/>
            <a:ext cx="3657600" cy="1292662"/>
          </a:xfrm>
          <a:prstGeom prst="rect">
            <a:avLst/>
          </a:prstGeom>
          <a:noFill/>
        </p:spPr>
        <p:txBody>
          <a:bodyPr wrap="square" lIns="0" tIns="0" rIns="0" bIns="0">
            <a:spAutoFit/>
          </a:bodyPr>
          <a:lstStyle/>
          <a:p>
            <a:pPr>
              <a:spcAft>
                <a:spcPts val="0"/>
              </a:spcAft>
            </a:pPr>
            <a:r>
              <a:rPr sz="2800" b="1" dirty="0" err="1">
                <a:solidFill>
                  <a:srgbClr val="161616"/>
                </a:solidFill>
                <a:latin typeface="IBM Plex Sans Light"/>
              </a:rPr>
              <a:t>Calcolare</a:t>
            </a:r>
            <a:r>
              <a:rPr sz="2800" b="1" dirty="0">
                <a:solidFill>
                  <a:srgbClr val="161616"/>
                </a:solidFill>
                <a:latin typeface="IBM Plex Sans Light"/>
              </a:rPr>
              <a:t> </a:t>
            </a:r>
            <a:r>
              <a:rPr sz="2800" b="0" dirty="0" err="1">
                <a:solidFill>
                  <a:srgbClr val="161616"/>
                </a:solidFill>
                <a:latin typeface="IBM Plex Sans Light"/>
              </a:rPr>
              <a:t>automaticamente</a:t>
            </a:r>
            <a:r>
              <a:rPr sz="2800" b="0" dirty="0">
                <a:solidFill>
                  <a:srgbClr val="161616"/>
                </a:solidFill>
                <a:latin typeface="IBM Plex Sans Light"/>
              </a:rPr>
              <a:t> le </a:t>
            </a:r>
            <a:r>
              <a:rPr sz="2800" b="0" dirty="0" err="1">
                <a:solidFill>
                  <a:srgbClr val="161616"/>
                </a:solidFill>
                <a:latin typeface="IBM Plex Sans Light"/>
              </a:rPr>
              <a:t>emissioni</a:t>
            </a:r>
            <a:r>
              <a:rPr sz="2800" b="0" dirty="0">
                <a:solidFill>
                  <a:srgbClr val="161616"/>
                </a:solidFill>
                <a:latin typeface="IBM Plex Sans Light"/>
              </a:rPr>
              <a:t> Scope 1 e 2.</a:t>
            </a:r>
          </a:p>
        </p:txBody>
      </p:sp>
      <p:sp>
        <p:nvSpPr>
          <p:cNvPr id="10" name="Rounded Rectangle 9"/>
          <p:cNvSpPr/>
          <p:nvPr/>
        </p:nvSpPr>
        <p:spPr>
          <a:xfrm>
            <a:off x="10140696" y="3017520"/>
            <a:ext cx="4572000" cy="420624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597896" y="3429000"/>
            <a:ext cx="3657600" cy="548640"/>
          </a:xfrm>
          <a:prstGeom prst="rect">
            <a:avLst/>
          </a:prstGeom>
          <a:noFill/>
        </p:spPr>
        <p:txBody>
          <a:bodyPr wrap="square" lIns="0" tIns="0" rIns="0" bIns="0">
            <a:spAutoFit/>
          </a:bodyPr>
          <a:lstStyle/>
          <a:p>
            <a:pPr>
              <a:spcAft>
                <a:spcPts val="0"/>
              </a:spcAft>
            </a:pPr>
            <a:r>
              <a:rPr sz="2600" b="1">
                <a:solidFill>
                  <a:srgbClr val="009D9A"/>
                </a:solidFill>
                <a:latin typeface="IBM Plex Sans Light"/>
              </a:rPr>
              <a:t>03</a:t>
            </a:r>
          </a:p>
        </p:txBody>
      </p:sp>
      <p:sp>
        <p:nvSpPr>
          <p:cNvPr id="12" name="TextBox 11"/>
          <p:cNvSpPr txBox="1"/>
          <p:nvPr/>
        </p:nvSpPr>
        <p:spPr>
          <a:xfrm>
            <a:off x="10597896" y="4160520"/>
            <a:ext cx="3657600" cy="1723549"/>
          </a:xfrm>
          <a:prstGeom prst="rect">
            <a:avLst/>
          </a:prstGeom>
          <a:noFill/>
        </p:spPr>
        <p:txBody>
          <a:bodyPr wrap="square" lIns="0" tIns="0" rIns="0" bIns="0">
            <a:spAutoFit/>
          </a:bodyPr>
          <a:lstStyle/>
          <a:p>
            <a:pPr>
              <a:spcAft>
                <a:spcPts val="0"/>
              </a:spcAft>
            </a:pPr>
            <a:r>
              <a:rPr sz="2800" b="1" dirty="0" err="1">
                <a:solidFill>
                  <a:srgbClr val="161616"/>
                </a:solidFill>
                <a:latin typeface="IBM Plex Sans Light"/>
              </a:rPr>
              <a:t>Confrontare</a:t>
            </a:r>
            <a:r>
              <a:rPr sz="2800" b="1" dirty="0">
                <a:solidFill>
                  <a:srgbClr val="161616"/>
                </a:solidFill>
                <a:latin typeface="IBM Plex Sans Light"/>
              </a:rPr>
              <a:t> </a:t>
            </a:r>
            <a:r>
              <a:rPr sz="2800" b="0" dirty="0">
                <a:solidFill>
                  <a:srgbClr val="161616"/>
                </a:solidFill>
                <a:latin typeface="IBM Plex Sans Light"/>
              </a:rPr>
              <a:t>le </a:t>
            </a:r>
            <a:r>
              <a:rPr sz="2800" b="0" dirty="0" err="1">
                <a:solidFill>
                  <a:srgbClr val="161616"/>
                </a:solidFill>
                <a:latin typeface="IBM Plex Sans Light"/>
              </a:rPr>
              <a:t>prestazioni</a:t>
            </a:r>
            <a:r>
              <a:rPr sz="2800" b="0" dirty="0">
                <a:solidFill>
                  <a:srgbClr val="161616"/>
                </a:solidFill>
                <a:latin typeface="IBM Plex Sans Light"/>
              </a:rPr>
              <a:t> </a:t>
            </a:r>
            <a:r>
              <a:rPr sz="2800" b="0" dirty="0" err="1">
                <a:solidFill>
                  <a:srgbClr val="161616"/>
                </a:solidFill>
                <a:latin typeface="IBM Plex Sans Light"/>
              </a:rPr>
              <a:t>tramite</a:t>
            </a:r>
            <a:r>
              <a:rPr sz="2800" b="0" dirty="0">
                <a:solidFill>
                  <a:srgbClr val="161616"/>
                </a:solidFill>
                <a:latin typeface="IBM Plex Sans Light"/>
              </a:rPr>
              <a:t> KPI di </a:t>
            </a:r>
            <a:r>
              <a:rPr sz="2800" b="0" dirty="0" err="1">
                <a:solidFill>
                  <a:srgbClr val="161616"/>
                </a:solidFill>
                <a:latin typeface="IBM Plex Sans Light"/>
              </a:rPr>
              <a:t>intensità</a:t>
            </a:r>
            <a:r>
              <a:rPr sz="2800" b="0" dirty="0">
                <a:solidFill>
                  <a:srgbClr val="161616"/>
                </a:solidFill>
                <a:latin typeface="IBM Plex Sans Light"/>
              </a:rPr>
              <a:t> (kWh/m², kWh/FTE).</a:t>
            </a:r>
          </a:p>
        </p:txBody>
      </p:sp>
      <p:sp>
        <p:nvSpPr>
          <p:cNvPr id="13" name="Rounded Rectangle 12"/>
          <p:cNvSpPr/>
          <p:nvPr/>
        </p:nvSpPr>
        <p:spPr>
          <a:xfrm>
            <a:off x="14899327" y="3017520"/>
            <a:ext cx="4572000" cy="420624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5380208" y="3429000"/>
            <a:ext cx="3657600" cy="548640"/>
          </a:xfrm>
          <a:prstGeom prst="rect">
            <a:avLst/>
          </a:prstGeom>
          <a:noFill/>
        </p:spPr>
        <p:txBody>
          <a:bodyPr wrap="square" lIns="0" tIns="0" rIns="0" bIns="0">
            <a:spAutoFit/>
          </a:bodyPr>
          <a:lstStyle/>
          <a:p>
            <a:pPr>
              <a:spcAft>
                <a:spcPts val="0"/>
              </a:spcAft>
            </a:pPr>
            <a:r>
              <a:rPr sz="2600" b="1">
                <a:solidFill>
                  <a:srgbClr val="009D9A"/>
                </a:solidFill>
                <a:latin typeface="IBM Plex Sans Light"/>
              </a:rPr>
              <a:t>04</a:t>
            </a:r>
          </a:p>
        </p:txBody>
      </p:sp>
      <p:sp>
        <p:nvSpPr>
          <p:cNvPr id="15" name="TextBox 14"/>
          <p:cNvSpPr txBox="1"/>
          <p:nvPr/>
        </p:nvSpPr>
        <p:spPr>
          <a:xfrm>
            <a:off x="15380208" y="4160520"/>
            <a:ext cx="3657600" cy="861774"/>
          </a:xfrm>
          <a:prstGeom prst="rect">
            <a:avLst/>
          </a:prstGeom>
          <a:noFill/>
        </p:spPr>
        <p:txBody>
          <a:bodyPr wrap="square" lIns="0" tIns="0" rIns="0" bIns="0">
            <a:spAutoFit/>
          </a:bodyPr>
          <a:lstStyle/>
          <a:p>
            <a:pPr>
              <a:spcAft>
                <a:spcPts val="0"/>
              </a:spcAft>
            </a:pPr>
            <a:r>
              <a:rPr sz="2800" b="1" dirty="0" err="1">
                <a:solidFill>
                  <a:srgbClr val="161616"/>
                </a:solidFill>
                <a:latin typeface="IBM Plex Sans Light"/>
              </a:rPr>
              <a:t>Garantire</a:t>
            </a:r>
            <a:r>
              <a:rPr sz="2800" b="1" dirty="0">
                <a:solidFill>
                  <a:srgbClr val="161616"/>
                </a:solidFill>
                <a:latin typeface="IBM Plex Sans Light"/>
              </a:rPr>
              <a:t> </a:t>
            </a:r>
            <a:r>
              <a:rPr sz="2800" b="0" dirty="0" err="1">
                <a:solidFill>
                  <a:srgbClr val="161616"/>
                </a:solidFill>
                <a:latin typeface="IBM Plex Sans Light"/>
              </a:rPr>
              <a:t>qualità</a:t>
            </a:r>
            <a:r>
              <a:rPr sz="2800" b="0" dirty="0">
                <a:solidFill>
                  <a:srgbClr val="161616"/>
                </a:solidFill>
                <a:latin typeface="IBM Plex Sans Light"/>
              </a:rPr>
              <a:t> e </a:t>
            </a:r>
            <a:r>
              <a:rPr sz="2800" b="0" dirty="0" err="1">
                <a:solidFill>
                  <a:srgbClr val="161616"/>
                </a:solidFill>
                <a:latin typeface="IBM Plex Sans Light"/>
              </a:rPr>
              <a:t>tracciabilità</a:t>
            </a:r>
            <a:r>
              <a:rPr sz="2800" b="0" dirty="0">
                <a:solidFill>
                  <a:srgbClr val="161616"/>
                </a:solidFill>
                <a:latin typeface="IBM Plex Sans Light"/>
              </a:rPr>
              <a:t> del </a:t>
            </a:r>
            <a:r>
              <a:rPr sz="2800" b="0" dirty="0" err="1">
                <a:solidFill>
                  <a:srgbClr val="161616"/>
                </a:solidFill>
                <a:latin typeface="IBM Plex Sans Light"/>
              </a:rPr>
              <a:t>dato</a:t>
            </a:r>
            <a:r>
              <a:rPr sz="2800" b="0" dirty="0">
                <a:solidFill>
                  <a:srgbClr val="161616"/>
                </a:solidFill>
                <a:latin typeface="IBM Plex Sans Light"/>
              </a:rPr>
              <a:t>.</a:t>
            </a:r>
          </a:p>
        </p:txBody>
      </p:sp>
      <p:sp>
        <p:nvSpPr>
          <p:cNvPr id="16" name="Rounded Rectangle 15"/>
          <p:cNvSpPr/>
          <p:nvPr/>
        </p:nvSpPr>
        <p:spPr>
          <a:xfrm>
            <a:off x="19705320" y="3017520"/>
            <a:ext cx="4572000" cy="420624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0162520" y="3429000"/>
            <a:ext cx="3657600" cy="548640"/>
          </a:xfrm>
          <a:prstGeom prst="rect">
            <a:avLst/>
          </a:prstGeom>
          <a:noFill/>
        </p:spPr>
        <p:txBody>
          <a:bodyPr wrap="square" lIns="0" tIns="0" rIns="0" bIns="0">
            <a:spAutoFit/>
          </a:bodyPr>
          <a:lstStyle/>
          <a:p>
            <a:pPr>
              <a:spcAft>
                <a:spcPts val="0"/>
              </a:spcAft>
            </a:pPr>
            <a:r>
              <a:rPr sz="2600" b="1">
                <a:solidFill>
                  <a:srgbClr val="009D9A"/>
                </a:solidFill>
                <a:latin typeface="IBM Plex Sans Light"/>
              </a:rPr>
              <a:t>05</a:t>
            </a:r>
          </a:p>
        </p:txBody>
      </p:sp>
      <p:sp>
        <p:nvSpPr>
          <p:cNvPr id="18" name="TextBox 17"/>
          <p:cNvSpPr txBox="1"/>
          <p:nvPr/>
        </p:nvSpPr>
        <p:spPr>
          <a:xfrm>
            <a:off x="20162520" y="4160520"/>
            <a:ext cx="3657600" cy="1292662"/>
          </a:xfrm>
          <a:prstGeom prst="rect">
            <a:avLst/>
          </a:prstGeom>
          <a:noFill/>
        </p:spPr>
        <p:txBody>
          <a:bodyPr wrap="square" lIns="0" tIns="0" rIns="0" bIns="0">
            <a:spAutoFit/>
          </a:bodyPr>
          <a:lstStyle/>
          <a:p>
            <a:pPr>
              <a:spcAft>
                <a:spcPts val="0"/>
              </a:spcAft>
            </a:pPr>
            <a:r>
              <a:rPr sz="2800" b="1" dirty="0" err="1">
                <a:solidFill>
                  <a:srgbClr val="161616"/>
                </a:solidFill>
                <a:latin typeface="IBM Plex Sans Light"/>
              </a:rPr>
              <a:t>Produrre</a:t>
            </a:r>
            <a:r>
              <a:rPr sz="2800" b="1" dirty="0">
                <a:solidFill>
                  <a:srgbClr val="161616"/>
                </a:solidFill>
                <a:latin typeface="IBM Plex Sans Light"/>
              </a:rPr>
              <a:t> </a:t>
            </a:r>
            <a:r>
              <a:rPr sz="2800" b="0" dirty="0">
                <a:solidFill>
                  <a:srgbClr val="161616"/>
                </a:solidFill>
                <a:latin typeface="IBM Plex Sans Light"/>
              </a:rPr>
              <a:t>report </a:t>
            </a:r>
            <a:r>
              <a:rPr sz="2800" b="0" dirty="0" err="1">
                <a:solidFill>
                  <a:srgbClr val="161616"/>
                </a:solidFill>
                <a:latin typeface="IBM Plex Sans Light"/>
              </a:rPr>
              <a:t>pronti</a:t>
            </a:r>
            <a:r>
              <a:rPr sz="2800" b="0" dirty="0">
                <a:solidFill>
                  <a:srgbClr val="161616"/>
                </a:solidFill>
                <a:latin typeface="IBM Plex Sans Light"/>
              </a:rPr>
              <a:t> per compliance e stakeholder.</a:t>
            </a:r>
          </a:p>
        </p:txBody>
      </p:sp>
      <p:sp>
        <p:nvSpPr>
          <p:cNvPr id="19" name="Rounded Rectangle 18"/>
          <p:cNvSpPr/>
          <p:nvPr/>
        </p:nvSpPr>
        <p:spPr>
          <a:xfrm>
            <a:off x="576072" y="7863840"/>
            <a:ext cx="14996159" cy="2926080"/>
          </a:xfrm>
          <a:prstGeom prst="roundRect">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280160" y="8275319"/>
            <a:ext cx="13624560" cy="1903085"/>
          </a:xfrm>
          <a:prstGeom prst="rect">
            <a:avLst/>
          </a:prstGeom>
          <a:noFill/>
        </p:spPr>
        <p:txBody>
          <a:bodyPr wrap="square" lIns="0" tIns="0" rIns="0" bIns="0">
            <a:spAutoFit/>
          </a:bodyPr>
          <a:lstStyle/>
          <a:p>
            <a:pPr>
              <a:spcAft>
                <a:spcPts val="1400"/>
              </a:spcAft>
            </a:pPr>
            <a:r>
              <a:rPr lang="it-IT" sz="2800" dirty="0">
                <a:solidFill>
                  <a:schemeClr val="bg1"/>
                </a:solidFill>
                <a:latin typeface="IBM Plex Sans Light"/>
              </a:rPr>
              <a:t>LA SVOLTA</a:t>
            </a:r>
          </a:p>
          <a:p>
            <a:pPr>
              <a:spcAft>
                <a:spcPts val="0"/>
              </a:spcAft>
            </a:pPr>
            <a:endParaRPr lang="it-IT" sz="2800" dirty="0">
              <a:solidFill>
                <a:schemeClr val="bg1"/>
              </a:solidFill>
              <a:latin typeface="IBM Plex Sans Light"/>
            </a:endParaRPr>
          </a:p>
          <a:p>
            <a:pPr>
              <a:spcAft>
                <a:spcPts val="0"/>
              </a:spcAft>
            </a:pPr>
            <a:r>
              <a:rPr lang="it-IT" sz="2800" dirty="0">
                <a:solidFill>
                  <a:schemeClr val="bg1"/>
                </a:solidFill>
                <a:latin typeface="IBM Plex Sans Light"/>
              </a:rPr>
              <a:t>“Ora che il dato è affidabile, non ci limitiamo più a rendicontarlo: iniziamo a capire dove stiamo sprecando energia e denaro.”</a:t>
            </a:r>
          </a:p>
        </p:txBody>
      </p:sp>
      <p:sp>
        <p:nvSpPr>
          <p:cNvPr id="21" name="Rounded Rectangle 20"/>
          <p:cNvSpPr/>
          <p:nvPr/>
        </p:nvSpPr>
        <p:spPr>
          <a:xfrm>
            <a:off x="15937992" y="7863840"/>
            <a:ext cx="7863840" cy="2926080"/>
          </a:xfrm>
          <a:prstGeom prst="roundRect">
            <a:avLst/>
          </a:prstGeom>
          <a:solidFill>
            <a:srgbClr val="E8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6642080" y="8366760"/>
            <a:ext cx="6492240" cy="923330"/>
          </a:xfrm>
          <a:prstGeom prst="rect">
            <a:avLst/>
          </a:prstGeom>
          <a:noFill/>
        </p:spPr>
        <p:txBody>
          <a:bodyPr wrap="square" lIns="0" tIns="0" rIns="0" bIns="0">
            <a:spAutoFit/>
          </a:bodyPr>
          <a:lstStyle/>
          <a:p>
            <a:pPr>
              <a:spcAft>
                <a:spcPts val="1200"/>
              </a:spcAft>
            </a:pPr>
            <a:r>
              <a:rPr lang="it-IT" sz="2000" b="1">
                <a:solidFill>
                  <a:srgbClr val="0F62FE"/>
                </a:solidFill>
                <a:latin typeface="IBM Plex Sans" panose="020B0503050203000203" pitchFamily="34" charset="0"/>
              </a:rPr>
              <a:t>PROSSIMO PASSO</a:t>
            </a:r>
          </a:p>
          <a:p>
            <a:pPr>
              <a:spcAft>
                <a:spcPts val="0"/>
              </a:spcAft>
            </a:pPr>
            <a:r>
              <a:rPr sz="3000" b="1">
                <a:solidFill>
                  <a:srgbClr val="161616"/>
                </a:solidFill>
                <a:latin typeface="IBM Plex Sans Light"/>
              </a:rPr>
              <a:t>Livello 2 — Utility Bill Analytics</a:t>
            </a:r>
          </a:p>
        </p:txBody>
      </p:sp>
      <p:sp>
        <p:nvSpPr>
          <p:cNvPr id="23" name="Rounded Rectangle 22"/>
          <p:cNvSpPr/>
          <p:nvPr/>
        </p:nvSpPr>
        <p:spPr>
          <a:xfrm>
            <a:off x="576072" y="11292840"/>
            <a:ext cx="23225760" cy="1371600"/>
          </a:xfrm>
          <a:prstGeom prst="roundRect">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80160" y="11763196"/>
            <a:ext cx="21854160" cy="430887"/>
          </a:xfrm>
          <a:prstGeom prst="rect">
            <a:avLst/>
          </a:prstGeom>
          <a:noFill/>
        </p:spPr>
        <p:txBody>
          <a:bodyPr wrap="square" lIns="0" tIns="0" rIns="0" bIns="0" anchor="ctr">
            <a:spAutoFit/>
          </a:bodyPr>
          <a:lstStyle/>
          <a:p>
            <a:pPr>
              <a:spcAft>
                <a:spcPts val="0"/>
              </a:spcAft>
            </a:pPr>
            <a:r>
              <a:rPr sz="2800" b="1" dirty="0">
                <a:solidFill>
                  <a:srgbClr val="0F62FE"/>
                </a:solidFill>
                <a:latin typeface="IBM Plex Sans Light"/>
              </a:rPr>
              <a:t>Dalla </a:t>
            </a:r>
            <a:r>
              <a:rPr sz="2800" b="1" dirty="0" err="1">
                <a:solidFill>
                  <a:srgbClr val="0F62FE"/>
                </a:solidFill>
                <a:latin typeface="IBM Plex Sans Light"/>
              </a:rPr>
              <a:t>misura</a:t>
            </a:r>
            <a:r>
              <a:rPr sz="2800" b="1" dirty="0">
                <a:solidFill>
                  <a:srgbClr val="0F62FE"/>
                </a:solidFill>
                <a:latin typeface="IBM Plex Sans Light"/>
              </a:rPr>
              <a:t> alla </a:t>
            </a:r>
            <a:r>
              <a:rPr sz="2800" b="1" dirty="0" err="1">
                <a:solidFill>
                  <a:srgbClr val="0F62FE"/>
                </a:solidFill>
                <a:latin typeface="IBM Plex Sans Light"/>
              </a:rPr>
              <a:t>comprensione</a:t>
            </a:r>
            <a:r>
              <a:rPr sz="2800" b="1" dirty="0">
                <a:solidFill>
                  <a:srgbClr val="0F62FE"/>
                </a:solidFill>
                <a:latin typeface="IBM Plex Sans Light"/>
              </a:rPr>
              <a:t>: </a:t>
            </a:r>
            <a:r>
              <a:rPr sz="2800" b="0" dirty="0">
                <a:solidFill>
                  <a:srgbClr val="161616"/>
                </a:solidFill>
                <a:latin typeface="IBM Plex Sans Light"/>
              </a:rPr>
              <a:t>il </a:t>
            </a:r>
            <a:r>
              <a:rPr sz="2800" b="0" dirty="0" err="1">
                <a:solidFill>
                  <a:srgbClr val="161616"/>
                </a:solidFill>
                <a:latin typeface="IBM Plex Sans Light"/>
              </a:rPr>
              <a:t>Livello</a:t>
            </a:r>
            <a:r>
              <a:rPr sz="2800" b="0" dirty="0">
                <a:solidFill>
                  <a:srgbClr val="161616"/>
                </a:solidFill>
                <a:latin typeface="IBM Plex Sans Light"/>
              </a:rPr>
              <a:t> 1 </a:t>
            </a:r>
            <a:r>
              <a:rPr sz="2800" b="0" dirty="0" err="1">
                <a:solidFill>
                  <a:srgbClr val="161616"/>
                </a:solidFill>
                <a:latin typeface="IBM Plex Sans Light"/>
              </a:rPr>
              <a:t>costruisce</a:t>
            </a:r>
            <a:r>
              <a:rPr sz="2800" b="0" dirty="0">
                <a:solidFill>
                  <a:srgbClr val="161616"/>
                </a:solidFill>
                <a:latin typeface="IBM Plex Sans Light"/>
              </a:rPr>
              <a:t> la base </a:t>
            </a:r>
            <a:r>
              <a:rPr sz="2800" b="0" dirty="0" err="1">
                <a:solidFill>
                  <a:srgbClr val="161616"/>
                </a:solidFill>
                <a:latin typeface="IBM Plex Sans Light"/>
              </a:rPr>
              <a:t>dati</a:t>
            </a:r>
            <a:r>
              <a:rPr sz="2800" b="0" dirty="0">
                <a:solidFill>
                  <a:srgbClr val="161616"/>
                </a:solidFill>
                <a:latin typeface="IBM Plex Sans Light"/>
              </a:rPr>
              <a:t>, il </a:t>
            </a:r>
            <a:r>
              <a:rPr sz="2800" b="0" dirty="0" err="1">
                <a:solidFill>
                  <a:srgbClr val="161616"/>
                </a:solidFill>
                <a:latin typeface="IBM Plex Sans Light"/>
              </a:rPr>
              <a:t>Livello</a:t>
            </a:r>
            <a:r>
              <a:rPr sz="2800" b="0" dirty="0">
                <a:solidFill>
                  <a:srgbClr val="161616"/>
                </a:solidFill>
                <a:latin typeface="IBM Plex Sans Light"/>
              </a:rPr>
              <a:t> 2 la </a:t>
            </a:r>
            <a:r>
              <a:rPr sz="2800" b="0" dirty="0" err="1">
                <a:solidFill>
                  <a:srgbClr val="161616"/>
                </a:solidFill>
                <a:latin typeface="IBM Plex Sans Light"/>
              </a:rPr>
              <a:t>trasforma</a:t>
            </a:r>
            <a:r>
              <a:rPr sz="2800" b="0" dirty="0">
                <a:solidFill>
                  <a:srgbClr val="161616"/>
                </a:solidFill>
                <a:latin typeface="IBM Plex Sans Light"/>
              </a:rPr>
              <a:t> in </a:t>
            </a:r>
            <a:r>
              <a:rPr sz="2800" b="0" dirty="0" err="1">
                <a:solidFill>
                  <a:srgbClr val="161616"/>
                </a:solidFill>
                <a:latin typeface="IBM Plex Sans Light"/>
              </a:rPr>
              <a:t>diagnosi</a:t>
            </a:r>
            <a:r>
              <a:rPr sz="2800" b="0" dirty="0">
                <a:solidFill>
                  <a:srgbClr val="161616"/>
                </a:solidFill>
                <a:latin typeface="IBM Plex Sans Light"/>
              </a:rPr>
              <a:t>.</a:t>
            </a:r>
          </a:p>
        </p:txBody>
      </p:sp>
    </p:spTree>
    <p:extLst>
      <p:ext uri="{BB962C8B-B14F-4D97-AF65-F5344CB8AC3E}">
        <p14:creationId xmlns:p14="http://schemas.microsoft.com/office/powerpoint/2010/main" val="73843774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6072" y="640080"/>
            <a:ext cx="18288000" cy="411480"/>
          </a:xfrm>
          <a:prstGeom prst="rect">
            <a:avLst/>
          </a:prstGeom>
          <a:noFill/>
        </p:spPr>
        <p:txBody>
          <a:bodyPr wrap="square" lIns="0" tIns="0" rIns="0" bIns="0">
            <a:spAutoFit/>
          </a:bodyPr>
          <a:lstStyle/>
          <a:p>
            <a:pPr>
              <a:spcAft>
                <a:spcPts val="0"/>
              </a:spcAft>
            </a:pPr>
            <a:r>
              <a:rPr sz="2000" b="1">
                <a:solidFill>
                  <a:srgbClr val="0F62FE"/>
                </a:solidFill>
                <a:latin typeface="IBM Plex Sans Light"/>
              </a:rPr>
              <a:t>PERCORSO DI MATURITÀ</a:t>
            </a:r>
          </a:p>
        </p:txBody>
      </p:sp>
      <p:sp>
        <p:nvSpPr>
          <p:cNvPr id="3" name="TextBox 2"/>
          <p:cNvSpPr txBox="1"/>
          <p:nvPr/>
        </p:nvSpPr>
        <p:spPr>
          <a:xfrm>
            <a:off x="576072" y="1143000"/>
            <a:ext cx="20116800" cy="914400"/>
          </a:xfrm>
          <a:prstGeom prst="rect">
            <a:avLst/>
          </a:prstGeom>
          <a:noFill/>
        </p:spPr>
        <p:txBody>
          <a:bodyPr wrap="square" lIns="0" tIns="0" rIns="0" bIns="0">
            <a:spAutoFit/>
          </a:bodyPr>
          <a:lstStyle/>
          <a:p>
            <a:pPr>
              <a:spcAft>
                <a:spcPts val="0"/>
              </a:spcAft>
            </a:pPr>
            <a:r>
              <a:rPr sz="4800" b="1">
                <a:solidFill>
                  <a:srgbClr val="161616"/>
                </a:solidFill>
                <a:latin typeface="IBM Plex Sans Light"/>
              </a:rPr>
              <a:t>Misurare → Comprendere → Ottimizzare</a:t>
            </a:r>
          </a:p>
        </p:txBody>
      </p:sp>
      <p:sp>
        <p:nvSpPr>
          <p:cNvPr id="4" name="Rounded Rectangle 3"/>
          <p:cNvSpPr/>
          <p:nvPr/>
        </p:nvSpPr>
        <p:spPr>
          <a:xfrm>
            <a:off x="576072" y="3108960"/>
            <a:ext cx="7680960" cy="7955279"/>
          </a:xfrm>
          <a:prstGeom prst="roundRect">
            <a:avLst>
              <a:gd name="adj" fmla="val 4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6072" y="3108960"/>
            <a:ext cx="7680960" cy="2377440"/>
          </a:xfrm>
          <a:prstGeom prst="roundRect">
            <a:avLst>
              <a:gd name="adj" fmla="val 14000"/>
            </a:avLst>
          </a:prstGeom>
          <a:solidFill>
            <a:srgbClr val="009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 name="TextBox 5"/>
          <p:cNvSpPr txBox="1"/>
          <p:nvPr/>
        </p:nvSpPr>
        <p:spPr>
          <a:xfrm>
            <a:off x="1124712" y="3429000"/>
            <a:ext cx="6583680" cy="307777"/>
          </a:xfrm>
          <a:prstGeom prst="rect">
            <a:avLst/>
          </a:prstGeom>
          <a:noFill/>
        </p:spPr>
        <p:txBody>
          <a:bodyPr wrap="square" lIns="0" tIns="0" rIns="0" bIns="0">
            <a:spAutoFit/>
          </a:bodyPr>
          <a:lstStyle/>
          <a:p>
            <a:pPr>
              <a:spcAft>
                <a:spcPts val="0"/>
              </a:spcAft>
            </a:pPr>
            <a:r>
              <a:rPr lang="it-IT" sz="2000" b="1">
                <a:solidFill>
                  <a:schemeClr val="bg1"/>
                </a:solidFill>
                <a:latin typeface="IBM Plex Sans" panose="020B0503050203000203" pitchFamily="34" charset="0"/>
              </a:rPr>
              <a:t>LIVELLO 1</a:t>
            </a:r>
          </a:p>
        </p:txBody>
      </p:sp>
      <p:sp>
        <p:nvSpPr>
          <p:cNvPr id="7" name="TextBox 6"/>
          <p:cNvSpPr txBox="1"/>
          <p:nvPr/>
        </p:nvSpPr>
        <p:spPr>
          <a:xfrm>
            <a:off x="1124712" y="3886200"/>
            <a:ext cx="6583680" cy="523220"/>
          </a:xfrm>
          <a:prstGeom prst="rect">
            <a:avLst/>
          </a:prstGeom>
          <a:noFill/>
        </p:spPr>
        <p:txBody>
          <a:bodyPr wrap="square" lIns="0" tIns="0" rIns="0" bIns="0">
            <a:spAutoFit/>
          </a:bodyPr>
          <a:lstStyle/>
          <a:p>
            <a:pPr>
              <a:spcAft>
                <a:spcPts val="0"/>
              </a:spcAft>
            </a:pPr>
            <a:r>
              <a:rPr lang="it-IT" sz="3400" b="1">
                <a:solidFill>
                  <a:schemeClr val="bg1"/>
                </a:solidFill>
                <a:latin typeface="IBM Plex Sans Light"/>
              </a:rPr>
              <a:t>Misurare</a:t>
            </a:r>
          </a:p>
        </p:txBody>
      </p:sp>
      <p:sp>
        <p:nvSpPr>
          <p:cNvPr id="8" name="TextBox 7"/>
          <p:cNvSpPr txBox="1"/>
          <p:nvPr/>
        </p:nvSpPr>
        <p:spPr>
          <a:xfrm>
            <a:off x="1124712" y="4617720"/>
            <a:ext cx="6583680" cy="430887"/>
          </a:xfrm>
          <a:prstGeom prst="rect">
            <a:avLst/>
          </a:prstGeom>
          <a:noFill/>
        </p:spPr>
        <p:txBody>
          <a:bodyPr wrap="square" lIns="0" tIns="0" rIns="0" bIns="0">
            <a:spAutoFit/>
          </a:bodyPr>
          <a:lstStyle/>
          <a:p>
            <a:pPr>
              <a:spcAft>
                <a:spcPts val="0"/>
              </a:spcAft>
            </a:pPr>
            <a:r>
              <a:rPr lang="it-IT" sz="2000" b="0" dirty="0">
                <a:solidFill>
                  <a:schemeClr val="bg1"/>
                </a:solidFill>
                <a:latin typeface="IBM Plex Sans" panose="020B0503050203000203" pitchFamily="34" charset="0"/>
              </a:rPr>
              <a:t>“</a:t>
            </a:r>
            <a:r>
              <a:rPr lang="it-IT" sz="2800" b="0" dirty="0">
                <a:solidFill>
                  <a:schemeClr val="bg1"/>
                </a:solidFill>
                <a:latin typeface="IBM Plex Sans" panose="020B0503050203000203" pitchFamily="34" charset="0"/>
              </a:rPr>
              <a:t>Quanto emetto?”</a:t>
            </a:r>
          </a:p>
        </p:txBody>
      </p:sp>
      <p:sp>
        <p:nvSpPr>
          <p:cNvPr id="9" name="Rounded Rectangle 8"/>
          <p:cNvSpPr/>
          <p:nvPr/>
        </p:nvSpPr>
        <p:spPr>
          <a:xfrm>
            <a:off x="1124712" y="5852160"/>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Raccolgo i dati energetici</a:t>
            </a:r>
          </a:p>
        </p:txBody>
      </p:sp>
      <p:sp>
        <p:nvSpPr>
          <p:cNvPr id="10" name="Rounded Rectangle 9"/>
          <p:cNvSpPr/>
          <p:nvPr/>
        </p:nvSpPr>
        <p:spPr>
          <a:xfrm>
            <a:off x="1124712" y="6656832"/>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Calcolo automaticamente le emissioni</a:t>
            </a:r>
          </a:p>
        </p:txBody>
      </p:sp>
      <p:sp>
        <p:nvSpPr>
          <p:cNvPr id="11" name="Rounded Rectangle 10"/>
          <p:cNvSpPr/>
          <p:nvPr/>
        </p:nvSpPr>
        <p:spPr>
          <a:xfrm>
            <a:off x="1124712" y="7461504"/>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Normalizzo i consumi tramite KPI</a:t>
            </a:r>
          </a:p>
        </p:txBody>
      </p:sp>
      <p:sp>
        <p:nvSpPr>
          <p:cNvPr id="12" name="Rounded Rectangle 11"/>
          <p:cNvSpPr/>
          <p:nvPr/>
        </p:nvSpPr>
        <p:spPr>
          <a:xfrm>
            <a:off x="1124712" y="8266176"/>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Verifico la qualità del dato</a:t>
            </a:r>
          </a:p>
        </p:txBody>
      </p:sp>
      <p:sp>
        <p:nvSpPr>
          <p:cNvPr id="13" name="Rounded Rectangle 12"/>
          <p:cNvSpPr/>
          <p:nvPr/>
        </p:nvSpPr>
        <p:spPr>
          <a:xfrm>
            <a:off x="1124712" y="9070848"/>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Produco il reporting ESG</a:t>
            </a:r>
          </a:p>
        </p:txBody>
      </p:sp>
      <p:sp>
        <p:nvSpPr>
          <p:cNvPr id="14" name="TextBox 13"/>
          <p:cNvSpPr txBox="1"/>
          <p:nvPr/>
        </p:nvSpPr>
        <p:spPr>
          <a:xfrm>
            <a:off x="1124712" y="10835640"/>
            <a:ext cx="6583680" cy="430887"/>
          </a:xfrm>
          <a:prstGeom prst="rect">
            <a:avLst/>
          </a:prstGeom>
          <a:noFill/>
        </p:spPr>
        <p:txBody>
          <a:bodyPr wrap="square" lIns="0" tIns="0" rIns="0" bIns="0">
            <a:spAutoFit/>
          </a:bodyPr>
          <a:lstStyle/>
          <a:p>
            <a:pPr>
              <a:spcAft>
                <a:spcPts val="0"/>
              </a:spcAft>
            </a:pPr>
            <a:r>
              <a:rPr lang="it-IT" sz="2800" b="1">
                <a:solidFill>
                  <a:srgbClr val="009D9A"/>
                </a:solidFill>
                <a:latin typeface="IBM Plex Sans" panose="020B0503050203000203" pitchFamily="34" charset="0"/>
              </a:rPr>
              <a:t>Solo dopo si passa al Livello 2.</a:t>
            </a:r>
          </a:p>
        </p:txBody>
      </p:sp>
      <p:sp>
        <p:nvSpPr>
          <p:cNvPr id="15" name="Rounded Rectangle 14"/>
          <p:cNvSpPr/>
          <p:nvPr/>
        </p:nvSpPr>
        <p:spPr>
          <a:xfrm>
            <a:off x="8348472" y="3108960"/>
            <a:ext cx="7680960" cy="7955279"/>
          </a:xfrm>
          <a:prstGeom prst="roundRect">
            <a:avLst>
              <a:gd name="adj" fmla="val 4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348472" y="3108960"/>
            <a:ext cx="7680960" cy="2377440"/>
          </a:xfrm>
          <a:prstGeom prst="roundRect">
            <a:avLst>
              <a:gd name="adj" fmla="val 14000"/>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8897112" y="3429000"/>
            <a:ext cx="6583680" cy="307777"/>
          </a:xfrm>
          <a:prstGeom prst="rect">
            <a:avLst/>
          </a:prstGeom>
          <a:noFill/>
        </p:spPr>
        <p:txBody>
          <a:bodyPr wrap="square" lIns="0" tIns="0" rIns="0" bIns="0">
            <a:spAutoFit/>
          </a:bodyPr>
          <a:lstStyle/>
          <a:p>
            <a:pPr>
              <a:spcAft>
                <a:spcPts val="0"/>
              </a:spcAft>
            </a:pPr>
            <a:r>
              <a:rPr lang="it-IT" sz="2000" b="1">
                <a:solidFill>
                  <a:schemeClr val="bg1"/>
                </a:solidFill>
                <a:latin typeface="IBM Plex Sans" panose="020B0503050203000203" pitchFamily="34" charset="0"/>
              </a:rPr>
              <a:t>LIVELLO 2</a:t>
            </a:r>
          </a:p>
        </p:txBody>
      </p:sp>
      <p:sp>
        <p:nvSpPr>
          <p:cNvPr id="18" name="TextBox 17"/>
          <p:cNvSpPr txBox="1"/>
          <p:nvPr/>
        </p:nvSpPr>
        <p:spPr>
          <a:xfrm>
            <a:off x="8897112" y="3886200"/>
            <a:ext cx="6583680" cy="523220"/>
          </a:xfrm>
          <a:prstGeom prst="rect">
            <a:avLst/>
          </a:prstGeom>
          <a:noFill/>
        </p:spPr>
        <p:txBody>
          <a:bodyPr wrap="square" lIns="0" tIns="0" rIns="0" bIns="0">
            <a:spAutoFit/>
          </a:bodyPr>
          <a:lstStyle/>
          <a:p>
            <a:pPr>
              <a:spcAft>
                <a:spcPts val="0"/>
              </a:spcAft>
            </a:pPr>
            <a:r>
              <a:rPr lang="it-IT" sz="3400" b="1">
                <a:solidFill>
                  <a:schemeClr val="bg1"/>
                </a:solidFill>
                <a:latin typeface="IBM Plex Sans Light"/>
              </a:rPr>
              <a:t>Comprendere</a:t>
            </a:r>
          </a:p>
        </p:txBody>
      </p:sp>
      <p:sp>
        <p:nvSpPr>
          <p:cNvPr id="19" name="TextBox 18"/>
          <p:cNvSpPr txBox="1"/>
          <p:nvPr/>
        </p:nvSpPr>
        <p:spPr>
          <a:xfrm>
            <a:off x="8897112" y="4617720"/>
            <a:ext cx="6583680" cy="430887"/>
          </a:xfrm>
          <a:prstGeom prst="rect">
            <a:avLst/>
          </a:prstGeom>
          <a:noFill/>
        </p:spPr>
        <p:txBody>
          <a:bodyPr wrap="square" lIns="0" tIns="0" rIns="0" bIns="0">
            <a:spAutoFit/>
          </a:bodyPr>
          <a:lstStyle/>
          <a:p>
            <a:pPr>
              <a:spcAft>
                <a:spcPts val="0"/>
              </a:spcAft>
            </a:pPr>
            <a:r>
              <a:rPr lang="it-IT" sz="2000" b="0" dirty="0">
                <a:solidFill>
                  <a:schemeClr val="bg1"/>
                </a:solidFill>
                <a:latin typeface="IBM Plex Sans" panose="020B0503050203000203" pitchFamily="34" charset="0"/>
              </a:rPr>
              <a:t>“</a:t>
            </a:r>
            <a:r>
              <a:rPr lang="it-IT" sz="2800" b="0" dirty="0">
                <a:solidFill>
                  <a:schemeClr val="bg1"/>
                </a:solidFill>
                <a:latin typeface="IBM Plex Sans" panose="020B0503050203000203" pitchFamily="34" charset="0"/>
              </a:rPr>
              <a:t>Perché consumo così tanto?”</a:t>
            </a:r>
          </a:p>
        </p:txBody>
      </p:sp>
      <p:sp>
        <p:nvSpPr>
          <p:cNvPr id="20" name="Rounded Rectangle 19"/>
          <p:cNvSpPr/>
          <p:nvPr/>
        </p:nvSpPr>
        <p:spPr>
          <a:xfrm>
            <a:off x="8897112" y="5852160"/>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Consumption Analysis</a:t>
            </a:r>
          </a:p>
        </p:txBody>
      </p:sp>
      <p:sp>
        <p:nvSpPr>
          <p:cNvPr id="21" name="Rounded Rectangle 20"/>
          <p:cNvSpPr/>
          <p:nvPr/>
        </p:nvSpPr>
        <p:spPr>
          <a:xfrm>
            <a:off x="8897112" y="6656832"/>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Cost Analysis</a:t>
            </a:r>
          </a:p>
        </p:txBody>
      </p:sp>
      <p:sp>
        <p:nvSpPr>
          <p:cNvPr id="22" name="Rounded Rectangle 21"/>
          <p:cNvSpPr/>
          <p:nvPr/>
        </p:nvSpPr>
        <p:spPr>
          <a:xfrm>
            <a:off x="8897112" y="7461504"/>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Weather Normalization</a:t>
            </a:r>
          </a:p>
        </p:txBody>
      </p:sp>
      <p:sp>
        <p:nvSpPr>
          <p:cNvPr id="23" name="Rounded Rectangle 22"/>
          <p:cNvSpPr/>
          <p:nvPr/>
        </p:nvSpPr>
        <p:spPr>
          <a:xfrm>
            <a:off x="8897112" y="8266176"/>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Benchmark tra sedi</a:t>
            </a:r>
          </a:p>
        </p:txBody>
      </p:sp>
      <p:sp>
        <p:nvSpPr>
          <p:cNvPr id="24" name="Rounded Rectangle 23"/>
          <p:cNvSpPr/>
          <p:nvPr/>
        </p:nvSpPr>
        <p:spPr>
          <a:xfrm>
            <a:off x="8897112" y="9070848"/>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Invoice Validation</a:t>
            </a:r>
          </a:p>
        </p:txBody>
      </p:sp>
      <p:sp>
        <p:nvSpPr>
          <p:cNvPr id="25" name="Rounded Rectangle 24"/>
          <p:cNvSpPr/>
          <p:nvPr/>
        </p:nvSpPr>
        <p:spPr>
          <a:xfrm>
            <a:off x="8897112" y="9875520"/>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Trend Analysis</a:t>
            </a:r>
          </a:p>
        </p:txBody>
      </p:sp>
      <p:sp>
        <p:nvSpPr>
          <p:cNvPr id="26" name="TextBox 25"/>
          <p:cNvSpPr txBox="1"/>
          <p:nvPr/>
        </p:nvSpPr>
        <p:spPr>
          <a:xfrm>
            <a:off x="8897111" y="10835640"/>
            <a:ext cx="7984119" cy="430887"/>
          </a:xfrm>
          <a:prstGeom prst="rect">
            <a:avLst/>
          </a:prstGeom>
          <a:noFill/>
        </p:spPr>
        <p:txBody>
          <a:bodyPr wrap="square" lIns="0" tIns="0" rIns="0" bIns="0">
            <a:spAutoFit/>
          </a:bodyPr>
          <a:lstStyle/>
          <a:p>
            <a:pPr>
              <a:spcAft>
                <a:spcPts val="0"/>
              </a:spcAft>
            </a:pPr>
            <a:r>
              <a:rPr lang="it-IT" sz="2800" b="1" dirty="0">
                <a:solidFill>
                  <a:srgbClr val="0F62FE"/>
                </a:solidFill>
                <a:latin typeface="IBM Plex Sans" panose="020B0503050203000203" pitchFamily="34" charset="0"/>
              </a:rPr>
              <a:t>La domanda non è più quanto, ma perché.</a:t>
            </a:r>
          </a:p>
        </p:txBody>
      </p:sp>
      <p:sp>
        <p:nvSpPr>
          <p:cNvPr id="27" name="Rounded Rectangle 26"/>
          <p:cNvSpPr/>
          <p:nvPr/>
        </p:nvSpPr>
        <p:spPr>
          <a:xfrm>
            <a:off x="16120872" y="3108960"/>
            <a:ext cx="7680960" cy="7955279"/>
          </a:xfrm>
          <a:prstGeom prst="roundRect">
            <a:avLst>
              <a:gd name="adj" fmla="val 4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6120872" y="3108960"/>
            <a:ext cx="7680960" cy="2377440"/>
          </a:xfrm>
          <a:prstGeom prst="roundRect">
            <a:avLst>
              <a:gd name="adj" fmla="val 14000"/>
            </a:avLst>
          </a:prstGeom>
          <a:solidFill>
            <a:srgbClr val="A56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 name="TextBox 28"/>
          <p:cNvSpPr txBox="1"/>
          <p:nvPr/>
        </p:nvSpPr>
        <p:spPr>
          <a:xfrm>
            <a:off x="16669512" y="3429000"/>
            <a:ext cx="6583680" cy="307777"/>
          </a:xfrm>
          <a:prstGeom prst="rect">
            <a:avLst/>
          </a:prstGeom>
          <a:noFill/>
        </p:spPr>
        <p:txBody>
          <a:bodyPr wrap="square" lIns="0" tIns="0" rIns="0" bIns="0">
            <a:spAutoFit/>
          </a:bodyPr>
          <a:lstStyle/>
          <a:p>
            <a:pPr>
              <a:spcAft>
                <a:spcPts val="0"/>
              </a:spcAft>
            </a:pPr>
            <a:r>
              <a:rPr lang="it-IT" sz="2000" b="1">
                <a:solidFill>
                  <a:schemeClr val="bg1"/>
                </a:solidFill>
                <a:latin typeface="IBM Plex Sans" panose="020B0503050203000203" pitchFamily="34" charset="0"/>
              </a:rPr>
              <a:t>LIVELLO 3</a:t>
            </a:r>
          </a:p>
        </p:txBody>
      </p:sp>
      <p:sp>
        <p:nvSpPr>
          <p:cNvPr id="30" name="TextBox 29"/>
          <p:cNvSpPr txBox="1"/>
          <p:nvPr/>
        </p:nvSpPr>
        <p:spPr>
          <a:xfrm>
            <a:off x="16669512" y="3886200"/>
            <a:ext cx="6583680" cy="523220"/>
          </a:xfrm>
          <a:prstGeom prst="rect">
            <a:avLst/>
          </a:prstGeom>
          <a:noFill/>
        </p:spPr>
        <p:txBody>
          <a:bodyPr wrap="square" lIns="0" tIns="0" rIns="0" bIns="0">
            <a:spAutoFit/>
          </a:bodyPr>
          <a:lstStyle/>
          <a:p>
            <a:pPr>
              <a:spcAft>
                <a:spcPts val="0"/>
              </a:spcAft>
            </a:pPr>
            <a:r>
              <a:rPr lang="it-IT" sz="3400" b="1">
                <a:solidFill>
                  <a:schemeClr val="bg1"/>
                </a:solidFill>
                <a:latin typeface="IBM Plex Sans Light"/>
              </a:rPr>
              <a:t>Ottimizzare</a:t>
            </a:r>
          </a:p>
        </p:txBody>
      </p:sp>
      <p:sp>
        <p:nvSpPr>
          <p:cNvPr id="31" name="TextBox 30"/>
          <p:cNvSpPr txBox="1"/>
          <p:nvPr/>
        </p:nvSpPr>
        <p:spPr>
          <a:xfrm>
            <a:off x="16669512" y="4617720"/>
            <a:ext cx="6583680" cy="861774"/>
          </a:xfrm>
          <a:prstGeom prst="rect">
            <a:avLst/>
          </a:prstGeom>
          <a:noFill/>
        </p:spPr>
        <p:txBody>
          <a:bodyPr wrap="square" lIns="0" tIns="0" rIns="0" bIns="0">
            <a:spAutoFit/>
          </a:bodyPr>
          <a:lstStyle/>
          <a:p>
            <a:pPr>
              <a:spcAft>
                <a:spcPts val="0"/>
              </a:spcAft>
            </a:pPr>
            <a:r>
              <a:rPr lang="it-IT" sz="2800" b="0" dirty="0">
                <a:solidFill>
                  <a:schemeClr val="bg1"/>
                </a:solidFill>
                <a:latin typeface="IBM Plex Sans" panose="020B0503050203000203" pitchFamily="34" charset="0"/>
              </a:rPr>
              <a:t>“Su quale impianto devo intervenire e in quale momento della giornata?”</a:t>
            </a:r>
          </a:p>
        </p:txBody>
      </p:sp>
      <p:sp>
        <p:nvSpPr>
          <p:cNvPr id="32" name="Rounded Rectangle 31"/>
          <p:cNvSpPr/>
          <p:nvPr/>
        </p:nvSpPr>
        <p:spPr>
          <a:xfrm>
            <a:off x="16669512" y="5852160"/>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Analisi a intervalli 15/30/60 min</a:t>
            </a:r>
          </a:p>
        </p:txBody>
      </p:sp>
      <p:sp>
        <p:nvSpPr>
          <p:cNvPr id="33" name="Rounded Rectangle 32"/>
          <p:cNvSpPr/>
          <p:nvPr/>
        </p:nvSpPr>
        <p:spPr>
          <a:xfrm>
            <a:off x="16669512" y="6656832"/>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Monitoraggio di contatori e sotto-contatori</a:t>
            </a:r>
          </a:p>
        </p:txBody>
      </p:sp>
      <p:sp>
        <p:nvSpPr>
          <p:cNvPr id="34" name="Rounded Rectangle 33"/>
          <p:cNvSpPr/>
          <p:nvPr/>
        </p:nvSpPr>
        <p:spPr>
          <a:xfrm>
            <a:off x="16669512" y="7461504"/>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Picchi di domanda e profili di carico</a:t>
            </a:r>
          </a:p>
        </p:txBody>
      </p:sp>
      <p:sp>
        <p:nvSpPr>
          <p:cNvPr id="35" name="Rounded Rectangle 34"/>
          <p:cNvSpPr/>
          <p:nvPr/>
        </p:nvSpPr>
        <p:spPr>
          <a:xfrm>
            <a:off x="16669512" y="8266176"/>
            <a:ext cx="6583680" cy="694944"/>
          </a:xfrm>
          <a:prstGeom prst="roundRect">
            <a:avLst>
              <a:gd name="adj" fmla="val 30000"/>
            </a:avLst>
          </a:prstGeom>
          <a:solidFill>
            <a:srgbClr val="FFFFFF"/>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ctr"/>
            <a:r>
              <a:rPr lang="it-IT" sz="2000">
                <a:solidFill>
                  <a:srgbClr val="161616"/>
                </a:solidFill>
                <a:latin typeface="IBM Plex Sans" panose="020B0503050203000203" pitchFamily="34" charset="0"/>
              </a:rPr>
              <a:t>Alert automatici sugli impianti</a:t>
            </a:r>
          </a:p>
        </p:txBody>
      </p:sp>
      <p:sp>
        <p:nvSpPr>
          <p:cNvPr id="36" name="TextBox 35"/>
          <p:cNvSpPr txBox="1"/>
          <p:nvPr/>
        </p:nvSpPr>
        <p:spPr>
          <a:xfrm>
            <a:off x="16669512" y="10835640"/>
            <a:ext cx="6583680" cy="430887"/>
          </a:xfrm>
          <a:prstGeom prst="rect">
            <a:avLst/>
          </a:prstGeom>
          <a:noFill/>
        </p:spPr>
        <p:txBody>
          <a:bodyPr wrap="square" lIns="0" tIns="0" rIns="0" bIns="0">
            <a:spAutoFit/>
          </a:bodyPr>
          <a:lstStyle/>
          <a:p>
            <a:pPr>
              <a:spcAft>
                <a:spcPts val="0"/>
              </a:spcAft>
            </a:pPr>
            <a:r>
              <a:rPr lang="it-IT" sz="2800" b="1">
                <a:solidFill>
                  <a:srgbClr val="A56EFF"/>
                </a:solidFill>
                <a:latin typeface="IBM Plex Sans" panose="020B0503050203000203" pitchFamily="34" charset="0"/>
              </a:rPr>
              <a:t>Dal dato all'azione operativa.</a:t>
            </a:r>
          </a:p>
        </p:txBody>
      </p:sp>
      <p:sp>
        <p:nvSpPr>
          <p:cNvPr id="37" name="Rounded Rectangle 36"/>
          <p:cNvSpPr/>
          <p:nvPr/>
        </p:nvSpPr>
        <p:spPr>
          <a:xfrm>
            <a:off x="576072" y="11430000"/>
            <a:ext cx="23225760" cy="1463040"/>
          </a:xfrm>
          <a:prstGeom prst="roundRect">
            <a:avLst>
              <a:gd name="adj" fmla="val 12000"/>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wrap="square" lIns="548640" rIns="548640" rtlCol="0" anchor="ctr"/>
          <a:lstStyle/>
          <a:p>
            <a:pPr algn="ctr"/>
            <a:r>
              <a:rPr lang="it-IT" sz="2800" b="1" dirty="0">
                <a:solidFill>
                  <a:schemeClr val="bg1"/>
                </a:solidFill>
                <a:latin typeface="IBM Plex Sans Light"/>
              </a:rPr>
              <a:t>Misurare → Comprendere → Ottimizzare: </a:t>
            </a:r>
            <a:r>
              <a:rPr sz="2800" b="0" dirty="0">
                <a:solidFill>
                  <a:schemeClr val="bg1"/>
                </a:solidFill>
                <a:latin typeface="IBM Plex Sans Light"/>
              </a:rPr>
              <a:t>ogni </a:t>
            </a:r>
            <a:r>
              <a:rPr sz="2800" b="0" dirty="0" err="1">
                <a:solidFill>
                  <a:schemeClr val="bg1"/>
                </a:solidFill>
                <a:latin typeface="IBM Plex Sans Light"/>
              </a:rPr>
              <a:t>livello</a:t>
            </a:r>
            <a:r>
              <a:rPr sz="2800" b="0" dirty="0">
                <a:solidFill>
                  <a:schemeClr val="bg1"/>
                </a:solidFill>
                <a:latin typeface="IBM Plex Sans Light"/>
              </a:rPr>
              <a:t> </a:t>
            </a:r>
            <a:r>
              <a:rPr sz="2800" b="0" dirty="0" err="1">
                <a:solidFill>
                  <a:schemeClr val="bg1"/>
                </a:solidFill>
                <a:latin typeface="IBM Plex Sans Light"/>
              </a:rPr>
              <a:t>risponde</a:t>
            </a:r>
            <a:r>
              <a:rPr sz="2800" b="0" dirty="0">
                <a:solidFill>
                  <a:schemeClr val="bg1"/>
                </a:solidFill>
                <a:latin typeface="IBM Plex Sans Light"/>
              </a:rPr>
              <a:t> a </a:t>
            </a:r>
            <a:r>
              <a:rPr sz="2800" b="0" dirty="0" err="1">
                <a:solidFill>
                  <a:schemeClr val="bg1"/>
                </a:solidFill>
                <a:latin typeface="IBM Plex Sans Light"/>
              </a:rPr>
              <a:t>una</a:t>
            </a:r>
            <a:r>
              <a:rPr sz="2800" b="0" dirty="0">
                <a:solidFill>
                  <a:schemeClr val="bg1"/>
                </a:solidFill>
                <a:latin typeface="IBM Plex Sans Light"/>
              </a:rPr>
              <a:t> </a:t>
            </a:r>
            <a:r>
              <a:rPr sz="2800" b="0" dirty="0" err="1">
                <a:solidFill>
                  <a:schemeClr val="bg1"/>
                </a:solidFill>
                <a:latin typeface="IBM Plex Sans Light"/>
              </a:rPr>
              <a:t>domanda</a:t>
            </a:r>
            <a:r>
              <a:rPr sz="2800" b="0" dirty="0">
                <a:solidFill>
                  <a:schemeClr val="bg1"/>
                </a:solidFill>
                <a:latin typeface="IBM Plex Sans Light"/>
              </a:rPr>
              <a:t> </a:t>
            </a:r>
            <a:r>
              <a:rPr sz="2800" b="0" dirty="0" err="1">
                <a:solidFill>
                  <a:schemeClr val="bg1"/>
                </a:solidFill>
                <a:latin typeface="IBM Plex Sans Light"/>
              </a:rPr>
              <a:t>diversa</a:t>
            </a:r>
            <a:r>
              <a:rPr sz="2800" b="0" dirty="0">
                <a:solidFill>
                  <a:schemeClr val="bg1"/>
                </a:solidFill>
                <a:latin typeface="IBM Plex Sans Light"/>
              </a:rPr>
              <a:t> </a:t>
            </a:r>
            <a:endParaRPr lang="it-IT" sz="2800" b="0" dirty="0">
              <a:solidFill>
                <a:schemeClr val="bg1"/>
              </a:solidFill>
              <a:latin typeface="IBM Plex Sans Light"/>
            </a:endParaRPr>
          </a:p>
          <a:p>
            <a:pPr algn="ctr"/>
            <a:r>
              <a:rPr sz="2800" b="0" dirty="0">
                <a:solidFill>
                  <a:schemeClr val="bg1"/>
                </a:solidFill>
                <a:latin typeface="IBM Plex Sans Light"/>
              </a:rPr>
              <a:t>e </a:t>
            </a:r>
            <a:r>
              <a:rPr sz="2800" b="0" dirty="0" err="1">
                <a:solidFill>
                  <a:schemeClr val="bg1"/>
                </a:solidFill>
                <a:latin typeface="IBM Plex Sans Light"/>
              </a:rPr>
              <a:t>rende</a:t>
            </a:r>
            <a:r>
              <a:rPr sz="2800" b="0" dirty="0">
                <a:solidFill>
                  <a:schemeClr val="bg1"/>
                </a:solidFill>
                <a:latin typeface="IBM Plex Sans Light"/>
              </a:rPr>
              <a:t> </a:t>
            </a:r>
            <a:r>
              <a:rPr sz="2800" b="0" dirty="0" err="1">
                <a:solidFill>
                  <a:schemeClr val="bg1"/>
                </a:solidFill>
                <a:latin typeface="IBM Plex Sans Light"/>
              </a:rPr>
              <a:t>evidente</a:t>
            </a:r>
            <a:r>
              <a:rPr sz="2800" b="0" dirty="0">
                <a:solidFill>
                  <a:schemeClr val="bg1"/>
                </a:solidFill>
                <a:latin typeface="IBM Plex Sans Light"/>
              </a:rPr>
              <a:t> il </a:t>
            </a:r>
            <a:r>
              <a:rPr sz="2800" b="0" dirty="0" err="1">
                <a:solidFill>
                  <a:schemeClr val="bg1"/>
                </a:solidFill>
                <a:latin typeface="IBM Plex Sans Light"/>
              </a:rPr>
              <a:t>valore</a:t>
            </a:r>
            <a:r>
              <a:rPr sz="2800" b="0" dirty="0">
                <a:solidFill>
                  <a:schemeClr val="bg1"/>
                </a:solidFill>
                <a:latin typeface="IBM Plex Sans Light"/>
              </a:rPr>
              <a:t> </a:t>
            </a:r>
            <a:r>
              <a:rPr sz="2800" b="0" dirty="0" err="1">
                <a:solidFill>
                  <a:schemeClr val="bg1"/>
                </a:solidFill>
                <a:latin typeface="IBM Plex Sans Light"/>
              </a:rPr>
              <a:t>crescente</a:t>
            </a:r>
            <a:r>
              <a:rPr sz="2800" b="0" dirty="0">
                <a:solidFill>
                  <a:schemeClr val="bg1"/>
                </a:solidFill>
                <a:latin typeface="IBM Plex Sans Light"/>
              </a:rPr>
              <a:t> della </a:t>
            </a:r>
            <a:r>
              <a:rPr sz="2800" b="0" dirty="0" err="1">
                <a:solidFill>
                  <a:schemeClr val="bg1"/>
                </a:solidFill>
                <a:latin typeface="IBM Plex Sans Light"/>
              </a:rPr>
              <a:t>piattaforma</a:t>
            </a:r>
            <a:r>
              <a:rPr sz="2200" b="0" dirty="0">
                <a:solidFill>
                  <a:srgbClr val="C6D4F5"/>
                </a:solidFill>
                <a:latin typeface="IBM Plex Sans Light"/>
              </a:rPr>
              <a:t>.</a:t>
            </a:r>
          </a:p>
        </p:txBody>
      </p:sp>
    </p:spTree>
    <p:extLst>
      <p:ext uri="{BB962C8B-B14F-4D97-AF65-F5344CB8AC3E}">
        <p14:creationId xmlns:p14="http://schemas.microsoft.com/office/powerpoint/2010/main" val="117162726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1098867" y="11283697"/>
            <a:ext cx="21762720" cy="615553"/>
          </a:xfrm>
          <a:prstGeom prst="rect">
            <a:avLst/>
          </a:prstGeom>
          <a:noFill/>
        </p:spPr>
        <p:txBody>
          <a:bodyPr wrap="square" lIns="0" tIns="0" rIns="0" bIns="0" anchor="t">
            <a:spAutoFit/>
          </a:bodyPr>
          <a:lstStyle/>
          <a:p>
            <a:pPr algn="l">
              <a:defRPr sz="2000">
                <a:solidFill>
                  <a:srgbClr val="073E31"/>
                </a:solidFill>
              </a:defRPr>
            </a:pPr>
            <a:r>
              <a:rPr sz="4000" dirty="0">
                <a:solidFill>
                  <a:srgbClr val="073E31"/>
                </a:solidFill>
                <a:latin typeface="Calibri"/>
              </a:rPr>
              <a:t> </a:t>
            </a:r>
            <a:endParaRPr sz="480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1281747" y="548640"/>
            <a:ext cx="2011680" cy="146304"/>
          </a:xfrm>
          <a:prstGeom prst="rect">
            <a:avLst/>
          </a:prstGeom>
          <a:solidFill>
            <a:srgbClr val="4EA72E"/>
          </a:solidFill>
          <a:ln>
            <a:noFill/>
          </a:ln>
        </p:spPr>
        <p:txBody>
          <a:bodyPr/>
          <a:lstStyle/>
          <a:p>
            <a:pPr>
              <a:defRPr sz="2000">
                <a:solidFill>
                  <a:srgbClr val="073E31"/>
                </a:solidFill>
              </a:defRPr>
            </a:pPr>
            <a:endParaRPr lang="it-IT" sz="4000"/>
          </a:p>
        </p:txBody>
      </p:sp>
      <p:sp>
        <p:nvSpPr>
          <p:cNvPr id="5" name="TextBox 4"/>
          <p:cNvSpPr txBox="1"/>
          <p:nvPr/>
        </p:nvSpPr>
        <p:spPr>
          <a:xfrm>
            <a:off x="1281747" y="914400"/>
            <a:ext cx="21817584" cy="738664"/>
          </a:xfrm>
          <a:prstGeom prst="rect">
            <a:avLst/>
          </a:prstGeom>
          <a:noFill/>
        </p:spPr>
        <p:txBody>
          <a:bodyPr wrap="square" lIns="0" tIns="0" rIns="0" bIns="0" anchor="t">
            <a:spAutoFit/>
          </a:bodyPr>
          <a:lstStyle/>
          <a:p>
            <a:pPr>
              <a:spcAft>
                <a:spcPts val="1000"/>
              </a:spcAft>
              <a:defRPr sz="2400" b="1">
                <a:solidFill>
                  <a:srgbClr val="073E31"/>
                </a:solidFill>
                <a:latin typeface="Calibri"/>
              </a:defRPr>
            </a:pPr>
            <a:r>
              <a:rPr lang="it-IT" sz="48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20118387" y="438912"/>
            <a:ext cx="5486400" cy="467820"/>
          </a:xfrm>
          <a:prstGeom prst="rect">
            <a:avLst/>
          </a:prstGeom>
          <a:noFill/>
        </p:spPr>
        <p:txBody>
          <a:bodyPr wrap="square" lIns="36576" tIns="18288" rIns="36576" bIns="18288">
            <a:spAutoFit/>
          </a:bodyPr>
          <a:lstStyle/>
          <a:p>
            <a:pPr defTabSz="914400">
              <a:defRPr/>
            </a:pPr>
            <a:r>
              <a:rPr sz="2800" b="1" dirty="0">
                <a:solidFill>
                  <a:srgbClr val="0F62FE"/>
                </a:solidFill>
                <a:latin typeface="IBM Plex San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1281747" y="2560320"/>
            <a:ext cx="12435840" cy="1206484"/>
          </a:xfrm>
          <a:prstGeom prst="rect">
            <a:avLst/>
          </a:prstGeom>
          <a:noFill/>
        </p:spPr>
        <p:txBody>
          <a:bodyPr wrap="square" lIns="36576" tIns="18288" rIns="36576" bIns="18288">
            <a:spAutoFit/>
          </a:bodyPr>
          <a:lstStyle/>
          <a:p>
            <a:pPr defTabSz="914400">
              <a:defRPr/>
            </a:pPr>
            <a:r>
              <a:rPr sz="7600" b="1" dirty="0">
                <a:solidFill>
                  <a:srgbClr val="11233F"/>
                </a:solidFill>
                <a:latin typeface="IBM Plex San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1281747" y="4169662"/>
            <a:ext cx="2011680" cy="10972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a:solidFill>
                <a:prstClr val="white"/>
              </a:solidFill>
              <a:latin typeface="Calibri"/>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1281747" y="4846321"/>
            <a:ext cx="11795760" cy="1083374"/>
          </a:xfrm>
          <a:prstGeom prst="rect">
            <a:avLst/>
          </a:prstGeom>
          <a:noFill/>
        </p:spPr>
        <p:txBody>
          <a:bodyPr wrap="square" lIns="36576" tIns="18288" rIns="36576" bIns="18288">
            <a:spAutoFit/>
          </a:bodyPr>
          <a:lstStyle/>
          <a:p>
            <a:pPr defTabSz="914400">
              <a:defRPr/>
            </a:pPr>
            <a:r>
              <a:rPr sz="3400">
                <a:solidFill>
                  <a:srgbClr val="5B687A"/>
                </a:solidFill>
                <a:latin typeface="IBM Plex San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1281747" y="7644383"/>
            <a:ext cx="8412480" cy="529376"/>
          </a:xfrm>
          <a:prstGeom prst="rect">
            <a:avLst/>
          </a:prstGeom>
          <a:noFill/>
        </p:spPr>
        <p:txBody>
          <a:bodyPr wrap="square" lIns="36576" tIns="18288" rIns="36576" bIns="18288">
            <a:spAutoFit/>
          </a:bodyPr>
          <a:lstStyle/>
          <a:p>
            <a:pPr defTabSz="914400">
              <a:defRPr/>
            </a:pPr>
            <a:r>
              <a:rPr sz="3200" b="1" dirty="0">
                <a:solidFill>
                  <a:srgbClr val="11233F"/>
                </a:solidFill>
                <a:latin typeface="IBM Plex San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1281747" y="8412480"/>
            <a:ext cx="10241280" cy="467820"/>
          </a:xfrm>
          <a:prstGeom prst="rect">
            <a:avLst/>
          </a:prstGeom>
          <a:noFill/>
        </p:spPr>
        <p:txBody>
          <a:bodyPr wrap="square" lIns="36576" tIns="18288" rIns="36576" bIns="18288">
            <a:spAutoFit/>
          </a:bodyPr>
          <a:lstStyle/>
          <a:p>
            <a:pPr defTabSz="914400">
              <a:defRPr/>
            </a:pPr>
            <a:r>
              <a:rPr sz="2800">
                <a:solidFill>
                  <a:srgbClr val="1F252E"/>
                </a:solidFill>
                <a:latin typeface="IBM Plex San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1281747" y="9034272"/>
            <a:ext cx="10607040" cy="467820"/>
          </a:xfrm>
          <a:prstGeom prst="rect">
            <a:avLst/>
          </a:prstGeom>
          <a:noFill/>
        </p:spPr>
        <p:txBody>
          <a:bodyPr wrap="square" lIns="36576" tIns="18288" rIns="36576" bIns="18288">
            <a:spAutoFit/>
          </a:bodyPr>
          <a:lstStyle/>
          <a:p>
            <a:pPr defTabSz="914400">
              <a:defRPr/>
            </a:pPr>
            <a:r>
              <a:rPr sz="2800">
                <a:solidFill>
                  <a:srgbClr val="1F252E"/>
                </a:solidFill>
                <a:latin typeface="IBM Plex San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1281747" y="10094976"/>
            <a:ext cx="10607040" cy="467820"/>
          </a:xfrm>
          <a:prstGeom prst="rect">
            <a:avLst/>
          </a:prstGeom>
          <a:noFill/>
        </p:spPr>
        <p:txBody>
          <a:bodyPr wrap="square" lIns="36576" tIns="18288" rIns="36576" bIns="18288">
            <a:spAutoFit/>
          </a:bodyPr>
          <a:lstStyle/>
          <a:p>
            <a:pPr defTabSz="914400">
              <a:defRPr/>
            </a:pPr>
            <a:r>
              <a:rPr sz="2800" b="1" dirty="0" err="1">
                <a:solidFill>
                  <a:srgbClr val="0F62FE"/>
                </a:solidFill>
                <a:latin typeface="IBM Plex Sans"/>
              </a:rPr>
              <a:t>linkedin.com</a:t>
            </a:r>
            <a:r>
              <a:rPr sz="2800" b="1" dirty="0">
                <a:solidFill>
                  <a:srgbClr val="0F62FE"/>
                </a:solidFill>
                <a:latin typeface="IBM Plex Sans"/>
              </a:rPr>
              <a:t>/in/</a:t>
            </a:r>
            <a:r>
              <a:rPr sz="2800" b="1" dirty="0" err="1">
                <a:solidFill>
                  <a:srgbClr val="0F62FE"/>
                </a:solidFill>
                <a:latin typeface="IBM Plex Sans"/>
              </a:rPr>
              <a:t>fpetrignano</a:t>
            </a:r>
            <a:endParaRPr sz="2800" b="1" dirty="0">
              <a:solidFill>
                <a:srgbClr val="0F62FE"/>
              </a:solidFill>
              <a:latin typeface="IBM Plex San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15272067" y="1280160"/>
            <a:ext cx="7589520" cy="1088136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a:solidFill>
                <a:prstClr val="white"/>
              </a:solidFill>
              <a:latin typeface="Calibri"/>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16003587" y="2157984"/>
            <a:ext cx="6126480" cy="467820"/>
          </a:xfrm>
          <a:prstGeom prst="rect">
            <a:avLst/>
          </a:prstGeom>
          <a:noFill/>
        </p:spPr>
        <p:txBody>
          <a:bodyPr wrap="square" lIns="36576" tIns="18288" rIns="36576" bIns="18288">
            <a:spAutoFit/>
          </a:bodyPr>
          <a:lstStyle/>
          <a:p>
            <a:pPr algn="ctr" defTabSz="914400">
              <a:defRPr/>
            </a:pPr>
            <a:r>
              <a:rPr sz="2800" b="1">
                <a:solidFill>
                  <a:srgbClr val="0F62FE"/>
                </a:solidFill>
                <a:latin typeface="IBM Plex San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16537058" y="3200400"/>
            <a:ext cx="5059534" cy="630936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16003587" y="10149840"/>
            <a:ext cx="6126480" cy="898708"/>
          </a:xfrm>
          <a:prstGeom prst="rect">
            <a:avLst/>
          </a:prstGeom>
          <a:noFill/>
        </p:spPr>
        <p:txBody>
          <a:bodyPr wrap="square" lIns="36576" tIns="18288" rIns="36576" bIns="18288">
            <a:spAutoFit/>
          </a:bodyPr>
          <a:lstStyle/>
          <a:p>
            <a:pPr algn="ctr" defTabSz="914400">
              <a:defRPr/>
            </a:pPr>
            <a:r>
              <a:rPr sz="2800" b="1">
                <a:solidFill>
                  <a:srgbClr val="11233F"/>
                </a:solidFill>
                <a:latin typeface="IBM Plex San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18126626" y="352815"/>
            <a:ext cx="6059122" cy="5341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3152" tIns="0" rIns="73152" bIns="0" rtlCol="0" anchor="ctr">
            <a:noAutofit/>
          </a:bodyPr>
          <a:lstStyle/>
          <a:p>
            <a:pPr algn="ctr" defTabSz="1828800">
              <a:defRPr/>
            </a:pPr>
            <a:r>
              <a:rPr sz="3200" b="1">
                <a:solidFill>
                  <a:srgbClr val="FFFFFF"/>
                </a:solidFill>
                <a:latin typeface="Calibri"/>
                <a:cs typeface="Calibri"/>
              </a:rPr>
              <a:t>IBM Envizi</a:t>
            </a:r>
            <a:endParaRPr lang="it-IT">
              <a:solidFill>
                <a:srgbClr val="FFFFFF"/>
              </a:solidFill>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1281747" y="548640"/>
            <a:ext cx="2011680" cy="146304"/>
          </a:xfrm>
          <a:prstGeom prst="rect">
            <a:avLst/>
          </a:prstGeom>
          <a:solidFill>
            <a:srgbClr val="4EA72E"/>
          </a:solidFill>
          <a:ln>
            <a:noFill/>
          </a:ln>
        </p:spPr>
        <p:txBody>
          <a:bodyPr/>
          <a:lstStyle/>
          <a:p>
            <a:pPr defTabSz="1828800">
              <a:defRPr/>
            </a:pPr>
            <a:endParaRPr lang="it-IT">
              <a:solidFill>
                <a:srgbClr val="000000"/>
              </a:solidFill>
              <a:latin typeface="Calibri"/>
              <a:cs typeface="Calibri"/>
            </a:endParaRPr>
          </a:p>
        </p:txBody>
      </p:sp>
      <p:sp>
        <p:nvSpPr>
          <p:cNvPr id="4" name="TextBox 1"/>
          <p:cNvSpPr txBox="1"/>
          <p:nvPr/>
        </p:nvSpPr>
        <p:spPr>
          <a:xfrm>
            <a:off x="1281747" y="914400"/>
            <a:ext cx="21817584" cy="738664"/>
          </a:xfrm>
          <a:prstGeom prst="rect">
            <a:avLst/>
          </a:prstGeom>
          <a:noFill/>
        </p:spPr>
        <p:txBody>
          <a:bodyPr wrap="square" lIns="73152" tIns="0" rIns="73152" bIns="0" anchor="t">
            <a:noAutofit/>
          </a:bodyPr>
          <a:lstStyle/>
          <a:p>
            <a:pPr defTabSz="1828800">
              <a:defRPr sz="2400" b="1">
                <a:solidFill>
                  <a:srgbClr val="073E31"/>
                </a:solidFill>
                <a:latin typeface="Calibri"/>
              </a:defRPr>
            </a:pPr>
            <a:r>
              <a:rPr lang="it-IT" sz="4800" b="1">
                <a:solidFill>
                  <a:srgbClr val="073E31"/>
                </a:solidFill>
                <a:latin typeface="Calibri"/>
                <a:cs typeface="Calibri"/>
              </a:rPr>
              <a:t>Riferimenti ufficiali</a:t>
            </a:r>
            <a:r>
              <a:rPr sz="4800" b="1">
                <a:solidFill>
                  <a:srgbClr val="073E31"/>
                </a:solidFill>
                <a:latin typeface="Calibri"/>
                <a:cs typeface="Calibri"/>
              </a:rPr>
              <a:t> IBM</a:t>
            </a:r>
          </a:p>
        </p:txBody>
      </p:sp>
      <p:sp>
        <p:nvSpPr>
          <p:cNvPr id="5" name="TextBox 4"/>
          <p:cNvSpPr txBox="1"/>
          <p:nvPr/>
        </p:nvSpPr>
        <p:spPr>
          <a:xfrm>
            <a:off x="1281747" y="3017520"/>
            <a:ext cx="10149840" cy="646331"/>
          </a:xfrm>
          <a:prstGeom prst="rect">
            <a:avLst/>
          </a:prstGeom>
          <a:noFill/>
        </p:spPr>
        <p:txBody>
          <a:bodyPr wrap="square" lIns="0" tIns="0" rIns="0" bIns="0">
            <a:spAutoFit/>
          </a:bodyPr>
          <a:lstStyle/>
          <a:p>
            <a:r>
              <a:rPr lang="it-IT" sz="4200" u="sng">
                <a:solidFill>
                  <a:srgbClr val="144D40"/>
                </a:solidFill>
                <a:latin typeface="Calibri"/>
                <a:hlinkClick r:id="rId3"/>
              </a:rPr>
              <a:t>SRM e workflow delle disclosure</a:t>
            </a:r>
          </a:p>
        </p:txBody>
      </p:sp>
      <p:sp>
        <p:nvSpPr>
          <p:cNvPr id="6" name="TextBox 5"/>
          <p:cNvSpPr txBox="1"/>
          <p:nvPr/>
        </p:nvSpPr>
        <p:spPr>
          <a:xfrm>
            <a:off x="1281747" y="3968496"/>
            <a:ext cx="10149840" cy="523220"/>
          </a:xfrm>
          <a:prstGeom prst="rect">
            <a:avLst/>
          </a:prstGeom>
          <a:noFill/>
        </p:spPr>
        <p:txBody>
          <a:bodyPr wrap="square" lIns="0" tIns="0" rIns="0" bIns="0">
            <a:spAutoFit/>
          </a:bodyPr>
          <a:lstStyle/>
          <a:p>
            <a:r>
              <a:rPr lang="it-IT" sz="3400">
                <a:solidFill>
                  <a:srgbClr val="333333"/>
                </a:solidFill>
                <a:latin typeface="Calibri"/>
              </a:rPr>
              <a:t>Ruoli, risposte, approvazioni ed evidenze.</a:t>
            </a:r>
          </a:p>
        </p:txBody>
      </p:sp>
      <p:sp>
        <p:nvSpPr>
          <p:cNvPr id="7" name="TextBox 6"/>
          <p:cNvSpPr txBox="1"/>
          <p:nvPr/>
        </p:nvSpPr>
        <p:spPr>
          <a:xfrm>
            <a:off x="1281747" y="5504688"/>
            <a:ext cx="10149840" cy="646331"/>
          </a:xfrm>
          <a:prstGeom prst="rect">
            <a:avLst/>
          </a:prstGeom>
          <a:noFill/>
        </p:spPr>
        <p:txBody>
          <a:bodyPr wrap="square" lIns="0" tIns="0" rIns="0" bIns="0">
            <a:spAutoFit/>
          </a:bodyPr>
          <a:lstStyle/>
          <a:p>
            <a:r>
              <a:rPr lang="it-IT" sz="4200" u="sng">
                <a:solidFill>
                  <a:srgbClr val="144D40"/>
                </a:solidFill>
                <a:latin typeface="Calibri"/>
                <a:hlinkClick r:id="rId4"/>
              </a:rPr>
              <a:t>ESG Reporting Frameworks</a:t>
            </a:r>
          </a:p>
        </p:txBody>
      </p:sp>
      <p:sp>
        <p:nvSpPr>
          <p:cNvPr id="8" name="TextBox 7"/>
          <p:cNvSpPr txBox="1"/>
          <p:nvPr/>
        </p:nvSpPr>
        <p:spPr>
          <a:xfrm>
            <a:off x="1281747" y="6455664"/>
            <a:ext cx="10149840" cy="523220"/>
          </a:xfrm>
          <a:prstGeom prst="rect">
            <a:avLst/>
          </a:prstGeom>
          <a:noFill/>
        </p:spPr>
        <p:txBody>
          <a:bodyPr wrap="square" lIns="0" tIns="0" rIns="0" bIns="0">
            <a:spAutoFit/>
          </a:bodyPr>
          <a:lstStyle/>
          <a:p>
            <a:r>
              <a:rPr lang="it-IT" sz="3400">
                <a:solidFill>
                  <a:srgbClr val="333333"/>
                </a:solidFill>
                <a:latin typeface="Calibri"/>
              </a:rPr>
              <a:t>Funzionalità ed esportazione in Word e PDF.</a:t>
            </a:r>
          </a:p>
        </p:txBody>
      </p:sp>
      <p:sp>
        <p:nvSpPr>
          <p:cNvPr id="9" name="TextBox 8"/>
          <p:cNvSpPr txBox="1"/>
          <p:nvPr/>
        </p:nvSpPr>
        <p:spPr>
          <a:xfrm>
            <a:off x="1281747" y="7991856"/>
            <a:ext cx="10149840" cy="646331"/>
          </a:xfrm>
          <a:prstGeom prst="rect">
            <a:avLst/>
          </a:prstGeom>
          <a:noFill/>
        </p:spPr>
        <p:txBody>
          <a:bodyPr wrap="square" lIns="0" tIns="0" rIns="0" bIns="0">
            <a:spAutoFit/>
          </a:bodyPr>
          <a:lstStyle/>
          <a:p>
            <a:r>
              <a:rPr lang="it-IT" sz="4200" u="sng">
                <a:solidFill>
                  <a:srgbClr val="144D40"/>
                </a:solidFill>
                <a:latin typeface="Calibri"/>
                <a:hlinkClick r:id="rId5"/>
              </a:rPr>
              <a:t>Framework e riferimenti ESRS</a:t>
            </a:r>
          </a:p>
        </p:txBody>
      </p:sp>
      <p:sp>
        <p:nvSpPr>
          <p:cNvPr id="10" name="TextBox 9"/>
          <p:cNvSpPr txBox="1"/>
          <p:nvPr/>
        </p:nvSpPr>
        <p:spPr>
          <a:xfrm>
            <a:off x="1281747" y="8942832"/>
            <a:ext cx="10149840" cy="523220"/>
          </a:xfrm>
          <a:prstGeom prst="rect">
            <a:avLst/>
          </a:prstGeom>
          <a:noFill/>
        </p:spPr>
        <p:txBody>
          <a:bodyPr wrap="square" lIns="0" tIns="0" rIns="0" bIns="0">
            <a:spAutoFit/>
          </a:bodyPr>
          <a:lstStyle/>
          <a:p>
            <a:r>
              <a:rPr lang="it-IT" sz="3400">
                <a:solidFill>
                  <a:srgbClr val="333333"/>
                </a:solidFill>
                <a:latin typeface="Calibri"/>
              </a:rPr>
              <a:t>Standard, attribuzioni e riferimenti del modulo.</a:t>
            </a:r>
          </a:p>
        </p:txBody>
      </p:sp>
      <p:sp>
        <p:nvSpPr>
          <p:cNvPr id="11" name="TextBox 10"/>
          <p:cNvSpPr txBox="1"/>
          <p:nvPr/>
        </p:nvSpPr>
        <p:spPr>
          <a:xfrm>
            <a:off x="12437427" y="3017520"/>
            <a:ext cx="10149840" cy="646331"/>
          </a:xfrm>
          <a:prstGeom prst="rect">
            <a:avLst/>
          </a:prstGeom>
          <a:noFill/>
        </p:spPr>
        <p:txBody>
          <a:bodyPr wrap="square" lIns="0" tIns="0" rIns="0" bIns="0">
            <a:spAutoFit/>
          </a:bodyPr>
          <a:lstStyle/>
          <a:p>
            <a:r>
              <a:rPr lang="it-IT" sz="4200" u="sng">
                <a:solidFill>
                  <a:srgbClr val="144D40"/>
                </a:solidFill>
                <a:latin typeface="Calibri"/>
                <a:hlinkClick r:id="rId6"/>
              </a:rPr>
              <a:t>Framework personalizzati</a:t>
            </a:r>
          </a:p>
        </p:txBody>
      </p:sp>
      <p:sp>
        <p:nvSpPr>
          <p:cNvPr id="12" name="TextBox 11"/>
          <p:cNvSpPr txBox="1"/>
          <p:nvPr/>
        </p:nvSpPr>
        <p:spPr>
          <a:xfrm>
            <a:off x="12437427" y="3968496"/>
            <a:ext cx="10149840" cy="523220"/>
          </a:xfrm>
          <a:prstGeom prst="rect">
            <a:avLst/>
          </a:prstGeom>
          <a:noFill/>
        </p:spPr>
        <p:txBody>
          <a:bodyPr wrap="square" lIns="0" tIns="0" rIns="0" bIns="0">
            <a:spAutoFit/>
          </a:bodyPr>
          <a:lstStyle/>
          <a:p>
            <a:r>
              <a:rPr lang="it-IT" sz="3400">
                <a:solidFill>
                  <a:srgbClr val="333333"/>
                </a:solidFill>
                <a:latin typeface="Calibri"/>
              </a:rPr>
              <a:t>Selezione di domande da un framework gestito.</a:t>
            </a:r>
          </a:p>
        </p:txBody>
      </p:sp>
      <p:sp>
        <p:nvSpPr>
          <p:cNvPr id="13" name="TextBox 12"/>
          <p:cNvSpPr txBox="1"/>
          <p:nvPr/>
        </p:nvSpPr>
        <p:spPr>
          <a:xfrm>
            <a:off x="12437427" y="5504688"/>
            <a:ext cx="10149840" cy="646331"/>
          </a:xfrm>
          <a:prstGeom prst="rect">
            <a:avLst/>
          </a:prstGeom>
          <a:noFill/>
        </p:spPr>
        <p:txBody>
          <a:bodyPr wrap="square" lIns="0" tIns="0" rIns="0" bIns="0">
            <a:spAutoFit/>
          </a:bodyPr>
          <a:lstStyle/>
          <a:p>
            <a:r>
              <a:rPr lang="it-IT" sz="4200" u="sng">
                <a:solidFill>
                  <a:srgbClr val="144D40"/>
                </a:solidFill>
                <a:latin typeface="Calibri"/>
                <a:hlinkClick r:id="rId7"/>
              </a:rPr>
              <a:t>GenAI in SRM: novità 2026</a:t>
            </a:r>
          </a:p>
        </p:txBody>
      </p:sp>
      <p:sp>
        <p:nvSpPr>
          <p:cNvPr id="14" name="TextBox 13"/>
          <p:cNvSpPr txBox="1"/>
          <p:nvPr/>
        </p:nvSpPr>
        <p:spPr>
          <a:xfrm>
            <a:off x="12437427" y="6455664"/>
            <a:ext cx="10149840" cy="523220"/>
          </a:xfrm>
          <a:prstGeom prst="rect">
            <a:avLst/>
          </a:prstGeom>
          <a:noFill/>
        </p:spPr>
        <p:txBody>
          <a:bodyPr wrap="square" lIns="0" tIns="0" rIns="0" bIns="0">
            <a:spAutoFit/>
          </a:bodyPr>
          <a:lstStyle/>
          <a:p>
            <a:r>
              <a:rPr lang="it-IT" sz="3400">
                <a:solidFill>
                  <a:srgbClr val="333333"/>
                </a:solidFill>
                <a:latin typeface="Calibri"/>
              </a:rPr>
              <a:t>Response generator in preview e bozze da fonti.</a:t>
            </a:r>
          </a:p>
        </p:txBody>
      </p:sp>
      <p:sp>
        <p:nvSpPr>
          <p:cNvPr id="15" name="TextBox 14"/>
          <p:cNvSpPr txBox="1"/>
          <p:nvPr/>
        </p:nvSpPr>
        <p:spPr>
          <a:xfrm>
            <a:off x="12437427" y="7991856"/>
            <a:ext cx="10149840" cy="646331"/>
          </a:xfrm>
          <a:prstGeom prst="rect">
            <a:avLst/>
          </a:prstGeom>
          <a:noFill/>
        </p:spPr>
        <p:txBody>
          <a:bodyPr wrap="square" lIns="0" tIns="0" rIns="0" bIns="0">
            <a:spAutoFit/>
          </a:bodyPr>
          <a:lstStyle/>
          <a:p>
            <a:r>
              <a:rPr lang="it-IT" sz="4200" u="sng">
                <a:solidFill>
                  <a:srgbClr val="144D40"/>
                </a:solidFill>
                <a:latin typeface="Calibri"/>
                <a:hlinkClick r:id="rId8"/>
              </a:rPr>
              <a:t>PowerReports preconfigurati</a:t>
            </a:r>
          </a:p>
        </p:txBody>
      </p:sp>
      <p:sp>
        <p:nvSpPr>
          <p:cNvPr id="16" name="TextBox 15"/>
          <p:cNvSpPr txBox="1"/>
          <p:nvPr/>
        </p:nvSpPr>
        <p:spPr>
          <a:xfrm>
            <a:off x="12437427" y="8942832"/>
            <a:ext cx="10149840" cy="523220"/>
          </a:xfrm>
          <a:prstGeom prst="rect">
            <a:avLst/>
          </a:prstGeom>
          <a:noFill/>
        </p:spPr>
        <p:txBody>
          <a:bodyPr wrap="square" lIns="0" tIns="0" rIns="0" bIns="0">
            <a:spAutoFit/>
          </a:bodyPr>
          <a:lstStyle/>
          <a:p>
            <a:r>
              <a:rPr lang="it-IT" sz="3400">
                <a:solidFill>
                  <a:srgbClr val="333333"/>
                </a:solidFill>
                <a:latin typeface="Calibri"/>
              </a:rPr>
              <a:t>Report di supporto e disponibilità per modulo.</a:t>
            </a:r>
          </a:p>
        </p:txBody>
      </p:sp>
      <p:sp>
        <p:nvSpPr>
          <p:cNvPr id="17" name="TextBox 16"/>
          <p:cNvSpPr txBox="1"/>
          <p:nvPr/>
        </p:nvSpPr>
        <p:spPr>
          <a:xfrm>
            <a:off x="1281747" y="11301985"/>
            <a:ext cx="21817584" cy="461665"/>
          </a:xfrm>
          <a:prstGeom prst="rect">
            <a:avLst/>
          </a:prstGeom>
          <a:noFill/>
        </p:spPr>
        <p:txBody>
          <a:bodyPr wrap="square" lIns="0" tIns="0" rIns="0" bIns="0">
            <a:spAutoFit/>
          </a:bodyPr>
          <a:lstStyle/>
          <a:p>
            <a:r>
              <a:rPr lang="it-IT" sz="3000">
                <a:solidFill>
                  <a:srgbClr val="333333"/>
                </a:solidFill>
                <a:latin typeface="Calibri"/>
              </a:rPr>
              <a:t>Documentazione IBM in inglese. Consultazione: 9 ottobre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1484007"/>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sample_layouts_v_1_6_Plex_Embed.pptx" id="{A09D0CF9-04DF-1B4F-B284-93D47E2136A5}" vid="{6B517B3C-8656-CB47-8FFB-C18B4737DA42}"/>
    </a:ext>
  </a:extLst>
</a:theme>
</file>

<file path=ppt/theme/theme2.xml><?xml version="1.0" encoding="utf-8"?>
<a:theme xmlns:a="http://schemas.openxmlformats.org/drawingml/2006/main" name="1_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45589</TotalTime>
  <Words>3062</Words>
  <Application>Microsoft Macintosh PowerPoint</Application>
  <PresentationFormat>Personalizzato</PresentationFormat>
  <Paragraphs>347</Paragraphs>
  <Slides>20</Slides>
  <Notes>11</Notes>
  <HiddenSlides>0</HiddenSlides>
  <MMClips>0</MMClips>
  <ScaleCrop>false</ScaleCrop>
  <HeadingPairs>
    <vt:vector size="6" baseType="variant">
      <vt:variant>
        <vt:lpstr>Caratteri utilizzati</vt:lpstr>
      </vt:variant>
      <vt:variant>
        <vt:i4>9</vt:i4>
      </vt:variant>
      <vt:variant>
        <vt:lpstr>Tema</vt:lpstr>
      </vt:variant>
      <vt:variant>
        <vt:i4>2</vt:i4>
      </vt:variant>
      <vt:variant>
        <vt:lpstr>Titoli diapositive</vt:lpstr>
      </vt:variant>
      <vt:variant>
        <vt:i4>20</vt:i4>
      </vt:variant>
    </vt:vector>
  </HeadingPairs>
  <TitlesOfParts>
    <vt:vector size="31" baseType="lpstr">
      <vt:lpstr>Arial</vt:lpstr>
      <vt:lpstr>Aptos Display</vt:lpstr>
      <vt:lpstr>Calibri</vt:lpstr>
      <vt:lpstr>IBM Plex Sans</vt:lpstr>
      <vt:lpstr>Aptos</vt:lpstr>
      <vt:lpstr>IBM Plex Sans ExtLt</vt:lpstr>
      <vt:lpstr>Times New Roman</vt:lpstr>
      <vt:lpstr>IBM Plex Sans Light</vt:lpstr>
      <vt:lpstr>Nunito Sans</vt:lpstr>
      <vt:lpstr>IBM presentation template</vt:lpstr>
      <vt:lpstr>1_Tema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Trasforma il Net Zero da obiettivo teorico a piano operativo: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and Forecasting for ESG  Demonstration script and screenshots</dc:title>
  <dc:subject/>
  <dc:creator>Steph Grace</dc:creator>
  <cp:keywords/>
  <dc:description/>
  <cp:lastModifiedBy>Felice Petrignano</cp:lastModifiedBy>
  <cp:revision>171</cp:revision>
  <cp:lastPrinted>2019-04-25T15:14:05Z</cp:lastPrinted>
  <dcterms:created xsi:type="dcterms:W3CDTF">2024-05-06T01:10:46Z</dcterms:created>
  <dcterms:modified xsi:type="dcterms:W3CDTF">2026-10-14T09:47:28Z</dcterms:modified>
  <cp:category/>
</cp:coreProperties>
</file>