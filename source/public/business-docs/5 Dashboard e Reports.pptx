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8"/>
  </p:notesMasterIdLst>
  <p:sldIdLst>
    <p:sldId id="635" r:id="rId3"/>
    <p:sldId id="260" r:id="rId4"/>
    <p:sldId id="268" r:id="rId5"/>
    <p:sldId id="706" r:id="rId6"/>
    <p:sldId id="345" r:id="rId7"/>
    <p:sldId id="346" r:id="rId8"/>
    <p:sldId id="344" r:id="rId9"/>
    <p:sldId id="347" r:id="rId10"/>
    <p:sldId id="332" r:id="rId11"/>
    <p:sldId id="336" r:id="rId12"/>
    <p:sldId id="338" r:id="rId13"/>
    <p:sldId id="337" r:id="rId14"/>
    <p:sldId id="333" r:id="rId15"/>
    <p:sldId id="402" r:id="rId16"/>
    <p:sldId id="2147472656" r:id="rId1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99" d="100"/>
          <a:sy n="99" d="100"/>
        </p:scale>
        <p:origin x="192" y="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958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E89-4BDF-4A13-1CBE-7385029C65F5}"/>
            </a:ext>
          </a:extLst>
        </p:cNvPr>
        <p:cNvGrpSpPr/>
        <p:nvPr/>
      </p:nvGrpSpPr>
      <p:grpSpPr>
        <a:xfrm>
          <a:off x="0" y="0"/>
          <a:ext cx="0" cy="0"/>
          <a:chOff x="0" y="0"/>
          <a:chExt cx="0" cy="0"/>
        </a:xfrm>
      </p:grpSpPr>
      <p:sp>
        <p:nvSpPr>
          <p:cNvPr id="4253" name="PlaceHolder 1">
            <a:extLst>
              <a:ext uri="{FF2B5EF4-FFF2-40B4-BE49-F238E27FC236}">
                <a16:creationId xmlns:a16="http://schemas.microsoft.com/office/drawing/2014/main" id="{0FC1C29E-C31A-687F-CDAF-D242CBC89A33}"/>
              </a:ext>
            </a:extLst>
          </p:cNvPr>
          <p:cNvSpPr>
            <a:spLocks noGrp="1" noRot="1" noChangeAspect="1"/>
          </p:cNvSpPr>
          <p:nvPr>
            <p:ph type="sldImg"/>
          </p:nvPr>
        </p:nvSpPr>
        <p:spPr>
          <a:xfrm>
            <a:off x="0" y="0"/>
            <a:ext cx="0" cy="0"/>
          </a:xfrm>
          <a:prstGeom prst="rect">
            <a:avLst/>
          </a:prstGeom>
          <a:ln w="0">
            <a:noFill/>
          </a:ln>
        </p:spPr>
      </p:sp>
      <p:sp>
        <p:nvSpPr>
          <p:cNvPr id="4254"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it-IT"/>
              <a:t>[Sources]</a:t>
            </a:r>
          </a:p>
          <a:p>
            <a:r>
              <a:rPr lang="it-IT"/>
              <a:t>https://www.ibm.com/docs/en/envizi-esg-suite?topic=reporting-audit-reports</a:t>
            </a:r>
          </a:p>
          <a:p>
            <a:r>
              <a:rPr lang="it-IT"/>
              <a:t>https://www.ibm.com/docs/en/envizi-esg-suite?topic=reporting-extract-reports</a:t>
            </a:r>
          </a:p>
          <a:p>
            <a:r>
              <a:rPr lang="it-IT"/>
              <a:t>https://www.ibm.com/docs/en/envizi-esg-suite?topic=managing-adding-notes-attachments</a:t>
            </a:r>
          </a:p>
          <a:p>
            <a:r>
              <a:rPr lang="it-IT"/>
              <a:t>https://www.ibm.com/docs/en/envizi-esg-suite?topic=data-reviewing-approving-account-records</a:t>
            </a:r>
          </a:p>
          <a:p>
            <a:r>
              <a:rPr lang="it-IT"/>
              <a:t>https://www.ibm.com/docs/en/envizi-esg-suite?topic=data-editing-locked-records-related-entities</a:t>
            </a:r>
          </a:p>
          <a:p>
            <a:r>
              <a:rPr lang="it-IT"/>
              <a:t>https://www.ibm.com/docs/en/envizi-esg-suite?topic=data-reporting-approval-status-approved</a:t>
            </a:r>
          </a:p>
          <a:p>
            <a:r>
              <a:rPr lang="it-IT"/>
              <a:t>Consultazione: 9 ottobre 2026</a:t>
            </a:r>
          </a:p>
          <a:p>
            <a:r>
              <a:rPr lang="it-IT"/>
              <a:t>[/Sources]</a:t>
            </a:r>
          </a:p>
        </p:txBody>
      </p:sp>
      <p:sp>
        <p:nvSpPr>
          <p:cNvPr id="4255" name="PlaceHolder 3">
            <a:extLst>
              <a:ext uri="{FF2B5EF4-FFF2-40B4-BE49-F238E27FC236}">
                <a16:creationId xmlns:a16="http://schemas.microsoft.com/office/drawing/2014/main" id="{76DF4804-1DC9-30B7-43A0-15FD23AC73AE}"/>
              </a:ext>
            </a:extLst>
          </p:cNvPr>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1658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reporting-audit-reports</a:t>
            </a:r>
            <a:endParaRPr/>
          </a:p>
          <a:p>
            <a:r>
              <a:t>https://www.ibm.com/docs/en/envizi-esg-suite?topic=</a:t>
            </a:r>
            <a:r>
              <a:rPr lang="it-IT"/>
              <a:t>reporting-extract-reports</a:t>
            </a:r>
            <a:endParaRPr/>
          </a:p>
          <a:p>
            <a:r>
              <a:rPr lang="it-IT"/>
              <a:t>https://www.ibm.com/docs/en/envizi-esg-suite?topic=managing-adding-notes-attachments</a:t>
            </a:r>
          </a:p>
          <a:p>
            <a:r>
              <a:rPr lang="it-IT"/>
              <a:t>https://www.ibm.com/docs/en/envizi-esg-suite?topic=data-reviewing-approving-account-records</a:t>
            </a:r>
          </a:p>
          <a:p>
            <a:r>
              <a:rPr lang="it-IT"/>
              <a:t>https://www.ibm.com/docs/en/envizi-esg-suite?topic=data-editing-locked-records-related-entities</a:t>
            </a:r>
          </a:p>
          <a:p>
            <a:r>
              <a:rPr lang="it-IT"/>
              <a:t>https://www.ibm.com/docs/en/envizi-esg-suite?topic=data-reporting-approval-status-approved</a:t>
            </a:r>
          </a:p>
          <a:p>
            <a:r>
              <a:t>Consultazione: 9 ottobre 2026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reporting-audit-reports</a:t>
            </a:r>
            <a:endParaRPr/>
          </a:p>
          <a:p>
            <a:r>
              <a:t>https://www.ibm.com/docs/en/envizi-esg-suite?topic=</a:t>
            </a:r>
            <a:r>
              <a:rPr lang="it-IT"/>
              <a:t>reporting-extract-reports</a:t>
            </a:r>
            <a:endParaRPr/>
          </a:p>
          <a:p>
            <a:r>
              <a:rPr lang="it-IT"/>
              <a:t>https://www.ibm.com/docs/en/envizi-esg-suite?topic=managing-adding-notes-attachments</a:t>
            </a:r>
          </a:p>
          <a:p>
            <a:r>
              <a:rPr lang="it-IT"/>
              <a:t>https://www.ibm.com/docs/en/envizi-esg-suite?topic=data-reviewing-approving-account-records</a:t>
            </a:r>
          </a:p>
          <a:p>
            <a:r>
              <a:rPr lang="it-IT"/>
              <a:t>https://www.ibm.com/docs/en/envizi-esg-suite?topic=data-editing-locked-records-related-entities</a:t>
            </a:r>
          </a:p>
          <a:p>
            <a:r>
              <a:rPr lang="it-IT"/>
              <a:t>https://www.ibm.com/docs/en/envizi-esg-suite?topic=data-reporting-approval-status-approved</a:t>
            </a:r>
          </a:p>
          <a:p>
            <a:r>
              <a:t>Consultazione: 9 ottobre 2026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Segnaposto note 2"/>
          <p:cNvSpPr>
            <a:spLocks noGrp="1"/>
          </p:cNvSpPr>
          <p:nvPr>
            <p:ph type="body" idx="1"/>
          </p:nvPr>
        </p:nvSpPr>
        <p:spPr>
          <a:xfrm>
            <a:off x="685800" y="4400550"/>
            <a:ext cx="5486400" cy="3600450"/>
          </a:xfrm>
          <a:prstGeom prst="rect">
            <a:avLst/>
          </a:prstGeom>
        </p:spPr>
        <p:txBody>
          <a:bodyPr/>
          <a:lstStyle/>
          <a:p>
            <a:endParaRPr lang="it-IT" dirty="0"/>
          </a:p>
        </p:txBody>
      </p:sp>
    </p:spTree>
    <p:extLst>
      <p:ext uri="{BB962C8B-B14F-4D97-AF65-F5344CB8AC3E}">
        <p14:creationId xmlns:p14="http://schemas.microsoft.com/office/powerpoint/2010/main" val="2224071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Segnaposto note 2"/>
          <p:cNvSpPr>
            <a:spLocks noGrp="1"/>
          </p:cNvSpPr>
          <p:nvPr>
            <p:ph type="body" idx="1"/>
          </p:nvPr>
        </p:nvSpPr>
        <p:spPr>
          <a:xfrm>
            <a:off x="685800" y="4400550"/>
            <a:ext cx="5486400" cy="3600450"/>
          </a:xfrm>
          <a:prstGeom prst="rect">
            <a:avLst/>
          </a:prstGeom>
        </p:spPr>
        <p:txBody>
          <a:bodyPr/>
          <a:lstStyle/>
          <a:p>
            <a:endParaRPr lang="it-IT" dirty="0"/>
          </a:p>
        </p:txBody>
      </p:sp>
    </p:spTree>
    <p:extLst>
      <p:ext uri="{BB962C8B-B14F-4D97-AF65-F5344CB8AC3E}">
        <p14:creationId xmlns:p14="http://schemas.microsoft.com/office/powerpoint/2010/main" val="3787652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ote 2">
            <a:extLst>
              <a:ext uri="{FF2B5EF4-FFF2-40B4-BE49-F238E27FC236}">
                <a16:creationId xmlns:a16="http://schemas.microsoft.com/office/drawing/2014/main" id="{150F1019-7654-9EE4-457F-3D6AE2B84607}"/>
              </a:ext>
            </a:extLst>
          </p:cNvPr>
          <p:cNvSpPr>
            <a:spLocks noGrp="1"/>
          </p:cNvSpPr>
          <p:nvPr>
            <p:ph type="body" idx="1"/>
          </p:nvPr>
        </p:nvSpPr>
        <p:spPr/>
        <p:txBody>
          <a:bodyPr/>
          <a:lstStyle/>
          <a:p>
            <a:r>
              <a:t>TESTO E TABELLE ORIGINALI DELLA SLIDE</a:t>
            </a:r>
          </a:p>
          <a:p>
            <a:endParaRPr/>
          </a:p>
          <a:p>
            <a:r>
              <a:t>Calcolatore della Carbon Footprint integrato </a:t>
            </a:r>
            <a:br/>
            <a:r>
              <a:t>con fattori di emissione personalizzabili. </a:t>
            </a:r>
          </a:p>
          <a:p>
            <a:endParaRPr/>
          </a:p>
          <a:p>
            <a:r>
              <a:t>IBM Automation / © 2025 IBM Corporation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ote 2">
            <a:extLst>
              <a:ext uri="{FF2B5EF4-FFF2-40B4-BE49-F238E27FC236}">
                <a16:creationId xmlns:a16="http://schemas.microsoft.com/office/drawing/2014/main" id="{150F1019-7654-9EE4-457F-3D6AE2B84607}"/>
              </a:ext>
            </a:extLst>
          </p:cNvPr>
          <p:cNvSpPr>
            <a:spLocks noGrp="1"/>
          </p:cNvSpPr>
          <p:nvPr>
            <p:ph type="body" idx="1"/>
          </p:nvPr>
        </p:nvSpPr>
        <p:spPr/>
        <p:txBody>
          <a:bodyPr/>
          <a:lstStyle/>
          <a:p>
            <a:r>
              <a:t>TESTO E TABELLE ORIGINALI DELLA SLIDE</a:t>
            </a:r>
          </a:p>
          <a:p>
            <a:endParaRPr/>
          </a:p>
          <a:p>
            <a:r>
              <a:t>Envizi GHG Engine supporta il calcolo delle emissioni da qualsiasi dato di attività Scope 1, 2 o 3  e utilizzando fattori di emissione pubblicati o fattori di emissione personalizzati. </a:t>
            </a:r>
          </a:p>
          <a:p>
            <a:br/>
            <a:r>
              <a:t>Sono supportate sia le metodologie di calcolo delle emissioni basate sulla localizzazione che quelle basate sul mercato.</a:t>
            </a:r>
          </a:p>
          <a:p>
            <a:endParaRPr/>
          </a:p>
          <a:p>
            <a:r>
              <a:t>Calcolo Carbon Foot Print</a:t>
            </a:r>
          </a:p>
          <a:p>
            <a:endParaRPr/>
          </a:p>
          <a:p>
            <a:r>
              <a:t>IBM Envizi supporta tutti i metodi descritti dalle categorie GHG Protocol Scope 3 Purchase Goods &amp; Services e Capital Goods, che includono le categorie di spesa, media, ibride e specifiche per i fornitori. Ciò include l'acquisizione di PCF per i prodotti a livello di SKU.</a:t>
            </a:r>
          </a:p>
          <a:p>
            <a:endParaRPr/>
          </a:p>
          <a:p>
            <a:r>
              <a:t>IBM Automation / © 2025 IBM Corporation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ote 2">
            <a:extLst>
              <a:ext uri="{FF2B5EF4-FFF2-40B4-BE49-F238E27FC236}">
                <a16:creationId xmlns:a16="http://schemas.microsoft.com/office/drawing/2014/main" id="{150F1019-7654-9EE4-457F-3D6AE2B84607}"/>
              </a:ext>
            </a:extLst>
          </p:cNvPr>
          <p:cNvSpPr>
            <a:spLocks noGrp="1"/>
          </p:cNvSpPr>
          <p:nvPr>
            <p:ph type="body" idx="1"/>
          </p:nvPr>
        </p:nvSpPr>
        <p:spPr/>
        <p:txBody>
          <a:bodyPr/>
          <a:lstStyle/>
          <a:p>
            <a:r>
              <a:t>TESTO E TABELLE ORIGINALI DELLA SLIDE</a:t>
            </a:r>
          </a:p>
          <a:p>
            <a:endParaRPr/>
          </a:p>
          <a:p>
            <a:r>
              <a:t>Fattori Gestiti in Envizi, oltre 40.000 fattori di emissione</a:t>
            </a:r>
          </a:p>
          <a:p>
            <a:endParaRPr/>
          </a:p>
          <a:p>
            <a:r>
              <a:t>Tabella originale completa:</a:t>
            </a:r>
          </a:p>
          <a:p>
            <a:r>
              <a:t>Managed Factor Set | Coverage | Data types / Scope | Details</a:t>
            </a:r>
          </a:p>
          <a:p>
            <a:r>
              <a:t>IEA | Applies globally Applies to majority of the countries where managed emission factors are not available in IBM Envizi Location based | Scope 2: electricity and electricity green offset Scope 3: electricity | International Energy AgencyLicensed version Envizi has managed this factor set since 2013. Part of Envizi’s default factor set Use only for in-house reporting, and must NOT be distributed or used outside of Envizi Review the emission factors using report - Emission and Energy Factors - PDF Version </a:t>
            </a:r>
          </a:p>
          <a:p>
            <a:r>
              <a:t>Eora66 - MRIO | Applies globally – 188 Countries Scope 3  | Scope 3: Spend-based factor set covering 66 summary data types and relates to the US EEIO summary classification | Eora’s Multi-Region Input-Output (MRIO) A globally recognized spend-based emission factor set Envizi is managing this factor from June 2023 IBM Envizi has modified Eora concordance tables to align with Summary categories provided by the US EPA providing coverage of 66 industries / commodities.</a:t>
            </a:r>
          </a:p>
          <a:p>
            <a:r>
              <a:t>US eGRID - Electricity factors | US only (including Puerto Rico) Location based | Scope 2: electricity and electricity green offset Scope 3: electricity | US EPA (Environmental Protection Agency) publishes the eGRID database Envizi has managed this factor set since 2008 </a:t>
            </a:r>
          </a:p>
          <a:p>
            <a:r>
              <a:t>UK Defra | Applies to Europe for Scope 1 and Scope 2Location basedGlobal - Air travel and some other Scope 3 factors | Scope 1: fossil fuels, biofuels, refrigerants, passenger and delivery vehicles (distance based) Scope 2: UK electricity, UK electricity for electric vehicles, heat and steam Scope 3: upstream and downstream emissions resulting from Scope 1 and 2 emission sources | UK Government and the Department for the Environment, Food and Rural Affairs(DEFRA)Envizi has managed this factor set since 2009 Applies mainly to the United Kingdom but many organizations have chosen to apply this factor set across their European sites, particularly with emissions resulting from air travel.</a:t>
            </a:r>
          </a:p>
          <a:p>
            <a:r>
              <a:t>Residual Mix Emission Factors, Green-e | Applies to US eGrid regions Market-based | Scope 2: Market-based electricity | Green-erepresents US residual mix factors Envizi has managed this factor set since 2015 Can only be used in the Envizi’s market-based Emissions power report.</a:t>
            </a:r>
          </a:p>
          <a:p>
            <a:r>
              <a:t>Residual Mix Emission Factors, AIB | Australia Market-based | Scope 2 Market-based electricity | Association of Issuing Bodies (AIB) represents most EU countries' residual mix factors Envizi has managed this factor set since 2015 Can only be used in the Envizi’s market-based Emissions power report</a:t>
            </a:r>
          </a:p>
          <a:p>
            <a:r>
              <a:t>Others |  |  | </a:t>
            </a:r>
          </a:p>
          <a:p>
            <a:endParaRPr/>
          </a:p>
          <a:p>
            <a:r>
              <a:t>Elenco completo disponibile al link</a:t>
            </a:r>
          </a:p>
          <a:p>
            <a:r>
              <a:t>https://developer.ibm.com/articles/awb-emission-factors-management-in-ibm-envizi/</a:t>
            </a:r>
          </a:p>
          <a:p>
            <a:endParaRPr/>
          </a:p>
          <a:p>
            <a:endParaRPr/>
          </a:p>
          <a:p>
            <a:r>
              <a:t>IBM Automation / © 2025 IBM Corporation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ote 2">
            <a:extLst>
              <a:ext uri="{FF2B5EF4-FFF2-40B4-BE49-F238E27FC236}">
                <a16:creationId xmlns:a16="http://schemas.microsoft.com/office/drawing/2014/main" id="{150F1019-7654-9EE4-457F-3D6AE2B84607}"/>
              </a:ext>
            </a:extLst>
          </p:cNvPr>
          <p:cNvSpPr>
            <a:spLocks noGrp="1"/>
          </p:cNvSpPr>
          <p:nvPr>
            <p:ph type="body" idx="1"/>
          </p:nvPr>
        </p:nvSpPr>
        <p:spPr/>
        <p:txBody>
          <a:bodyPr/>
          <a:lstStyle/>
          <a:p>
            <a:r>
              <a:t>TESTO E TABELLE ORIGINALI DELLA SLIDE</a:t>
            </a:r>
          </a:p>
          <a:p>
            <a:endParaRPr/>
          </a:p>
          <a:p>
            <a:r>
              <a:t>IBM Envizi supporta l'aggiunta di fattori personalizzati (configurati dagli amministratori di sistema del Cliente) nel motore delle emissioni e li collega a specifici account/stili di account a cui i fattori devono essere applicati. </a:t>
            </a:r>
          </a:p>
          <a:p>
            <a:endParaRPr/>
          </a:p>
          <a:p>
            <a:r>
              <a:t>Questo consente ai clienti di acquisire i propri fattori di emissione e di utilizzarli nei casi in cui li preferisce ai set di fattori gestiti predefiniti di Envizi. </a:t>
            </a:r>
          </a:p>
          <a:p>
            <a:endParaRPr/>
          </a:p>
          <a:p>
            <a:r>
              <a:t>È possibile impostare fattori personalizzati per periodi di tempo e date di scadenza che fungono da promemoria per rivedere il fattore. </a:t>
            </a:r>
          </a:p>
          <a:p>
            <a:endParaRPr/>
          </a:p>
          <a:p>
            <a:r>
              <a:t>La documentazione pertinente a supporto del fattore personalizzato può essere inclusa anche come testo libero o come allegato per scopi di audit trail. </a:t>
            </a:r>
            <a:br/>
            <a:br/>
            <a:r>
              <a:t>Inoltre, l'architettura enterprise di Envizi supporta centinaia di tipi di dati, tra cui Scope 1, 2 e 3, nonché metriche aziendali e dati di mercato.</a:t>
            </a:r>
          </a:p>
          <a:p>
            <a:endParaRPr/>
          </a:p>
          <a:p>
            <a:r>
              <a:t>Fattori Personalizzabili (Custom Emission Factors)</a:t>
            </a:r>
          </a:p>
          <a:p>
            <a:endParaRPr/>
          </a:p>
          <a:p>
            <a:r>
              <a:t>IBM Automation / © 2025 IBM Corporation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ote 2">
            <a:extLst>
              <a:ext uri="{FF2B5EF4-FFF2-40B4-BE49-F238E27FC236}">
                <a16:creationId xmlns:a16="http://schemas.microsoft.com/office/drawing/2014/main" id="{150F1019-7654-9EE4-457F-3D6AE2B84607}"/>
              </a:ext>
            </a:extLst>
          </p:cNvPr>
          <p:cNvSpPr>
            <a:spLocks noGrp="1"/>
          </p:cNvSpPr>
          <p:nvPr>
            <p:ph type="body" idx="1"/>
          </p:nvPr>
        </p:nvSpPr>
        <p:spPr/>
        <p:txBody>
          <a:bodyPr/>
          <a:lstStyle/>
          <a:p>
            <a:r>
              <a:t>TESTO E TABELLE ORIGINALI DELLA SLIDE</a:t>
            </a:r>
          </a:p>
          <a:p>
            <a:endParaRPr/>
          </a:p>
          <a:p>
            <a:endParaRPr/>
          </a:p>
          <a:p>
            <a:r>
              <a:t>Nell'esaminare le capacità di IBM nella gestione del carbonio, Verdantix osserva che IBM "dovrebbe essere inclusa nelle liste ristrette dalle aziende che cercano una piattaforma di gestione del carbonio completa e affidabile".</a:t>
            </a:r>
          </a:p>
          <a:p>
            <a:endParaRPr/>
          </a:p>
          <a:p>
            <a:endParaRPr/>
          </a:p>
          <a:p>
            <a:r>
              <a:t>Il calcolo Co2 è uno dei fattori differenzianti di Envizi</a:t>
            </a:r>
          </a:p>
          <a:p>
            <a:endParaRPr/>
          </a:p>
          <a:p>
            <a:r>
              <a:t>IBM Envizi si posiziona nella categoria Leader nell'IDC MarketScape 2024 per le applicazioni di contabilità e gestione del carbonio.</a:t>
            </a:r>
          </a:p>
          <a:p>
            <a:endParaRPr/>
          </a:p>
          <a:p>
            <a:r>
              <a:t>IDC osserva che "Envizi di IBM è adatto agli utenti esperti di gestione delle emissioni di carbonio che sono alla ricerca di una piattaforma data-first per fornire metriche di alta qualità per guidare l'analisi dell'utilizzo del carbonio. </a:t>
            </a:r>
          </a:p>
          <a:p>
            <a:endParaRPr/>
          </a:p>
          <a:p>
            <a:r>
              <a:t>Con la fondazione come piattaforma di contabilità e gestione del carbonio, Envizi continua a eccellere come strumento per la rendicontazione della gestione del carbonio agli Scope 1, 2 e 3".</a:t>
            </a:r>
          </a:p>
          <a:p>
            <a:endParaRPr/>
          </a:p>
          <a:p>
            <a:r>
              <a:t>IBM Automation / © 2025 IBM Corporation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reporting-audit-reports</a:t>
            </a:r>
            <a:endParaRPr/>
          </a:p>
          <a:p>
            <a:r>
              <a:t>https://www.ibm.com/docs/en/envizi-esg-suite?topic=</a:t>
            </a:r>
            <a:r>
              <a:rPr lang="it-IT"/>
              <a:t>reporting-extract-reports</a:t>
            </a:r>
            <a:endParaRPr/>
          </a:p>
          <a:p>
            <a:r>
              <a:t>https://www.ibm.com/docs/en/envizi-esg-suite?topic=</a:t>
            </a:r>
            <a:r>
              <a:rPr lang="it-IT"/>
              <a:t>managing-adding-notes-attachments</a:t>
            </a:r>
            <a:endParaRPr/>
          </a:p>
          <a:p>
            <a:r>
              <a:t>https://www.ibm.com/docs/en/envizi-esg-suite?topic=</a:t>
            </a:r>
            <a:r>
              <a:rPr lang="it-IT"/>
              <a:t>data-reviewing-approving-account-records</a:t>
            </a:r>
          </a:p>
          <a:p>
            <a:r>
              <a:rPr lang="it-IT"/>
              <a:t>https://www.ibm.com/docs/en/envizi-esg-suite?topic=data-editing-locked-records-related-entities</a:t>
            </a:r>
          </a:p>
          <a:p>
            <a:r>
              <a:rPr lang="it-IT"/>
              <a:t>https://www.ibm.com/docs/en/envizi-esg-suite?topic=data-reporting-approval-status-approved</a:t>
            </a:r>
            <a:endParaRPr/>
          </a:p>
          <a:p>
            <a:r>
              <a:rPr lang="it-IT"/>
              <a:t>Consultazione: 9 ottobre 2026</a:t>
            </a:r>
            <a:endParaRPr/>
          </a:p>
          <a:p>
            <a:r>
              <a:t>[/Sources]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2CD5BE-E354-EA96-E64F-F0AC2373292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881D665-4F2A-B398-CF3B-E36463680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62C9EF8-4D18-94A5-2298-F4CF4888D7D1}"/>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97BB4CE8-49F6-D42C-4392-EC366D961B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89CD48A-D0E6-FB05-1933-269EA049CB9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72051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A41227-707B-840F-C5B6-326D4E78309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513DBE6-D642-FCBA-19A1-752B14C47FF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8BFD7EA-1030-8813-65B5-7A81C8D3735A}"/>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CF140446-FFF6-17E5-ACF8-AAF75FF3747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5132EE-4F7E-3128-8E7B-30843F245A1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950853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166E11-7E16-C139-0F93-275D6EDC757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2ECBA044-A369-C235-DB9D-AE5A05E5E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E10939B-4D64-4D30-014F-39C4CA45194B}"/>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344D1C52-4AE4-F41A-A00D-1D7882562B7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DA93982-01C2-35D3-029E-EC975C6E83B3}"/>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803967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F5A6AE-11FD-5A63-2E08-DF2C2B7D9D5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10F067A-E360-CAC1-1F32-DB72D71F4E8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EBBD238-8593-B0CD-DBC2-CB69E647521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8770B1B-0690-0BEC-B058-B0DBC7FD31C9}"/>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D8806F3C-4249-4004-F93C-27862B6F644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0CB48D6-B592-58F5-C76E-CF741432A37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7530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EDDB3F-EF4D-C16F-E98B-FD693A6DAD8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68E7AE9-A7F7-0347-42AB-8AD7BCE1C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2D4C9A04-81F9-74C1-DB8D-1D5CDA6817C1}"/>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4057E23-D517-E2C4-48F8-812427F10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194130F-0369-F665-444A-1AEEB290DE8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9CB378-0BBE-7A6A-9A27-1693870067D4}"/>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8" name="Segnaposto piè di pagina 7">
            <a:extLst>
              <a:ext uri="{FF2B5EF4-FFF2-40B4-BE49-F238E27FC236}">
                <a16:creationId xmlns:a16="http://schemas.microsoft.com/office/drawing/2014/main" id="{298C14BD-DCA0-E70E-E566-FB849B7E8E6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3FE4936-13E5-3E5A-A8E0-8497C7CD6B6E}"/>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66592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CAA408-E97E-B094-5112-817B204BBAF0}"/>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4FDFA8E-07AC-4B21-B497-CC9ADDF143B2}"/>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4" name="Segnaposto piè di pagina 3">
            <a:extLst>
              <a:ext uri="{FF2B5EF4-FFF2-40B4-BE49-F238E27FC236}">
                <a16:creationId xmlns:a16="http://schemas.microsoft.com/office/drawing/2014/main" id="{4A25898B-B35D-550D-EDEB-B7534B4ABD6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A0BEA91-934D-06ED-D3B7-5F4ED0DF1BE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575608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898587A-16A6-8E53-EDC2-DC408C313E83}"/>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3" name="Segnaposto piè di pagina 2">
            <a:extLst>
              <a:ext uri="{FF2B5EF4-FFF2-40B4-BE49-F238E27FC236}">
                <a16:creationId xmlns:a16="http://schemas.microsoft.com/office/drawing/2014/main" id="{E84954C8-60E0-744B-BED1-4574E5919EF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B05B2A9-ACC0-F125-6C44-B9F7C50E6EC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13650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EE919-3668-774A-93E4-D3767B1E80F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D4AB452-9D05-AE91-C6D4-1413437E1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02CAF97-D7AC-F7AE-3B0D-5E4E1A230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D7664DB-3F60-869A-293D-E15D1FC2D83A}"/>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D185D03E-D3B8-FA59-A614-971B4252BAF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D5BD76F-4DE0-6325-2725-EDF82A93EE8F}"/>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01197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8C9AA3-452A-D8E6-4056-4653313206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50485C4C-21FC-0A89-3F11-52803FA7F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F56574D-7784-A7EF-A94D-ABE692421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DD79D49-DC4F-7E47-0AF0-00AA891973DD}"/>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6" name="Segnaposto piè di pagina 5">
            <a:extLst>
              <a:ext uri="{FF2B5EF4-FFF2-40B4-BE49-F238E27FC236}">
                <a16:creationId xmlns:a16="http://schemas.microsoft.com/office/drawing/2014/main" id="{C2482D1F-24A5-E115-5D77-0E0A4D3C491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DE02F41-E34F-5DA7-77B2-B33D4704241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70026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D44DA4-C384-685E-B6DE-4F509B83F97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8DBF331-686A-90F4-5621-81D1DA547C5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11B76D-A486-90B4-2B90-E9613066CB26}"/>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7FE2F5F2-2D4D-B5C2-57AC-629A1285B84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FE253B1-35A4-6615-4536-77EA6DEC3AF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38678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BFDDA5C-3BB3-197C-3EBF-81F1DF4FBAD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641F594-5469-2400-E613-EF1DC070548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906D95-E722-D35C-CA9C-77DBD6940912}"/>
              </a:ext>
            </a:extLst>
          </p:cNvPr>
          <p:cNvSpPr>
            <a:spLocks noGrp="1"/>
          </p:cNvSpPr>
          <p:nvPr>
            <p:ph type="dt" sz="half" idx="10"/>
          </p:nvPr>
        </p:nvSpPr>
        <p:spPr/>
        <p:txBody>
          <a:body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ECD9CC98-F182-27F0-9D6F-D6D2310C0B2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FA1D40-3A3E-B9DF-413C-78DFEA3BDC9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5803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48021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072129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547061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dirty="0"/>
          </a:p>
        </p:txBody>
      </p:sp>
    </p:spTree>
    <p:extLst>
      <p:ext uri="{BB962C8B-B14F-4D97-AF65-F5344CB8AC3E}">
        <p14:creationId xmlns:p14="http://schemas.microsoft.com/office/powerpoint/2010/main" val="410789028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09EA-57CA-9A71-E391-10854E664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435E42-6EB0-A758-C7D1-BC518D2AFA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6EA591-A2B3-4B14-0740-EE8764D7FD30}"/>
              </a:ext>
            </a:extLst>
          </p:cNvPr>
          <p:cNvSpPr>
            <a:spLocks noGrp="1"/>
          </p:cNvSpPr>
          <p:nvPr>
            <p:ph type="dt" sz="half" idx="10"/>
          </p:nvPr>
        </p:nvSpPr>
        <p:spPr/>
        <p:txBody>
          <a:bodyPr/>
          <a:lstStyle/>
          <a:p>
            <a:fld id="{1FE6BF0D-213E-F34D-93C6-37AB37C29CAE}" type="datetimeFigureOut">
              <a:rPr lang="en-US" smtClean="0"/>
              <a:t>10/9/26</a:t>
            </a:fld>
            <a:endParaRPr lang="en-US"/>
          </a:p>
        </p:txBody>
      </p:sp>
      <p:sp>
        <p:nvSpPr>
          <p:cNvPr id="5" name="Footer Placeholder 4">
            <a:extLst>
              <a:ext uri="{FF2B5EF4-FFF2-40B4-BE49-F238E27FC236}">
                <a16:creationId xmlns:a16="http://schemas.microsoft.com/office/drawing/2014/main" id="{407C7C6F-92F8-28B6-9CB9-837A13758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5189C-1C89-B914-D8D5-484BDDB24250}"/>
              </a:ext>
            </a:extLst>
          </p:cNvPr>
          <p:cNvSpPr>
            <a:spLocks noGrp="1"/>
          </p:cNvSpPr>
          <p:nvPr>
            <p:ph type="sldNum" sz="quarter" idx="12"/>
          </p:nvPr>
        </p:nvSpPr>
        <p:spPr/>
        <p:txBody>
          <a:bodyPr/>
          <a:lstStyle/>
          <a:p>
            <a:fld id="{85D104AF-6D8B-754A-9FED-073057245C12}" type="slidenum">
              <a:rPr lang="en-US" smtClean="0"/>
              <a:t>‹N›</a:t>
            </a:fld>
            <a:endParaRPr lang="en-US"/>
          </a:p>
        </p:txBody>
      </p:sp>
    </p:spTree>
    <p:extLst>
      <p:ext uri="{BB962C8B-B14F-4D97-AF65-F5344CB8AC3E}">
        <p14:creationId xmlns:p14="http://schemas.microsoft.com/office/powerpoint/2010/main" val="2616264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412232729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8" y="282576"/>
            <a:ext cx="8574559"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8809784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92600"/>
            <a:ext cx="2474590" cy="95329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00000"/>
              </a:lnSpc>
              <a:spcBef>
                <a:spcPts val="0"/>
              </a:spcBef>
              <a:defRPr sz="800" b="0" i="0">
                <a:solidFill>
                  <a:schemeClr val="tx1"/>
                </a:solidFill>
                <a:latin typeface="IBM Plex Sans Light" panose="020B0403050203000203" pitchFamily="34" charset="0"/>
              </a:defRPr>
            </a:lvl2pPr>
            <a:lvl3pPr marL="146275" indent="-73137">
              <a:lnSpc>
                <a:spcPct val="100000"/>
              </a:lnSpc>
              <a:spcBef>
                <a:spcPts val="0"/>
              </a:spcBef>
              <a:defRPr sz="800" b="0" i="0">
                <a:solidFill>
                  <a:schemeClr val="tx1"/>
                </a:solidFill>
                <a:latin typeface="IBM Plex Sans Light" panose="020B0403050203000203" pitchFamily="34" charset="0"/>
              </a:defRPr>
            </a:lvl3pPr>
            <a:lvl4pPr marL="219412" indent="-73137">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77603675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ESG Data &amp; Environmental Intelligence / © 2023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‹N›</a:t>
            </a:fld>
            <a:endParaRPr lang="en-US" dirty="0"/>
          </a:p>
        </p:txBody>
      </p:sp>
    </p:spTree>
    <p:extLst>
      <p:ext uri="{BB962C8B-B14F-4D97-AF65-F5344CB8AC3E}">
        <p14:creationId xmlns:p14="http://schemas.microsoft.com/office/powerpoint/2010/main" val="312221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257484221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904955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13722028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itle Slide">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200195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90B64A-8642-221E-07D5-D63664D4F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F4BC928-42BA-37B4-95A8-700FD0BA9F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7F09F2-0C7B-17C9-10BD-51D64AC055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EC6173-F612-4749-9A99-74C714A5253F}" type="datetimeFigureOut">
              <a:rPr lang="it-IT" smtClean="0"/>
              <a:t>09/10/26</a:t>
            </a:fld>
            <a:endParaRPr lang="it-IT"/>
          </a:p>
        </p:txBody>
      </p:sp>
      <p:sp>
        <p:nvSpPr>
          <p:cNvPr id="5" name="Segnaposto piè di pagina 4">
            <a:extLst>
              <a:ext uri="{FF2B5EF4-FFF2-40B4-BE49-F238E27FC236}">
                <a16:creationId xmlns:a16="http://schemas.microsoft.com/office/drawing/2014/main" id="{D0ABCAB8-7CC0-5919-3A46-44261402D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F1454EC-0176-B6DB-9F4C-489697EFD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75C065-B770-1D45-B8C0-4B0EDA9DDAA4}" type="slidenum">
              <a:rPr lang="it-IT" smtClean="0"/>
              <a:t>‹N›</a:t>
            </a:fld>
            <a:endParaRPr lang="it-IT"/>
          </a:p>
        </p:txBody>
      </p:sp>
    </p:spTree>
    <p:extLst>
      <p:ext uri="{BB962C8B-B14F-4D97-AF65-F5344CB8AC3E}">
        <p14:creationId xmlns:p14="http://schemas.microsoft.com/office/powerpoint/2010/main" val="4124492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278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hyperlink" Target="https://www.ibm.com/docs/en/envizi-esg-suite?topic=data-reporting-approval-status-approved" TargetMode="External"/><Relationship Id="rId3" Type="http://schemas.openxmlformats.org/officeDocument/2006/relationships/hyperlink" Target="https://www.ibm.com/docs/en/envizi-esg-suite?topic=reporting-audit-reports" TargetMode="External"/><Relationship Id="rId7" Type="http://schemas.openxmlformats.org/officeDocument/2006/relationships/hyperlink" Target="https://www.ibm.com/docs/en/envizi-esg-suite?topic=data-editing-locked-records-related-entities"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hyperlink" Target="https://www.ibm.com/docs/en/envizi-esg-suite?topic=data-reviewing-approving-account-records" TargetMode="External"/><Relationship Id="rId5" Type="http://schemas.openxmlformats.org/officeDocument/2006/relationships/hyperlink" Target="https://www.ibm.com/docs/en/envizi-esg-suite?topic=managing-adding-notes-attachments" TargetMode="External"/><Relationship Id="rId4" Type="http://schemas.openxmlformats.org/officeDocument/2006/relationships/hyperlink" Target="https://www.ibm.com/docs/en/envizi-esg-suite?topic=reporting-extract-repor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94C1-566C-F582-C817-9E35FF694902}"/>
            </a:ext>
          </a:extLst>
        </p:cNvPr>
        <p:cNvGrpSpPr/>
        <p:nvPr/>
      </p:nvGrpSpPr>
      <p:grpSpPr>
        <a:xfrm>
          <a:off x="0" y="0"/>
          <a:ext cx="0" cy="0"/>
          <a:chOff x="0" y="0"/>
          <a:chExt cx="0" cy="0"/>
        </a:xfrm>
      </p:grpSpPr>
      <p:pic>
        <p:nvPicPr>
          <p:cNvPr id="13" name="SK-1-img-2">
            <a:extLst>
              <a:ext uri="{FF2B5EF4-FFF2-40B4-BE49-F238E27FC236}">
                <a16:creationId xmlns:a16="http://schemas.microsoft.com/office/drawing/2014/main" id="{857ED53D-59A7-5D41-890D-F7114A35434A}"/>
              </a:ext>
            </a:extLst>
          </p:cNvPr>
          <p:cNvPicPr/>
          <p:nvPr/>
        </p:nvPicPr>
        <p:blipFill>
          <a:blip r:embed="rId3"/>
          <a:stretch/>
        </p:blipFill>
        <p:spPr>
          <a:xfrm>
            <a:off x="6547594" y="1097280"/>
            <a:ext cx="4953008" cy="3438102"/>
          </a:xfrm>
          <a:prstGeom prst="rect">
            <a:avLst/>
          </a:prstGeom>
          <a:noFill/>
          <a:ln w="0">
            <a:noFill/>
          </a:ln>
        </p:spPr>
      </p:pic>
      <p:pic>
        <p:nvPicPr>
          <p:cNvPr id="17" name="SK-1-img-6">
            <a:extLst>
              <a:ext uri="{FF2B5EF4-FFF2-40B4-BE49-F238E27FC236}">
                <a16:creationId xmlns:a16="http://schemas.microsoft.com/office/drawing/2014/main" id="{5D56AC93-A688-6ECC-034F-E950D9F4CA2B}"/>
              </a:ext>
            </a:extLst>
          </p:cNvPr>
          <p:cNvPicPr/>
          <p:nvPr/>
        </p:nvPicPr>
        <p:blipFill>
          <a:blip r:embed="rId4"/>
          <a:stretch/>
        </p:blipFill>
        <p:spPr>
          <a:xfrm>
            <a:off x="640080" y="6035040"/>
            <a:ext cx="10881360" cy="9144"/>
          </a:xfrm>
          <a:prstGeom prst="rect">
            <a:avLst/>
          </a:prstGeom>
          <a:noFill/>
          <a:ln w="0">
            <a:noFill/>
          </a:ln>
        </p:spPr>
      </p:pic>
      <p:pic>
        <p:nvPicPr>
          <p:cNvPr id="18" name="SK-1-img-7">
            <a:extLst>
              <a:ext uri="{FF2B5EF4-FFF2-40B4-BE49-F238E27FC236}">
                <a16:creationId xmlns:a16="http://schemas.microsoft.com/office/drawing/2014/main" id="{4159CB6A-B84D-80D0-F0A2-0063A85ECD0A}"/>
              </a:ext>
            </a:extLst>
          </p:cNvPr>
          <p:cNvPicPr/>
          <p:nvPr/>
        </p:nvPicPr>
        <p:blipFill>
          <a:blip r:embed="rId5"/>
          <a:stretch/>
        </p:blipFill>
        <p:spPr>
          <a:xfrm>
            <a:off x="6010157" y="1097280"/>
            <a:ext cx="5490445" cy="4937760"/>
          </a:xfrm>
          <a:prstGeom prst="rect">
            <a:avLst/>
          </a:prstGeom>
          <a:noFill/>
          <a:ln w="0">
            <a:noFill/>
          </a:ln>
        </p:spPr>
      </p:pic>
      <p:sp>
        <p:nvSpPr>
          <p:cNvPr id="22" name="SK-1-text-11">
            <a:extLst>
              <a:ext uri="{FF2B5EF4-FFF2-40B4-BE49-F238E27FC236}">
                <a16:creationId xmlns:a16="http://schemas.microsoft.com/office/drawing/2014/main" id="{189C8CF6-A3DA-3FE8-27B2-730050E5FCB9}"/>
              </a:ext>
            </a:extLst>
          </p:cNvPr>
          <p:cNvSpPr/>
          <p:nvPr/>
        </p:nvSpPr>
        <p:spPr>
          <a:xfrm>
            <a:off x="640080" y="594360"/>
            <a:ext cx="5212080" cy="3657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1800" b="1">
                <a:solidFill>
                  <a:srgbClr val="2E7D4F"/>
                </a:solidFill>
                <a:latin typeface="Calibri"/>
              </a:rPr>
              <a:t>2026 ESG REPORTING</a:t>
            </a:r>
          </a:p>
        </p:txBody>
      </p:sp>
      <p:sp>
        <p:nvSpPr>
          <p:cNvPr id="23" name="SK-1-text-12">
            <a:extLst>
              <a:ext uri="{FF2B5EF4-FFF2-40B4-BE49-F238E27FC236}">
                <a16:creationId xmlns:a16="http://schemas.microsoft.com/office/drawing/2014/main" id="{8759690C-0B4B-284E-AD9B-87FB5185FDFC}"/>
              </a:ext>
            </a:extLst>
          </p:cNvPr>
          <p:cNvSpPr/>
          <p:nvPr/>
        </p:nvSpPr>
        <p:spPr>
          <a:xfrm>
            <a:off x="640080" y="1234440"/>
            <a:ext cx="5029200" cy="7315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4400" b="1">
                <a:solidFill>
                  <a:srgbClr val="14433A"/>
                </a:solidFill>
                <a:latin typeface="Calibri"/>
              </a:rPr>
              <a:t>Envizi</a:t>
            </a:r>
          </a:p>
        </p:txBody>
      </p:sp>
      <p:sp>
        <p:nvSpPr>
          <p:cNvPr id="24" name="SK-1-text-13">
            <a:extLst>
              <a:ext uri="{FF2B5EF4-FFF2-40B4-BE49-F238E27FC236}">
                <a16:creationId xmlns:a16="http://schemas.microsoft.com/office/drawing/2014/main" id="{26CC8673-84D8-87CF-6C96-8DC5FF6EAD58}"/>
              </a:ext>
            </a:extLst>
          </p:cNvPr>
          <p:cNvSpPr/>
          <p:nvPr/>
        </p:nvSpPr>
        <p:spPr>
          <a:xfrm>
            <a:off x="640080" y="2331720"/>
            <a:ext cx="5029200" cy="3337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2200" b="0">
                <a:solidFill>
                  <a:srgbClr val="5B6B70"/>
                </a:solidFill>
                <a:latin typeface="Calibri"/>
              </a:rPr>
              <a:t>Auditabilità e tracciabilità dei </a:t>
            </a:r>
            <a:r>
              <a:rPr lang="it-IT" sz="2200" b="0" dirty="0">
                <a:solidFill>
                  <a:srgbClr val="5B6B70"/>
                </a:solidFill>
                <a:latin typeface="Calibri"/>
              </a:rPr>
              <a:t>dati</a:t>
            </a:r>
            <a:r>
              <a:rPr lang="it-IT" sz="2200" b="0">
                <a:solidFill>
                  <a:srgbClr val="5B6B70"/>
                </a:solidFill>
                <a:latin typeface="Calibri"/>
              </a:rPr>
              <a:t> ESG in IBM Envizi</a:t>
            </a: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r>
              <a:rPr lang="it-IT" sz="2200" b="0" dirty="0">
                <a:solidFill>
                  <a:srgbClr val="5B6B70"/>
                </a:solidFill>
                <a:latin typeface="Calibri"/>
              </a:rPr>
              <a:t>Felice Petrignano</a:t>
            </a:r>
          </a:p>
          <a:p>
            <a:pPr algn="l">
              <a:lnSpc>
                <a:spcPct val="105000"/>
              </a:lnSpc>
              <a:spcBef>
                <a:spcPts val="0"/>
              </a:spcBef>
              <a:spcAft>
                <a:spcPts val="800"/>
              </a:spcAft>
            </a:pPr>
            <a:r>
              <a:rPr lang="it-IT" sz="2200" b="0" dirty="0">
                <a:solidFill>
                  <a:srgbClr val="5B6B70"/>
                </a:solidFill>
                <a:latin typeface="Calibri"/>
              </a:rPr>
              <a:t>SME </a:t>
            </a:r>
            <a:r>
              <a:rPr lang="it-IT" sz="2200" b="0" dirty="0" err="1">
                <a:solidFill>
                  <a:srgbClr val="5B6B70"/>
                </a:solidFill>
                <a:latin typeface="Calibri"/>
              </a:rPr>
              <a:t>Envizi</a:t>
            </a:r>
            <a:r>
              <a:rPr lang="it-IT" sz="2200" b="0" dirty="0">
                <a:solidFill>
                  <a:srgbClr val="5B6B70"/>
                </a:solidFill>
                <a:latin typeface="Calibri"/>
              </a:rPr>
              <a:t> IBM Italia</a:t>
            </a:r>
          </a:p>
        </p:txBody>
      </p:sp>
      <p:sp>
        <p:nvSpPr>
          <p:cNvPr id="2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26" name="Rettangolo 2">
            <a:extLst>
              <a:ext uri="{FF2B5EF4-FFF2-40B4-BE49-F238E27FC236}">
                <a16:creationId xmlns:a16="http://schemas.microsoft.com/office/drawing/2014/main" id="{B80EF3E5-EEB9-BD34-726E-465740FD31FE}"/>
              </a:ext>
            </a:extLst>
          </p:cNvPr>
          <p:cNvSpPr/>
          <p:nvPr/>
        </p:nvSpPr>
        <p:spPr>
          <a:xfrm>
            <a:off x="9035359" y="172244"/>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IBM </a:t>
            </a:r>
            <a:r>
              <a:rPr lang="it-IT" err="1"/>
              <a:t>Envizi</a:t>
            </a:r>
            <a:endParaRPr lang="it-IT"/>
          </a:p>
        </p:txBody>
      </p:sp>
    </p:spTree>
    <p:extLst>
      <p:ext uri="{BB962C8B-B14F-4D97-AF65-F5344CB8AC3E}">
        <p14:creationId xmlns:p14="http://schemas.microsoft.com/office/powerpoint/2010/main" val="208282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80F8A9A7-20A7-FD31-DED9-EC0EABB50AB7}"/>
              </a:ext>
            </a:extLst>
          </p:cNvPr>
          <p:cNvSpPr txBox="1"/>
          <p:nvPr/>
        </p:nvSpPr>
        <p:spPr>
          <a:xfrm>
            <a:off x="797442" y="325213"/>
            <a:ext cx="10217888" cy="4299703"/>
          </a:xfrm>
          <a:prstGeom prst="rect">
            <a:avLst/>
          </a:prstGeom>
          <a:noFill/>
        </p:spPr>
        <p:txBody>
          <a:bodyPr wrap="square">
            <a:spAutoFit/>
          </a:bodyPr>
          <a:lstStyle/>
          <a:p>
            <a:r>
              <a:rPr lang="en-US" sz="2400" b="1"/>
              <a:t>Obiettivi del capitolo</a:t>
            </a:r>
          </a:p>
          <a:p>
            <a:endParaRPr lang="en-US" b="1"/>
          </a:p>
          <a:p>
            <a:r>
              <a:rPr lang="en-US"/>
              <a:t>Questo capitolo mostra come ricostruire l’origine e le modifiche dei dati in IBM Envizi, consultare le evidenze dei record e utilizzare i report a supporto degli audit.</a:t>
            </a:r>
          </a:p>
          <a:p>
            <a:endParaRPr lang="en-US"/>
          </a:p>
          <a:p>
            <a:endParaRPr lang="en-US"/>
          </a:p>
          <a:p>
            <a:r>
              <a:rPr lang="en-US" b="1"/>
              <a:t>Al termine del capitolo il partecipante sarà in grado di:</a:t>
            </a:r>
          </a:p>
          <a:p>
            <a:endParaRPr lang="en-US" b="1"/>
          </a:p>
          <a:p>
            <a:pPr lvl="0"/>
            <a:r>
              <a:rPr lang="en-US"/>
              <a:t>aprire il dettaglio di un record e identificarne autore e aggiornamenti</a:t>
            </a:r>
          </a:p>
          <a:p>
            <a:pPr lvl="0">
              <a:lnSpc>
                <a:spcPct val="150000"/>
              </a:lnSpc>
            </a:pPr>
            <a:r>
              <a:rPr lang="en-US"/>
              <a:t>consultare e scaricare gli allegati che documentano il dato</a:t>
            </a:r>
          </a:p>
          <a:p>
            <a:pPr lvl="0">
              <a:lnSpc>
                <a:spcPct val="150000"/>
              </a:lnSpc>
            </a:pPr>
            <a:r>
              <a:rPr lang="en-US"/>
              <a:t>distinguere stato di approvazione, blocco e autorizzazioni di modifica</a:t>
            </a:r>
          </a:p>
          <a:p>
            <a:pPr lvl="0">
              <a:lnSpc>
                <a:spcPct val="150000"/>
              </a:lnSpc>
            </a:pPr>
            <a:r>
              <a:rPr lang="en-US"/>
              <a:t>comprendere le diverse finalità di Audit History e Records &amp; Cost Audit</a:t>
            </a:r>
          </a:p>
          <a:p>
            <a:pPr lvl="0">
              <a:lnSpc>
                <a:spcPct val="150000"/>
              </a:lnSpc>
            </a:pPr>
            <a:r>
              <a:rPr lang="en-US"/>
              <a:t>eseguire Audit History, impostare i filtri e leggere l’estrazione CSV</a:t>
            </a:r>
          </a:p>
        </p:txBody>
      </p:sp>
    </p:spTree>
    <p:extLst>
      <p:ext uri="{BB962C8B-B14F-4D97-AF65-F5344CB8AC3E}">
        <p14:creationId xmlns:p14="http://schemas.microsoft.com/office/powerpoint/2010/main" val="1128939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9FEDFCF0-D0EA-512A-921C-1CD9FD4A6078}"/>
              </a:ext>
            </a:extLst>
          </p:cNvPr>
          <p:cNvSpPr txBox="1"/>
          <p:nvPr/>
        </p:nvSpPr>
        <p:spPr>
          <a:xfrm>
            <a:off x="542260" y="272878"/>
            <a:ext cx="11153553" cy="5262979"/>
          </a:xfrm>
          <a:prstGeom prst="rect">
            <a:avLst/>
          </a:prstGeom>
          <a:noFill/>
        </p:spPr>
        <p:txBody>
          <a:bodyPr wrap="square">
            <a:spAutoFit/>
          </a:bodyPr>
          <a:lstStyle/>
          <a:p>
            <a:r>
              <a:rPr lang="en-US" sz="2400" b="1"/>
              <a:t>Contenuti</a:t>
            </a:r>
          </a:p>
          <a:p>
            <a:endParaRPr lang="en-US" sz="2400" b="1"/>
          </a:p>
          <a:p>
            <a:pPr lvl="0">
              <a:lnSpc>
                <a:spcPct val="150000"/>
              </a:lnSpc>
            </a:pPr>
            <a:r>
              <a:rPr lang="en-US"/>
              <a:t>Evidenze per l’audit e perimetro di accesso ai dati</a:t>
            </a:r>
          </a:p>
          <a:p>
            <a:pPr lvl="0">
              <a:lnSpc>
                <a:spcPct val="150000"/>
              </a:lnSpc>
            </a:pPr>
            <a:r>
              <a:rPr lang="en-US"/>
              <a:t>Record, Audit History e Records &amp; Cost Audit</a:t>
            </a:r>
          </a:p>
          <a:p>
            <a:pPr lvl="0">
              <a:lnSpc>
                <a:spcPct val="150000"/>
              </a:lnSpc>
            </a:pPr>
            <a:r>
              <a:rPr lang="en-US"/>
              <a:t>Accesso al dettaglio del record: autore e date di aggiornamento</a:t>
            </a:r>
          </a:p>
          <a:p>
            <a:pPr lvl="0">
              <a:lnSpc>
                <a:spcPct val="150000"/>
              </a:lnSpc>
            </a:pPr>
            <a:r>
              <a:rPr lang="en-US"/>
              <a:t>Allegati e documenti giustificativi</a:t>
            </a:r>
          </a:p>
          <a:p>
            <a:pPr lvl="0">
              <a:lnSpc>
                <a:spcPct val="150000"/>
              </a:lnSpc>
            </a:pPr>
            <a:r>
              <a:rPr lang="en-US"/>
              <a:t>Stato di approvazione e blocco del record</a:t>
            </a:r>
          </a:p>
          <a:p>
            <a:pPr lvl="0">
              <a:lnSpc>
                <a:spcPct val="150000"/>
              </a:lnSpc>
            </a:pPr>
            <a:r>
              <a:rPr lang="en-US"/>
              <a:t>Audit History: modifiche, autore, data e valori registrati</a:t>
            </a:r>
          </a:p>
          <a:p>
            <a:pPr lvl="0">
              <a:lnSpc>
                <a:spcPct val="150000"/>
              </a:lnSpc>
            </a:pPr>
            <a:r>
              <a:rPr lang="en-US"/>
              <a:t>Differenze tra storico delle modifiche e dati mensili del record</a:t>
            </a:r>
          </a:p>
          <a:p>
            <a:pPr lvl="0">
              <a:lnSpc>
                <a:spcPct val="150000"/>
              </a:lnSpc>
            </a:pPr>
            <a:r>
              <a:rPr lang="en-US"/>
              <a:t>Ricerca, filtri, esecuzione ed esportazione di Audit History in CSV</a:t>
            </a:r>
          </a:p>
          <a:p>
            <a:r>
              <a:rPr lang="en-US"/>
              <a:t>Riferimenti alla documentazione ufficiale IBM</a:t>
            </a:r>
          </a:p>
          <a:p>
            <a:endParaRPr lang="en-US"/>
          </a:p>
          <a:p>
            <a:r>
              <a:rPr lang="en-US" b="1"/>
              <a:t>Approvazione e blocco sono aspetti distinti: la possibilità di modificare un record dipende dallo stato, dai permessi e dalle regole configurate.</a:t>
            </a:r>
            <a:endParaRPr lang="it-IT" dirty="0"/>
          </a:p>
        </p:txBody>
      </p:sp>
    </p:spTree>
    <p:extLst>
      <p:ext uri="{BB962C8B-B14F-4D97-AF65-F5344CB8AC3E}">
        <p14:creationId xmlns:p14="http://schemas.microsoft.com/office/powerpoint/2010/main" val="977159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247D0A59-0720-7C7A-DA48-0A0A9E275318}"/>
              </a:ext>
            </a:extLst>
          </p:cNvPr>
          <p:cNvPicPr>
            <a:picLocks noChangeAspect="1"/>
          </p:cNvPicPr>
          <p:nvPr/>
        </p:nvPicPr>
        <p:blipFill>
          <a:blip r:embed="rId3"/>
          <a:stretch>
            <a:fillRect/>
          </a:stretch>
        </p:blipFill>
        <p:spPr>
          <a:xfrm>
            <a:off x="8395995" y="1255776"/>
            <a:ext cx="3152877" cy="4729316"/>
          </a:xfrm>
          <a:prstGeom prst="rect">
            <a:avLst/>
          </a:prstGeom>
        </p:spPr>
      </p:pic>
      <p:sp>
        <p:nvSpPr>
          <p:cNvPr id="5" name="Testo originale sotto il titolo">
            <a:extLst>
              <a:ext uri="{FF2B5EF4-FFF2-40B4-BE49-F238E27FC236}">
                <a16:creationId xmlns:a16="http://schemas.microsoft.com/office/drawing/2014/main" id="{3EB1E54F-27F7-779D-0A56-B0107FEEDB4A}"/>
              </a:ext>
            </a:extLst>
          </p:cNvPr>
          <p:cNvSpPr txBox="1"/>
          <p:nvPr/>
        </p:nvSpPr>
        <p:spPr>
          <a:xfrm>
            <a:off x="640080" y="1107934"/>
            <a:ext cx="7993625" cy="3605451"/>
          </a:xfrm>
          <a:prstGeom prst="rect">
            <a:avLst/>
          </a:prstGeom>
          <a:noFill/>
        </p:spPr>
        <p:txBody>
          <a:bodyPr wrap="square">
            <a:spAutoFit/>
          </a:bodyPr>
          <a:lstStyle/>
          <a:p>
            <a:pPr>
              <a:buNone/>
              <a:defRPr/>
            </a:pPr>
            <a:r>
              <a:rPr lang="it-IT" b="1" dirty="0"/>
              <a:t>Utenti Management: General Users / View </a:t>
            </a:r>
            <a:r>
              <a:rPr lang="it-IT" b="1" dirty="0" err="1"/>
              <a:t>Only</a:t>
            </a:r>
            <a:r>
              <a:rPr lang="it-IT" b="1" dirty="0"/>
              <a:t> Users</a:t>
            </a:r>
            <a:endParaRPr lang="it-IT" dirty="0"/>
          </a:p>
          <a:p>
            <a:pPr>
              <a:buNone/>
              <a:defRPr/>
            </a:pPr>
            <a:endParaRPr lang="it-IT" b="1" dirty="0"/>
          </a:p>
          <a:p>
            <a:pPr>
              <a:buNone/>
              <a:defRPr/>
            </a:pPr>
            <a:endParaRPr lang="it-IT" b="1" dirty="0"/>
          </a:p>
          <a:p>
            <a:pPr marL="342900" lvl="0" indent="-342900">
              <a:buFont typeface="Arial" panose="020B0604020202020204" pitchFamily="34" charset="0"/>
              <a:buChar char="•"/>
              <a:defRPr/>
            </a:pPr>
            <a:r>
              <a:rPr lang="it-IT" dirty="0"/>
              <a:t>Dashboard operative</a:t>
            </a:r>
          </a:p>
          <a:p>
            <a:pPr marL="342900" lvl="0" indent="-342900">
              <a:buFont typeface="Arial" panose="020B0604020202020204" pitchFamily="34" charset="0"/>
              <a:buChar char="•"/>
              <a:defRPr/>
            </a:pPr>
            <a:r>
              <a:rPr lang="it-IT" dirty="0"/>
              <a:t>Report direzionali</a:t>
            </a:r>
          </a:p>
          <a:p>
            <a:pPr marL="342900" lvl="0" indent="-342900">
              <a:buFont typeface="Arial" panose="020B0604020202020204" pitchFamily="34" charset="0"/>
              <a:buChar char="•"/>
              <a:defRPr/>
            </a:pPr>
            <a:r>
              <a:rPr lang="it-IT" dirty="0"/>
              <a:t>Indicatori di performance (KPI)</a:t>
            </a:r>
          </a:p>
          <a:p>
            <a:pPr marL="342900" lvl="0" indent="-342900">
              <a:buFont typeface="Arial" panose="020B0604020202020204" pitchFamily="34" charset="0"/>
              <a:buChar char="•"/>
              <a:defRPr/>
            </a:pPr>
            <a:r>
              <a:rPr lang="it-IT" dirty="0"/>
              <a:t>Monitoraggio delle performance ESG</a:t>
            </a:r>
          </a:p>
          <a:p>
            <a:pPr marL="342900" lvl="0" indent="-342900">
              <a:buFont typeface="Arial" panose="020B0604020202020204" pitchFamily="34" charset="0"/>
              <a:buChar char="•"/>
              <a:defRPr/>
            </a:pPr>
            <a:r>
              <a:rPr lang="it-IT" dirty="0"/>
              <a:t>Analisi dei KPI</a:t>
            </a:r>
          </a:p>
          <a:p>
            <a:pPr marL="342900" lvl="0" indent="-342900">
              <a:buFont typeface="Arial" panose="020B0604020202020204" pitchFamily="34" charset="0"/>
              <a:buChar char="•"/>
              <a:defRPr/>
            </a:pPr>
            <a:r>
              <a:rPr lang="it-IT" dirty="0"/>
              <a:t>Individuazione di aree di miglioramento</a:t>
            </a:r>
          </a:p>
          <a:p>
            <a:pPr marL="342900" lvl="0" indent="-342900">
              <a:buFont typeface="Arial" panose="020B0604020202020204" pitchFamily="34" charset="0"/>
              <a:buChar char="•"/>
              <a:defRPr/>
            </a:pPr>
            <a:r>
              <a:rPr lang="it-IT" dirty="0"/>
              <a:t>Supporto a decisioni basate su dati affidabili</a:t>
            </a:r>
          </a:p>
        </p:txBody>
      </p:sp>
      <p:sp>
        <p:nvSpPr>
          <p:cNvPr id="6"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CasellaDiTesto 2">
            <a:extLst>
              <a:ext uri="{FF2B5EF4-FFF2-40B4-BE49-F238E27FC236}">
                <a16:creationId xmlns:a16="http://schemas.microsoft.com/office/drawing/2014/main" id="{3EB1E54F-27F7-779D-0A56-B0107FEEDB4A}"/>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7. Dashboard, KPI e reporting</a:t>
            </a:r>
          </a:p>
        </p:txBody>
      </p:sp>
      <p:sp>
        <p:nvSpPr>
          <p:cNvPr id="2" name="Ovale 1">
            <a:extLst>
              <a:ext uri="{FF2B5EF4-FFF2-40B4-BE49-F238E27FC236}">
                <a16:creationId xmlns:a16="http://schemas.microsoft.com/office/drawing/2014/main" id="{89DC8ADF-1F42-9BB2-4B79-D2614D66703F}"/>
              </a:ext>
            </a:extLst>
          </p:cNvPr>
          <p:cNvSpPr/>
          <p:nvPr/>
        </p:nvSpPr>
        <p:spPr>
          <a:xfrm>
            <a:off x="10417579" y="178507"/>
            <a:ext cx="1005841" cy="9675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800" dirty="0"/>
              <a:t>7</a:t>
            </a:r>
          </a:p>
        </p:txBody>
      </p:sp>
    </p:spTree>
    <p:extLst>
      <p:ext uri="{BB962C8B-B14F-4D97-AF65-F5344CB8AC3E}">
        <p14:creationId xmlns:p14="http://schemas.microsoft.com/office/powerpoint/2010/main" val="4179235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66FD6-BAE2-0F42-112A-2FC29A4382A2}"/>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43E115DB-8753-6252-6815-822059262954}"/>
              </a:ext>
            </a:extLst>
          </p:cNvPr>
          <p:cNvSpPr txBox="1"/>
          <p:nvPr/>
        </p:nvSpPr>
        <p:spPr>
          <a:xfrm>
            <a:off x="472965" y="208113"/>
            <a:ext cx="10247587" cy="2769989"/>
          </a:xfrm>
          <a:prstGeom prst="rect">
            <a:avLst/>
          </a:prstGeom>
          <a:noFill/>
        </p:spPr>
        <p:txBody>
          <a:bodyPr wrap="square">
            <a:spAutoFit/>
          </a:bodyPr>
          <a:lstStyle/>
          <a:p>
            <a:pPr>
              <a:buNone/>
            </a:pPr>
            <a:r>
              <a:rPr lang="it-IT" sz="2400" dirty="0"/>
              <a:t>Fin dal primo giorno di utilizzo, IBM </a:t>
            </a:r>
            <a:r>
              <a:rPr lang="it-IT" sz="2400" dirty="0" err="1"/>
              <a:t>Envizi</a:t>
            </a:r>
            <a:r>
              <a:rPr lang="it-IT" sz="2400" dirty="0"/>
              <a:t> include numerosi dashboard e report preconfigurati che consentono di analizzare i dati ESG</a:t>
            </a:r>
          </a:p>
          <a:p>
            <a:pPr>
              <a:buNone/>
            </a:pPr>
            <a:endParaRPr lang="it-IT" dirty="0"/>
          </a:p>
          <a:p>
            <a:pPr>
              <a:buNone/>
            </a:pPr>
            <a:r>
              <a:rPr lang="it-IT" b="1" dirty="0"/>
              <a:t>Le dashboard standard permettono di:</a:t>
            </a:r>
          </a:p>
          <a:p>
            <a:pPr>
              <a:buNone/>
            </a:pPr>
            <a:endParaRPr lang="it-IT" dirty="0"/>
          </a:p>
          <a:p>
            <a:pPr marL="342900" lvl="0" indent="-342900">
              <a:buFont typeface="Arial" panose="020B0604020202020204" pitchFamily="34" charset="0"/>
              <a:buChar char="•"/>
            </a:pPr>
            <a:r>
              <a:rPr lang="it-IT" dirty="0"/>
              <a:t>monitorare consumi energetici, emissioni, costi e KPI ESG;</a:t>
            </a:r>
          </a:p>
          <a:p>
            <a:pPr marL="342900" lvl="0" indent="-342900">
              <a:buFont typeface="Arial" panose="020B0604020202020204" pitchFamily="34" charset="0"/>
              <a:buChar char="•"/>
            </a:pPr>
            <a:r>
              <a:rPr lang="it-IT" dirty="0"/>
              <a:t>verificare qualità, completezza e stato dei dati raccolti;</a:t>
            </a:r>
          </a:p>
          <a:p>
            <a:pPr marL="342900" lvl="0" indent="-342900">
              <a:buFont typeface="Arial" panose="020B0604020202020204" pitchFamily="34" charset="0"/>
              <a:buChar char="•"/>
            </a:pPr>
            <a:r>
              <a:rPr lang="it-IT" dirty="0"/>
              <a:t>analizzare trend, confronti tra sedi e indicatori di performance;</a:t>
            </a:r>
          </a:p>
          <a:p>
            <a:pPr marL="342900" lvl="0" indent="-342900">
              <a:buFont typeface="Arial" panose="020B0604020202020204" pitchFamily="34" charset="0"/>
              <a:buChar char="•"/>
            </a:pPr>
            <a:r>
              <a:rPr lang="it-IT" dirty="0"/>
              <a:t>supportare il management con viste sintetiche e operative.</a:t>
            </a:r>
          </a:p>
        </p:txBody>
      </p:sp>
      <p:pic>
        <p:nvPicPr>
          <p:cNvPr id="5" name="Immagine 4">
            <a:extLst>
              <a:ext uri="{FF2B5EF4-FFF2-40B4-BE49-F238E27FC236}">
                <a16:creationId xmlns:a16="http://schemas.microsoft.com/office/drawing/2014/main" id="{1FA759CB-9B55-9671-DB37-BAAF5BCB0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069" y="3429000"/>
            <a:ext cx="7772400" cy="2744570"/>
          </a:xfrm>
          <a:prstGeom prst="rect">
            <a:avLst/>
          </a:prstGeom>
        </p:spPr>
      </p:pic>
    </p:spTree>
    <p:extLst>
      <p:ext uri="{BB962C8B-B14F-4D97-AF65-F5344CB8AC3E}">
        <p14:creationId xmlns:p14="http://schemas.microsoft.com/office/powerpoint/2010/main" val="3386696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3509E-015F-6906-B365-D3FFB222582F}"/>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F30C0C41-42A3-D987-CD59-C201110B0809}"/>
              </a:ext>
            </a:extLst>
          </p:cNvPr>
          <p:cNvSpPr txBox="1"/>
          <p:nvPr/>
        </p:nvSpPr>
        <p:spPr>
          <a:xfrm>
            <a:off x="441434" y="256935"/>
            <a:ext cx="5654566" cy="5170646"/>
          </a:xfrm>
          <a:prstGeom prst="rect">
            <a:avLst/>
          </a:prstGeom>
          <a:noFill/>
        </p:spPr>
        <p:txBody>
          <a:bodyPr wrap="square">
            <a:spAutoFit/>
          </a:bodyPr>
          <a:lstStyle/>
          <a:p>
            <a:pPr>
              <a:buNone/>
            </a:pPr>
            <a:r>
              <a:rPr lang="it-IT" sz="2400" b="1" dirty="0"/>
              <a:t>Power BI incluso per analisi avanzate</a:t>
            </a:r>
          </a:p>
          <a:p>
            <a:pPr>
              <a:buNone/>
            </a:pPr>
            <a:endParaRPr lang="it-IT" dirty="0"/>
          </a:p>
          <a:p>
            <a:pPr>
              <a:buNone/>
            </a:pPr>
            <a:r>
              <a:rPr lang="it-IT" dirty="0"/>
              <a:t>Oltre ai dashboard nativi, </a:t>
            </a:r>
            <a:r>
              <a:rPr lang="it-IT" dirty="0" err="1"/>
              <a:t>Envizi</a:t>
            </a:r>
            <a:r>
              <a:rPr lang="it-IT" dirty="0"/>
              <a:t> include una libreria di report realizzati con </a:t>
            </a:r>
            <a:r>
              <a:rPr lang="it-IT" b="1" dirty="0"/>
              <a:t>Microsoft Power BI</a:t>
            </a:r>
            <a:r>
              <a:rPr lang="it-IT" dirty="0"/>
              <a:t>, progettati da IBM per offrire analisi avanzate e una rappresentazione grafica di elevata qualità.</a:t>
            </a:r>
          </a:p>
          <a:p>
            <a:pPr>
              <a:buNone/>
            </a:pPr>
            <a:endParaRPr lang="it-IT" dirty="0"/>
          </a:p>
          <a:p>
            <a:pPr>
              <a:buNone/>
            </a:pPr>
            <a:r>
              <a:rPr lang="it-IT" b="1" dirty="0"/>
              <a:t>I principali vantaggi sono:</a:t>
            </a:r>
          </a:p>
          <a:p>
            <a:pPr>
              <a:buNone/>
            </a:pPr>
            <a:endParaRPr lang="it-IT" dirty="0"/>
          </a:p>
          <a:p>
            <a:pPr marL="342900" lvl="0" indent="-342900">
              <a:buFont typeface="Arial" panose="020B0604020202020204" pitchFamily="34" charset="0"/>
              <a:buChar char="•"/>
            </a:pPr>
            <a:r>
              <a:rPr lang="it-IT" dirty="0"/>
              <a:t>report professionali immediatamente disponibili;</a:t>
            </a:r>
          </a:p>
          <a:p>
            <a:pPr marL="342900" lvl="0" indent="-342900">
              <a:buFont typeface="Arial" panose="020B0604020202020204" pitchFamily="34" charset="0"/>
              <a:buChar char="•"/>
            </a:pPr>
            <a:r>
              <a:rPr lang="it-IT" dirty="0"/>
              <a:t>piena possibilità di personalizzazione per esigenze aziendali specifiche;</a:t>
            </a:r>
          </a:p>
          <a:p>
            <a:pPr marL="342900" lvl="0" indent="-342900">
              <a:buFont typeface="Arial" panose="020B0604020202020204" pitchFamily="34" charset="0"/>
              <a:buChar char="•"/>
            </a:pPr>
            <a:r>
              <a:rPr lang="it-IT" dirty="0"/>
              <a:t>estensione di grafici, indicatori e layout senza partire da zero;</a:t>
            </a:r>
          </a:p>
          <a:p>
            <a:pPr marL="342900" lvl="0" indent="-342900">
              <a:buFont typeface="Arial" panose="020B0604020202020204" pitchFamily="34" charset="0"/>
              <a:buChar char="•"/>
            </a:pPr>
            <a:r>
              <a:rPr lang="it-IT" dirty="0"/>
              <a:t>riduzione dei tempi e dei costi di sviluppo rispetto alla realizzazione di dashboard custom.</a:t>
            </a:r>
          </a:p>
          <a:p>
            <a:pPr>
              <a:buNone/>
            </a:pPr>
            <a:br>
              <a:rPr lang="it-IT" dirty="0"/>
            </a:br>
            <a:endParaRPr lang="it-IT" dirty="0"/>
          </a:p>
        </p:txBody>
      </p:sp>
      <p:pic>
        <p:nvPicPr>
          <p:cNvPr id="5" name="Immagine 4">
            <a:extLst>
              <a:ext uri="{FF2B5EF4-FFF2-40B4-BE49-F238E27FC236}">
                <a16:creationId xmlns:a16="http://schemas.microsoft.com/office/drawing/2014/main" id="{29A313CD-32D5-331C-4801-25C9CCCAF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6359" y="933901"/>
            <a:ext cx="5870027" cy="2897120"/>
          </a:xfrm>
          <a:prstGeom prst="rect">
            <a:avLst/>
          </a:prstGeom>
        </p:spPr>
      </p:pic>
      <p:sp>
        <p:nvSpPr>
          <p:cNvPr id="7" name="CasellaDiTesto 6">
            <a:extLst>
              <a:ext uri="{FF2B5EF4-FFF2-40B4-BE49-F238E27FC236}">
                <a16:creationId xmlns:a16="http://schemas.microsoft.com/office/drawing/2014/main" id="{39B7DA56-6BDF-92A8-7A61-27003F407DCB}"/>
              </a:ext>
            </a:extLst>
          </p:cNvPr>
          <p:cNvSpPr txBox="1"/>
          <p:nvPr/>
        </p:nvSpPr>
        <p:spPr>
          <a:xfrm>
            <a:off x="6537434" y="4280025"/>
            <a:ext cx="5538952" cy="1754326"/>
          </a:xfrm>
          <a:prstGeom prst="rect">
            <a:avLst/>
          </a:prstGeom>
          <a:noFill/>
        </p:spPr>
        <p:txBody>
          <a:bodyPr wrap="square">
            <a:spAutoFit/>
          </a:bodyPr>
          <a:lstStyle/>
          <a:p>
            <a:pPr>
              <a:buNone/>
            </a:pPr>
            <a:r>
              <a:rPr lang="it-IT" dirty="0"/>
              <a:t>IBM </a:t>
            </a:r>
            <a:r>
              <a:rPr lang="it-IT" dirty="0" err="1"/>
              <a:t>Envizi</a:t>
            </a:r>
            <a:r>
              <a:rPr lang="it-IT" dirty="0"/>
              <a:t> non fornisce solo una piattaforma per raccogliere dati ESG, ma anche un patrimonio di dashboard e report già pronti, personalizzabili e immediatamente utilizzabili, accelerando il percorso verso il reporting e la generazione di valore per il business.</a:t>
            </a:r>
          </a:p>
        </p:txBody>
      </p:sp>
    </p:spTree>
    <p:extLst>
      <p:ext uri="{BB962C8B-B14F-4D97-AF65-F5344CB8AC3E}">
        <p14:creationId xmlns:p14="http://schemas.microsoft.com/office/powerpoint/2010/main" val="3674368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D53D781E-F62C-0643-3E48-D082422AF8C9}"/>
              </a:ext>
            </a:extLst>
          </p:cNvPr>
          <p:cNvGraphicFramePr>
            <a:graphicFrameLocks noGrp="1"/>
          </p:cNvGraphicFramePr>
          <p:nvPr/>
        </p:nvGraphicFramePr>
        <p:xfrm>
          <a:off x="640080" y="1856231"/>
          <a:ext cx="10881360" cy="4581143"/>
        </p:xfrm>
        <a:graphic>
          <a:graphicData uri="http://schemas.openxmlformats.org/drawingml/2006/table">
            <a:tbl>
              <a:tblPr>
                <a:tableStyleId>{5C22544A-7EE6-4342-B048-85BDC9FD1C3A}</a:tableStyleId>
              </a:tblPr>
              <a:tblGrid>
                <a:gridCol w="3108960">
                  <a:extLst>
                    <a:ext uri="{9D8B030D-6E8A-4147-A177-3AD203B41FA5}">
                      <a16:colId xmlns:a16="http://schemas.microsoft.com/office/drawing/2014/main" val="1848983590"/>
                    </a:ext>
                  </a:extLst>
                </a:gridCol>
                <a:gridCol w="7772400">
                  <a:extLst>
                    <a:ext uri="{9D8B030D-6E8A-4147-A177-3AD203B41FA5}">
                      <a16:colId xmlns:a16="http://schemas.microsoft.com/office/drawing/2014/main" val="2464511806"/>
                    </a:ext>
                  </a:extLst>
                </a:gridCol>
              </a:tblGrid>
              <a:tr h="393192">
                <a:tc>
                  <a:txBody>
                    <a:bodyPr/>
                    <a:lstStyle/>
                    <a:p>
                      <a:pPr algn="l">
                        <a:lnSpc>
                          <a:spcPct val="100000"/>
                        </a:lnSpc>
                        <a:spcBef>
                          <a:spcPts val="0"/>
                        </a:spcBef>
                        <a:spcAft>
                          <a:spcPts val="0"/>
                        </a:spcAft>
                        <a:buNone/>
                      </a:pPr>
                      <a:r>
                        <a:rPr lang="it-IT" sz="1400" b="1">
                          <a:solidFill>
                            <a:srgbClr val="FFFFFF"/>
                          </a:solidFill>
                          <a:effectLst/>
                          <a:latin typeface="Calibri"/>
                        </a:rPr>
                        <a:t>Dashboard / Report</a:t>
                      </a:r>
                    </a:p>
                  </a:txBody>
                  <a:tcPr marL="137160" marR="128016" marT="22860" marB="22860" anchor="ctr">
                    <a:lnL w="6350">
                      <a:solidFill>
                        <a:srgbClr val="FFFFFF"/>
                      </a:solidFill>
                    </a:lnL>
                    <a:lnR w="6350">
                      <a:solidFill>
                        <a:srgbClr val="FFFFFF"/>
                      </a:solidFill>
                    </a:lnR>
                    <a:lnT w="6350">
                      <a:solidFill>
                        <a:srgbClr val="FFFFFF"/>
                      </a:solidFill>
                    </a:lnT>
                    <a:lnB w="6350">
                      <a:solidFill>
                        <a:srgbClr val="FFFFFF"/>
                      </a:solidFill>
                    </a:lnB>
                    <a:solidFill>
                      <a:srgbClr val="14433A"/>
                    </a:solidFill>
                  </a:tcPr>
                </a:tc>
                <a:tc>
                  <a:txBody>
                    <a:bodyPr/>
                    <a:lstStyle/>
                    <a:p>
                      <a:pPr algn="l">
                        <a:lnSpc>
                          <a:spcPct val="100000"/>
                        </a:lnSpc>
                        <a:spcBef>
                          <a:spcPts val="0"/>
                        </a:spcBef>
                        <a:spcAft>
                          <a:spcPts val="0"/>
                        </a:spcAft>
                        <a:buNone/>
                      </a:pPr>
                      <a:r>
                        <a:rPr lang="it-IT" sz="1400" b="1">
                          <a:solidFill>
                            <a:srgbClr val="FFFFFF"/>
                          </a:solidFill>
                          <a:effectLst/>
                          <a:latin typeface="Calibri"/>
                        </a:rPr>
                        <a:t>Valore per il business</a:t>
                      </a:r>
                    </a:p>
                  </a:txBody>
                  <a:tcPr marL="164592" marR="128016" marT="22860" marB="22860" anchor="ctr">
                    <a:lnL w="6350">
                      <a:solidFill>
                        <a:srgbClr val="FFFFFF"/>
                      </a:solidFill>
                    </a:lnL>
                    <a:lnR w="6350">
                      <a:solidFill>
                        <a:srgbClr val="FFFFFF"/>
                      </a:solidFill>
                    </a:lnR>
                    <a:lnT w="6350">
                      <a:solidFill>
                        <a:srgbClr val="FFFFFF"/>
                      </a:solidFill>
                    </a:lnT>
                    <a:lnB w="6350">
                      <a:solidFill>
                        <a:srgbClr val="FFFFFF"/>
                      </a:solidFill>
                    </a:lnB>
                    <a:solidFill>
                      <a:srgbClr val="14433A"/>
                    </a:solidFill>
                  </a:tcPr>
                </a:tc>
                <a:extLst>
                  <a:ext uri="{0D108BD9-81ED-4DB2-BD59-A6C34878D82A}">
                    <a16:rowId xmlns:a16="http://schemas.microsoft.com/office/drawing/2014/main" val="1770475871"/>
                  </a:ext>
                </a:extLst>
              </a:tr>
              <a:tr h="521207">
                <a:tc>
                  <a:txBody>
                    <a:bodyPr/>
                    <a:lstStyle/>
                    <a:p>
                      <a:pPr algn="l">
                        <a:lnSpc>
                          <a:spcPct val="100000"/>
                        </a:lnSpc>
                        <a:spcBef>
                          <a:spcPts val="0"/>
                        </a:spcBef>
                        <a:spcAft>
                          <a:spcPts val="0"/>
                        </a:spcAft>
                        <a:buNone/>
                      </a:pPr>
                      <a:r>
                        <a:rPr lang="it-IT" sz="1350" b="1">
                          <a:solidFill>
                            <a:srgbClr val="14433A"/>
                          </a:solidFill>
                          <a:effectLst/>
                          <a:latin typeface="Calibri"/>
                        </a:rPr>
                        <a:t>Sustainability Executive Report (Power BI)</a:t>
                      </a:r>
                    </a:p>
                  </a:txBody>
                  <a:tcPr marL="137160" marR="128016" marT="22860" marB="22860" anchor="ctr">
                    <a:lnL w="6350">
                      <a:solidFill>
                        <a:srgbClr val="FFFFFF"/>
                      </a:solidFill>
                    </a:lnL>
                    <a:lnR w="6350">
                      <a:solidFill>
                        <a:srgbClr val="FFFFFF"/>
                      </a:solidFill>
                    </a:lnR>
                    <a:lnT w="6350">
                      <a:solidFill>
                        <a:srgbClr val="FFFFFF"/>
                      </a:solidFill>
                    </a:lnT>
                    <a:lnB w="6350">
                      <a:solidFill>
                        <a:srgbClr val="D5E2D8"/>
                      </a:solidFill>
                    </a:lnB>
                    <a:solidFill>
                      <a:srgbClr val="E8F1EA"/>
                    </a:solidFill>
                  </a:tcPr>
                </a:tc>
                <a:tc>
                  <a:txBody>
                    <a:bodyPr/>
                    <a:lstStyle/>
                    <a:p>
                      <a:pPr algn="l">
                        <a:lnSpc>
                          <a:spcPct val="100000"/>
                        </a:lnSpc>
                        <a:spcBef>
                          <a:spcPts val="0"/>
                        </a:spcBef>
                        <a:spcAft>
                          <a:spcPts val="0"/>
                        </a:spcAft>
                        <a:buNone/>
                      </a:pPr>
                      <a:r>
                        <a:rPr lang="it-IT" sz="1250" b="0">
                          <a:solidFill>
                            <a:srgbClr val="40524B"/>
                          </a:solidFill>
                          <a:effectLst/>
                          <a:latin typeface="Calibri"/>
                        </a:rPr>
                        <a:t>Produce report direzionali di elevata qualità grafica, ideali per management, board e stakeholder, con possibilità di personalizzazione e distribuzione periodica.</a:t>
                      </a:r>
                    </a:p>
                  </a:txBody>
                  <a:tcPr marL="164592" marR="128016" marT="22860" marB="22860" anchor="ctr">
                    <a:lnL w="6350">
                      <a:solidFill>
                        <a:srgbClr val="FFFFFF"/>
                      </a:solidFill>
                    </a:lnL>
                    <a:lnR w="6350">
                      <a:solidFill>
                        <a:srgbClr val="FFFFFF"/>
                      </a:solidFill>
                    </a:lnR>
                    <a:lnT w="6350">
                      <a:solidFill>
                        <a:srgbClr val="FFFFFF"/>
                      </a:solidFill>
                    </a:lnT>
                    <a:lnB w="6350">
                      <a:solidFill>
                        <a:srgbClr val="D5E2D8"/>
                      </a:solidFill>
                    </a:lnB>
                    <a:solidFill>
                      <a:srgbClr val="F6F9F6"/>
                    </a:solidFill>
                  </a:tcPr>
                </a:tc>
                <a:extLst>
                  <a:ext uri="{0D108BD9-81ED-4DB2-BD59-A6C34878D82A}">
                    <a16:rowId xmlns:a16="http://schemas.microsoft.com/office/drawing/2014/main" val="1329278826"/>
                  </a:ext>
                </a:extLst>
              </a:tr>
              <a:tr h="484632">
                <a:tc>
                  <a:txBody>
                    <a:bodyPr/>
                    <a:lstStyle/>
                    <a:p>
                      <a:pPr algn="l">
                        <a:lnSpc>
                          <a:spcPct val="100000"/>
                        </a:lnSpc>
                        <a:spcBef>
                          <a:spcPts val="0"/>
                        </a:spcBef>
                        <a:spcAft>
                          <a:spcPts val="0"/>
                        </a:spcAft>
                        <a:buNone/>
                      </a:pPr>
                      <a:r>
                        <a:rPr lang="it-IT" sz="1350" b="1">
                          <a:solidFill>
                            <a:srgbClr val="14433A"/>
                          </a:solidFill>
                          <a:effectLst/>
                          <a:latin typeface="Calibri"/>
                        </a:rPr>
                        <a:t>Accoount Data Health Check</a:t>
                      </a:r>
                    </a:p>
                  </a:txBody>
                  <a:tcPr marL="137160"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E8F1EA"/>
                    </a:solidFill>
                  </a:tcPr>
                </a:tc>
                <a:tc>
                  <a:txBody>
                    <a:bodyPr/>
                    <a:lstStyle/>
                    <a:p>
                      <a:pPr algn="l">
                        <a:lnSpc>
                          <a:spcPct val="100000"/>
                        </a:lnSpc>
                        <a:spcBef>
                          <a:spcPts val="0"/>
                        </a:spcBef>
                        <a:spcAft>
                          <a:spcPts val="0"/>
                        </a:spcAft>
                        <a:buNone/>
                      </a:pPr>
                      <a:r>
                        <a:rPr lang="it-IT" sz="1250" b="0">
                          <a:solidFill>
                            <a:srgbClr val="40524B"/>
                          </a:solidFill>
                          <a:effectLst/>
                          <a:latin typeface="Calibri"/>
                        </a:rPr>
                        <a:t>Misura qualità, completezza e affidabilità dei dati, individuando anomalie, dati mancanti e problemi che potrebbero compromettere il reporting ESG.</a:t>
                      </a:r>
                    </a:p>
                  </a:txBody>
                  <a:tcPr marL="164592"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FFFFFF"/>
                    </a:solidFill>
                  </a:tcPr>
                </a:tc>
                <a:extLst>
                  <a:ext uri="{0D108BD9-81ED-4DB2-BD59-A6C34878D82A}">
                    <a16:rowId xmlns:a16="http://schemas.microsoft.com/office/drawing/2014/main" val="2409658301"/>
                  </a:ext>
                </a:extLst>
              </a:tr>
              <a:tr h="484632">
                <a:tc>
                  <a:txBody>
                    <a:bodyPr/>
                    <a:lstStyle/>
                    <a:p>
                      <a:pPr algn="l">
                        <a:lnSpc>
                          <a:spcPct val="100000"/>
                        </a:lnSpc>
                        <a:spcBef>
                          <a:spcPts val="0"/>
                        </a:spcBef>
                        <a:spcAft>
                          <a:spcPts val="0"/>
                        </a:spcAft>
                        <a:buNone/>
                      </a:pPr>
                      <a:r>
                        <a:rPr lang="it-IT" sz="1350" b="1">
                          <a:solidFill>
                            <a:srgbClr val="14433A"/>
                          </a:solidFill>
                          <a:effectLst/>
                          <a:latin typeface="Calibri"/>
                        </a:rPr>
                        <a:t>Performance by Group</a:t>
                      </a:r>
                    </a:p>
                  </a:txBody>
                  <a:tcPr marL="137160"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E8F1EA"/>
                    </a:solidFill>
                  </a:tcPr>
                </a:tc>
                <a:tc>
                  <a:txBody>
                    <a:bodyPr/>
                    <a:lstStyle/>
                    <a:p>
                      <a:pPr algn="l">
                        <a:lnSpc>
                          <a:spcPct val="100000"/>
                        </a:lnSpc>
                        <a:spcBef>
                          <a:spcPts val="0"/>
                        </a:spcBef>
                        <a:spcAft>
                          <a:spcPts val="0"/>
                        </a:spcAft>
                        <a:buNone/>
                      </a:pPr>
                      <a:r>
                        <a:rPr lang="it-IT" sz="1250" b="0">
                          <a:solidFill>
                            <a:srgbClr val="40524B"/>
                          </a:solidFill>
                          <a:effectLst/>
                          <a:latin typeface="Calibri"/>
                        </a:rPr>
                        <a:t>Confronta le performance delle diverse sedi in grupi, facilitando l’individuazione delle migliori pratiche e delle aree con maggior potenziale di miglioramento.</a:t>
                      </a:r>
                    </a:p>
                  </a:txBody>
                  <a:tcPr marL="164592"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F6F9F6"/>
                    </a:solidFill>
                  </a:tcPr>
                </a:tc>
                <a:extLst>
                  <a:ext uri="{0D108BD9-81ED-4DB2-BD59-A6C34878D82A}">
                    <a16:rowId xmlns:a16="http://schemas.microsoft.com/office/drawing/2014/main" val="1840225270"/>
                  </a:ext>
                </a:extLst>
              </a:tr>
              <a:tr h="484632">
                <a:tc>
                  <a:txBody>
                    <a:bodyPr/>
                    <a:lstStyle/>
                    <a:p>
                      <a:pPr algn="l">
                        <a:lnSpc>
                          <a:spcPct val="100000"/>
                        </a:lnSpc>
                        <a:spcBef>
                          <a:spcPts val="0"/>
                        </a:spcBef>
                        <a:spcAft>
                          <a:spcPts val="0"/>
                        </a:spcAft>
                        <a:buNone/>
                      </a:pPr>
                      <a:r>
                        <a:rPr lang="it-IT" sz="1350" b="1">
                          <a:solidFill>
                            <a:srgbClr val="14433A"/>
                          </a:solidFill>
                          <a:effectLst/>
                          <a:latin typeface="Calibri"/>
                        </a:rPr>
                        <a:t>Performance by Data Type</a:t>
                      </a:r>
                    </a:p>
                  </a:txBody>
                  <a:tcPr marL="137160"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E8F1EA"/>
                    </a:solidFill>
                  </a:tcPr>
                </a:tc>
                <a:tc>
                  <a:txBody>
                    <a:bodyPr/>
                    <a:lstStyle/>
                    <a:p>
                      <a:pPr algn="l">
                        <a:lnSpc>
                          <a:spcPct val="100000"/>
                        </a:lnSpc>
                        <a:spcBef>
                          <a:spcPts val="0"/>
                        </a:spcBef>
                        <a:spcAft>
                          <a:spcPts val="0"/>
                        </a:spcAft>
                        <a:buNone/>
                      </a:pPr>
                      <a:r>
                        <a:rPr lang="it-IT" sz="1250" b="0">
                          <a:solidFill>
                            <a:srgbClr val="40524B"/>
                          </a:solidFill>
                          <a:effectLst/>
                          <a:latin typeface="Calibri"/>
                        </a:rPr>
                        <a:t>Analizza consumi, emissioni e altri indicatori per tipologia di dato, consentendo di comprendere quali fattori incidono maggiormente sulle performance ambientali.</a:t>
                      </a:r>
                    </a:p>
                  </a:txBody>
                  <a:tcPr marL="164592"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FFFFFF"/>
                    </a:solidFill>
                  </a:tcPr>
                </a:tc>
                <a:extLst>
                  <a:ext uri="{0D108BD9-81ED-4DB2-BD59-A6C34878D82A}">
                    <a16:rowId xmlns:a16="http://schemas.microsoft.com/office/drawing/2014/main" val="802341472"/>
                  </a:ext>
                </a:extLst>
              </a:tr>
              <a:tr h="484632">
                <a:tc>
                  <a:txBody>
                    <a:bodyPr/>
                    <a:lstStyle/>
                    <a:p>
                      <a:pPr algn="l">
                        <a:lnSpc>
                          <a:spcPct val="100000"/>
                        </a:lnSpc>
                        <a:spcBef>
                          <a:spcPts val="0"/>
                        </a:spcBef>
                        <a:spcAft>
                          <a:spcPts val="0"/>
                        </a:spcAft>
                        <a:buNone/>
                      </a:pPr>
                      <a:r>
                        <a:rPr lang="it-IT" sz="1350" b="1">
                          <a:solidFill>
                            <a:srgbClr val="14433A"/>
                          </a:solidFill>
                          <a:effectLst/>
                          <a:latin typeface="Calibri"/>
                        </a:rPr>
                        <a:t>Monthly Data Summary</a:t>
                      </a:r>
                    </a:p>
                  </a:txBody>
                  <a:tcPr marL="137160"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E8F1EA"/>
                    </a:solidFill>
                  </a:tcPr>
                </a:tc>
                <a:tc>
                  <a:txBody>
                    <a:bodyPr/>
                    <a:lstStyle/>
                    <a:p>
                      <a:pPr algn="l">
                        <a:lnSpc>
                          <a:spcPct val="100000"/>
                        </a:lnSpc>
                        <a:spcBef>
                          <a:spcPts val="0"/>
                        </a:spcBef>
                        <a:spcAft>
                          <a:spcPts val="0"/>
                        </a:spcAft>
                        <a:buNone/>
                      </a:pPr>
                      <a:r>
                        <a:rPr lang="it-IT" sz="1250" b="0">
                          <a:solidFill>
                            <a:srgbClr val="40524B"/>
                          </a:solidFill>
                          <a:effectLst/>
                          <a:latin typeface="Calibri"/>
                        </a:rPr>
                        <a:t>Offre una vista mensile dell’evoluzione dei dati raccolti, utile per monitorare l’andamento operativo e verificare la tempestività della raccolta dati.</a:t>
                      </a:r>
                    </a:p>
                  </a:txBody>
                  <a:tcPr marL="164592"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F6F9F6"/>
                    </a:solidFill>
                  </a:tcPr>
                </a:tc>
                <a:extLst>
                  <a:ext uri="{0D108BD9-81ED-4DB2-BD59-A6C34878D82A}">
                    <a16:rowId xmlns:a16="http://schemas.microsoft.com/office/drawing/2014/main" val="3446560852"/>
                  </a:ext>
                </a:extLst>
              </a:tr>
              <a:tr h="539496">
                <a:tc>
                  <a:txBody>
                    <a:bodyPr/>
                    <a:lstStyle/>
                    <a:p>
                      <a:pPr algn="l">
                        <a:lnSpc>
                          <a:spcPct val="100000"/>
                        </a:lnSpc>
                        <a:spcBef>
                          <a:spcPts val="0"/>
                        </a:spcBef>
                        <a:spcAft>
                          <a:spcPts val="0"/>
                        </a:spcAft>
                        <a:buNone/>
                      </a:pPr>
                      <a:r>
                        <a:rPr lang="it-IT" sz="1350" b="1">
                          <a:solidFill>
                            <a:srgbClr val="14433A"/>
                          </a:solidFill>
                          <a:effectLst/>
                          <a:latin typeface="Calibri"/>
                        </a:rPr>
                        <a:t>Market-based Emissions</a:t>
                      </a:r>
                      <a:endParaRPr lang="it-IT" sz="1200" b="1">
                        <a:solidFill>
                          <a:srgbClr val="14433A"/>
                        </a:solidFill>
                        <a:effectLst/>
                        <a:latin typeface="Calibri"/>
                      </a:endParaRPr>
                    </a:p>
                  </a:txBody>
                  <a:tcPr marL="137160"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E8F1EA"/>
                    </a:solidFill>
                  </a:tcPr>
                </a:tc>
                <a:tc>
                  <a:txBody>
                    <a:bodyPr/>
                    <a:lstStyle/>
                    <a:p>
                      <a:pPr algn="l">
                        <a:lnSpc>
                          <a:spcPct val="100000"/>
                        </a:lnSpc>
                        <a:spcBef>
                          <a:spcPts val="0"/>
                        </a:spcBef>
                        <a:spcAft>
                          <a:spcPts val="0"/>
                        </a:spcAft>
                        <a:buNone/>
                      </a:pPr>
                      <a:r>
                        <a:rPr lang="it-IT" sz="1250" b="0">
                          <a:solidFill>
                            <a:srgbClr val="40524B"/>
                          </a:solidFill>
                          <a:effectLst/>
                          <a:latin typeface="Calibri"/>
                        </a:rPr>
                        <a:t>Confronta le emissioni Scope 2 secondo gli approcci Location-Based e Market-Based, supportando la valutazione dell’impatto di Garanzie di Origine (GO), PPA ed energia rinnovabile acquistata.</a:t>
                      </a:r>
                    </a:p>
                  </a:txBody>
                  <a:tcPr marL="164592"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FFFFFF"/>
                    </a:solidFill>
                  </a:tcPr>
                </a:tc>
                <a:extLst>
                  <a:ext uri="{0D108BD9-81ED-4DB2-BD59-A6C34878D82A}">
                    <a16:rowId xmlns:a16="http://schemas.microsoft.com/office/drawing/2014/main" val="1443152307"/>
                  </a:ext>
                </a:extLst>
              </a:tr>
              <a:tr h="566928">
                <a:tc>
                  <a:txBody>
                    <a:bodyPr/>
                    <a:lstStyle/>
                    <a:p>
                      <a:pPr algn="l">
                        <a:lnSpc>
                          <a:spcPct val="100000"/>
                        </a:lnSpc>
                        <a:spcBef>
                          <a:spcPts val="0"/>
                        </a:spcBef>
                        <a:spcAft>
                          <a:spcPts val="0"/>
                        </a:spcAft>
                        <a:buNone/>
                      </a:pPr>
                      <a:r>
                        <a:rPr lang="it-IT" sz="1350" b="1">
                          <a:solidFill>
                            <a:srgbClr val="14433A"/>
                          </a:solidFill>
                          <a:effectLst/>
                          <a:latin typeface="Calibri"/>
                        </a:rPr>
                        <a:t>Performance by Scope</a:t>
                      </a:r>
                    </a:p>
                  </a:txBody>
                  <a:tcPr marL="137160"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E8F1EA"/>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it-IT" sz="1250" b="0">
                          <a:solidFill>
                            <a:srgbClr val="40524B"/>
                          </a:solidFill>
                          <a:latin typeface="Calibri"/>
                        </a:rPr>
                        <a:t>Consente di comprendere la distribuzione delle emissioni tra Scope 1, Scope 2 e Scope 3, facilitando l’individuazione delle principali fonti emissive e la definizione delle priorità di decarbonizzazione.</a:t>
                      </a:r>
                    </a:p>
                  </a:txBody>
                  <a:tcPr marL="164592"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F6F9F6"/>
                    </a:solidFill>
                  </a:tcPr>
                </a:tc>
                <a:extLst>
                  <a:ext uri="{0D108BD9-81ED-4DB2-BD59-A6C34878D82A}">
                    <a16:rowId xmlns:a16="http://schemas.microsoft.com/office/drawing/2014/main" val="1314454384"/>
                  </a:ext>
                </a:extLst>
              </a:tr>
              <a:tr h="621792">
                <a:tc>
                  <a:txBody>
                    <a:bodyPr/>
                    <a:lstStyle/>
                    <a:p>
                      <a:pPr algn="l">
                        <a:lnSpc>
                          <a:spcPct val="100000"/>
                        </a:lnSpc>
                        <a:spcBef>
                          <a:spcPts val="0"/>
                        </a:spcBef>
                        <a:spcAft>
                          <a:spcPts val="0"/>
                        </a:spcAft>
                        <a:buNone/>
                      </a:pPr>
                      <a:r>
                        <a:rPr lang="it-IT" sz="1350" b="1">
                          <a:solidFill>
                            <a:srgbClr val="14433A"/>
                          </a:solidFill>
                          <a:effectLst/>
                          <a:latin typeface="Calibri"/>
                        </a:rPr>
                        <a:t>GHG Inventory Report (Power BI)</a:t>
                      </a:r>
                    </a:p>
                  </a:txBody>
                  <a:tcPr marL="137160"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E8F1EA"/>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it-IT" sz="1250" b="0">
                          <a:solidFill>
                            <a:srgbClr val="40524B"/>
                          </a:solidFill>
                          <a:latin typeface="Calibri"/>
                        </a:rPr>
                        <a:t>Mette a disposizione un inventario delle emissioni pronto per il reporting, con analisi dettagliate e consolidate conformi al GHG Protocol, riducendo il tempo necessario per predisporre report, audit e Bilancio di Sostenibilità.</a:t>
                      </a:r>
                    </a:p>
                  </a:txBody>
                  <a:tcPr marL="164592" marR="128016" marT="22860" marB="22860" anchor="ctr">
                    <a:lnL w="6350">
                      <a:solidFill>
                        <a:srgbClr val="FFFFFF"/>
                      </a:solidFill>
                    </a:lnL>
                    <a:lnR w="6350">
                      <a:solidFill>
                        <a:srgbClr val="FFFFFF"/>
                      </a:solidFill>
                    </a:lnR>
                    <a:lnT w="6350" cap="flat" cmpd="sng" algn="ctr">
                      <a:solidFill>
                        <a:srgbClr val="D5E2D8"/>
                      </a:solidFill>
                      <a:prstDash val="solid"/>
                      <a:round/>
                      <a:headEnd type="none" w="med" len="med"/>
                      <a:tailEnd type="none" w="med" len="med"/>
                    </a:lnT>
                    <a:lnB w="6350">
                      <a:solidFill>
                        <a:srgbClr val="D5E2D8"/>
                      </a:solidFill>
                    </a:lnB>
                    <a:solidFill>
                      <a:srgbClr val="FFFFFF"/>
                    </a:solidFill>
                  </a:tcPr>
                </a:tc>
                <a:extLst>
                  <a:ext uri="{0D108BD9-81ED-4DB2-BD59-A6C34878D82A}">
                    <a16:rowId xmlns:a16="http://schemas.microsoft.com/office/drawing/2014/main" val="2058025758"/>
                  </a:ext>
                </a:extLst>
              </a:tr>
            </a:tbl>
          </a:graphicData>
        </a:graphic>
      </p:graphicFrame>
      <p:sp>
        <p:nvSpPr>
          <p:cNvPr id="6" name="CasellaDiTesto 5">
            <a:extLst>
              <a:ext uri="{FF2B5EF4-FFF2-40B4-BE49-F238E27FC236}">
                <a16:creationId xmlns:a16="http://schemas.microsoft.com/office/drawing/2014/main" id="{DAB72D67-BD41-C9B1-4FDD-BFE399E7510C}"/>
              </a:ext>
            </a:extLst>
          </p:cNvPr>
          <p:cNvSpPr txBox="1"/>
          <p:nvPr/>
        </p:nvSpPr>
        <p:spPr>
          <a:xfrm>
            <a:off x="640080" y="1069848"/>
            <a:ext cx="10881360" cy="569900"/>
          </a:xfrm>
          <a:prstGeom prst="rect">
            <a:avLst/>
          </a:prstGeom>
          <a:noFill/>
        </p:spPr>
        <p:txBody>
          <a:bodyPr wrap="square" lIns="0" tIns="0" rIns="0" bIns="0">
            <a:spAutoFit/>
          </a:bodyPr>
          <a:lstStyle/>
          <a:p>
            <a:pPr>
              <a:lnSpc>
                <a:spcPct val="105000"/>
              </a:lnSpc>
              <a:spcBef>
                <a:spcPts val="0"/>
              </a:spcBef>
              <a:spcAft>
                <a:spcPts val="0"/>
              </a:spcAft>
            </a:pPr>
            <a:r>
              <a:rPr lang="it-IT" sz="1800" b="0" dirty="0">
                <a:solidFill>
                  <a:srgbClr val="5B6B70"/>
                </a:solidFill>
                <a:latin typeface="Calibri"/>
              </a:rPr>
              <a:t>Analisi di valore già pronte, senza sviluppare dashboard da zero: tempi di implementazione, costi e rischi ridotti, con la possibilità di personalizzazione tramite Power BI. Ricerca report, inserire nomi da tabella.</a:t>
            </a:r>
          </a:p>
        </p:txBody>
      </p:sp>
      <p:sp>
        <p:nvSpPr>
          <p:cNvPr id="7"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8" name="TextBox 1"/>
          <p:cNvSpPr txBox="1"/>
          <p:nvPr/>
        </p:nvSpPr>
        <p:spPr>
          <a:xfrm>
            <a:off x="640080" y="457200"/>
            <a:ext cx="10881360" cy="502920"/>
          </a:xfrm>
          <a:prstGeom prst="rect">
            <a:avLst/>
          </a:prstGeom>
          <a:noFill/>
        </p:spPr>
        <p:txBody>
          <a:bodyPr wrap="square" lIns="0" tIns="0" rIns="0" bIns="0" anchor="t">
            <a:spAutoFit/>
          </a:bodyPr>
          <a:lstStyle/>
          <a:p>
            <a:pPr>
              <a:lnSpc>
                <a:spcPct val="105000"/>
              </a:lnSpc>
              <a:spcBef>
                <a:spcPts val="0"/>
              </a:spcBef>
              <a:spcAft>
                <a:spcPts val="0"/>
              </a:spcAft>
            </a:pPr>
            <a:r>
              <a:rPr sz="2600" b="1">
                <a:solidFill>
                  <a:srgbClr val="073E31"/>
                </a:solidFill>
                <a:latin typeface="Calibri"/>
              </a:rPr>
              <a:t>Dashboard e report: valore per il business</a:t>
            </a:r>
          </a:p>
        </p:txBody>
      </p:sp>
      <p:sp>
        <p:nvSpPr>
          <p:cNvPr id="2" name="TextBox 1"/>
          <p:cNvSpPr txBox="1"/>
          <p:nvPr/>
        </p:nvSpPr>
        <p:spPr>
          <a:xfrm>
            <a:off x="640080" y="457200"/>
            <a:ext cx="10881360" cy="502920"/>
          </a:xfrm>
          <a:prstGeom prst="rect">
            <a:avLst/>
          </a:prstGeom>
          <a:noFill/>
        </p:spPr>
        <p:txBody>
          <a:bodyPr wrap="square" lIns="0" tIns="0" rIns="0" bIns="0" anchor="t">
            <a:spAutoFit/>
          </a:bodyPr>
          <a:lstStyle/>
          <a:p>
            <a:pPr>
              <a:lnSpc>
                <a:spcPct val="105000"/>
              </a:lnSpc>
              <a:spcBef>
                <a:spcPts val="0"/>
              </a:spcBef>
              <a:spcAft>
                <a:spcPts val="0"/>
              </a:spcAft>
            </a:pPr>
            <a:r>
              <a:rPr sz="2600" b="1">
                <a:solidFill>
                  <a:srgbClr val="073E31"/>
                </a:solidFill>
                <a:latin typeface="Calibri"/>
              </a:rPr>
              <a:t>Dashboard e report: valore per il business</a:t>
            </a:r>
          </a:p>
        </p:txBody>
      </p:sp>
    </p:spTree>
    <p:extLst>
      <p:ext uri="{BB962C8B-B14F-4D97-AF65-F5344CB8AC3E}">
        <p14:creationId xmlns:p14="http://schemas.microsoft.com/office/powerpoint/2010/main" val="1647314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F3E8BF91-2352-F6B6-3266-89384570EE1E}"/>
              </a:ext>
            </a:extLst>
          </p:cNvPr>
          <p:cNvSpPr txBox="1"/>
          <p:nvPr/>
        </p:nvSpPr>
        <p:spPr>
          <a:xfrm>
            <a:off x="429491" y="308045"/>
            <a:ext cx="10640290" cy="461665"/>
          </a:xfrm>
          <a:prstGeom prst="rect">
            <a:avLst/>
          </a:prstGeom>
          <a:noFill/>
        </p:spPr>
        <p:txBody>
          <a:bodyPr wrap="square">
            <a:spAutoFit/>
          </a:bodyPr>
          <a:lstStyle/>
          <a:p>
            <a:pPr>
              <a:buNone/>
            </a:pPr>
            <a:r>
              <a:rPr lang="it-IT" sz="2400" b="1" dirty="0"/>
              <a:t>Personalizzazione con Microsoft Power BI</a:t>
            </a:r>
          </a:p>
        </p:txBody>
      </p:sp>
      <p:sp>
        <p:nvSpPr>
          <p:cNvPr id="5" name="CasellaDiTesto 4">
            <a:extLst>
              <a:ext uri="{FF2B5EF4-FFF2-40B4-BE49-F238E27FC236}">
                <a16:creationId xmlns:a16="http://schemas.microsoft.com/office/drawing/2014/main" id="{716DD1BA-1BD1-3194-D4EA-079C46659CEE}"/>
              </a:ext>
            </a:extLst>
          </p:cNvPr>
          <p:cNvSpPr txBox="1"/>
          <p:nvPr/>
        </p:nvSpPr>
        <p:spPr>
          <a:xfrm>
            <a:off x="429491" y="920621"/>
            <a:ext cx="6096000" cy="5262979"/>
          </a:xfrm>
          <a:prstGeom prst="rect">
            <a:avLst/>
          </a:prstGeom>
          <a:noFill/>
        </p:spPr>
        <p:txBody>
          <a:bodyPr wrap="square">
            <a:spAutoFit/>
          </a:bodyPr>
          <a:lstStyle/>
          <a:p>
            <a:pPr>
              <a:buNone/>
            </a:pPr>
            <a:r>
              <a:rPr lang="it-IT" sz="1600" dirty="0"/>
              <a:t>I report Power BI forniti con IBM </a:t>
            </a:r>
            <a:r>
              <a:rPr lang="it-IT" sz="1600" dirty="0" err="1"/>
              <a:t>Envizi</a:t>
            </a:r>
            <a:r>
              <a:rPr lang="it-IT" sz="1600" dirty="0"/>
              <a:t> rappresentano una base di partenza completa e possono essere estesi e personalizzati per soddisfare le specifiche esigenze dell’organizzazione.</a:t>
            </a:r>
          </a:p>
          <a:p>
            <a:pPr>
              <a:buNone/>
            </a:pPr>
            <a:endParaRPr lang="it-IT" sz="1600" dirty="0"/>
          </a:p>
          <a:p>
            <a:pPr>
              <a:buNone/>
            </a:pPr>
            <a:r>
              <a:rPr lang="it-IT" sz="1600" b="1" dirty="0"/>
              <a:t>Le possibilità di personalizzazione includono:</a:t>
            </a:r>
          </a:p>
          <a:p>
            <a:pPr>
              <a:buNone/>
            </a:pPr>
            <a:endParaRPr lang="it-IT" sz="1600" dirty="0"/>
          </a:p>
          <a:p>
            <a:pPr marL="342900" lvl="0" indent="-342900">
              <a:buFont typeface="Arial" panose="020B0604020202020204" pitchFamily="34" charset="0"/>
              <a:buChar char="•"/>
            </a:pPr>
            <a:r>
              <a:rPr lang="it-IT" sz="1600" dirty="0"/>
              <a:t>adattamento del layout e della grafica secondo gli standard aziendali;</a:t>
            </a:r>
          </a:p>
          <a:p>
            <a:pPr marL="342900" lvl="0" indent="-342900">
              <a:buFont typeface="Arial" panose="020B0604020202020204" pitchFamily="34" charset="0"/>
              <a:buChar char="•"/>
            </a:pPr>
            <a:r>
              <a:rPr lang="it-IT" sz="1600" dirty="0"/>
              <a:t>creazione di nuovi KPI, indicatori e misure personalizzate;</a:t>
            </a:r>
          </a:p>
          <a:p>
            <a:pPr marL="342900" lvl="0" indent="-342900">
              <a:buFont typeface="Arial" panose="020B0604020202020204" pitchFamily="34" charset="0"/>
              <a:buChar char="•"/>
            </a:pPr>
            <a:r>
              <a:rPr lang="it-IT" sz="1600" dirty="0"/>
              <a:t>aggiunta di filtri, drill-down e viste dedicate a specifici utenti o funzioni;</a:t>
            </a:r>
          </a:p>
          <a:p>
            <a:pPr marL="342900" lvl="0" indent="-342900">
              <a:buFont typeface="Arial" panose="020B0604020202020204" pitchFamily="34" charset="0"/>
              <a:buChar char="•"/>
            </a:pPr>
            <a:r>
              <a:rPr lang="it-IT" sz="1600" dirty="0"/>
              <a:t>integrazione di dati provenienti da </a:t>
            </a:r>
            <a:r>
              <a:rPr lang="it-IT" sz="1600" dirty="0" err="1"/>
              <a:t>Envizi</a:t>
            </a:r>
            <a:r>
              <a:rPr lang="it-IT" sz="1600" dirty="0"/>
              <a:t> con altre fonti aziendali (ad esempio ERP, sistemi finanziari o gestionali);</a:t>
            </a:r>
          </a:p>
          <a:p>
            <a:pPr marL="342900" lvl="0" indent="-342900">
              <a:buFont typeface="Arial" panose="020B0604020202020204" pitchFamily="34" charset="0"/>
              <a:buChar char="•"/>
            </a:pPr>
            <a:r>
              <a:rPr lang="it-IT" sz="1600" dirty="0"/>
              <a:t>realizzazione di dashboard specifiche per management, </a:t>
            </a:r>
            <a:r>
              <a:rPr lang="it-IT" sz="1600" dirty="0" err="1"/>
              <a:t>operation</a:t>
            </a:r>
            <a:r>
              <a:rPr lang="it-IT" sz="1600" dirty="0"/>
              <a:t>, </a:t>
            </a:r>
            <a:r>
              <a:rPr lang="it-IT" sz="1600" dirty="0" err="1"/>
              <a:t>sustainability</a:t>
            </a:r>
            <a:r>
              <a:rPr lang="it-IT" sz="1600" dirty="0"/>
              <a:t>, </a:t>
            </a:r>
            <a:r>
              <a:rPr lang="it-IT" sz="1600" dirty="0" err="1"/>
              <a:t>finance</a:t>
            </a:r>
            <a:r>
              <a:rPr lang="it-IT" sz="1600" dirty="0"/>
              <a:t> o altre funzioni aziendali.</a:t>
            </a:r>
          </a:p>
          <a:p>
            <a:pPr>
              <a:buNone/>
            </a:pPr>
            <a:endParaRPr lang="it-IT" sz="1600" b="1" dirty="0"/>
          </a:p>
          <a:p>
            <a:pPr>
              <a:buNone/>
            </a:pPr>
            <a:r>
              <a:rPr lang="it-IT" sz="1600" b="1" dirty="0"/>
              <a:t>Valore per il cliente</a:t>
            </a:r>
          </a:p>
          <a:p>
            <a:pPr>
              <a:buNone/>
            </a:pPr>
            <a:r>
              <a:rPr lang="it-IT" sz="1600" dirty="0"/>
              <a:t>Grazie alla disponibilità del modello dati di </a:t>
            </a:r>
            <a:r>
              <a:rPr lang="it-IT" sz="1600" dirty="0" err="1"/>
              <a:t>Envizi</a:t>
            </a:r>
            <a:r>
              <a:rPr lang="it-IT" sz="1600" dirty="0"/>
              <a:t> e dei report Power BI standard, le personalizzazioni richiedono generalmente tempi e costi significativamente inferiori rispetto allo sviluppo di una soluzione di Business Intelligence realizzata completamente da zero.</a:t>
            </a:r>
          </a:p>
        </p:txBody>
      </p:sp>
      <p:pic>
        <p:nvPicPr>
          <p:cNvPr id="7" name="Immagine 6">
            <a:extLst>
              <a:ext uri="{FF2B5EF4-FFF2-40B4-BE49-F238E27FC236}">
                <a16:creationId xmlns:a16="http://schemas.microsoft.com/office/drawing/2014/main" id="{859EC746-EFFE-3961-E91B-795F843FDF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2072" y="920621"/>
            <a:ext cx="5306885" cy="4174960"/>
          </a:xfrm>
          <a:prstGeom prst="rect">
            <a:avLst/>
          </a:prstGeom>
        </p:spPr>
      </p:pic>
    </p:spTree>
    <p:extLst>
      <p:ext uri="{BB962C8B-B14F-4D97-AF65-F5344CB8AC3E}">
        <p14:creationId xmlns:p14="http://schemas.microsoft.com/office/powerpoint/2010/main" val="3045869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3784-03E8-0CE1-68BB-C764D9BB59F7}"/>
            </a:ext>
          </a:extLst>
        </p:cNvPr>
        <p:cNvGrpSpPr/>
        <p:nvPr/>
      </p:nvGrpSpPr>
      <p:grpSpPr>
        <a:xfrm>
          <a:off x="0" y="0"/>
          <a:ext cx="0" cy="0"/>
          <a:chOff x="0" y="0"/>
          <a:chExt cx="0" cy="0"/>
        </a:xfrm>
      </p:grpSpPr>
      <p:pic>
        <p:nvPicPr>
          <p:cNvPr id="7" name="Picture 77" descr="role-6">
            <a:extLst>
              <a:ext uri="{FF2B5EF4-FFF2-40B4-BE49-F238E27FC236}">
                <a16:creationId xmlns:a16="http://schemas.microsoft.com/office/drawing/2014/main" id="{CC38FF4D-994B-9E96-7FFD-C6D50C16D6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55279" y="1508760"/>
            <a:ext cx="3063240" cy="333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548640" y="365760"/>
            <a:ext cx="11018520" cy="566928"/>
          </a:xfrm>
          <a:prstGeom prst="rect">
            <a:avLst/>
          </a:prstGeom>
          <a:noFill/>
        </p:spPr>
        <p:txBody>
          <a:bodyPr wrap="square" lIns="0" tIns="0" rIns="0" bIns="0" anchor="ctr">
            <a:spAutoFit/>
          </a:bodyPr>
          <a:lstStyle/>
          <a:p>
            <a:pPr>
              <a:spcBef>
                <a:spcPts val="0"/>
              </a:spcBef>
              <a:spcAft>
                <a:spcPts val="200"/>
              </a:spcAft>
            </a:pPr>
            <a:r>
              <a:rPr sz="2400" b="1">
                <a:solidFill>
                  <a:srgbClr val="000000"/>
                </a:solidFill>
                <a:latin typeface="Calibri"/>
              </a:rPr>
              <a:t>Calcolatore della Carbon Footprint</a:t>
            </a:r>
          </a:p>
        </p:txBody>
      </p:sp>
      <p:sp>
        <p:nvSpPr>
          <p:cNvPr id="9" name="TextBox 8"/>
          <p:cNvSpPr txBox="1"/>
          <p:nvPr/>
        </p:nvSpPr>
        <p:spPr>
          <a:xfrm>
            <a:off x="548640" y="1234440"/>
            <a:ext cx="7360920" cy="731520"/>
          </a:xfrm>
          <a:prstGeom prst="rect">
            <a:avLst/>
          </a:prstGeom>
          <a:noFill/>
        </p:spPr>
        <p:txBody>
          <a:bodyPr wrap="square" lIns="0" tIns="0" rIns="0" bIns="0" anchor="ctr">
            <a:spAutoFit/>
          </a:bodyPr>
          <a:lstStyle/>
          <a:p>
            <a:pPr>
              <a:spcBef>
                <a:spcPts val="0"/>
              </a:spcBef>
              <a:spcAft>
                <a:spcPts val="200"/>
              </a:spcAft>
            </a:pPr>
            <a:r>
              <a:rPr sz="2500" b="1">
                <a:solidFill>
                  <a:srgbClr val="000000"/>
                </a:solidFill>
                <a:latin typeface="Calibri"/>
              </a:rPr>
              <a:t>Fattori di emissione gestiti e personalizzabili</a:t>
            </a:r>
          </a:p>
        </p:txBody>
      </p:sp>
      <p:sp>
        <p:nvSpPr>
          <p:cNvPr id="10" name="TextBox 9"/>
          <p:cNvSpPr txBox="1"/>
          <p:nvPr/>
        </p:nvSpPr>
        <p:spPr>
          <a:xfrm>
            <a:off x="548640" y="2313432"/>
            <a:ext cx="6903720" cy="1371600"/>
          </a:xfrm>
          <a:prstGeom prst="rect">
            <a:avLst/>
          </a:prstGeom>
          <a:noFill/>
        </p:spPr>
        <p:txBody>
          <a:bodyPr wrap="square" lIns="0" tIns="0" rIns="0" bIns="0" anchor="ctr">
            <a:spAutoFit/>
          </a:bodyPr>
          <a:lstStyle/>
          <a:p>
            <a:pPr>
              <a:spcBef>
                <a:spcPts val="0"/>
              </a:spcBef>
              <a:spcAft>
                <a:spcPts val="200"/>
              </a:spcAft>
            </a:pPr>
            <a:r>
              <a:rPr sz="2100" b="0">
                <a:solidFill>
                  <a:srgbClr val="000000"/>
                </a:solidFill>
                <a:latin typeface="Calibri"/>
              </a:rPr>
              <a:t>Il calcolo delle emissioni combina i dati di attività con fattori di emissione pubblicati o configurati dall’organizzazione.</a:t>
            </a:r>
          </a:p>
        </p:txBody>
      </p:sp>
      <p:sp>
        <p:nvSpPr>
          <p:cNvPr id="11" name="TextBox 10"/>
          <p:cNvSpPr txBox="1"/>
          <p:nvPr/>
        </p:nvSpPr>
        <p:spPr>
          <a:xfrm>
            <a:off x="548640" y="4050791"/>
            <a:ext cx="6400800" cy="393192"/>
          </a:xfrm>
          <a:prstGeom prst="rect">
            <a:avLst/>
          </a:prstGeom>
          <a:noFill/>
        </p:spPr>
        <p:txBody>
          <a:bodyPr wrap="square" lIns="0" tIns="0" rIns="0" bIns="0" anchor="ctr">
            <a:spAutoFit/>
          </a:bodyPr>
          <a:lstStyle/>
          <a:p>
            <a:pPr>
              <a:spcBef>
                <a:spcPts val="0"/>
              </a:spcBef>
              <a:spcAft>
                <a:spcPts val="200"/>
              </a:spcAft>
            </a:pPr>
            <a:r>
              <a:rPr sz="2100" b="1">
                <a:solidFill>
                  <a:srgbClr val="00564B"/>
                </a:solidFill>
                <a:latin typeface="Calibri"/>
              </a:rPr>
              <a:t>IBM Envizi GHG Engine</a:t>
            </a:r>
          </a:p>
        </p:txBody>
      </p:sp>
      <p:sp>
        <p:nvSpPr>
          <p:cNvPr id="12" name="TextBox 11"/>
          <p:cNvSpPr txBox="1"/>
          <p:nvPr/>
        </p:nvSpPr>
        <p:spPr>
          <a:xfrm>
            <a:off x="548640" y="4608576"/>
            <a:ext cx="6766560" cy="731520"/>
          </a:xfrm>
          <a:prstGeom prst="rect">
            <a:avLst/>
          </a:prstGeom>
          <a:noFill/>
        </p:spPr>
        <p:txBody>
          <a:bodyPr wrap="square" lIns="0" tIns="0" rIns="0" bIns="0" anchor="ctr">
            <a:spAutoFit/>
          </a:bodyPr>
          <a:lstStyle/>
          <a:p>
            <a:pPr>
              <a:spcBef>
                <a:spcPts val="0"/>
              </a:spcBef>
              <a:spcAft>
                <a:spcPts val="200"/>
              </a:spcAft>
            </a:pPr>
            <a:r>
              <a:rPr sz="2000" b="0">
                <a:solidFill>
                  <a:srgbClr val="000000"/>
                </a:solidFill>
                <a:latin typeface="Calibri"/>
              </a:rPr>
              <a:t>Supporta il calcolo delle emissioni Scope 1, 2 e 3.</a:t>
            </a:r>
          </a:p>
        </p:txBody>
      </p:sp>
    </p:spTree>
    <p:extLst>
      <p:ext uri="{BB962C8B-B14F-4D97-AF65-F5344CB8AC3E}">
        <p14:creationId xmlns:p14="http://schemas.microsoft.com/office/powerpoint/2010/main" val="1465639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19397-3FCE-8341-24F0-C8CF289FBA45}"/>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D6EB083F-1BA8-9B47-108E-A7790700F563}"/>
              </a:ext>
            </a:extLst>
          </p:cNvPr>
          <p:cNvPicPr>
            <a:picLocks noChangeAspect="1"/>
          </p:cNvPicPr>
          <p:nvPr/>
        </p:nvPicPr>
        <p:blipFill>
          <a:blip r:embed="rId3"/>
          <a:stretch>
            <a:fillRect/>
          </a:stretch>
        </p:blipFill>
        <p:spPr>
          <a:xfrm>
            <a:off x="5010912" y="1572768"/>
            <a:ext cx="6510528" cy="4315968"/>
          </a:xfrm>
          <a:prstGeom prst="rect">
            <a:avLst/>
          </a:prstGeom>
        </p:spPr>
      </p:pic>
      <p:pic>
        <p:nvPicPr>
          <p:cNvPr id="4098" name="Picture 2" descr="GHG Protocol Releases Scope 3 Calculation Guidance">
            <a:extLst>
              <a:ext uri="{FF2B5EF4-FFF2-40B4-BE49-F238E27FC236}">
                <a16:creationId xmlns:a16="http://schemas.microsoft.com/office/drawing/2014/main" id="{71DDC96B-EF59-DE1F-03BC-C639AC1615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2680" y="5422392"/>
            <a:ext cx="1508760" cy="850392"/>
          </a:xfrm>
          <a:prstGeom prst="rect">
            <a:avLst/>
          </a:prstGeom>
          <a:noFill/>
          <a:extLst>
            <a:ext uri="{909E8E84-426E-40DD-AFC4-6F175D3DCCD1}">
              <a14:hiddenFill xmlns:a14="http://schemas.microsoft.com/office/drawing/2010/main">
                <a:solidFill>
                  <a:srgbClr val="FFFFFF"/>
                </a:solidFill>
              </a14:hiddenFill>
            </a:ext>
          </a:extLst>
        </p:spPr>
      </p:pic>
      <p:sp>
        <p:nvSpPr>
          <p:cNvPr id="4099" name="TextBox 4098"/>
          <p:cNvSpPr txBox="1"/>
          <p:nvPr/>
        </p:nvSpPr>
        <p:spPr>
          <a:xfrm>
            <a:off x="548640" y="365760"/>
            <a:ext cx="11018520" cy="566928"/>
          </a:xfrm>
          <a:prstGeom prst="rect">
            <a:avLst/>
          </a:prstGeom>
          <a:noFill/>
        </p:spPr>
        <p:txBody>
          <a:bodyPr wrap="square" lIns="0" tIns="0" rIns="0" bIns="0" anchor="ctr">
            <a:spAutoFit/>
          </a:bodyPr>
          <a:lstStyle/>
          <a:p>
            <a:pPr>
              <a:spcBef>
                <a:spcPts val="0"/>
              </a:spcBef>
              <a:spcAft>
                <a:spcPts val="200"/>
              </a:spcAft>
            </a:pPr>
            <a:r>
              <a:rPr sz="2400" b="1">
                <a:solidFill>
                  <a:srgbClr val="000000"/>
                </a:solidFill>
                <a:latin typeface="Calibri"/>
              </a:rPr>
              <a:t>Calcolo della Carbon Footprint</a:t>
            </a:r>
          </a:p>
        </p:txBody>
      </p:sp>
      <p:sp>
        <p:nvSpPr>
          <p:cNvPr id="4100" name="TextBox 4099"/>
          <p:cNvSpPr txBox="1"/>
          <p:nvPr/>
        </p:nvSpPr>
        <p:spPr>
          <a:xfrm>
            <a:off x="548640" y="1042415"/>
            <a:ext cx="10881360" cy="612648"/>
          </a:xfrm>
          <a:prstGeom prst="rect">
            <a:avLst/>
          </a:prstGeom>
          <a:noFill/>
        </p:spPr>
        <p:txBody>
          <a:bodyPr wrap="square" lIns="0" tIns="0" rIns="0" bIns="0" anchor="ctr">
            <a:spAutoFit/>
          </a:bodyPr>
          <a:lstStyle/>
          <a:p>
            <a:pPr>
              <a:spcBef>
                <a:spcPts val="0"/>
              </a:spcBef>
              <a:spcAft>
                <a:spcPts val="200"/>
              </a:spcAft>
            </a:pPr>
            <a:r>
              <a:rPr sz="2100" b="0">
                <a:solidFill>
                  <a:srgbClr val="000000"/>
                </a:solidFill>
                <a:latin typeface="Calibri"/>
              </a:rPr>
              <a:t>IBM Envizi GHG Engine</a:t>
            </a:r>
          </a:p>
        </p:txBody>
      </p:sp>
      <p:sp>
        <p:nvSpPr>
          <p:cNvPr id="4101" name="TextBox 4100"/>
          <p:cNvSpPr txBox="1"/>
          <p:nvPr/>
        </p:nvSpPr>
        <p:spPr>
          <a:xfrm>
            <a:off x="548640" y="1947672"/>
            <a:ext cx="4069080" cy="420624"/>
          </a:xfrm>
          <a:prstGeom prst="rect">
            <a:avLst/>
          </a:prstGeom>
          <a:noFill/>
        </p:spPr>
        <p:txBody>
          <a:bodyPr wrap="square" lIns="0" tIns="0" rIns="0" bIns="0" anchor="ctr">
            <a:spAutoFit/>
          </a:bodyPr>
          <a:lstStyle/>
          <a:p>
            <a:pPr>
              <a:spcBef>
                <a:spcPts val="0"/>
              </a:spcBef>
              <a:spcAft>
                <a:spcPts val="200"/>
              </a:spcAft>
            </a:pPr>
            <a:r>
              <a:rPr sz="2100" b="1">
                <a:solidFill>
                  <a:srgbClr val="00564B"/>
                </a:solidFill>
                <a:latin typeface="Calibri"/>
              </a:rPr>
              <a:t>Dati di attività</a:t>
            </a:r>
          </a:p>
        </p:txBody>
      </p:sp>
      <p:sp>
        <p:nvSpPr>
          <p:cNvPr id="4102" name="TextBox 4101"/>
          <p:cNvSpPr txBox="1"/>
          <p:nvPr/>
        </p:nvSpPr>
        <p:spPr>
          <a:xfrm>
            <a:off x="548640" y="2423160"/>
            <a:ext cx="4069080" cy="1389888"/>
          </a:xfrm>
          <a:prstGeom prst="rect">
            <a:avLst/>
          </a:prstGeom>
          <a:noFill/>
        </p:spPr>
        <p:txBody>
          <a:bodyPr wrap="square" lIns="0" tIns="0" rIns="0" bIns="0" anchor="ctr">
            <a:spAutoFit/>
          </a:bodyPr>
          <a:lstStyle/>
          <a:p>
            <a:pPr>
              <a:spcBef>
                <a:spcPts val="0"/>
              </a:spcBef>
              <a:spcAft>
                <a:spcPts val="200"/>
              </a:spcAft>
            </a:pPr>
            <a:r>
              <a:rPr sz="1900" b="0">
                <a:solidFill>
                  <a:srgbClr val="000000"/>
                </a:solidFill>
                <a:latin typeface="Calibri"/>
              </a:rPr>
              <a:t>Il motore calcola le emissioni Scope 1, 2 e 3 dai dati di attività, usando fattori pubblicati o personalizzati.</a:t>
            </a:r>
          </a:p>
        </p:txBody>
      </p:sp>
      <p:sp>
        <p:nvSpPr>
          <p:cNvPr id="4103" name="TextBox 4102"/>
          <p:cNvSpPr txBox="1"/>
          <p:nvPr/>
        </p:nvSpPr>
        <p:spPr>
          <a:xfrm>
            <a:off x="548640" y="4087368"/>
            <a:ext cx="4069080" cy="420624"/>
          </a:xfrm>
          <a:prstGeom prst="rect">
            <a:avLst/>
          </a:prstGeom>
          <a:noFill/>
        </p:spPr>
        <p:txBody>
          <a:bodyPr wrap="square" lIns="0" tIns="0" rIns="0" bIns="0" anchor="ctr">
            <a:spAutoFit/>
          </a:bodyPr>
          <a:lstStyle/>
          <a:p>
            <a:pPr>
              <a:spcBef>
                <a:spcPts val="0"/>
              </a:spcBef>
              <a:spcAft>
                <a:spcPts val="200"/>
              </a:spcAft>
            </a:pPr>
            <a:r>
              <a:rPr sz="2100" b="1">
                <a:solidFill>
                  <a:srgbClr val="00564B"/>
                </a:solidFill>
                <a:latin typeface="Calibri"/>
              </a:rPr>
              <a:t>Metodologie GHG Protocol</a:t>
            </a:r>
          </a:p>
        </p:txBody>
      </p:sp>
      <p:sp>
        <p:nvSpPr>
          <p:cNvPr id="4104" name="TextBox 4103"/>
          <p:cNvSpPr txBox="1"/>
          <p:nvPr/>
        </p:nvSpPr>
        <p:spPr>
          <a:xfrm>
            <a:off x="548640" y="4562856"/>
            <a:ext cx="4160520" cy="1545336"/>
          </a:xfrm>
          <a:prstGeom prst="rect">
            <a:avLst/>
          </a:prstGeom>
          <a:noFill/>
        </p:spPr>
        <p:txBody>
          <a:bodyPr wrap="square" lIns="0" tIns="0" rIns="0" bIns="0" anchor="ctr">
            <a:spAutoFit/>
          </a:bodyPr>
          <a:lstStyle/>
          <a:p>
            <a:pPr>
              <a:spcBef>
                <a:spcPts val="0"/>
              </a:spcBef>
              <a:spcAft>
                <a:spcPts val="200"/>
              </a:spcAft>
            </a:pPr>
            <a:r>
              <a:rPr sz="1800" b="0">
                <a:solidFill>
                  <a:srgbClr val="000000"/>
                </a:solidFill>
                <a:latin typeface="Calibri"/>
              </a:rPr>
              <a:t>Supporta i metodi delle categorie Scope 3 Purchased Goods &amp; Services e Capital Goods, inclusi metodi basati sulla spesa, ibridi e specifici del fornitore.</a:t>
            </a:r>
          </a:p>
        </p:txBody>
      </p:sp>
    </p:spTree>
    <p:extLst>
      <p:ext uri="{BB962C8B-B14F-4D97-AF65-F5344CB8AC3E}">
        <p14:creationId xmlns:p14="http://schemas.microsoft.com/office/powerpoint/2010/main" val="1467712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486B0-CF70-66F9-5025-88DB42002B58}"/>
            </a:ext>
          </a:extLst>
        </p:cNvPr>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C11ED5CA-D3B6-CB4F-744F-98D6D2D56D6D}"/>
              </a:ext>
            </a:extLst>
          </p:cNvPr>
          <p:cNvGraphicFramePr>
            <a:graphicFrameLocks noGrp="1"/>
          </p:cNvGraphicFramePr>
          <p:nvPr/>
        </p:nvGraphicFramePr>
        <p:xfrm>
          <a:off x="548640" y="1600200"/>
          <a:ext cx="11009375" cy="4169664"/>
        </p:xfrm>
        <a:graphic>
          <a:graphicData uri="http://schemas.openxmlformats.org/drawingml/2006/table">
            <a:tbl>
              <a:tblPr/>
              <a:tblGrid>
                <a:gridCol w="2148840">
                  <a:extLst>
                    <a:ext uri="{9D8B030D-6E8A-4147-A177-3AD203B41FA5}">
                      <a16:colId xmlns:a16="http://schemas.microsoft.com/office/drawing/2014/main" val="915892557"/>
                    </a:ext>
                  </a:extLst>
                </a:gridCol>
                <a:gridCol w="2240280">
                  <a:extLst>
                    <a:ext uri="{9D8B030D-6E8A-4147-A177-3AD203B41FA5}">
                      <a16:colId xmlns:a16="http://schemas.microsoft.com/office/drawing/2014/main" val="3416594127"/>
                    </a:ext>
                  </a:extLst>
                </a:gridCol>
                <a:gridCol w="2606040">
                  <a:extLst>
                    <a:ext uri="{9D8B030D-6E8A-4147-A177-3AD203B41FA5}">
                      <a16:colId xmlns:a16="http://schemas.microsoft.com/office/drawing/2014/main" val="322746706"/>
                    </a:ext>
                  </a:extLst>
                </a:gridCol>
                <a:gridCol w="4014215">
                  <a:extLst>
                    <a:ext uri="{9D8B030D-6E8A-4147-A177-3AD203B41FA5}">
                      <a16:colId xmlns:a16="http://schemas.microsoft.com/office/drawing/2014/main" val="3402106483"/>
                    </a:ext>
                  </a:extLst>
                </a:gridCol>
              </a:tblGrid>
              <a:tr h="393192">
                <a:tc>
                  <a:txBody>
                    <a:bodyPr/>
                    <a:lstStyle/>
                    <a:p>
                      <a:pPr>
                        <a:spcBef>
                          <a:spcPts val="0"/>
                        </a:spcBef>
                        <a:spcAft>
                          <a:spcPts val="0"/>
                        </a:spcAft>
                      </a:pPr>
                      <a:r>
                        <a:rPr lang="it-IT" sz="1250" b="1">
                          <a:solidFill>
                            <a:srgbClr val="FFFFFF"/>
                          </a:solidFill>
                          <a:latin typeface="Calibri"/>
                        </a:rPr>
                        <a:t>Managed Factor Set</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64B"/>
                    </a:solidFill>
                  </a:tcPr>
                </a:tc>
                <a:tc>
                  <a:txBody>
                    <a:bodyPr/>
                    <a:lstStyle/>
                    <a:p>
                      <a:pPr>
                        <a:spcBef>
                          <a:spcPts val="0"/>
                        </a:spcBef>
                        <a:spcAft>
                          <a:spcPts val="0"/>
                        </a:spcAft>
                      </a:pPr>
                      <a:r>
                        <a:rPr lang="it-IT" sz="1250" b="1">
                          <a:solidFill>
                            <a:srgbClr val="FFFFFF"/>
                          </a:solidFill>
                          <a:latin typeface="Calibri"/>
                        </a:rPr>
                        <a:t>Coverage</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64B"/>
                    </a:solidFill>
                  </a:tcPr>
                </a:tc>
                <a:tc>
                  <a:txBody>
                    <a:bodyPr/>
                    <a:lstStyle/>
                    <a:p>
                      <a:pPr>
                        <a:spcBef>
                          <a:spcPts val="0"/>
                        </a:spcBef>
                        <a:spcAft>
                          <a:spcPts val="0"/>
                        </a:spcAft>
                      </a:pPr>
                      <a:r>
                        <a:rPr lang="it-IT" sz="1250" b="1">
                          <a:solidFill>
                            <a:srgbClr val="FFFFFF"/>
                          </a:solidFill>
                          <a:latin typeface="Calibri"/>
                        </a:rPr>
                        <a:t>Data types / Scope</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64B"/>
                    </a:solidFill>
                  </a:tcPr>
                </a:tc>
                <a:tc>
                  <a:txBody>
                    <a:bodyPr/>
                    <a:lstStyle/>
                    <a:p>
                      <a:pPr>
                        <a:spcBef>
                          <a:spcPts val="0"/>
                        </a:spcBef>
                        <a:spcAft>
                          <a:spcPts val="0"/>
                        </a:spcAft>
                      </a:pPr>
                      <a:r>
                        <a:rPr lang="it-IT" sz="1250" b="1">
                          <a:solidFill>
                            <a:srgbClr val="FFFFFF"/>
                          </a:solidFill>
                          <a:latin typeface="Calibri"/>
                        </a:rPr>
                        <a:t>Details</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64B"/>
                    </a:solidFill>
                  </a:tcPr>
                </a:tc>
                <a:extLst>
                  <a:ext uri="{0D108BD9-81ED-4DB2-BD59-A6C34878D82A}">
                    <a16:rowId xmlns:a16="http://schemas.microsoft.com/office/drawing/2014/main" val="2344796218"/>
                  </a:ext>
                </a:extLst>
              </a:tr>
              <a:tr h="530352">
                <a:tc>
                  <a:txBody>
                    <a:bodyPr/>
                    <a:lstStyle/>
                    <a:p>
                      <a:pPr>
                        <a:spcBef>
                          <a:spcPts val="0"/>
                        </a:spcBef>
                        <a:spcAft>
                          <a:spcPts val="0"/>
                        </a:spcAft>
                      </a:pPr>
                      <a:r>
                        <a:rPr lang="it-IT" sz="1100" b="1">
                          <a:solidFill>
                            <a:srgbClr val="000000"/>
                          </a:solidFill>
                          <a:latin typeface="Calibri"/>
                        </a:rPr>
                        <a:t>IEA</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Globale, soprattutto dove non sono disponibili fattori locali Envizi</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Scope 2: elettricità e green offset</a:t>
                      </a:r>
                    </a:p>
                    <a:p>
                      <a:pPr>
                        <a:spcBef>
                          <a:spcPts val="0"/>
                        </a:spcBef>
                        <a:spcAft>
                          <a:spcPts val="0"/>
                        </a:spcAft>
                      </a:pPr>
                      <a:r>
                        <a:rPr lang="it-IT" sz="1100" b="0">
                          <a:solidFill>
                            <a:srgbClr val="000000"/>
                          </a:solidFill>
                          <a:latin typeface="Calibri"/>
                        </a:rPr>
                        <a:t>Scope 3: elettricità</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International Energy Agency. Set gestito da Envizi dal 2013, incluso tra quelli predefiniti.</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7159830"/>
                  </a:ext>
                </a:extLst>
              </a:tr>
              <a:tr h="548640">
                <a:tc>
                  <a:txBody>
                    <a:bodyPr/>
                    <a:lstStyle/>
                    <a:p>
                      <a:pPr>
                        <a:spcBef>
                          <a:spcPts val="0"/>
                        </a:spcBef>
                        <a:spcAft>
                          <a:spcPts val="0"/>
                        </a:spcAft>
                      </a:pPr>
                      <a:r>
                        <a:rPr lang="it-IT" sz="1100" b="1">
                          <a:solidFill>
                            <a:srgbClr val="000000"/>
                          </a:solidFill>
                          <a:latin typeface="Calibri"/>
                        </a:rPr>
                        <a:t>Eora66 - MRIO</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188 Paesi, copertura globale</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Scope 3: fattori basati sulla spesa, 66 categorie riepilogative</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Set Multi-Region Input-Output (MRIO). Envizi lo gestisce da giugno 2023.</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extLst>
                  <a:ext uri="{0D108BD9-81ED-4DB2-BD59-A6C34878D82A}">
                    <a16:rowId xmlns:a16="http://schemas.microsoft.com/office/drawing/2014/main" val="3517742615"/>
                  </a:ext>
                </a:extLst>
              </a:tr>
              <a:tr h="530352">
                <a:tc>
                  <a:txBody>
                    <a:bodyPr/>
                    <a:lstStyle/>
                    <a:p>
                      <a:pPr>
                        <a:spcBef>
                          <a:spcPts val="0"/>
                        </a:spcBef>
                        <a:spcAft>
                          <a:spcPts val="0"/>
                        </a:spcAft>
                      </a:pPr>
                      <a:r>
                        <a:rPr lang="it-IT" sz="1100" b="1">
                          <a:solidFill>
                            <a:srgbClr val="000000"/>
                          </a:solidFill>
                          <a:latin typeface="Calibri"/>
                        </a:rPr>
                        <a:t>US eGRID - Electricity factors</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Stati Uniti, incluso Porto Rico. Location-based</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Scope 2: elettricità e green offset</a:t>
                      </a:r>
                    </a:p>
                    <a:p>
                      <a:pPr>
                        <a:spcBef>
                          <a:spcPts val="0"/>
                        </a:spcBef>
                        <a:spcAft>
                          <a:spcPts val="0"/>
                        </a:spcAft>
                      </a:pPr>
                      <a:r>
                        <a:rPr lang="it-IT" sz="1100" b="0">
                          <a:solidFill>
                            <a:srgbClr val="000000"/>
                          </a:solidFill>
                          <a:latin typeface="Calibri"/>
                        </a:rPr>
                        <a:t>Scope 3: elettricità</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Database eGRID della US EPA. Set gestito da Envizi dal 2008.</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50416402"/>
                  </a:ext>
                </a:extLst>
              </a:tr>
              <a:tr h="667512">
                <a:tc>
                  <a:txBody>
                    <a:bodyPr/>
                    <a:lstStyle/>
                    <a:p>
                      <a:pPr>
                        <a:spcBef>
                          <a:spcPts val="0"/>
                        </a:spcBef>
                        <a:spcAft>
                          <a:spcPts val="0"/>
                        </a:spcAft>
                      </a:pPr>
                      <a:r>
                        <a:rPr lang="it-IT" sz="1100" b="1">
                          <a:solidFill>
                            <a:srgbClr val="000000"/>
                          </a:solidFill>
                          <a:latin typeface="Calibri"/>
                        </a:rPr>
                        <a:t>UK Defra</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Europa per Scope 1 e 2. Viaggi aerei e altri fattori Scope 3 globali</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Scope 1: combustibili, refrigeranti, veicoli</a:t>
                      </a:r>
                    </a:p>
                    <a:p>
                      <a:pPr>
                        <a:spcBef>
                          <a:spcPts val="0"/>
                        </a:spcBef>
                        <a:spcAft>
                          <a:spcPts val="0"/>
                        </a:spcAft>
                      </a:pPr>
                      <a:r>
                        <a:rPr lang="it-IT" sz="1100" b="0">
                          <a:solidFill>
                            <a:srgbClr val="000000"/>
                          </a:solidFill>
                          <a:latin typeface="Calibri"/>
                        </a:rPr>
                        <a:t>Scope 2: elettricità UK</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Set del governo UK e DEFRA. Envizi lo gestisce dal 2009.</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extLst>
                  <a:ext uri="{0D108BD9-81ED-4DB2-BD59-A6C34878D82A}">
                    <a16:rowId xmlns:a16="http://schemas.microsoft.com/office/drawing/2014/main" val="1910812228"/>
                  </a:ext>
                </a:extLst>
              </a:tr>
              <a:tr h="548640">
                <a:tc>
                  <a:txBody>
                    <a:bodyPr/>
                    <a:lstStyle/>
                    <a:p>
                      <a:pPr>
                        <a:spcBef>
                          <a:spcPts val="0"/>
                        </a:spcBef>
                        <a:spcAft>
                          <a:spcPts val="0"/>
                        </a:spcAft>
                      </a:pPr>
                      <a:r>
                        <a:rPr lang="it-IT" sz="1100" b="1">
                          <a:solidFill>
                            <a:srgbClr val="000000"/>
                          </a:solidFill>
                          <a:latin typeface="Calibri"/>
                        </a:rPr>
                        <a:t>Residual Mix, Green-e</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Regioni US eGRID. Market-based</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Scope 2: elettricità market-based</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Fattori di residual mix USA Green-e, gestiti dal 2015.</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78468620"/>
                  </a:ext>
                </a:extLst>
              </a:tr>
              <a:tr h="548640">
                <a:tc>
                  <a:txBody>
                    <a:bodyPr/>
                    <a:lstStyle/>
                    <a:p>
                      <a:pPr>
                        <a:spcBef>
                          <a:spcPts val="0"/>
                        </a:spcBef>
                        <a:spcAft>
                          <a:spcPts val="0"/>
                        </a:spcAft>
                      </a:pPr>
                      <a:r>
                        <a:rPr lang="it-IT" sz="1100" b="1">
                          <a:solidFill>
                            <a:srgbClr val="000000"/>
                          </a:solidFill>
                          <a:latin typeface="Calibri"/>
                        </a:rPr>
                        <a:t>Residual Mix, AIB</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Paesi europei. Market-based</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Scope 2: elettricità market-based</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tc>
                  <a:txBody>
                    <a:bodyPr/>
                    <a:lstStyle/>
                    <a:p>
                      <a:pPr>
                        <a:spcBef>
                          <a:spcPts val="0"/>
                        </a:spcBef>
                        <a:spcAft>
                          <a:spcPts val="0"/>
                        </a:spcAft>
                      </a:pPr>
                      <a:r>
                        <a:rPr lang="it-IT" sz="1100" b="0">
                          <a:solidFill>
                            <a:srgbClr val="000000"/>
                          </a:solidFill>
                          <a:latin typeface="Calibri"/>
                        </a:rPr>
                        <a:t>Fattori di residual mix della Association of Issuing Bodies, gestiti dal 2015.</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5"/>
                    </a:solidFill>
                  </a:tcPr>
                </a:tc>
                <a:extLst>
                  <a:ext uri="{0D108BD9-81ED-4DB2-BD59-A6C34878D82A}">
                    <a16:rowId xmlns:a16="http://schemas.microsoft.com/office/drawing/2014/main" val="1696120753"/>
                  </a:ext>
                </a:extLst>
              </a:tr>
              <a:tr h="402336">
                <a:tc>
                  <a:txBody>
                    <a:bodyPr/>
                    <a:lstStyle/>
                    <a:p>
                      <a:pPr>
                        <a:spcBef>
                          <a:spcPts val="0"/>
                        </a:spcBef>
                        <a:spcAft>
                          <a:spcPts val="0"/>
                        </a:spcAft>
                      </a:pPr>
                      <a:r>
                        <a:rPr lang="it-IT" sz="1100" b="1">
                          <a:solidFill>
                            <a:srgbClr val="000000"/>
                          </a:solidFill>
                          <a:latin typeface="Calibri"/>
                        </a:rPr>
                        <a:t>Others</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Ulteriori set gestiti da Envizi</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endParaRPr lang="it-IT" sz="900">
                        <a:solidFill>
                          <a:schemeClr val="accent1"/>
                        </a:solidFill>
                      </a:endParaRP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spcBef>
                          <a:spcPts val="0"/>
                        </a:spcBef>
                        <a:spcAft>
                          <a:spcPts val="0"/>
                        </a:spcAft>
                      </a:pPr>
                      <a:r>
                        <a:rPr lang="it-IT" sz="1100" b="0">
                          <a:solidFill>
                            <a:srgbClr val="000000"/>
                          </a:solidFill>
                          <a:latin typeface="Calibri"/>
                        </a:rPr>
                        <a:t>Consulta l’elenco completo dei fattori disponibili.</a:t>
                      </a:r>
                    </a:p>
                  </a:txBody>
                  <a:tcPr marL="68580" marR="68580" marT="32004" marB="320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92771701"/>
                  </a:ext>
                </a:extLst>
              </a:tr>
            </a:tbl>
          </a:graphicData>
        </a:graphic>
      </p:graphicFrame>
      <p:sp>
        <p:nvSpPr>
          <p:cNvPr id="5" name="TextBox 4"/>
          <p:cNvSpPr txBox="1"/>
          <p:nvPr/>
        </p:nvSpPr>
        <p:spPr>
          <a:xfrm>
            <a:off x="548640" y="365760"/>
            <a:ext cx="11018520" cy="566928"/>
          </a:xfrm>
          <a:prstGeom prst="rect">
            <a:avLst/>
          </a:prstGeom>
          <a:noFill/>
        </p:spPr>
        <p:txBody>
          <a:bodyPr wrap="square" lIns="0" tIns="0" rIns="0" bIns="0" anchor="ctr">
            <a:spAutoFit/>
          </a:bodyPr>
          <a:lstStyle/>
          <a:p>
            <a:pPr>
              <a:spcBef>
                <a:spcPts val="0"/>
              </a:spcBef>
              <a:spcAft>
                <a:spcPts val="200"/>
              </a:spcAft>
            </a:pPr>
            <a:r>
              <a:rPr sz="2400" b="1">
                <a:solidFill>
                  <a:srgbClr val="000000"/>
                </a:solidFill>
                <a:latin typeface="Calibri"/>
              </a:rPr>
              <a:t>Fattori di emissione gestiti in Envizi</a:t>
            </a:r>
          </a:p>
        </p:txBody>
      </p:sp>
      <p:sp>
        <p:nvSpPr>
          <p:cNvPr id="6" name="TextBox 5"/>
          <p:cNvSpPr txBox="1"/>
          <p:nvPr/>
        </p:nvSpPr>
        <p:spPr>
          <a:xfrm>
            <a:off x="548640" y="1042415"/>
            <a:ext cx="10881360" cy="612648"/>
          </a:xfrm>
          <a:prstGeom prst="rect">
            <a:avLst/>
          </a:prstGeom>
          <a:noFill/>
        </p:spPr>
        <p:txBody>
          <a:bodyPr wrap="square" lIns="0" tIns="0" rIns="0" bIns="0" anchor="ctr">
            <a:spAutoFit/>
          </a:bodyPr>
          <a:lstStyle/>
          <a:p>
            <a:pPr>
              <a:spcBef>
                <a:spcPts val="0"/>
              </a:spcBef>
              <a:spcAft>
                <a:spcPts val="200"/>
              </a:spcAft>
            </a:pPr>
            <a:r>
              <a:rPr sz="2100" b="0">
                <a:solidFill>
                  <a:srgbClr val="000000"/>
                </a:solidFill>
                <a:latin typeface="Calibri"/>
              </a:rPr>
              <a:t>Oltre 40.000 fattori di emissione</a:t>
            </a:r>
          </a:p>
        </p:txBody>
      </p:sp>
      <p:sp>
        <p:nvSpPr>
          <p:cNvPr id="7" name="TextBox 6"/>
          <p:cNvSpPr txBox="1"/>
          <p:nvPr/>
        </p:nvSpPr>
        <p:spPr>
          <a:xfrm>
            <a:off x="548640" y="5925312"/>
            <a:ext cx="10972800" cy="329184"/>
          </a:xfrm>
          <a:prstGeom prst="rect">
            <a:avLst/>
          </a:prstGeom>
          <a:noFill/>
        </p:spPr>
        <p:txBody>
          <a:bodyPr wrap="square" lIns="0" tIns="0" rIns="0" bIns="0" anchor="ctr">
            <a:spAutoFit/>
          </a:bodyPr>
          <a:lstStyle/>
          <a:p>
            <a:pPr>
              <a:spcBef>
                <a:spcPts val="0"/>
              </a:spcBef>
              <a:spcAft>
                <a:spcPts val="200"/>
              </a:spcAft>
            </a:pPr>
            <a:r>
              <a:rPr sz="1200" b="0">
                <a:solidFill>
                  <a:srgbClr val="00564B"/>
                </a:solidFill>
                <a:latin typeface="Calibri"/>
              </a:rPr>
              <a:t>Elenco completo: developer.ibm.com/articles/awb-emission-factors-management-in-ibm-envizi/</a:t>
            </a:r>
          </a:p>
        </p:txBody>
      </p:sp>
    </p:spTree>
    <p:extLst>
      <p:ext uri="{BB962C8B-B14F-4D97-AF65-F5344CB8AC3E}">
        <p14:creationId xmlns:p14="http://schemas.microsoft.com/office/powerpoint/2010/main" val="3473381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E832A-44A2-DD14-B5FF-C3B49A310146}"/>
            </a:ext>
          </a:extLst>
        </p:cNvPr>
        <p:cNvGrpSpPr/>
        <p:nvPr/>
      </p:nvGrpSpPr>
      <p:grpSpPr>
        <a:xfrm>
          <a:off x="0" y="0"/>
          <a:ext cx="0" cy="0"/>
          <a:chOff x="0" y="0"/>
          <a:chExt cx="0" cy="0"/>
        </a:xfrm>
      </p:grpSpPr>
      <p:sp>
        <p:nvSpPr>
          <p:cNvPr id="2" name="TextBox 1"/>
          <p:cNvSpPr txBox="1"/>
          <p:nvPr/>
        </p:nvSpPr>
        <p:spPr>
          <a:xfrm>
            <a:off x="548640" y="365760"/>
            <a:ext cx="11018520" cy="566928"/>
          </a:xfrm>
          <a:prstGeom prst="rect">
            <a:avLst/>
          </a:prstGeom>
          <a:noFill/>
        </p:spPr>
        <p:txBody>
          <a:bodyPr wrap="square" lIns="0" tIns="0" rIns="0" bIns="0" anchor="ctr">
            <a:spAutoFit/>
          </a:bodyPr>
          <a:lstStyle/>
          <a:p>
            <a:pPr>
              <a:spcBef>
                <a:spcPts val="0"/>
              </a:spcBef>
              <a:spcAft>
                <a:spcPts val="200"/>
              </a:spcAft>
            </a:pPr>
            <a:r>
              <a:rPr sz="2400" b="1">
                <a:solidFill>
                  <a:srgbClr val="000000"/>
                </a:solidFill>
                <a:latin typeface="Calibri"/>
              </a:rPr>
              <a:t>Fattori di emissione personalizzati</a:t>
            </a:r>
          </a:p>
        </p:txBody>
      </p:sp>
      <p:sp>
        <p:nvSpPr>
          <p:cNvPr id="3" name="TextBox 2"/>
          <p:cNvSpPr txBox="1"/>
          <p:nvPr/>
        </p:nvSpPr>
        <p:spPr>
          <a:xfrm>
            <a:off x="548640" y="1042415"/>
            <a:ext cx="10881360" cy="612648"/>
          </a:xfrm>
          <a:prstGeom prst="rect">
            <a:avLst/>
          </a:prstGeom>
          <a:noFill/>
        </p:spPr>
        <p:txBody>
          <a:bodyPr wrap="square" lIns="0" tIns="0" rIns="0" bIns="0" anchor="ctr">
            <a:spAutoFit/>
          </a:bodyPr>
          <a:lstStyle/>
          <a:p>
            <a:pPr>
              <a:spcBef>
                <a:spcPts val="0"/>
              </a:spcBef>
              <a:spcAft>
                <a:spcPts val="200"/>
              </a:spcAft>
            </a:pPr>
            <a:r>
              <a:rPr sz="2100" b="0">
                <a:solidFill>
                  <a:srgbClr val="000000"/>
                </a:solidFill>
                <a:latin typeface="Calibri"/>
              </a:rPr>
              <a:t>Custom Emission Factors in IBM Envizi</a:t>
            </a:r>
          </a:p>
        </p:txBody>
      </p:sp>
      <p:sp>
        <p:nvSpPr>
          <p:cNvPr id="4" name="TextBox 3"/>
          <p:cNvSpPr txBox="1"/>
          <p:nvPr/>
        </p:nvSpPr>
        <p:spPr>
          <a:xfrm>
            <a:off x="548640" y="2359152"/>
            <a:ext cx="3337560" cy="457200"/>
          </a:xfrm>
          <a:prstGeom prst="rect">
            <a:avLst/>
          </a:prstGeom>
          <a:noFill/>
        </p:spPr>
        <p:txBody>
          <a:bodyPr wrap="square" lIns="0" tIns="0" rIns="0" bIns="0" anchor="ctr">
            <a:spAutoFit/>
          </a:bodyPr>
          <a:lstStyle/>
          <a:p>
            <a:pPr>
              <a:spcBef>
                <a:spcPts val="0"/>
              </a:spcBef>
              <a:spcAft>
                <a:spcPts val="200"/>
              </a:spcAft>
            </a:pPr>
            <a:r>
              <a:rPr sz="2100" b="1">
                <a:solidFill>
                  <a:srgbClr val="00564B"/>
                </a:solidFill>
                <a:latin typeface="Calibri"/>
              </a:rPr>
              <a:t>Configurazione</a:t>
            </a:r>
          </a:p>
        </p:txBody>
      </p:sp>
      <p:sp>
        <p:nvSpPr>
          <p:cNvPr id="5" name="TextBox 4"/>
          <p:cNvSpPr txBox="1"/>
          <p:nvPr/>
        </p:nvSpPr>
        <p:spPr>
          <a:xfrm>
            <a:off x="548640" y="2944368"/>
            <a:ext cx="3337560" cy="1993392"/>
          </a:xfrm>
          <a:prstGeom prst="rect">
            <a:avLst/>
          </a:prstGeom>
          <a:noFill/>
        </p:spPr>
        <p:txBody>
          <a:bodyPr wrap="square" lIns="0" tIns="0" rIns="0" bIns="0" anchor="ctr">
            <a:spAutoFit/>
          </a:bodyPr>
          <a:lstStyle/>
          <a:p>
            <a:pPr>
              <a:spcBef>
                <a:spcPts val="0"/>
              </a:spcBef>
              <a:spcAft>
                <a:spcPts val="200"/>
              </a:spcAft>
            </a:pPr>
            <a:r>
              <a:rPr sz="1900" b="0">
                <a:solidFill>
                  <a:srgbClr val="000000"/>
                </a:solidFill>
                <a:latin typeface="Calibri"/>
              </a:rPr>
              <a:t>Gli amministratori di sistema configurano i fattori e li collegano a specifici account o tipi di account.</a:t>
            </a:r>
          </a:p>
        </p:txBody>
      </p:sp>
      <p:sp>
        <p:nvSpPr>
          <p:cNvPr id="6" name="TextBox 5"/>
          <p:cNvSpPr txBox="1"/>
          <p:nvPr/>
        </p:nvSpPr>
        <p:spPr>
          <a:xfrm>
            <a:off x="4389120" y="2359152"/>
            <a:ext cx="3337560" cy="457200"/>
          </a:xfrm>
          <a:prstGeom prst="rect">
            <a:avLst/>
          </a:prstGeom>
          <a:noFill/>
        </p:spPr>
        <p:txBody>
          <a:bodyPr wrap="square" lIns="0" tIns="0" rIns="0" bIns="0" anchor="ctr">
            <a:spAutoFit/>
          </a:bodyPr>
          <a:lstStyle/>
          <a:p>
            <a:pPr>
              <a:spcBef>
                <a:spcPts val="0"/>
              </a:spcBef>
              <a:spcAft>
                <a:spcPts val="200"/>
              </a:spcAft>
            </a:pPr>
            <a:r>
              <a:rPr sz="2100" b="1">
                <a:solidFill>
                  <a:srgbClr val="00564B"/>
                </a:solidFill>
                <a:latin typeface="Calibri"/>
              </a:rPr>
              <a:t>Scelta del fattore</a:t>
            </a:r>
          </a:p>
        </p:txBody>
      </p:sp>
      <p:sp>
        <p:nvSpPr>
          <p:cNvPr id="7" name="TextBox 6"/>
          <p:cNvSpPr txBox="1"/>
          <p:nvPr/>
        </p:nvSpPr>
        <p:spPr>
          <a:xfrm>
            <a:off x="4389120" y="2944368"/>
            <a:ext cx="3337560" cy="1993392"/>
          </a:xfrm>
          <a:prstGeom prst="rect">
            <a:avLst/>
          </a:prstGeom>
          <a:noFill/>
        </p:spPr>
        <p:txBody>
          <a:bodyPr wrap="square" lIns="0" tIns="0" rIns="0" bIns="0" anchor="ctr">
            <a:spAutoFit/>
          </a:bodyPr>
          <a:lstStyle/>
          <a:p>
            <a:pPr>
              <a:spcBef>
                <a:spcPts val="0"/>
              </a:spcBef>
              <a:spcAft>
                <a:spcPts val="200"/>
              </a:spcAft>
            </a:pPr>
            <a:r>
              <a:rPr sz="1900" b="0">
                <a:solidFill>
                  <a:srgbClr val="000000"/>
                </a:solidFill>
                <a:latin typeface="Calibri"/>
              </a:rPr>
              <a:t>L’organizzazione può applicare i propri fattori quando li preferisce ai set gestiti predefiniti di Envizi.</a:t>
            </a:r>
          </a:p>
        </p:txBody>
      </p:sp>
      <p:sp>
        <p:nvSpPr>
          <p:cNvPr id="8" name="TextBox 7"/>
          <p:cNvSpPr txBox="1"/>
          <p:nvPr/>
        </p:nvSpPr>
        <p:spPr>
          <a:xfrm>
            <a:off x="8229600" y="2359152"/>
            <a:ext cx="3337560" cy="457200"/>
          </a:xfrm>
          <a:prstGeom prst="rect">
            <a:avLst/>
          </a:prstGeom>
          <a:noFill/>
        </p:spPr>
        <p:txBody>
          <a:bodyPr wrap="square" lIns="0" tIns="0" rIns="0" bIns="0" anchor="ctr">
            <a:spAutoFit/>
          </a:bodyPr>
          <a:lstStyle/>
          <a:p>
            <a:pPr>
              <a:spcBef>
                <a:spcPts val="0"/>
              </a:spcBef>
              <a:spcAft>
                <a:spcPts val="200"/>
              </a:spcAft>
            </a:pPr>
            <a:r>
              <a:rPr sz="2100" b="1">
                <a:solidFill>
                  <a:srgbClr val="00564B"/>
                </a:solidFill>
                <a:latin typeface="Calibri"/>
              </a:rPr>
              <a:t>Validità e audit</a:t>
            </a:r>
          </a:p>
        </p:txBody>
      </p:sp>
      <p:sp>
        <p:nvSpPr>
          <p:cNvPr id="9" name="TextBox 8"/>
          <p:cNvSpPr txBox="1"/>
          <p:nvPr/>
        </p:nvSpPr>
        <p:spPr>
          <a:xfrm>
            <a:off x="8229600" y="2944368"/>
            <a:ext cx="3337560" cy="1993392"/>
          </a:xfrm>
          <a:prstGeom prst="rect">
            <a:avLst/>
          </a:prstGeom>
          <a:noFill/>
        </p:spPr>
        <p:txBody>
          <a:bodyPr wrap="square" lIns="0" tIns="0" rIns="0" bIns="0" anchor="ctr">
            <a:spAutoFit/>
          </a:bodyPr>
          <a:lstStyle/>
          <a:p>
            <a:pPr>
              <a:spcBef>
                <a:spcPts val="0"/>
              </a:spcBef>
              <a:spcAft>
                <a:spcPts val="200"/>
              </a:spcAft>
            </a:pPr>
            <a:r>
              <a:rPr sz="1900" b="0">
                <a:solidFill>
                  <a:srgbClr val="000000"/>
                </a:solidFill>
                <a:latin typeface="Calibri"/>
              </a:rPr>
              <a:t>Periodi di validità, date di scadenza, testo libero e allegati supportano la revisione e l’audit trail.</a:t>
            </a:r>
          </a:p>
        </p:txBody>
      </p:sp>
      <p:sp>
        <p:nvSpPr>
          <p:cNvPr id="10" name="TextBox 9"/>
          <p:cNvSpPr txBox="1"/>
          <p:nvPr/>
        </p:nvSpPr>
        <p:spPr>
          <a:xfrm>
            <a:off x="548640" y="5193792"/>
            <a:ext cx="10972800" cy="850392"/>
          </a:xfrm>
          <a:prstGeom prst="rect">
            <a:avLst/>
          </a:prstGeom>
          <a:noFill/>
        </p:spPr>
        <p:txBody>
          <a:bodyPr wrap="square" lIns="0" tIns="0" rIns="0" bIns="0" anchor="ctr">
            <a:spAutoFit/>
          </a:bodyPr>
          <a:lstStyle/>
          <a:p>
            <a:pPr>
              <a:spcBef>
                <a:spcPts val="0"/>
              </a:spcBef>
              <a:spcAft>
                <a:spcPts val="200"/>
              </a:spcAft>
            </a:pPr>
            <a:r>
              <a:rPr sz="1900" b="1">
                <a:solidFill>
                  <a:srgbClr val="000000"/>
                </a:solidFill>
                <a:latin typeface="Calibri"/>
              </a:rPr>
              <a:t>L’architettura enterprise di Envizi supporta centinaia di tipi di dati, inclusi Scope 1, 2 e 3, metriche aziendali e dati di mercato.</a:t>
            </a:r>
          </a:p>
        </p:txBody>
      </p:sp>
    </p:spTree>
    <p:extLst>
      <p:ext uri="{BB962C8B-B14F-4D97-AF65-F5344CB8AC3E}">
        <p14:creationId xmlns:p14="http://schemas.microsoft.com/office/powerpoint/2010/main" val="851715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CAA17-66CA-5DA3-B039-8AF81EDFB2B8}"/>
            </a:ext>
          </a:extLst>
        </p:cNvPr>
        <p:cNvGrpSpPr/>
        <p:nvPr/>
      </p:nvGrpSpPr>
      <p:grpSpPr>
        <a:xfrm>
          <a:off x="0" y="0"/>
          <a:ext cx="0" cy="0"/>
          <a:chOff x="0" y="0"/>
          <a:chExt cx="0" cy="0"/>
        </a:xfrm>
      </p:grpSpPr>
      <p:sp>
        <p:nvSpPr>
          <p:cNvPr id="2" name="TextBox 1"/>
          <p:cNvSpPr txBox="1"/>
          <p:nvPr/>
        </p:nvSpPr>
        <p:spPr>
          <a:xfrm>
            <a:off x="548640" y="365760"/>
            <a:ext cx="11018520" cy="566928"/>
          </a:xfrm>
          <a:prstGeom prst="rect">
            <a:avLst/>
          </a:prstGeom>
          <a:noFill/>
        </p:spPr>
        <p:txBody>
          <a:bodyPr wrap="square" lIns="0" tIns="0" rIns="0" bIns="0" anchor="ctr">
            <a:spAutoFit/>
          </a:bodyPr>
          <a:lstStyle/>
          <a:p>
            <a:pPr>
              <a:spcBef>
                <a:spcPts val="0"/>
              </a:spcBef>
              <a:spcAft>
                <a:spcPts val="200"/>
              </a:spcAft>
            </a:pPr>
            <a:r>
              <a:rPr sz="2400" b="1">
                <a:solidFill>
                  <a:srgbClr val="000000"/>
                </a:solidFill>
                <a:latin typeface="Calibri"/>
              </a:rPr>
              <a:t>Il calcolo della CO₂ in IBM Envizi</a:t>
            </a:r>
          </a:p>
        </p:txBody>
      </p:sp>
      <p:sp>
        <p:nvSpPr>
          <p:cNvPr id="3" name="TextBox 2"/>
          <p:cNvSpPr txBox="1"/>
          <p:nvPr/>
        </p:nvSpPr>
        <p:spPr>
          <a:xfrm>
            <a:off x="548640" y="1042415"/>
            <a:ext cx="10881360" cy="612648"/>
          </a:xfrm>
          <a:prstGeom prst="rect">
            <a:avLst/>
          </a:prstGeom>
          <a:noFill/>
        </p:spPr>
        <p:txBody>
          <a:bodyPr wrap="square" lIns="0" tIns="0" rIns="0" bIns="0" anchor="ctr">
            <a:spAutoFit/>
          </a:bodyPr>
          <a:lstStyle/>
          <a:p>
            <a:pPr>
              <a:spcBef>
                <a:spcPts val="0"/>
              </a:spcBef>
              <a:spcAft>
                <a:spcPts val="200"/>
              </a:spcAft>
            </a:pPr>
            <a:r>
              <a:rPr sz="2100" b="0">
                <a:solidFill>
                  <a:srgbClr val="000000"/>
                </a:solidFill>
                <a:latin typeface="Calibri"/>
              </a:rPr>
              <a:t>Riconoscimenti nel mercato della gestione del carbonio</a:t>
            </a:r>
          </a:p>
        </p:txBody>
      </p:sp>
      <p:sp>
        <p:nvSpPr>
          <p:cNvPr id="4" name="TextBox 3"/>
          <p:cNvSpPr txBox="1"/>
          <p:nvPr/>
        </p:nvSpPr>
        <p:spPr>
          <a:xfrm>
            <a:off x="548640" y="1847088"/>
            <a:ext cx="5212080" cy="411480"/>
          </a:xfrm>
          <a:prstGeom prst="rect">
            <a:avLst/>
          </a:prstGeom>
          <a:noFill/>
        </p:spPr>
        <p:txBody>
          <a:bodyPr wrap="square" lIns="0" tIns="0" rIns="0" bIns="0" anchor="ctr">
            <a:spAutoFit/>
          </a:bodyPr>
          <a:lstStyle/>
          <a:p>
            <a:pPr>
              <a:spcBef>
                <a:spcPts val="0"/>
              </a:spcBef>
              <a:spcAft>
                <a:spcPts val="200"/>
              </a:spcAft>
            </a:pPr>
            <a:r>
              <a:rPr sz="2000" b="1">
                <a:solidFill>
                  <a:srgbClr val="00564B"/>
                </a:solidFill>
                <a:latin typeface="Calibri"/>
              </a:rPr>
              <a:t>VERDANTIX</a:t>
            </a:r>
          </a:p>
        </p:txBody>
      </p:sp>
      <p:sp>
        <p:nvSpPr>
          <p:cNvPr id="5" name="TextBox 4"/>
          <p:cNvSpPr txBox="1"/>
          <p:nvPr/>
        </p:nvSpPr>
        <p:spPr>
          <a:xfrm>
            <a:off x="548640" y="2414016"/>
            <a:ext cx="5120640" cy="2331720"/>
          </a:xfrm>
          <a:prstGeom prst="rect">
            <a:avLst/>
          </a:prstGeom>
          <a:noFill/>
        </p:spPr>
        <p:txBody>
          <a:bodyPr wrap="square" lIns="0" tIns="0" rIns="0" bIns="0" anchor="ctr">
            <a:spAutoFit/>
          </a:bodyPr>
          <a:lstStyle/>
          <a:p>
            <a:pPr>
              <a:spcBef>
                <a:spcPts val="0"/>
              </a:spcBef>
              <a:spcAft>
                <a:spcPts val="200"/>
              </a:spcAft>
            </a:pPr>
            <a:r>
              <a:rPr sz="1750" b="0">
                <a:solidFill>
                  <a:srgbClr val="000000"/>
                </a:solidFill>
                <a:latin typeface="Calibri"/>
              </a:rPr>
              <a:t>Nella sua valutazione, Verdantix afferma che IBM «dovrebbe essere inclusa nelle liste ristrette dalle aziende che cercano una piattaforma di gestione del carbonio completa e affidabile».</a:t>
            </a:r>
          </a:p>
        </p:txBody>
      </p:sp>
      <p:sp>
        <p:nvSpPr>
          <p:cNvPr id="6" name="TextBox 5"/>
          <p:cNvSpPr txBox="1"/>
          <p:nvPr/>
        </p:nvSpPr>
        <p:spPr>
          <a:xfrm>
            <a:off x="6217920" y="1847088"/>
            <a:ext cx="5303520" cy="411480"/>
          </a:xfrm>
          <a:prstGeom prst="rect">
            <a:avLst/>
          </a:prstGeom>
          <a:noFill/>
        </p:spPr>
        <p:txBody>
          <a:bodyPr wrap="square" lIns="0" tIns="0" rIns="0" bIns="0" anchor="ctr">
            <a:spAutoFit/>
          </a:bodyPr>
          <a:lstStyle/>
          <a:p>
            <a:pPr>
              <a:spcBef>
                <a:spcPts val="0"/>
              </a:spcBef>
              <a:spcAft>
                <a:spcPts val="200"/>
              </a:spcAft>
            </a:pPr>
            <a:r>
              <a:rPr sz="2000" b="1">
                <a:solidFill>
                  <a:srgbClr val="00564B"/>
                </a:solidFill>
                <a:latin typeface="Calibri"/>
              </a:rPr>
              <a:t>IDC MARKETSCAPE 2024</a:t>
            </a:r>
          </a:p>
        </p:txBody>
      </p:sp>
      <p:sp>
        <p:nvSpPr>
          <p:cNvPr id="7" name="TextBox 6"/>
          <p:cNvSpPr txBox="1"/>
          <p:nvPr/>
        </p:nvSpPr>
        <p:spPr>
          <a:xfrm>
            <a:off x="6217920" y="2414016"/>
            <a:ext cx="5120640" cy="2423160"/>
          </a:xfrm>
          <a:prstGeom prst="rect">
            <a:avLst/>
          </a:prstGeom>
          <a:noFill/>
        </p:spPr>
        <p:txBody>
          <a:bodyPr wrap="square" lIns="0" tIns="0" rIns="0" bIns="0" anchor="ctr">
            <a:spAutoFit/>
          </a:bodyPr>
          <a:lstStyle/>
          <a:p>
            <a:pPr>
              <a:spcBef>
                <a:spcPts val="0"/>
              </a:spcBef>
              <a:spcAft>
                <a:spcPts val="200"/>
              </a:spcAft>
            </a:pPr>
            <a:r>
              <a:rPr sz="1730" b="0">
                <a:solidFill>
                  <a:srgbClr val="000000"/>
                </a:solidFill>
                <a:latin typeface="Calibri"/>
              </a:rPr>
              <a:t>IBM Envizi si colloca nella categoria Leader per le applicazioni di contabilità e gestione del carbonio. IDC la considera adatta a utenti esperti che cercano una piattaforma data-first per metriche di alta qualità e analisi delle emissioni.</a:t>
            </a:r>
          </a:p>
        </p:txBody>
      </p:sp>
      <p:sp>
        <p:nvSpPr>
          <p:cNvPr id="8" name="TextBox 7"/>
          <p:cNvSpPr txBox="1"/>
          <p:nvPr/>
        </p:nvSpPr>
        <p:spPr>
          <a:xfrm>
            <a:off x="6217920" y="5029200"/>
            <a:ext cx="5074920" cy="649224"/>
          </a:xfrm>
          <a:prstGeom prst="rect">
            <a:avLst/>
          </a:prstGeom>
          <a:noFill/>
        </p:spPr>
        <p:txBody>
          <a:bodyPr wrap="square" lIns="0" tIns="0" rIns="0" bIns="0" anchor="ctr">
            <a:spAutoFit/>
          </a:bodyPr>
          <a:lstStyle/>
          <a:p>
            <a:pPr>
              <a:spcBef>
                <a:spcPts val="0"/>
              </a:spcBef>
              <a:spcAft>
                <a:spcPts val="200"/>
              </a:spcAft>
            </a:pPr>
            <a:r>
              <a:rPr sz="1750" b="1">
                <a:solidFill>
                  <a:srgbClr val="000000"/>
                </a:solidFill>
                <a:latin typeface="Calibri"/>
              </a:rPr>
              <a:t>IDC evidenzia le funzionalità di reporting per gli Scope 1, 2 e 3.</a:t>
            </a:r>
          </a:p>
        </p:txBody>
      </p:sp>
    </p:spTree>
    <p:extLst>
      <p:ext uri="{BB962C8B-B14F-4D97-AF65-F5344CB8AC3E}">
        <p14:creationId xmlns:p14="http://schemas.microsoft.com/office/powerpoint/2010/main" val="4183360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sto originale sotto il titolo"/>
          <p:cNvSpPr txBox="1"/>
          <p:nvPr/>
        </p:nvSpPr>
        <p:spPr>
          <a:xfrm>
            <a:off x="548640" y="5641848"/>
            <a:ext cx="10881360" cy="307777"/>
          </a:xfrm>
          <a:prstGeom prst="rect">
            <a:avLst/>
          </a:prstGeom>
          <a:noFill/>
        </p:spPr>
        <p:txBody>
          <a:bodyPr wrap="square" lIns="0" tIns="0" rIns="0" bIns="0" anchor="t">
            <a:spAutoFit/>
          </a:bodyPr>
          <a:lstStyle/>
          <a:p>
            <a:pPr algn="l">
              <a:defRPr sz="2000">
                <a:solidFill>
                  <a:srgbClr val="073E31"/>
                </a:solidFill>
              </a:defRPr>
            </a:pPr>
            <a:r>
              <a:rPr sz="2000" b="0" i="0" dirty="0">
                <a:solidFill>
                  <a:srgbClr val="073E31"/>
                </a:solidFill>
                <a:latin typeface="Calibri"/>
              </a:rPr>
              <a:t> </a:t>
            </a:r>
            <a:endParaRPr sz="2400" b="0" i="0" dirty="0">
              <a:solidFill>
                <a:srgbClr val="D8E8DC"/>
              </a:solidFill>
              <a:latin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a:defRPr sz="2000">
                <a:solidFill>
                  <a:srgbClr val="073E31"/>
                </a:solidFill>
              </a:defRPr>
            </a:pPr>
            <a:endParaRPr lang="it-IT"/>
          </a:p>
        </p:txBody>
      </p:sp>
      <p:sp>
        <p:nvSpPr>
          <p:cNvPr id="5" name="TextBox 4"/>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Grazie</a:t>
            </a:r>
          </a:p>
        </p:txBody>
      </p:sp>
      <p:sp>
        <p:nvSpPr>
          <p:cNvPr id="2" name="TextBox 3">
            <a:extLst>
              <a:ext uri="{FF2B5EF4-FFF2-40B4-BE49-F238E27FC236}">
                <a16:creationId xmlns:a16="http://schemas.microsoft.com/office/drawing/2014/main" id="{6EF24286-BAAB-56CB-EE5D-375D369C0873}"/>
              </a:ext>
            </a:extLst>
          </p:cNvPr>
          <p:cNvSpPr txBox="1"/>
          <p:nvPr/>
        </p:nvSpPr>
        <p:spPr>
          <a:xfrm>
            <a:off x="10058400" y="219456"/>
            <a:ext cx="2743200" cy="25603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F62FE"/>
                </a:solidFill>
                <a:effectLst/>
                <a:uLnTx/>
                <a:uFillTx/>
                <a:latin typeface="IBM Plex Sans"/>
                <a:ea typeface="+mn-ea"/>
                <a:cs typeface="+mn-cs"/>
              </a:rPr>
              <a:t>IBM ENVIZI</a:t>
            </a:r>
          </a:p>
        </p:txBody>
      </p:sp>
      <p:sp>
        <p:nvSpPr>
          <p:cNvPr id="3" name="TextBox 4">
            <a:extLst>
              <a:ext uri="{FF2B5EF4-FFF2-40B4-BE49-F238E27FC236}">
                <a16:creationId xmlns:a16="http://schemas.microsoft.com/office/drawing/2014/main" id="{8CDF11D0-1C53-0547-9873-8FB7E1E39671}"/>
              </a:ext>
            </a:extLst>
          </p:cNvPr>
          <p:cNvSpPr txBox="1"/>
          <p:nvPr/>
        </p:nvSpPr>
        <p:spPr>
          <a:xfrm>
            <a:off x="640080" y="1280160"/>
            <a:ext cx="6217920" cy="64008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dirty="0">
                <a:ln>
                  <a:noFill/>
                </a:ln>
                <a:solidFill>
                  <a:srgbClr val="11233F"/>
                </a:solidFill>
                <a:effectLst/>
                <a:uLnTx/>
                <a:uFillTx/>
                <a:latin typeface="IBM Plex Sans"/>
                <a:ea typeface="+mn-ea"/>
                <a:cs typeface="+mn-cs"/>
              </a:rPr>
              <a:t>Thank you</a:t>
            </a:r>
          </a:p>
        </p:txBody>
      </p:sp>
      <p:sp>
        <p:nvSpPr>
          <p:cNvPr id="4" name="Rectangle 5">
            <a:extLst>
              <a:ext uri="{FF2B5EF4-FFF2-40B4-BE49-F238E27FC236}">
                <a16:creationId xmlns:a16="http://schemas.microsoft.com/office/drawing/2014/main" id="{46CC8070-723C-29F9-6B8C-870A277CC8CE}"/>
              </a:ext>
            </a:extLst>
          </p:cNvPr>
          <p:cNvSpPr/>
          <p:nvPr/>
        </p:nvSpPr>
        <p:spPr>
          <a:xfrm>
            <a:off x="640080" y="2084831"/>
            <a:ext cx="1005840"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6">
            <a:extLst>
              <a:ext uri="{FF2B5EF4-FFF2-40B4-BE49-F238E27FC236}">
                <a16:creationId xmlns:a16="http://schemas.microsoft.com/office/drawing/2014/main" id="{C5511781-77E8-AB51-35E5-D1D2C2451BA2}"/>
              </a:ext>
            </a:extLst>
          </p:cNvPr>
          <p:cNvSpPr txBox="1"/>
          <p:nvPr/>
        </p:nvSpPr>
        <p:spPr>
          <a:xfrm>
            <a:off x="640080" y="2423160"/>
            <a:ext cx="5897880" cy="43891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5B687A"/>
                </a:solidFill>
                <a:effectLst/>
                <a:uLnTx/>
                <a:uFillTx/>
                <a:latin typeface="IBM Plex Sans"/>
                <a:ea typeface="+mn-ea"/>
                <a:cs typeface="+mn-cs"/>
              </a:rPr>
              <a:t>Sustainability data that supports reporting, decisions and business value.</a:t>
            </a:r>
          </a:p>
        </p:txBody>
      </p:sp>
      <p:sp>
        <p:nvSpPr>
          <p:cNvPr id="9" name="TextBox 7">
            <a:extLst>
              <a:ext uri="{FF2B5EF4-FFF2-40B4-BE49-F238E27FC236}">
                <a16:creationId xmlns:a16="http://schemas.microsoft.com/office/drawing/2014/main" id="{8CE9F074-FDBC-705B-960A-8459F4BC17DE}"/>
              </a:ext>
            </a:extLst>
          </p:cNvPr>
          <p:cNvSpPr txBox="1"/>
          <p:nvPr/>
        </p:nvSpPr>
        <p:spPr>
          <a:xfrm>
            <a:off x="640080" y="3822191"/>
            <a:ext cx="4206240" cy="27432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1233F"/>
                </a:solidFill>
                <a:effectLst/>
                <a:uLnTx/>
                <a:uFillTx/>
                <a:latin typeface="IBM Plex Sans"/>
                <a:ea typeface="+mn-ea"/>
                <a:cs typeface="+mn-cs"/>
              </a:rPr>
              <a:t>Felice Petrignano</a:t>
            </a:r>
          </a:p>
        </p:txBody>
      </p:sp>
      <p:sp>
        <p:nvSpPr>
          <p:cNvPr id="10" name="TextBox 8">
            <a:extLst>
              <a:ext uri="{FF2B5EF4-FFF2-40B4-BE49-F238E27FC236}">
                <a16:creationId xmlns:a16="http://schemas.microsoft.com/office/drawing/2014/main" id="{434EFB8C-0790-AAB3-DB53-C9B2F350C225}"/>
              </a:ext>
            </a:extLst>
          </p:cNvPr>
          <p:cNvSpPr txBox="1"/>
          <p:nvPr/>
        </p:nvSpPr>
        <p:spPr>
          <a:xfrm>
            <a:off x="640080" y="4206240"/>
            <a:ext cx="512064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Senior Technology Specialist</a:t>
            </a:r>
          </a:p>
        </p:txBody>
      </p:sp>
      <p:sp>
        <p:nvSpPr>
          <p:cNvPr id="11" name="TextBox 9">
            <a:extLst>
              <a:ext uri="{FF2B5EF4-FFF2-40B4-BE49-F238E27FC236}">
                <a16:creationId xmlns:a16="http://schemas.microsoft.com/office/drawing/2014/main" id="{6BEDC525-C44E-79D2-F7A4-4D024636405B}"/>
              </a:ext>
            </a:extLst>
          </p:cNvPr>
          <p:cNvSpPr txBox="1"/>
          <p:nvPr/>
        </p:nvSpPr>
        <p:spPr>
          <a:xfrm>
            <a:off x="640080" y="4517136"/>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IBM Italy</a:t>
            </a:r>
          </a:p>
        </p:txBody>
      </p:sp>
      <p:sp>
        <p:nvSpPr>
          <p:cNvPr id="12" name="TextBox 10">
            <a:extLst>
              <a:ext uri="{FF2B5EF4-FFF2-40B4-BE49-F238E27FC236}">
                <a16:creationId xmlns:a16="http://schemas.microsoft.com/office/drawing/2014/main" id="{F621139D-38E0-2953-A093-2FC128265975}"/>
              </a:ext>
            </a:extLst>
          </p:cNvPr>
          <p:cNvSpPr txBox="1"/>
          <p:nvPr/>
        </p:nvSpPr>
        <p:spPr>
          <a:xfrm>
            <a:off x="640080" y="5047488"/>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0F62FE"/>
                </a:solidFill>
                <a:effectLst/>
                <a:uLnTx/>
                <a:uFillTx/>
                <a:latin typeface="IBM Plex Sans"/>
                <a:ea typeface="+mn-ea"/>
                <a:cs typeface="+mn-cs"/>
              </a:rPr>
              <a:t>linkedin.com</a:t>
            </a:r>
            <a:r>
              <a:rPr kumimoji="0" sz="1400" b="1" i="0" u="none" strike="noStrike" kern="1200" cap="none" spc="0" normalizeH="0" baseline="0" noProof="0" dirty="0">
                <a:ln>
                  <a:noFill/>
                </a:ln>
                <a:solidFill>
                  <a:srgbClr val="0F62FE"/>
                </a:solidFill>
                <a:effectLst/>
                <a:uLnTx/>
                <a:uFillTx/>
                <a:latin typeface="IBM Plex Sans"/>
                <a:ea typeface="+mn-ea"/>
                <a:cs typeface="+mn-cs"/>
              </a:rPr>
              <a:t>/in/</a:t>
            </a:r>
            <a:r>
              <a:rPr kumimoji="0" sz="1400" b="1" i="0" u="none" strike="noStrike" kern="1200" cap="none" spc="0" normalizeH="0" baseline="0" noProof="0" dirty="0" err="1">
                <a:ln>
                  <a:noFill/>
                </a:ln>
                <a:solidFill>
                  <a:srgbClr val="0F62FE"/>
                </a:solidFill>
                <a:effectLst/>
                <a:uLnTx/>
                <a:uFillTx/>
                <a:latin typeface="IBM Plex Sans"/>
                <a:ea typeface="+mn-ea"/>
                <a:cs typeface="+mn-cs"/>
              </a:rPr>
              <a:t>fpetrignano</a:t>
            </a:r>
            <a:endParaRPr kumimoji="0" sz="1400" b="1" i="0" u="none" strike="noStrike" kern="1200" cap="none" spc="0" normalizeH="0" baseline="0" noProof="0" dirty="0">
              <a:ln>
                <a:noFill/>
              </a:ln>
              <a:solidFill>
                <a:srgbClr val="0F62FE"/>
              </a:solidFill>
              <a:effectLst/>
              <a:uLnTx/>
              <a:uFillTx/>
              <a:latin typeface="IBM Plex Sans"/>
              <a:ea typeface="+mn-ea"/>
              <a:cs typeface="+mn-cs"/>
            </a:endParaRPr>
          </a:p>
        </p:txBody>
      </p:sp>
      <p:sp>
        <p:nvSpPr>
          <p:cNvPr id="13" name="Rectangle 11">
            <a:extLst>
              <a:ext uri="{FF2B5EF4-FFF2-40B4-BE49-F238E27FC236}">
                <a16:creationId xmlns:a16="http://schemas.microsoft.com/office/drawing/2014/main" id="{306529D3-89C5-8762-7A9F-5369BAAECD79}"/>
              </a:ext>
            </a:extLst>
          </p:cNvPr>
          <p:cNvSpPr/>
          <p:nvPr/>
        </p:nvSpPr>
        <p:spPr>
          <a:xfrm>
            <a:off x="7635240" y="640080"/>
            <a:ext cx="3794760" cy="544068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2">
            <a:extLst>
              <a:ext uri="{FF2B5EF4-FFF2-40B4-BE49-F238E27FC236}">
                <a16:creationId xmlns:a16="http://schemas.microsoft.com/office/drawing/2014/main" id="{9DED0332-C7E5-AB26-11BC-B0241C7CD2B4}"/>
              </a:ext>
            </a:extLst>
          </p:cNvPr>
          <p:cNvSpPr txBox="1"/>
          <p:nvPr/>
        </p:nvSpPr>
        <p:spPr>
          <a:xfrm>
            <a:off x="8001000" y="1078992"/>
            <a:ext cx="3063240" cy="274320"/>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F62FE"/>
                </a:solidFill>
                <a:effectLst/>
                <a:uLnTx/>
                <a:uFillTx/>
                <a:latin typeface="IBM Plex Sans"/>
                <a:ea typeface="+mn-ea"/>
                <a:cs typeface="+mn-cs"/>
              </a:rPr>
              <a:t>LET’S CONNECT</a:t>
            </a:r>
          </a:p>
        </p:txBody>
      </p:sp>
      <p:pic>
        <p:nvPicPr>
          <p:cNvPr id="15" name="Picture 13" descr="linkedin_qr_original.png">
            <a:extLst>
              <a:ext uri="{FF2B5EF4-FFF2-40B4-BE49-F238E27FC236}">
                <a16:creationId xmlns:a16="http://schemas.microsoft.com/office/drawing/2014/main" id="{5488A219-564D-1AA5-DC0B-80CAF2A9B24A}"/>
              </a:ext>
            </a:extLst>
          </p:cNvPr>
          <p:cNvPicPr>
            <a:picLocks noChangeAspect="1"/>
          </p:cNvPicPr>
          <p:nvPr/>
        </p:nvPicPr>
        <p:blipFill>
          <a:blip r:embed="rId2"/>
          <a:stretch>
            <a:fillRect/>
          </a:stretch>
        </p:blipFill>
        <p:spPr>
          <a:xfrm>
            <a:off x="8267735" y="1600200"/>
            <a:ext cx="2529767" cy="3154680"/>
          </a:xfrm>
          <a:prstGeom prst="rect">
            <a:avLst/>
          </a:prstGeom>
        </p:spPr>
      </p:pic>
      <p:sp>
        <p:nvSpPr>
          <p:cNvPr id="16" name="TextBox 14">
            <a:extLst>
              <a:ext uri="{FF2B5EF4-FFF2-40B4-BE49-F238E27FC236}">
                <a16:creationId xmlns:a16="http://schemas.microsoft.com/office/drawing/2014/main" id="{D4866AE4-DC69-6812-12BF-9F23A0B9733F}"/>
              </a:ext>
            </a:extLst>
          </p:cNvPr>
          <p:cNvSpPr txBox="1"/>
          <p:nvPr/>
        </p:nvSpPr>
        <p:spPr>
          <a:xfrm>
            <a:off x="8001000" y="5074920"/>
            <a:ext cx="3063240" cy="420624"/>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11233F"/>
                </a:solidFill>
                <a:effectLst/>
                <a:uLnTx/>
                <a:uFillTx/>
                <a:latin typeface="IBM Plex Sans"/>
                <a:ea typeface="+mn-ea"/>
                <a:cs typeface="+mn-cs"/>
              </a:rPr>
              <a:t>Scan the QR code to connect on LinkedIn</a:t>
            </a:r>
          </a:p>
        </p:txBody>
      </p:sp>
    </p:spTree>
    <p:extLst>
      <p:ext uri="{BB962C8B-B14F-4D97-AF65-F5344CB8AC3E}">
        <p14:creationId xmlns:p14="http://schemas.microsoft.com/office/powerpoint/2010/main" val="390417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2">
            <a:extLst>
              <a:ext uri="{FF2B5EF4-FFF2-40B4-BE49-F238E27FC236}">
                <a16:creationId xmlns:a16="http://schemas.microsoft.com/office/drawing/2014/main" id="{E5692321-2990-921A-697F-F435F6803838}"/>
              </a:ext>
            </a:extLst>
          </p:cNvPr>
          <p:cNvSpPr/>
          <p:nvPr/>
        </p:nvSpPr>
        <p:spPr>
          <a:xfrm>
            <a:off x="9062519" y="176407"/>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36576" tIns="0" rIns="36576"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libri"/>
                <a:cs typeface="Calibri"/>
              </a:rPr>
              <a:t>IBM Envizi</a:t>
            </a:r>
            <a:endParaRPr kumimoji="0" lang="it-IT" sz="1800" b="0" i="0" u="none" strike="noStrike" kern="1200" cap="none" spc="0" normalizeH="0" baseline="0" noProof="0">
              <a:ln>
                <a:noFill/>
              </a:ln>
              <a:solidFill>
                <a:srgbClr val="FFFFFF"/>
              </a:solidFill>
              <a:effectLst/>
              <a:uLnTx/>
              <a:uFillTx/>
              <a:latin typeface="Calibri"/>
              <a:cs typeface="Calibri"/>
            </a:endParaRPr>
          </a:p>
        </p:txBody>
      </p:sp>
      <p:sp>
        <p:nvSpPr>
          <p:cNvPr id="3"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Calibri"/>
              <a:cs typeface="Calibri"/>
            </a:endParaRPr>
          </a:p>
        </p:txBody>
      </p:sp>
      <p:sp>
        <p:nvSpPr>
          <p:cNvPr id="4" name="TextBox 1"/>
          <p:cNvSpPr txBox="1"/>
          <p:nvPr/>
        </p:nvSpPr>
        <p:spPr>
          <a:xfrm>
            <a:off x="640080" y="457200"/>
            <a:ext cx="10908792" cy="369332"/>
          </a:xfrm>
          <a:prstGeom prst="rect">
            <a:avLst/>
          </a:prstGeom>
          <a:noFill/>
        </p:spPr>
        <p:txBody>
          <a:bodyPr wrap="square" lIns="36576" tIns="0" rIns="36576"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073E31"/>
                </a:solidFill>
                <a:latin typeface="Calibri"/>
              </a:defRPr>
            </a:pPr>
            <a:r>
              <a:rPr kumimoji="0" lang="it-IT" sz="2400" b="1" i="0" u="none" strike="noStrike" kern="1200" cap="none" spc="0" normalizeH="0" baseline="0" noProof="0">
                <a:ln>
                  <a:noFill/>
                </a:ln>
                <a:solidFill>
                  <a:srgbClr val="073E31"/>
                </a:solidFill>
                <a:effectLst/>
                <a:uLnTx/>
                <a:uFillTx/>
                <a:latin typeface="Calibri"/>
                <a:cs typeface="Calibri"/>
              </a:rPr>
              <a:t>Riferimenti ufficiali</a:t>
            </a:r>
            <a:r>
              <a:rPr kumimoji="0" sz="2400" b="1" i="0" u="none" strike="noStrike" kern="1200" cap="none" spc="0" normalizeH="0" baseline="0" noProof="0">
                <a:ln>
                  <a:noFill/>
                </a:ln>
                <a:solidFill>
                  <a:srgbClr val="073E31"/>
                </a:solidFill>
                <a:effectLst/>
                <a:uLnTx/>
                <a:uFillTx/>
                <a:latin typeface="Calibri"/>
                <a:cs typeface="Calibri"/>
              </a:rPr>
              <a:t> IBM</a:t>
            </a:r>
          </a:p>
        </p:txBody>
      </p:sp>
      <p:sp>
        <p:nvSpPr>
          <p:cNvPr id="5" name="TextBox 4"/>
          <p:cNvSpPr txBox="1"/>
          <p:nvPr/>
        </p:nvSpPr>
        <p:spPr>
          <a:xfrm>
            <a:off x="640080" y="1508760"/>
            <a:ext cx="5074920" cy="323165"/>
          </a:xfrm>
          <a:prstGeom prst="rect">
            <a:avLst/>
          </a:prstGeom>
          <a:noFill/>
        </p:spPr>
        <p:txBody>
          <a:bodyPr wrap="square" lIns="0" tIns="0" rIns="0" bIns="0">
            <a:spAutoFit/>
          </a:bodyPr>
          <a:lstStyle/>
          <a:p>
            <a:r>
              <a:rPr lang="it-IT" sz="2100" b="0" u="sng">
                <a:solidFill>
                  <a:srgbClr val="144D40"/>
                </a:solidFill>
                <a:latin typeface="Calibri"/>
                <a:hlinkClick r:id="rId3"/>
              </a:rPr>
              <a:t>Report di audit e Audit History</a:t>
            </a:r>
          </a:p>
        </p:txBody>
      </p:sp>
      <p:sp>
        <p:nvSpPr>
          <p:cNvPr id="6" name="TextBox 5"/>
          <p:cNvSpPr txBox="1"/>
          <p:nvPr/>
        </p:nvSpPr>
        <p:spPr>
          <a:xfrm>
            <a:off x="640080" y="1984248"/>
            <a:ext cx="5074920" cy="261610"/>
          </a:xfrm>
          <a:prstGeom prst="rect">
            <a:avLst/>
          </a:prstGeom>
          <a:noFill/>
        </p:spPr>
        <p:txBody>
          <a:bodyPr wrap="square" lIns="0" tIns="0" rIns="0" bIns="0">
            <a:spAutoFit/>
          </a:bodyPr>
          <a:lstStyle/>
          <a:p>
            <a:r>
              <a:rPr lang="it-IT" sz="1700" b="0">
                <a:solidFill>
                  <a:srgbClr val="333333"/>
                </a:solidFill>
                <a:latin typeface="Calibri"/>
              </a:rPr>
              <a:t>Modifiche degli utenti nel periodo selezionato.</a:t>
            </a:r>
          </a:p>
        </p:txBody>
      </p:sp>
      <p:sp>
        <p:nvSpPr>
          <p:cNvPr id="7" name="TextBox 6"/>
          <p:cNvSpPr txBox="1"/>
          <p:nvPr/>
        </p:nvSpPr>
        <p:spPr>
          <a:xfrm>
            <a:off x="640080" y="2752344"/>
            <a:ext cx="5074920" cy="323165"/>
          </a:xfrm>
          <a:prstGeom prst="rect">
            <a:avLst/>
          </a:prstGeom>
          <a:noFill/>
        </p:spPr>
        <p:txBody>
          <a:bodyPr wrap="square" lIns="0" tIns="0" rIns="0" bIns="0">
            <a:spAutoFit/>
          </a:bodyPr>
          <a:lstStyle/>
          <a:p>
            <a:r>
              <a:rPr lang="it-IT" sz="2100" b="0" u="sng">
                <a:solidFill>
                  <a:srgbClr val="144D40"/>
                </a:solidFill>
                <a:latin typeface="Calibri"/>
                <a:hlinkClick r:id="rId4"/>
              </a:rPr>
              <a:t>Report di estrazione</a:t>
            </a:r>
          </a:p>
        </p:txBody>
      </p:sp>
      <p:sp>
        <p:nvSpPr>
          <p:cNvPr id="8" name="TextBox 7"/>
          <p:cNvSpPr txBox="1"/>
          <p:nvPr/>
        </p:nvSpPr>
        <p:spPr>
          <a:xfrm>
            <a:off x="640080" y="3227832"/>
            <a:ext cx="5074920" cy="261610"/>
          </a:xfrm>
          <a:prstGeom prst="rect">
            <a:avLst/>
          </a:prstGeom>
          <a:noFill/>
        </p:spPr>
        <p:txBody>
          <a:bodyPr wrap="square" lIns="0" tIns="0" rIns="0" bIns="0">
            <a:spAutoFit/>
          </a:bodyPr>
          <a:lstStyle/>
          <a:p>
            <a:r>
              <a:rPr lang="it-IT" sz="1700" b="0">
                <a:solidFill>
                  <a:srgbClr val="333333"/>
                </a:solidFill>
                <a:latin typeface="Calibri"/>
              </a:rPr>
              <a:t>Audit History e Records &amp; Cost Audit.</a:t>
            </a:r>
          </a:p>
        </p:txBody>
      </p:sp>
      <p:sp>
        <p:nvSpPr>
          <p:cNvPr id="9" name="TextBox 8"/>
          <p:cNvSpPr txBox="1"/>
          <p:nvPr/>
        </p:nvSpPr>
        <p:spPr>
          <a:xfrm>
            <a:off x="640080" y="3995928"/>
            <a:ext cx="5074920" cy="323165"/>
          </a:xfrm>
          <a:prstGeom prst="rect">
            <a:avLst/>
          </a:prstGeom>
          <a:noFill/>
        </p:spPr>
        <p:txBody>
          <a:bodyPr wrap="square" lIns="0" tIns="0" rIns="0" bIns="0">
            <a:spAutoFit/>
          </a:bodyPr>
          <a:lstStyle/>
          <a:p>
            <a:r>
              <a:rPr lang="it-IT" sz="2100" b="0" u="sng">
                <a:solidFill>
                  <a:srgbClr val="144D40"/>
                </a:solidFill>
                <a:latin typeface="Calibri"/>
                <a:hlinkClick r:id="rId5"/>
              </a:rPr>
              <a:t>Note e allegati</a:t>
            </a:r>
          </a:p>
        </p:txBody>
      </p:sp>
      <p:sp>
        <p:nvSpPr>
          <p:cNvPr id="10" name="TextBox 9"/>
          <p:cNvSpPr txBox="1"/>
          <p:nvPr/>
        </p:nvSpPr>
        <p:spPr>
          <a:xfrm>
            <a:off x="640080" y="4471416"/>
            <a:ext cx="5074920" cy="261610"/>
          </a:xfrm>
          <a:prstGeom prst="rect">
            <a:avLst/>
          </a:prstGeom>
          <a:noFill/>
        </p:spPr>
        <p:txBody>
          <a:bodyPr wrap="square" lIns="0" tIns="0" rIns="0" bIns="0">
            <a:spAutoFit/>
          </a:bodyPr>
          <a:lstStyle/>
          <a:p>
            <a:r>
              <a:rPr lang="it-IT" sz="1700" b="0">
                <a:solidFill>
                  <a:srgbClr val="333333"/>
                </a:solidFill>
                <a:latin typeface="Calibri"/>
              </a:rPr>
              <a:t>Documenti di supporto e riepiloghi degli allegati.</a:t>
            </a:r>
          </a:p>
        </p:txBody>
      </p:sp>
      <p:sp>
        <p:nvSpPr>
          <p:cNvPr id="11" name="TextBox 10"/>
          <p:cNvSpPr txBox="1"/>
          <p:nvPr/>
        </p:nvSpPr>
        <p:spPr>
          <a:xfrm>
            <a:off x="6217920" y="1508760"/>
            <a:ext cx="5074920" cy="323165"/>
          </a:xfrm>
          <a:prstGeom prst="rect">
            <a:avLst/>
          </a:prstGeom>
          <a:noFill/>
        </p:spPr>
        <p:txBody>
          <a:bodyPr wrap="square" lIns="0" tIns="0" rIns="0" bIns="0">
            <a:spAutoFit/>
          </a:bodyPr>
          <a:lstStyle/>
          <a:p>
            <a:r>
              <a:rPr lang="it-IT" sz="2100" b="0" u="sng">
                <a:solidFill>
                  <a:srgbClr val="144D40"/>
                </a:solidFill>
                <a:latin typeface="Calibri"/>
                <a:hlinkClick r:id="rId6"/>
              </a:rPr>
              <a:t>Storico delle approvazioni</a:t>
            </a:r>
          </a:p>
        </p:txBody>
      </p:sp>
      <p:sp>
        <p:nvSpPr>
          <p:cNvPr id="12" name="TextBox 11"/>
          <p:cNvSpPr txBox="1"/>
          <p:nvPr/>
        </p:nvSpPr>
        <p:spPr>
          <a:xfrm>
            <a:off x="6217920" y="1984248"/>
            <a:ext cx="5074920" cy="261610"/>
          </a:xfrm>
          <a:prstGeom prst="rect">
            <a:avLst/>
          </a:prstGeom>
          <a:noFill/>
        </p:spPr>
        <p:txBody>
          <a:bodyPr wrap="square" lIns="0" tIns="0" rIns="0" bIns="0">
            <a:spAutoFit/>
          </a:bodyPr>
          <a:lstStyle/>
          <a:p>
            <a:r>
              <a:rPr lang="it-IT" sz="1700" b="0">
                <a:solidFill>
                  <a:srgbClr val="333333"/>
                </a:solidFill>
                <a:latin typeface="Calibri"/>
              </a:rPr>
              <a:t>Cambi di stato e commenti per le verifiche di audit.</a:t>
            </a:r>
          </a:p>
        </p:txBody>
      </p:sp>
      <p:sp>
        <p:nvSpPr>
          <p:cNvPr id="13" name="TextBox 12"/>
          <p:cNvSpPr txBox="1"/>
          <p:nvPr/>
        </p:nvSpPr>
        <p:spPr>
          <a:xfrm>
            <a:off x="6217920" y="2752344"/>
            <a:ext cx="5074920" cy="323165"/>
          </a:xfrm>
          <a:prstGeom prst="rect">
            <a:avLst/>
          </a:prstGeom>
          <a:noFill/>
        </p:spPr>
        <p:txBody>
          <a:bodyPr wrap="square" lIns="0" tIns="0" rIns="0" bIns="0">
            <a:spAutoFit/>
          </a:bodyPr>
          <a:lstStyle/>
          <a:p>
            <a:r>
              <a:rPr lang="it-IT" sz="2100" b="0" u="sng">
                <a:solidFill>
                  <a:srgbClr val="144D40"/>
                </a:solidFill>
                <a:latin typeface="Calibri"/>
                <a:hlinkClick r:id="rId7"/>
              </a:rPr>
              <a:t>Record bloccati e permessi</a:t>
            </a:r>
          </a:p>
        </p:txBody>
      </p:sp>
      <p:sp>
        <p:nvSpPr>
          <p:cNvPr id="14" name="TextBox 13"/>
          <p:cNvSpPr txBox="1"/>
          <p:nvPr/>
        </p:nvSpPr>
        <p:spPr>
          <a:xfrm>
            <a:off x="6217920" y="3227832"/>
            <a:ext cx="5074920" cy="261610"/>
          </a:xfrm>
          <a:prstGeom prst="rect">
            <a:avLst/>
          </a:prstGeom>
          <a:noFill/>
        </p:spPr>
        <p:txBody>
          <a:bodyPr wrap="square" lIns="0" tIns="0" rIns="0" bIns="0">
            <a:spAutoFit/>
          </a:bodyPr>
          <a:lstStyle/>
          <a:p>
            <a:r>
              <a:rPr lang="it-IT" sz="1700" b="0">
                <a:solidFill>
                  <a:srgbClr val="333333"/>
                </a:solidFill>
                <a:latin typeface="Calibri"/>
              </a:rPr>
              <a:t>Regole di blocco e autorizzazioni di modifica.</a:t>
            </a:r>
          </a:p>
        </p:txBody>
      </p:sp>
      <p:sp>
        <p:nvSpPr>
          <p:cNvPr id="15" name="TextBox 14"/>
          <p:cNvSpPr txBox="1"/>
          <p:nvPr/>
        </p:nvSpPr>
        <p:spPr>
          <a:xfrm>
            <a:off x="6217920" y="3995928"/>
            <a:ext cx="5074920" cy="323165"/>
          </a:xfrm>
          <a:prstGeom prst="rect">
            <a:avLst/>
          </a:prstGeom>
          <a:noFill/>
        </p:spPr>
        <p:txBody>
          <a:bodyPr wrap="square" lIns="0" tIns="0" rIns="0" bIns="0">
            <a:spAutoFit/>
          </a:bodyPr>
          <a:lstStyle/>
          <a:p>
            <a:r>
              <a:rPr lang="it-IT" sz="2100" b="0" u="sng">
                <a:solidFill>
                  <a:srgbClr val="144D40"/>
                </a:solidFill>
                <a:latin typeface="Calibri"/>
                <a:hlinkClick r:id="rId8"/>
              </a:rPr>
              <a:t>Stato di approvazione nei report</a:t>
            </a:r>
          </a:p>
        </p:txBody>
      </p:sp>
      <p:sp>
        <p:nvSpPr>
          <p:cNvPr id="16" name="TextBox 15"/>
          <p:cNvSpPr txBox="1"/>
          <p:nvPr/>
        </p:nvSpPr>
        <p:spPr>
          <a:xfrm>
            <a:off x="6217920" y="4471416"/>
            <a:ext cx="5074920" cy="261610"/>
          </a:xfrm>
          <a:prstGeom prst="rect">
            <a:avLst/>
          </a:prstGeom>
          <a:noFill/>
        </p:spPr>
        <p:txBody>
          <a:bodyPr wrap="square" lIns="0" tIns="0" rIns="0" bIns="0">
            <a:spAutoFit/>
          </a:bodyPr>
          <a:lstStyle/>
          <a:p>
            <a:r>
              <a:rPr lang="it-IT" sz="1700" b="0">
                <a:solidFill>
                  <a:srgbClr val="333333"/>
                </a:solidFill>
                <a:latin typeface="Calibri"/>
              </a:rPr>
              <a:t>Stato del record e quota approvata dei dati mensili.</a:t>
            </a:r>
          </a:p>
        </p:txBody>
      </p:sp>
      <p:sp>
        <p:nvSpPr>
          <p:cNvPr id="17" name="TextBox 16"/>
          <p:cNvSpPr txBox="1"/>
          <p:nvPr/>
        </p:nvSpPr>
        <p:spPr>
          <a:xfrm>
            <a:off x="640080" y="5650992"/>
            <a:ext cx="10908792" cy="230832"/>
          </a:xfrm>
          <a:prstGeom prst="rect">
            <a:avLst/>
          </a:prstGeom>
          <a:noFill/>
        </p:spPr>
        <p:txBody>
          <a:bodyPr wrap="square" lIns="0" tIns="0" rIns="0" bIns="0">
            <a:spAutoFit/>
          </a:bodyPr>
          <a:lstStyle/>
          <a:p>
            <a:r>
              <a:rPr lang="it-IT" sz="1500" b="0">
                <a:solidFill>
                  <a:srgbClr val="333333"/>
                </a:solidFill>
                <a:latin typeface="Calibri"/>
              </a:rPr>
              <a:t>Documentazione IBM in inglese. Consultazione: 9 ottobre 2026.</a:t>
            </a:r>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3005</Words>
  <Application>Microsoft Macintosh PowerPoint</Application>
  <PresentationFormat>Widescreen</PresentationFormat>
  <Paragraphs>288</Paragraphs>
  <Slides>15</Slides>
  <Notes>11</Notes>
  <HiddenSlides>0</HiddenSlides>
  <MMClips>0</MMClips>
  <ScaleCrop>false</ScaleCrop>
  <HeadingPairs>
    <vt:vector size="6" baseType="variant">
      <vt:variant>
        <vt:lpstr>Caratteri utilizzati</vt:lpstr>
      </vt:variant>
      <vt:variant>
        <vt:i4>9</vt:i4>
      </vt:variant>
      <vt:variant>
        <vt:lpstr>Tema</vt:lpstr>
      </vt:variant>
      <vt:variant>
        <vt:i4>2</vt:i4>
      </vt:variant>
      <vt:variant>
        <vt:lpstr>Titoli diapositive</vt:lpstr>
      </vt:variant>
      <vt:variant>
        <vt:i4>15</vt:i4>
      </vt:variant>
    </vt:vector>
  </HeadingPairs>
  <TitlesOfParts>
    <vt:vector size="26" baseType="lpstr">
      <vt:lpstr>Aptos</vt:lpstr>
      <vt:lpstr>Aptos Display</vt:lpstr>
      <vt:lpstr>Arial</vt:lpstr>
      <vt:lpstr>Calibri</vt:lpstr>
      <vt:lpstr>IBM Plex Sans</vt:lpstr>
      <vt:lpstr>IBM Plex Sans Light</vt:lpstr>
      <vt:lpstr>Symbol</vt:lpstr>
      <vt:lpstr>Times New Roman</vt:lpstr>
      <vt:lpstr>Wingdings</vt:lpstr>
      <vt:lpstr>Tema di Office</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Felice Petrignano</dc:creator>
  <cp:lastModifiedBy>Felice Petrignano</cp:lastModifiedBy>
  <cp:revision>13</cp:revision>
  <dcterms:created xsi:type="dcterms:W3CDTF">2026-10-09T13:31:22Z</dcterms:created>
  <dcterms:modified xsi:type="dcterms:W3CDTF">2026-10-09T15:20:47Z</dcterms:modified>
</cp:coreProperties>
</file>