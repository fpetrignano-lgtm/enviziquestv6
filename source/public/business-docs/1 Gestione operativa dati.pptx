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43"/>
  </p:notesMasterIdLst>
  <p:sldIdLst>
    <p:sldId id="635" r:id="rId3"/>
    <p:sldId id="260" r:id="rId4"/>
    <p:sldId id="268" r:id="rId5"/>
    <p:sldId id="702" r:id="rId6"/>
    <p:sldId id="329" r:id="rId7"/>
    <p:sldId id="680" r:id="rId8"/>
    <p:sldId id="681" r:id="rId9"/>
    <p:sldId id="684" r:id="rId10"/>
    <p:sldId id="683" r:id="rId11"/>
    <p:sldId id="694" r:id="rId12"/>
    <p:sldId id="682" r:id="rId13"/>
    <p:sldId id="321" r:id="rId14"/>
    <p:sldId id="316" r:id="rId15"/>
    <p:sldId id="319" r:id="rId16"/>
    <p:sldId id="322" r:id="rId17"/>
    <p:sldId id="323" r:id="rId18"/>
    <p:sldId id="325" r:id="rId19"/>
    <p:sldId id="326" r:id="rId20"/>
    <p:sldId id="327" r:id="rId21"/>
    <p:sldId id="330" r:id="rId22"/>
    <p:sldId id="328" r:id="rId23"/>
    <p:sldId id="331" r:id="rId24"/>
    <p:sldId id="334" r:id="rId25"/>
    <p:sldId id="335" r:id="rId26"/>
    <p:sldId id="342" r:id="rId27"/>
    <p:sldId id="339" r:id="rId28"/>
    <p:sldId id="685" r:id="rId29"/>
    <p:sldId id="686" r:id="rId30"/>
    <p:sldId id="687" r:id="rId31"/>
    <p:sldId id="340" r:id="rId32"/>
    <p:sldId id="691" r:id="rId33"/>
    <p:sldId id="717" r:id="rId34"/>
    <p:sldId id="718" r:id="rId35"/>
    <p:sldId id="595" r:id="rId36"/>
    <p:sldId id="719" r:id="rId37"/>
    <p:sldId id="341" r:id="rId38"/>
    <p:sldId id="688" r:id="rId39"/>
    <p:sldId id="696" r:id="rId40"/>
    <p:sldId id="402" r:id="rId41"/>
    <p:sldId id="2147472656" r:id="rId4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99" d="100"/>
          <a:sy n="99" d="100"/>
        </p:scale>
        <p:origin x="1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667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7EE89-4BDF-4A13-1CBE-7385029C6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3" name="PlaceHolder 1">
            <a:extLst>
              <a:ext uri="{FF2B5EF4-FFF2-40B4-BE49-F238E27FC236}">
                <a16:creationId xmlns:a16="http://schemas.microsoft.com/office/drawing/2014/main" id="{0FC1C29E-C31A-687F-CDAF-D242CBC89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54" name="PlaceHolder 2">
            <a:extLst>
              <a:ext uri="{FF2B5EF4-FFF2-40B4-BE49-F238E27FC236}">
                <a16:creationId xmlns:a16="http://schemas.microsoft.com/office/drawing/2014/main" id="{691857AE-C190-C60B-BF49-21FABE88017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r>
              <a:rPr lang="it-IT"/>
              <a:t>[Sources]</a:t>
            </a:r>
          </a:p>
          <a:p>
            <a:r>
              <a:rPr lang="it-IT"/>
              <a:t>https://www.ibm.com/docs/en/envizi-esg-suite?topic=managing-capturing-account-data</a:t>
            </a:r>
          </a:p>
          <a:p>
            <a:r>
              <a:rPr lang="it-IT"/>
              <a:t>https://www.ibm.com/docs/en/envizi-esg-suite?topic=manually-preview-extracting-utility-bill-data-ai</a:t>
            </a:r>
          </a:p>
          <a:p>
            <a:r>
              <a:rPr lang="it-IT"/>
              <a:t>https://www.ibm.com/docs/en/envizi-esg-suite?topic=data-requesting-capture</a:t>
            </a:r>
          </a:p>
          <a:p>
            <a:r>
              <a:rPr lang="it-IT"/>
              <a:t>https://www.ibm.com/docs/en/envizi-esg-suite?topic=data-capturing-based-request</a:t>
            </a:r>
          </a:p>
          <a:p>
            <a:r>
              <a:rPr lang="it-IT"/>
              <a:t>https://www.ibm.com/docs/en/envizi-esg-suite?topic=capture-editing-scheduled-data-requests</a:t>
            </a:r>
          </a:p>
          <a:p>
            <a:r>
              <a:rPr lang="it-IT"/>
              <a:t>https://www.ibm.com/docs/en/envizi-esg-suite?topic=started-getting-users</a:t>
            </a:r>
          </a:p>
          <a:p>
            <a:r>
              <a:rPr lang="it-IT"/>
              <a:t>Consultazione: 9 ottobre 2026</a:t>
            </a:r>
          </a:p>
          <a:p>
            <a:r>
              <a:rPr lang="it-IT"/>
              <a:t>[/Sources]</a:t>
            </a:r>
          </a:p>
        </p:txBody>
      </p:sp>
      <p:sp>
        <p:nvSpPr>
          <p:cNvPr id="4255" name="PlaceHolder 3">
            <a:extLst>
              <a:ext uri="{FF2B5EF4-FFF2-40B4-BE49-F238E27FC236}">
                <a16:creationId xmlns:a16="http://schemas.microsoft.com/office/drawing/2014/main" id="{76DF4804-1DC9-30B7-43A0-15FD23AC73A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6586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managing-capturing-account-data</a:t>
            </a:r>
            <a:endParaRPr/>
          </a:p>
          <a:p>
            <a:r>
              <a:t>https://www.ibm.com/docs/en/envizi-esg-suite?topic=</a:t>
            </a:r>
            <a:r>
              <a:rPr lang="it-IT"/>
              <a:t>manually-preview-extracting-utility-bill-data-ai</a:t>
            </a:r>
            <a:endParaRPr/>
          </a:p>
          <a:p>
            <a:r>
              <a:rPr lang="it-IT"/>
              <a:t>https://www.ibm.com/docs/en/envizi-esg-suite?topic=data-requesting-capture</a:t>
            </a:r>
          </a:p>
          <a:p>
            <a:r>
              <a:rPr lang="it-IT"/>
              <a:t>https://www.ibm.com/docs/en/envizi-esg-suite?topic=data-capturing-based-request</a:t>
            </a:r>
          </a:p>
          <a:p>
            <a:r>
              <a:rPr lang="it-IT"/>
              <a:t>https://www.ibm.com/docs/en/envizi-esg-suite?topic=capture-editing-scheduled-data-requests</a:t>
            </a:r>
          </a:p>
          <a:p>
            <a:r>
              <a:rPr lang="it-IT"/>
              <a:t>https://www.ibm.com/docs/en/envizi-esg-suite?topic=started-getting-users</a:t>
            </a:r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managing-capturing-account-data</a:t>
            </a:r>
            <a:endParaRPr/>
          </a:p>
          <a:p>
            <a:r>
              <a:t>https://www.ibm.com/docs/en/envizi-esg-suite?topic=</a:t>
            </a:r>
            <a:r>
              <a:rPr lang="it-IT"/>
              <a:t>manually-preview-extracting-utility-bill-data-ai</a:t>
            </a:r>
            <a:endParaRPr/>
          </a:p>
          <a:p>
            <a:r>
              <a:rPr lang="it-IT"/>
              <a:t>https://www.ibm.com/docs/en/envizi-esg-suite?topic=data-requesting-capture</a:t>
            </a:r>
          </a:p>
          <a:p>
            <a:r>
              <a:rPr lang="it-IT"/>
              <a:t>https://www.ibm.com/docs/en/envizi-esg-suite?topic=data-capturing-based-request</a:t>
            </a:r>
          </a:p>
          <a:p>
            <a:r>
              <a:rPr lang="it-IT"/>
              <a:t>https://www.ibm.com/docs/en/envizi-esg-suite?topic=capture-editing-scheduled-data-requests</a:t>
            </a:r>
          </a:p>
          <a:p>
            <a:r>
              <a:rPr lang="it-IT"/>
              <a:t>https://www.ibm.com/docs/en/envizi-esg-suite?topic=started-getting-users</a:t>
            </a:r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it-IT"/>
              <a:t>[Sources]</a:t>
            </a:r>
          </a:p>
          <a:p>
            <a:r>
              <a:rPr lang="it-IT"/>
              <a:t>https://www.ibm.com/docs/en/envizi-esg-suite?topic=managing-capturing-account-data</a:t>
            </a:r>
          </a:p>
          <a:p>
            <a:r>
              <a:rPr lang="it-IT"/>
              <a:t>https://www.ibm.com/docs/en/envizi-esg-suite?topic=manually-preview-extracting-utility-bill-data-ai</a:t>
            </a:r>
          </a:p>
          <a:p>
            <a:r>
              <a:rPr lang="it-IT"/>
              <a:t>https://www.ibm.com/docs/en/envizi-esg-suite?topic=data-requesting-capture</a:t>
            </a:r>
          </a:p>
          <a:p>
            <a:r>
              <a:rPr lang="it-IT"/>
              <a:t>https://www.ibm.com/docs/en/envizi-esg-suite?topic=data-capturing-based-request</a:t>
            </a:r>
          </a:p>
          <a:p>
            <a:r>
              <a:rPr lang="it-IT"/>
              <a:t>https://www.ibm.com/docs/en/envizi-esg-suite?topic=capture-editing-scheduled-data-requests</a:t>
            </a:r>
          </a:p>
          <a:p>
            <a:r>
              <a:rPr lang="it-IT"/>
              <a:t>https://www.ibm.com/docs/en/envizi-esg-suite?topic=started-getting-users</a:t>
            </a:r>
          </a:p>
          <a:p>
            <a:r>
              <a:rPr lang="it-IT"/>
              <a:t>Consultazione: 9 ottobre 2026</a:t>
            </a:r>
          </a:p>
          <a:p>
            <a:r>
              <a:rPr lang="it-IT"/>
              <a:t>[/Sources]</a:t>
            </a:r>
          </a:p>
        </p:txBody>
      </p:sp>
    </p:spTree>
    <p:extLst>
      <p:ext uri="{BB962C8B-B14F-4D97-AF65-F5344CB8AC3E}">
        <p14:creationId xmlns:p14="http://schemas.microsoft.com/office/powerpoint/2010/main" val="33033946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5BC4D-51C3-3CBB-9EEA-27D99E44D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9989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6D0A7-DA69-5FDF-5FEA-7FAD30167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8064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3F860-C5C9-25EF-E984-1B469E07D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2619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83C9C-7A86-2E47-43F4-08B0D4561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5893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18417-1B64-50B0-A846-E0B54B3B4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3648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AD1F4-3CC2-754F-9946-E609994B7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4488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7B9F-8C09-1931-2567-6856C7520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28980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59E9E-7074-6B60-C8DC-2B1EC721E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5282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6C190-810E-9D3C-8EA3-802CCD0FB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37027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3EF60-F8F1-1FD3-44E2-81BF4EE4D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0160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8F6C7-79AE-CE45-095F-EF5A08B2E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1332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301D1-60B7-D567-1728-81DA7306F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77187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managing-capturing-account-data</a:t>
            </a:r>
            <a:endParaRPr/>
          </a:p>
          <a:p>
            <a:r>
              <a:t>https://www.ibm.com/docs/en/envizi-esg-suite?topic=</a:t>
            </a:r>
            <a:r>
              <a:rPr lang="it-IT"/>
              <a:t>manually-preview-extracting-utility-bill-data-ai</a:t>
            </a:r>
            <a:endParaRPr/>
          </a:p>
          <a:p>
            <a:r>
              <a:t>https://www.ibm.com/docs/en/envizi-esg-suite?topic=</a:t>
            </a:r>
            <a:r>
              <a:rPr lang="it-IT"/>
              <a:t>data-requesting-capture</a:t>
            </a:r>
            <a:endParaRPr/>
          </a:p>
          <a:p>
            <a:r>
              <a:t>https://www.ibm.com/docs/en/envizi-esg-suite?topic=</a:t>
            </a:r>
            <a:r>
              <a:rPr lang="it-IT"/>
              <a:t>data-capturing-based-request</a:t>
            </a:r>
          </a:p>
          <a:p>
            <a:r>
              <a:rPr lang="it-IT"/>
              <a:t>https://www.ibm.com/docs/en/envizi-esg-suite?topic=capture-editing-scheduled-data-requests</a:t>
            </a:r>
          </a:p>
          <a:p>
            <a:r>
              <a:rPr lang="it-IT"/>
              <a:t>https://www.ibm.com/docs/en/envizi-esg-suite?topic=started-getting-users</a:t>
            </a:r>
            <a:endParaRPr/>
          </a:p>
          <a:p>
            <a:r>
              <a:rPr lang="it-IT"/>
              <a:t>Consultazione: 9 ottobre 2026</a:t>
            </a:r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2CD5BE-E354-EA96-E64F-F0AC23732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881D665-4F2A-B398-CF3B-E36463680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62C9EF8-4D18-94A5-2298-F4CF4888D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7BB4CE8-49F6-D42C-4392-EC366D961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89CD48A-D0E6-FB05-1933-269EA049C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0510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A41227-707B-840F-C5B6-326D4E783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13DBE6-D642-FCBA-19A1-752B14C47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BFD7EA-1030-8813-65B5-7A81C8D37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F140446-FFF6-17E5-ACF8-AAF75FF37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75132EE-4F7E-3128-8E7B-30843F245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0853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166E11-7E16-C139-0F93-275D6EDC7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ECBA044-A369-C235-DB9D-AE5A05E5E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E10939B-4D64-4D30-014F-39C4CA451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4D1C52-4AE4-F41A-A00D-1D7882562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A93982-01C2-35D3-029E-EC975C6E8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3967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F5A6AE-11FD-5A63-2E08-DF2C2B7D9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0F067A-E360-CAC1-1F32-DB72D71F4E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EBBD238-8593-B0CD-DBC2-CB69E6475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8770B1B-0690-0BEC-B058-B0DBC7FD3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8806F3C-4249-4004-F93C-27862B6F6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0CB48D6-B592-58F5-C76E-CF741432A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5305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EDDB3F-EF4D-C16F-E98B-FD693A6DA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68E7AE9-A7F7-0347-42AB-8AD7BCE1C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D4C9A04-81F9-74C1-DB8D-1D5CDA681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4057E23-D517-E2C4-48F8-812427F109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194130F-0369-F665-444A-1AEEB290DE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19CB378-0BBE-7A6A-9A27-169387006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98C14BD-DCA0-E70E-E566-FB849B7E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3FE4936-13E5-3E5A-A8E0-8497C7CD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5921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CAA408-E97E-B094-5112-817B204BB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4FDFA8E-07AC-4B21-B497-CC9ADDF14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A25898B-B35D-550D-EDEB-B7534B4AB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A0BEA91-934D-06ED-D3B7-5F4ED0DF1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5608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898587A-16A6-8E53-EDC2-DC408C313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84954C8-60E0-744B-BED1-4574E5919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B05B2A9-ACC0-F125-6C44-B9F7C50E6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6508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4EE919-3668-774A-93E4-D3767B1E8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4AB452-9D05-AE91-C6D4-1413437E1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02CAF97-D7AC-F7AE-3B0D-5E4E1A230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D7664DB-3F60-869A-293D-E15D1FC2D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185D03E-D3B8-FA59-A614-971B4252B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D5BD76F-4DE0-6325-2725-EDF82A93E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1976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8C9AA3-452A-D8E6-4056-465331320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0485C4C-21FC-0A89-3F11-52803FA7FB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F56574D-7784-A7EF-A94D-ABE6924217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DD79D49-DC4F-7E47-0AF0-00AA89197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2482D1F-24A5-E115-5D77-0E0A4D3C4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DE02F41-E34F-5DA7-77B2-B33D47042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0262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D44DA4-C384-685E-B6DE-4F509B83F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8DBF331-686A-90F4-5621-81D1DA547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B11B76D-A486-90B4-2B90-E9613066C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FE2F5F2-2D4D-B5C2-57AC-629A1285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FE253B1-35A4-6615-4536-77EA6DEC3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6780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BFDDA5C-3BB3-197C-3EBF-81F1DF4FBA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641F594-5469-2400-E613-EF1DC0705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D906D95-E722-D35C-CA9C-77DBD694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CD9CC98-F182-27F0-9D6F-D6D2310C0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0FA1D40-3A3E-B9DF-413C-78DFEA3BD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803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fondo leggero.png">
            <a:extLst>
              <a:ext uri="{FF2B5EF4-FFF2-40B4-BE49-F238E27FC236}">
                <a16:creationId xmlns:a16="http://schemas.microsoft.com/office/drawing/2014/main" id="{B6667F1F-51A6-7F2E-50D5-83472D0479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273C7BB-B8F5-AF70-58A1-27484AE2341A}"/>
              </a:ext>
            </a:extLst>
          </p:cNvPr>
          <p:cNvSpPr txBox="1"/>
          <p:nvPr userDrawn="1"/>
        </p:nvSpPr>
        <p:spPr>
          <a:xfrm>
            <a:off x="471115" y="-23853"/>
            <a:ext cx="99689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2800" b="1" dirty="0">
              <a:solidFill>
                <a:srgbClr val="14433A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210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fondo leggero.png">
            <a:extLst>
              <a:ext uri="{FF2B5EF4-FFF2-40B4-BE49-F238E27FC236}">
                <a16:creationId xmlns:a16="http://schemas.microsoft.com/office/drawing/2014/main" id="{B6667F1F-51A6-7F2E-50D5-83472D0479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273C7BB-B8F5-AF70-58A1-27484AE2341A}"/>
              </a:ext>
            </a:extLst>
          </p:cNvPr>
          <p:cNvSpPr txBox="1"/>
          <p:nvPr userDrawn="1"/>
        </p:nvSpPr>
        <p:spPr>
          <a:xfrm>
            <a:off x="471115" y="-23853"/>
            <a:ext cx="99689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2800" b="1" dirty="0">
              <a:solidFill>
                <a:srgbClr val="14433A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1294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610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53942" cy="142954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2795" y="224028"/>
            <a:ext cx="5520318" cy="4287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 marL="292549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2pPr>
            <a:lvl3pPr marL="548530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3pPr>
            <a:lvl4pPr marL="877648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89028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509EA-57CA-9A71-E391-10854E664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35E42-6EB0-A758-C7D1-BC518D2AF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EA591-A2B3-4B14-0740-EE8764D7F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BF0D-213E-F34D-93C6-37AB37C29CAE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C7C6F-92F8-28B6-9CB9-837A13758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5189C-1C89-B914-D8D5-484BDDB24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04AF-6D8B-754A-9FED-073057245C1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64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1" cy="762795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67910" y="6452316"/>
            <a:ext cx="136791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8000" y="1714500"/>
            <a:ext cx="2477765" cy="42862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7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95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92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47604" y="0"/>
            <a:ext cx="9144397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4122327299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1" cy="762795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67910" y="6452316"/>
            <a:ext cx="136791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8000" y="1714500"/>
            <a:ext cx="2477765" cy="42862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7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95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92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8" y="282576"/>
            <a:ext cx="8574559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8809784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ta, 3 callouts,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3301" y="192600"/>
            <a:ext cx="2474590" cy="9532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8523" y="192600"/>
            <a:ext cx="2474590" cy="95170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192600"/>
            <a:ext cx="2475384" cy="95395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142954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73137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46275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19412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166534"/>
            <a:ext cx="2475384" cy="48365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166533"/>
            <a:ext cx="2476178" cy="48334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166533"/>
            <a:ext cx="2476178" cy="48334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036756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ESG Data &amp; Environmental Intelligence / © 2023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218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1429544"/>
          </a:xfrm>
        </p:spPr>
        <p:txBody>
          <a:bodyPr rIns="457200"/>
          <a:lstStyle>
            <a:lvl1pPr>
              <a:lnSpc>
                <a:spcPct val="100000"/>
              </a:lnSpc>
              <a:defRPr sz="42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842210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550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13722028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00195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390B64A-8642-221E-07D5-D63664D4F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4BC928-42BA-37B4-95A8-700FD0BA9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07F09F2-0C7B-17C9-10BD-51D64AC05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ABCAB8-7CC0-5919-3A46-44261402D6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F1454EC-0176-B6DB-9F4C-489697EFD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4492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278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bm.com/docs/en/envizi-esg-suite?topic=started-getting-users" TargetMode="External"/><Relationship Id="rId3" Type="http://schemas.openxmlformats.org/officeDocument/2006/relationships/hyperlink" Target="https://www.ibm.com/docs/en/envizi-esg-suite?topic=managing-capturing-account-data" TargetMode="External"/><Relationship Id="rId7" Type="http://schemas.openxmlformats.org/officeDocument/2006/relationships/hyperlink" Target="https://www.ibm.com/docs/en/envizi-esg-suite?topic=capture-editing-scheduled-data-requests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ibm.com/docs/en/envizi-esg-suite?topic=data-capturing-based-request" TargetMode="External"/><Relationship Id="rId5" Type="http://schemas.openxmlformats.org/officeDocument/2006/relationships/hyperlink" Target="https://www.ibm.com/docs/en/envizi-esg-suite?topic=data-requesting-capture" TargetMode="External"/><Relationship Id="rId4" Type="http://schemas.openxmlformats.org/officeDocument/2006/relationships/hyperlink" Target="https://www.ibm.com/docs/en/envizi-esg-suite?topic=manually-preview-extracting-utility-bill-data-a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94C1-566C-F582-C817-9E35FF69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K-1-img-2">
            <a:extLst>
              <a:ext uri="{FF2B5EF4-FFF2-40B4-BE49-F238E27FC236}">
                <a16:creationId xmlns:a16="http://schemas.microsoft.com/office/drawing/2014/main" id="{857ED53D-59A7-5D41-890D-F7114A35434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547594" y="1097280"/>
            <a:ext cx="4953008" cy="3438102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SK-1-img-6">
            <a:extLst>
              <a:ext uri="{FF2B5EF4-FFF2-40B4-BE49-F238E27FC236}">
                <a16:creationId xmlns:a16="http://schemas.microsoft.com/office/drawing/2014/main" id="{5D56AC93-A688-6ECC-034F-E950D9F4CA2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40080" y="6035040"/>
            <a:ext cx="10881360" cy="9144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SK-1-img-7">
            <a:extLst>
              <a:ext uri="{FF2B5EF4-FFF2-40B4-BE49-F238E27FC236}">
                <a16:creationId xmlns:a16="http://schemas.microsoft.com/office/drawing/2014/main" id="{4159CB6A-B84D-80D0-F0A2-0063A85ECD0A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6010157" y="1097280"/>
            <a:ext cx="5490445" cy="493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SK-1-text-11">
            <a:extLst>
              <a:ext uri="{FF2B5EF4-FFF2-40B4-BE49-F238E27FC236}">
                <a16:creationId xmlns:a16="http://schemas.microsoft.com/office/drawing/2014/main" id="{189C8CF6-A3DA-3FE8-27B2-730050E5FCB9}"/>
              </a:ext>
            </a:extLst>
          </p:cNvPr>
          <p:cNvSpPr/>
          <p:nvPr/>
        </p:nvSpPr>
        <p:spPr>
          <a:xfrm>
            <a:off x="640080" y="594360"/>
            <a:ext cx="521208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800" b="1">
                <a:solidFill>
                  <a:srgbClr val="2E7D4F"/>
                </a:solidFill>
                <a:latin typeface="Calibri"/>
              </a:rPr>
              <a:t>2026 ESG REPORTING</a:t>
            </a:r>
          </a:p>
        </p:txBody>
      </p:sp>
      <p:sp>
        <p:nvSpPr>
          <p:cNvPr id="23" name="SK-1-text-12">
            <a:extLst>
              <a:ext uri="{FF2B5EF4-FFF2-40B4-BE49-F238E27FC236}">
                <a16:creationId xmlns:a16="http://schemas.microsoft.com/office/drawing/2014/main" id="{8759690C-0B4B-284E-AD9B-87FB5185FDFC}"/>
              </a:ext>
            </a:extLst>
          </p:cNvPr>
          <p:cNvSpPr/>
          <p:nvPr/>
        </p:nvSpPr>
        <p:spPr>
          <a:xfrm>
            <a:off x="640080" y="1234440"/>
            <a:ext cx="5029200" cy="73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4400" b="1">
                <a:solidFill>
                  <a:srgbClr val="14433A"/>
                </a:solidFill>
                <a:latin typeface="Calibri"/>
              </a:rPr>
              <a:t>Envizi</a:t>
            </a:r>
          </a:p>
        </p:txBody>
      </p:sp>
      <p:sp>
        <p:nvSpPr>
          <p:cNvPr id="24" name="SK-1-text-13">
            <a:extLst>
              <a:ext uri="{FF2B5EF4-FFF2-40B4-BE49-F238E27FC236}">
                <a16:creationId xmlns:a16="http://schemas.microsoft.com/office/drawing/2014/main" id="{26CC8673-84D8-87CF-6C96-8DC5FF6EAD58}"/>
              </a:ext>
            </a:extLst>
          </p:cNvPr>
          <p:cNvSpPr/>
          <p:nvPr/>
        </p:nvSpPr>
        <p:spPr>
          <a:xfrm>
            <a:off x="640080" y="2331720"/>
            <a:ext cx="5029200" cy="333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Gestione operativa dei </a:t>
            </a:r>
            <a:r>
              <a:rPr lang="it-IT" sz="2200" b="0" dirty="0">
                <a:solidFill>
                  <a:srgbClr val="5B6B70"/>
                </a:solidFill>
                <a:latin typeface="Calibri"/>
              </a:rPr>
              <a:t>dati</a:t>
            </a:r>
            <a:r>
              <a:rPr lang="it-IT" sz="2200" b="0">
                <a:solidFill>
                  <a:srgbClr val="5B6B70"/>
                </a:solidFill>
                <a:latin typeface="Calibri"/>
              </a:rPr>
              <a:t> ESG in IBM Envizi</a:t>
            </a: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 dirty="0">
                <a:solidFill>
                  <a:srgbClr val="5B6B70"/>
                </a:solidFill>
                <a:latin typeface="Calibri"/>
              </a:rPr>
              <a:t>Felice Petrignano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 dirty="0">
                <a:solidFill>
                  <a:srgbClr val="5B6B70"/>
                </a:solidFill>
                <a:latin typeface="Calibri"/>
              </a:rPr>
              <a:t>SME </a:t>
            </a:r>
            <a:r>
              <a:rPr lang="it-IT" sz="2200" b="0" dirty="0" err="1">
                <a:solidFill>
                  <a:srgbClr val="5B6B70"/>
                </a:solidFill>
                <a:latin typeface="Calibri"/>
              </a:rPr>
              <a:t>Envizi</a:t>
            </a:r>
            <a:r>
              <a:rPr lang="it-IT" sz="2200" b="0" dirty="0">
                <a:solidFill>
                  <a:srgbClr val="5B6B70"/>
                </a:solidFill>
                <a:latin typeface="Calibri"/>
              </a:rPr>
              <a:t> IBM Italia</a:t>
            </a:r>
          </a:p>
        </p:txBody>
      </p:sp>
      <p:sp>
        <p:nvSpPr>
          <p:cNvPr id="2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6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2824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80F8A9A7-20A7-FD31-DED9-EC0EABB50AB7}"/>
              </a:ext>
            </a:extLst>
          </p:cNvPr>
          <p:cNvSpPr txBox="1"/>
          <p:nvPr/>
        </p:nvSpPr>
        <p:spPr>
          <a:xfrm>
            <a:off x="797442" y="325213"/>
            <a:ext cx="10217888" cy="4299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Obiettivi del capitolo</a:t>
            </a:r>
          </a:p>
          <a:p>
            <a:endParaRPr lang="en-US" b="1"/>
          </a:p>
          <a:p>
            <a:r>
              <a:rPr lang="en-US"/>
              <a:t>Questo capitolo mostra come trovare, inserire e correggere i record in IBM Envizi e come richiedere ad altri utenti la raccolta dei dati.</a:t>
            </a:r>
          </a:p>
          <a:p>
            <a:endParaRPr lang="en-US"/>
          </a:p>
          <a:p>
            <a:endParaRPr lang="en-US"/>
          </a:p>
          <a:p>
            <a:r>
              <a:rPr lang="en-US" b="1"/>
              <a:t>Al termine del capitolo il partecipante sarà in grado di:</a:t>
            </a:r>
          </a:p>
          <a:p>
            <a:endParaRPr lang="en-US" b="1"/>
          </a:p>
          <a:p>
            <a:pPr lvl="0"/>
            <a:r>
              <a:rPr lang="en-US"/>
              <a:t>raggiungere Account e Record tramite gerarchia, griglie e ricerca</a:t>
            </a:r>
          </a:p>
          <a:p>
            <a:pPr lvl="0">
              <a:lnSpc>
                <a:spcPct val="150000"/>
              </a:lnSpc>
            </a:pPr>
            <a:r>
              <a:rPr lang="en-US"/>
              <a:t>compilare i record, allegare bollette e verificare i valori estratti dall’AI</a:t>
            </a:r>
          </a:p>
          <a:p>
            <a:pPr lvl="0">
              <a:lnSpc>
                <a:spcPct val="150000"/>
              </a:lnSpc>
            </a:pPr>
            <a:r>
              <a:rPr lang="en-US"/>
              <a:t>richiedere dati per uno o più Account tramite Issue Management</a:t>
            </a:r>
          </a:p>
          <a:p>
            <a:pPr lvl="0">
              <a:lnSpc>
                <a:spcPct val="150000"/>
              </a:lnSpc>
            </a:pPr>
            <a:r>
              <a:rPr lang="en-US"/>
              <a:t>seguire le richieste e le attività di assegnatari e revisori</a:t>
            </a:r>
          </a:p>
          <a:p>
            <a:pPr lvl="0">
              <a:lnSpc>
                <a:spcPct val="150000"/>
              </a:lnSpc>
            </a:pPr>
            <a:r>
              <a:rPr lang="en-US"/>
              <a:t>correggere i record e consultare dati mensili e cronologia</a:t>
            </a:r>
          </a:p>
        </p:txBody>
      </p:sp>
    </p:spTree>
    <p:extLst>
      <p:ext uri="{BB962C8B-B14F-4D97-AF65-F5344CB8AC3E}">
        <p14:creationId xmlns:p14="http://schemas.microsoft.com/office/powerpoint/2010/main" val="1128939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9FEDFCF0-D0EA-512A-921C-1CD9FD4A6078}"/>
              </a:ext>
            </a:extLst>
          </p:cNvPr>
          <p:cNvSpPr txBox="1"/>
          <p:nvPr/>
        </p:nvSpPr>
        <p:spPr>
          <a:xfrm>
            <a:off x="542260" y="272878"/>
            <a:ext cx="1115355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Contenuti</a:t>
            </a:r>
          </a:p>
          <a:p>
            <a:endParaRPr lang="en-US" sz="2400" b="1"/>
          </a:p>
          <a:p>
            <a:pPr lvl="0">
              <a:lnSpc>
                <a:spcPct val="150000"/>
              </a:lnSpc>
            </a:pPr>
            <a:r>
              <a:rPr lang="en-US"/>
              <a:t>Attività degli utenti e autorizzazioni sui dati</a:t>
            </a:r>
          </a:p>
          <a:p>
            <a:pPr lvl="0">
              <a:lnSpc>
                <a:spcPct val="150000"/>
              </a:lnSpc>
            </a:pPr>
            <a:r>
              <a:rPr lang="en-US"/>
              <a:t>Navigazione nella gerarchia e accesso ai record degli Account</a:t>
            </a:r>
          </a:p>
          <a:p>
            <a:pPr lvl="0">
              <a:lnSpc>
                <a:spcPct val="150000"/>
              </a:lnSpc>
            </a:pPr>
            <a:r>
              <a:rPr lang="en-US"/>
              <a:t>Compilazione del modulo e controlli sui valori inseriti</a:t>
            </a:r>
          </a:p>
          <a:p>
            <a:pPr lvl="0">
              <a:lnSpc>
                <a:spcPct val="150000"/>
              </a:lnSpc>
            </a:pPr>
            <a:r>
              <a:rPr lang="en-US"/>
              <a:t>Bollette allegate ed estrazione dei dati con AI</a:t>
            </a:r>
          </a:p>
          <a:p>
            <a:pPr lvl="0">
              <a:lnSpc>
                <a:spcPct val="150000"/>
              </a:lnSpc>
            </a:pPr>
            <a:r>
              <a:rPr lang="en-US"/>
              <a:t>Richieste di raccolta: assegnatari, notifiche e Issue Management</a:t>
            </a:r>
          </a:p>
          <a:p>
            <a:pPr lvl="0">
              <a:lnSpc>
                <a:spcPct val="150000"/>
              </a:lnSpc>
            </a:pPr>
            <a:r>
              <a:rPr lang="en-US"/>
              <a:t>Richieste per più Account e gestione degli stati</a:t>
            </a:r>
          </a:p>
          <a:p>
            <a:pPr lvl="0">
              <a:lnSpc>
                <a:spcPct val="150000"/>
              </a:lnSpc>
            </a:pPr>
            <a:r>
              <a:rPr lang="en-US"/>
              <a:t>Ricerca rapida, dati mensili e correzione dei record</a:t>
            </a:r>
          </a:p>
          <a:p>
            <a:pPr lvl="0">
              <a:lnSpc>
                <a:spcPct val="150000"/>
              </a:lnSpc>
            </a:pPr>
            <a:r>
              <a:rPr lang="en-US"/>
              <a:t>Riepilogo del processo ESG e preparazione al controllo di qualità</a:t>
            </a:r>
          </a:p>
          <a:p>
            <a:r>
              <a:rPr lang="en-US"/>
              <a:t>Riferimenti alla documentazione ufficiale IBM</a:t>
            </a:r>
          </a:p>
          <a:p>
            <a:endParaRPr lang="en-US"/>
          </a:p>
          <a:p>
            <a:r>
              <a:rPr lang="en-US" b="1"/>
              <a:t>Le schermate mostrano l’ambiente demo. L’estrazione AI delle bollette è in anteprima: i valori proposti richiedono verifica prima del salvataggio.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77159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5F475-EAC5-3E74-40BC-CEC4FAD53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B4D3B92-4C57-53F2-2ED5-011AD5DEA90A}"/>
              </a:ext>
            </a:extLst>
          </p:cNvPr>
          <p:cNvSpPr txBox="1"/>
          <p:nvPr/>
        </p:nvSpPr>
        <p:spPr>
          <a:xfrm>
            <a:off x="328920" y="167275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dirty="0"/>
              <a:t>Utenti di business</a:t>
            </a:r>
          </a:p>
          <a:p>
            <a:pPr>
              <a:buNone/>
            </a:pPr>
            <a:endParaRPr lang="it-IT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/>
              <a:t>Ricerca di Account e Record tramite gerarchie e griglie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 dirty="0"/>
              <a:t>Inserimento e </a:t>
            </a:r>
            <a:r>
              <a:rPr lang="it-IT"/>
              <a:t>correzione </a:t>
            </a:r>
            <a:r>
              <a:rPr lang="it-IT" dirty="0"/>
              <a:t>dei record </a:t>
            </a:r>
            <a:r>
              <a:rPr lang="it-IT"/>
              <a:t>autorizzati</a:t>
            </a:r>
            <a:endParaRPr lang="it-IT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 dirty="0"/>
              <a:t>Allegati </a:t>
            </a:r>
            <a:r>
              <a:rPr lang="it-IT"/>
              <a:t>a supporto dei dati</a:t>
            </a:r>
            <a:r>
              <a:rPr lang="it-IT" dirty="0"/>
              <a:t>, </a:t>
            </a:r>
            <a:r>
              <a:rPr lang="it-IT"/>
              <a:t>come bollette ed </a:t>
            </a:r>
            <a:r>
              <a:rPr lang="it-IT" dirty="0"/>
              <a:t>evidenze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/>
              <a:t>Estrazione </a:t>
            </a:r>
            <a:r>
              <a:rPr lang="it-IT" dirty="0"/>
              <a:t>AI</a:t>
            </a:r>
            <a:r>
              <a:rPr lang="it-IT"/>
              <a:t> delle bollette in anteprima, con verifica</a:t>
            </a:r>
            <a:endParaRPr lang="it-IT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/>
              <a:t>Richieste di raccolta </a:t>
            </a:r>
            <a:r>
              <a:rPr lang="it-IT" dirty="0"/>
              <a:t>e </a:t>
            </a:r>
            <a:r>
              <a:rPr lang="it-IT"/>
              <a:t>avanzamento delle Issue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/>
              <a:t>Consultazione </a:t>
            </a:r>
            <a:r>
              <a:rPr lang="it-IT" dirty="0"/>
              <a:t>di dati </a:t>
            </a:r>
            <a:r>
              <a:rPr lang="it-IT"/>
              <a:t>mensili e cronologia </a:t>
            </a:r>
            <a:r>
              <a:rPr lang="it-IT" dirty="0"/>
              <a:t>delle </a:t>
            </a:r>
            <a:r>
              <a:rPr lang="it-IT"/>
              <a:t>attività</a:t>
            </a:r>
            <a:endParaRPr lang="it-IT" dirty="0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B1842F77-2EBF-8883-4D15-364E0BCE4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2360" y="1672758"/>
            <a:ext cx="4680720" cy="3698101"/>
          </a:xfrm>
          <a:prstGeom prst="rect">
            <a:avLst/>
          </a:prstGeom>
        </p:spPr>
      </p:pic>
      <p:sp>
        <p:nvSpPr>
          <p:cNvPr id="1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5AEAEB6-B692-AEDB-CAE7-F77F965D058F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Gestione operativa dei dati</a:t>
            </a:r>
          </a:p>
        </p:txBody>
      </p:sp>
      <p:sp>
        <p:nvSpPr>
          <p:cNvPr id="3" name="Ovale 2">
            <a:extLst>
              <a:ext uri="{FF2B5EF4-FFF2-40B4-BE49-F238E27FC236}">
                <a16:creationId xmlns:a16="http://schemas.microsoft.com/office/drawing/2014/main" id="{7C6543C6-9536-7054-6A98-B317A7A88E58}"/>
              </a:ext>
            </a:extLst>
          </p:cNvPr>
          <p:cNvSpPr/>
          <p:nvPr/>
        </p:nvSpPr>
        <p:spPr>
          <a:xfrm>
            <a:off x="10417579" y="178507"/>
            <a:ext cx="1005841" cy="9675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24833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7CD30-A541-5EE6-9311-B08FBB81D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51459F9A-7E25-84F0-1840-90CCED771CE7}"/>
              </a:ext>
            </a:extLst>
          </p:cNvPr>
          <p:cNvSpPr txBox="1"/>
          <p:nvPr/>
        </p:nvSpPr>
        <p:spPr>
          <a:xfrm>
            <a:off x="2975020" y="2099256"/>
            <a:ext cx="738818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/>
              <a:t>Gestione operativa dati</a:t>
            </a:r>
          </a:p>
          <a:p>
            <a:pPr algn="ctr"/>
            <a:endParaRPr lang="it-IT" sz="3200" dirty="0"/>
          </a:p>
          <a:p>
            <a:pPr algn="ctr"/>
            <a:r>
              <a:rPr lang="it-IT" sz="2400" dirty="0"/>
              <a:t>Un utente, Elena, inserisce i dati es. la bolletta elettrica di settembre della sede di Allevamenti Centro. </a:t>
            </a:r>
            <a:br>
              <a:rPr lang="it-IT" sz="2400" dirty="0"/>
            </a:br>
            <a:r>
              <a:rPr lang="it-IT" sz="2400" dirty="0"/>
              <a:t>In questo caso Elena decide di arrivare all’account seguendo il percorso applicativo «gerarchia organizzativa».</a:t>
            </a:r>
          </a:p>
        </p:txBody>
      </p:sp>
    </p:spTree>
    <p:extLst>
      <p:ext uri="{BB962C8B-B14F-4D97-AF65-F5344CB8AC3E}">
        <p14:creationId xmlns:p14="http://schemas.microsoft.com/office/powerpoint/2010/main" val="2013855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0036D-AE0A-27B3-45A7-3CA260BEB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D7DFE57A-7209-495B-3159-2B2C74600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60074" y="1376286"/>
            <a:ext cx="1834159" cy="4047801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08B25403-E107-8460-0D4A-A06BC298E2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55986" y="2090072"/>
            <a:ext cx="5791977" cy="2782864"/>
          </a:xfrm>
          <a:prstGeom prst="rect">
            <a:avLst/>
          </a:prstGeom>
        </p:spPr>
      </p:pic>
      <p:sp>
        <p:nvSpPr>
          <p:cNvPr id="8" name="BandaChiave">
            <a:extLst>
              <a:ext uri="{FF2B5EF4-FFF2-40B4-BE49-F238E27FC236}">
                <a16:creationId xmlns:a16="http://schemas.microsoft.com/office/drawing/2014/main" id="{54222D52-1C53-F6EE-7248-849EF109CAB1}"/>
              </a:ext>
            </a:extLst>
          </p:cNvPr>
          <p:cNvSpPr/>
          <p:nvPr/>
        </p:nvSpPr>
        <p:spPr>
          <a:xfrm>
            <a:off x="305752" y="5709123"/>
            <a:ext cx="11580496" cy="691676"/>
          </a:xfrm>
          <a:prstGeom prst="roundRect">
            <a:avLst>
              <a:gd name="adj" fmla="val 10000"/>
            </a:avLst>
          </a:prstGeom>
          <a:solidFill>
            <a:srgbClr val="0F4761"/>
          </a:solidFill>
          <a:ln>
            <a:noFill/>
          </a:ln>
        </p:spPr>
        <p:txBody>
          <a:bodyPr wrap="square" lIns="228600" tIns="27432" rIns="228600" bIns="27432" anchor="ctr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Il caricamento parte dalla scelta della location e dell’account Elettricità POD 5124…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40CBAE-B8A4-6E71-2124-9ADC6E834F15}"/>
              </a:ext>
            </a:extLst>
          </p:cNvPr>
          <p:cNvSpPr txBox="1"/>
          <p:nvPr/>
        </p:nvSpPr>
        <p:spPr>
          <a:xfrm>
            <a:off x="640080" y="1585916"/>
            <a:ext cx="3108960" cy="1623073"/>
          </a:xfrm>
          <a:prstGeom prst="rect">
            <a:avLst/>
          </a:prstGeom>
          <a:noFill/>
        </p:spPr>
        <p:txBody>
          <a:bodyPr wrap="square" lIns="18288" tIns="27432" rIns="18288" bIns="27432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Il </a:t>
            </a:r>
            <a:r>
              <a:rPr kumimoji="0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percorso</a:t>
            </a: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nella</a:t>
            </a: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gerarchia</a:t>
            </a:r>
            <a:endParaRPr kumimoji="0" sz="1700" b="1" i="0" u="none" strike="noStrike" kern="1200" cap="none" spc="0" normalizeH="0" baseline="0" noProof="0" dirty="0">
              <a:ln>
                <a:noFill/>
              </a:ln>
              <a:solidFill>
                <a:srgbClr val="007D79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Gruppo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Gestione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diretta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 in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convenzione</a:t>
            </a:r>
            <a:endParaRPr lang="it-IT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Location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Allevamenti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 Centro</a:t>
            </a:r>
            <a:endParaRPr lang="it-IT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Account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Elettricità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 POD 5124…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21F846-C08D-DE64-63C8-CDD9F212817B}"/>
              </a:ext>
            </a:extLst>
          </p:cNvPr>
          <p:cNvSpPr txBox="1"/>
          <p:nvPr/>
        </p:nvSpPr>
        <p:spPr>
          <a:xfrm>
            <a:off x="6016752" y="1439533"/>
            <a:ext cx="5870448" cy="542116"/>
          </a:xfrm>
          <a:prstGeom prst="rect">
            <a:avLst/>
          </a:prstGeom>
          <a:noFill/>
        </p:spPr>
        <p:txBody>
          <a:bodyPr wrap="square" lIns="18288" tIns="27432" rIns="18288" bIns="27432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L’account selezionato</a:t>
            </a:r>
          </a:p>
        </p:txBody>
      </p:sp>
      <p:sp>
        <p:nvSpPr>
          <p:cNvPr id="11" name="Testo originale sotto il titolo">
            <a:extLst>
              <a:ext uri="{FF2B5EF4-FFF2-40B4-BE49-F238E27FC236}">
                <a16:creationId xmlns:a16="http://schemas.microsoft.com/office/drawing/2014/main" id="{856ABABF-E27B-4D25-96C5-1133BDBD07B1}"/>
              </a:ext>
            </a:extLst>
          </p:cNvPr>
          <p:cNvSpPr txBox="1"/>
          <p:nvPr/>
        </p:nvSpPr>
        <p:spPr>
          <a:xfrm>
            <a:off x="640080" y="1005840"/>
            <a:ext cx="10908792" cy="361410"/>
          </a:xfrm>
          <a:prstGeom prst="rect">
            <a:avLst/>
          </a:prstGeom>
          <a:noFill/>
        </p:spPr>
        <p:txBody>
          <a:bodyPr wrap="square" lIns="18288" tIns="0" rIns="18288" bIns="27432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400" b="0"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Elena carica i dati elettrici di settembre 2026 per Allevamenti Centro</a:t>
            </a:r>
          </a:p>
        </p:txBody>
      </p:sp>
      <p:sp>
        <p:nvSpPr>
          <p:cNvPr id="12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" name="Titolo">
            <a:extLst>
              <a:ext uri="{FF2B5EF4-FFF2-40B4-BE49-F238E27FC236}">
                <a16:creationId xmlns:a16="http://schemas.microsoft.com/office/drawing/2014/main" id="{856ABABF-E27B-4D25-96C5-1133BDBD07B1}"/>
              </a:ext>
            </a:extLst>
          </p:cNvPr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 dirty="0">
                <a:solidFill>
                  <a:srgbClr val="073E31"/>
                </a:solidFill>
                <a:latin typeface="Calibri"/>
              </a:rPr>
              <a:t>Cerchiamo l’account </a:t>
            </a:r>
          </a:p>
        </p:txBody>
      </p:sp>
      <p:cxnSp>
        <p:nvCxnSpPr>
          <p:cNvPr id="3" name="Connettore diritto a freccia 2">
            <a:extLst>
              <a:ext uri="{FF2B5EF4-FFF2-40B4-BE49-F238E27FC236}">
                <a16:creationId xmlns:a16="http://schemas.microsoft.com/office/drawing/2014/main" id="{8BF022A1-B45C-CB28-2EB0-637C77BEFCD5}"/>
              </a:ext>
            </a:extLst>
          </p:cNvPr>
          <p:cNvCxnSpPr/>
          <p:nvPr/>
        </p:nvCxnSpPr>
        <p:spPr>
          <a:xfrm flipV="1">
            <a:off x="3279228" y="1981649"/>
            <a:ext cx="662151" cy="1084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diritto a freccia 12">
            <a:extLst>
              <a:ext uri="{FF2B5EF4-FFF2-40B4-BE49-F238E27FC236}">
                <a16:creationId xmlns:a16="http://schemas.microsoft.com/office/drawing/2014/main" id="{56898238-C5A3-5791-77FB-CB3C11BB1EE3}"/>
              </a:ext>
            </a:extLst>
          </p:cNvPr>
          <p:cNvCxnSpPr/>
          <p:nvPr/>
        </p:nvCxnSpPr>
        <p:spPr>
          <a:xfrm flipV="1">
            <a:off x="3352800" y="2090072"/>
            <a:ext cx="672662" cy="579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diritto a freccia 14">
            <a:extLst>
              <a:ext uri="{FF2B5EF4-FFF2-40B4-BE49-F238E27FC236}">
                <a16:creationId xmlns:a16="http://schemas.microsoft.com/office/drawing/2014/main" id="{E0A63B9C-B4ED-6D46-705F-9789C6301DE3}"/>
              </a:ext>
            </a:extLst>
          </p:cNvPr>
          <p:cNvCxnSpPr/>
          <p:nvPr/>
        </p:nvCxnSpPr>
        <p:spPr>
          <a:xfrm>
            <a:off x="3111062" y="3208989"/>
            <a:ext cx="1177159" cy="17413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diritto a freccia 16">
            <a:extLst>
              <a:ext uri="{FF2B5EF4-FFF2-40B4-BE49-F238E27FC236}">
                <a16:creationId xmlns:a16="http://schemas.microsoft.com/office/drawing/2014/main" id="{E60E0B9D-380B-8641-B49E-77513E536DAE}"/>
              </a:ext>
            </a:extLst>
          </p:cNvPr>
          <p:cNvCxnSpPr/>
          <p:nvPr/>
        </p:nvCxnSpPr>
        <p:spPr>
          <a:xfrm flipV="1">
            <a:off x="5454869" y="4351283"/>
            <a:ext cx="641131" cy="599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1198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F05C-623C-9CE0-E3C0-67005CC0A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DF275579-89B3-5E18-491C-584AFA5F2C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7970" y="2767718"/>
            <a:ext cx="3204578" cy="2303994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BD37F99-7DC6-59C3-0FD2-EE027C663A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83895" y="3361981"/>
            <a:ext cx="3885168" cy="1115468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DE8BA5E9-B57C-D5A1-3814-CAFF7FDC47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405868" y="3119472"/>
            <a:ext cx="3460510" cy="1600485"/>
          </a:xfrm>
          <a:prstGeom prst="rect">
            <a:avLst/>
          </a:prstGeom>
        </p:spPr>
      </p:pic>
      <p:sp>
        <p:nvSpPr>
          <p:cNvPr id="13" name="BandaChiave">
            <a:extLst>
              <a:ext uri="{FF2B5EF4-FFF2-40B4-BE49-F238E27FC236}">
                <a16:creationId xmlns:a16="http://schemas.microsoft.com/office/drawing/2014/main" id="{78426F42-C5C4-3B57-BF9B-653912BF18C0}"/>
              </a:ext>
            </a:extLst>
          </p:cNvPr>
          <p:cNvSpPr/>
          <p:nvPr/>
        </p:nvSpPr>
        <p:spPr>
          <a:xfrm>
            <a:off x="305752" y="5709123"/>
            <a:ext cx="11580496" cy="691676"/>
          </a:xfrm>
          <a:prstGeom prst="roundRect">
            <a:avLst>
              <a:gd name="adj" fmla="val 10000"/>
            </a:avLst>
          </a:prstGeom>
          <a:solidFill>
            <a:srgbClr val="0F4761"/>
          </a:solidFill>
          <a:ln>
            <a:noFill/>
          </a:ln>
        </p:spPr>
        <p:txBody>
          <a:bodyPr wrap="square" lIns="228600" tIns="27432" rIns="228600" bIns="27432" anchor="ctr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Dalla dashboard: Riesamina, Record, Azioni e infine Cattura dati.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3C7678-62AA-F320-195B-FAA43C043AC4}"/>
              </a:ext>
            </a:extLst>
          </p:cNvPr>
          <p:cNvSpPr txBox="1"/>
          <p:nvPr/>
        </p:nvSpPr>
        <p:spPr>
          <a:xfrm>
            <a:off x="301752" y="1412427"/>
            <a:ext cx="3566160" cy="1219762"/>
          </a:xfrm>
          <a:prstGeom prst="rect">
            <a:avLst/>
          </a:prstGeom>
          <a:noFill/>
        </p:spPr>
        <p:txBody>
          <a:bodyPr wrap="square" lIns="18288" tIns="27432" rIns="18288" bIns="27432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1 · Riesamina e Record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Dalla dashboard dell’account, Elena apre Riesamina in alto a destra e seleziona Record.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544122-440A-19E8-7059-4004A85F8063}"/>
              </a:ext>
            </a:extLst>
          </p:cNvPr>
          <p:cNvSpPr txBox="1"/>
          <p:nvPr/>
        </p:nvSpPr>
        <p:spPr>
          <a:xfrm>
            <a:off x="4160520" y="1412427"/>
            <a:ext cx="3931920" cy="1219762"/>
          </a:xfrm>
          <a:prstGeom prst="rect">
            <a:avLst/>
          </a:prstGeom>
          <a:noFill/>
        </p:spPr>
        <p:txBody>
          <a:bodyPr wrap="square" lIns="18288" tIns="27432" rIns="18288" bIns="27432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2 · La griglia dei record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La griglia mostra i record caricati. Elena apre Azioni, sulla destra.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AA546B-BF40-748B-38E8-6C70050316B3}"/>
              </a:ext>
            </a:extLst>
          </p:cNvPr>
          <p:cNvSpPr txBox="1"/>
          <p:nvPr/>
        </p:nvSpPr>
        <p:spPr>
          <a:xfrm>
            <a:off x="8385048" y="1412427"/>
            <a:ext cx="3502152" cy="1219762"/>
          </a:xfrm>
          <a:prstGeom prst="rect">
            <a:avLst/>
          </a:prstGeom>
          <a:noFill/>
        </p:spPr>
        <p:txBody>
          <a:bodyPr wrap="square" lIns="18288" tIns="27432" rIns="18288" bIns="27432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3 · Cattura dati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Nel menu Azioni, seleziona Cattura dati per inserire il dato di settembre.</a:t>
            </a:r>
          </a:p>
        </p:txBody>
      </p:sp>
      <p:sp>
        <p:nvSpPr>
          <p:cNvPr id="17" name="Testo originale sotto il titolo">
            <a:extLst>
              <a:ext uri="{FF2B5EF4-FFF2-40B4-BE49-F238E27FC236}">
                <a16:creationId xmlns:a16="http://schemas.microsoft.com/office/drawing/2014/main" id="{528858DE-F3F9-67D1-E3F1-AE33E625966B}"/>
              </a:ext>
            </a:extLst>
          </p:cNvPr>
          <p:cNvSpPr txBox="1"/>
          <p:nvPr/>
        </p:nvSpPr>
        <p:spPr>
          <a:xfrm>
            <a:off x="640080" y="1005840"/>
            <a:ext cx="10908792" cy="361410"/>
          </a:xfrm>
          <a:prstGeom prst="rect">
            <a:avLst/>
          </a:prstGeom>
          <a:noFill/>
        </p:spPr>
        <p:txBody>
          <a:bodyPr wrap="square" lIns="18288" tIns="0" rIns="18288" bIns="27432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400" b="0"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I dati della dashboard sono in accantonamento, quindi non ancora effettivi</a:t>
            </a:r>
          </a:p>
        </p:txBody>
      </p:sp>
      <p:sp>
        <p:nvSpPr>
          <p:cNvPr id="1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Titolo">
            <a:extLst>
              <a:ext uri="{FF2B5EF4-FFF2-40B4-BE49-F238E27FC236}">
                <a16:creationId xmlns:a16="http://schemas.microsoft.com/office/drawing/2014/main" id="{528858DE-F3F9-67D1-E3F1-AE33E625966B}"/>
              </a:ext>
            </a:extLst>
          </p:cNvPr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 dirty="0">
                <a:solidFill>
                  <a:srgbClr val="073E31"/>
                </a:solidFill>
                <a:latin typeface="Calibri"/>
              </a:rPr>
              <a:t>Cerchiamo il record</a:t>
            </a:r>
          </a:p>
        </p:txBody>
      </p:sp>
      <p:sp>
        <p:nvSpPr>
          <p:cNvPr id="2" name="Freccia giù 1">
            <a:extLst>
              <a:ext uri="{FF2B5EF4-FFF2-40B4-BE49-F238E27FC236}">
                <a16:creationId xmlns:a16="http://schemas.microsoft.com/office/drawing/2014/main" id="{44BEBE08-B27B-CD17-BC9B-30689431E017}"/>
              </a:ext>
            </a:extLst>
          </p:cNvPr>
          <p:cNvSpPr/>
          <p:nvPr/>
        </p:nvSpPr>
        <p:spPr>
          <a:xfrm rot="10800000">
            <a:off x="10654145" y="4361654"/>
            <a:ext cx="589927" cy="86342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Freccia giù 2">
            <a:extLst>
              <a:ext uri="{FF2B5EF4-FFF2-40B4-BE49-F238E27FC236}">
                <a16:creationId xmlns:a16="http://schemas.microsoft.com/office/drawing/2014/main" id="{5DCFEF67-C105-320D-3236-2BA437861C3C}"/>
              </a:ext>
            </a:extLst>
          </p:cNvPr>
          <p:cNvSpPr/>
          <p:nvPr/>
        </p:nvSpPr>
        <p:spPr>
          <a:xfrm rot="16200000">
            <a:off x="579258" y="2914362"/>
            <a:ext cx="589927" cy="468283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Freccia giù 4">
            <a:extLst>
              <a:ext uri="{FF2B5EF4-FFF2-40B4-BE49-F238E27FC236}">
                <a16:creationId xmlns:a16="http://schemas.microsoft.com/office/drawing/2014/main" id="{0169DE23-C155-BEB1-2296-C81D51ECEF3F}"/>
              </a:ext>
            </a:extLst>
          </p:cNvPr>
          <p:cNvSpPr/>
          <p:nvPr/>
        </p:nvSpPr>
        <p:spPr>
          <a:xfrm rot="10800000">
            <a:off x="7502513" y="3856532"/>
            <a:ext cx="589927" cy="86342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8294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33E62-3883-846E-1159-9ACFBFE28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EA27AF9A-B6A2-C563-8675-F9A68FE15A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79715" y="1972614"/>
            <a:ext cx="6122726" cy="3659286"/>
          </a:xfrm>
          <a:prstGeom prst="rect">
            <a:avLst/>
          </a:prstGeom>
        </p:spPr>
      </p:pic>
      <p:sp>
        <p:nvSpPr>
          <p:cNvPr id="7" name="BandaChiave">
            <a:extLst>
              <a:ext uri="{FF2B5EF4-FFF2-40B4-BE49-F238E27FC236}">
                <a16:creationId xmlns:a16="http://schemas.microsoft.com/office/drawing/2014/main" id="{BD7C8C35-7FA5-0E80-8719-C419FFB8AB9A}"/>
              </a:ext>
            </a:extLst>
          </p:cNvPr>
          <p:cNvSpPr/>
          <p:nvPr/>
        </p:nvSpPr>
        <p:spPr>
          <a:xfrm>
            <a:off x="305752" y="5709123"/>
            <a:ext cx="11580496" cy="691676"/>
          </a:xfrm>
          <a:prstGeom prst="roundRect">
            <a:avLst>
              <a:gd name="adj" fmla="val 10000"/>
            </a:avLst>
          </a:prstGeom>
          <a:solidFill>
            <a:srgbClr val="0F4761"/>
          </a:solidFill>
          <a:ln>
            <a:noFill/>
          </a:ln>
        </p:spPr>
        <p:txBody>
          <a:bodyPr wrap="square" lIns="228600" tIns="27432" rIns="228600" bIns="27432" anchor="ctr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Gli avvisi aiutano a decidere consapevolmente: l’utente può comunque confermare il salvataggio.</a:t>
            </a:r>
          </a:p>
        </p:txBody>
      </p:sp>
      <p:sp>
        <p:nvSpPr>
          <p:cNvPr id="8" name="Card1">
            <a:extLst>
              <a:ext uri="{FF2B5EF4-FFF2-40B4-BE49-F238E27FC236}">
                <a16:creationId xmlns:a16="http://schemas.microsoft.com/office/drawing/2014/main" id="{586D3C2E-ECDC-BDBF-F52F-EB263D1C8F63}"/>
              </a:ext>
            </a:extLst>
          </p:cNvPr>
          <p:cNvSpPr/>
          <p:nvPr/>
        </p:nvSpPr>
        <p:spPr>
          <a:xfrm>
            <a:off x="301752" y="1439533"/>
            <a:ext cx="4782312" cy="12197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Campi coerenti con il dato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Per l’elettricità: kWh, picco ed energia verde. Acqua, gas e diesel hanno campi differenti.</a:t>
            </a:r>
          </a:p>
        </p:txBody>
      </p:sp>
      <p:sp>
        <p:nvSpPr>
          <p:cNvPr id="9" name="Card2">
            <a:extLst>
              <a:ext uri="{FF2B5EF4-FFF2-40B4-BE49-F238E27FC236}">
                <a16:creationId xmlns:a16="http://schemas.microsoft.com/office/drawing/2014/main" id="{72117CDD-FF59-66BB-0FB0-FB4F7210AA83}"/>
              </a:ext>
            </a:extLst>
          </p:cNvPr>
          <p:cNvSpPr/>
          <p:nvPr/>
        </p:nvSpPr>
        <p:spPr>
          <a:xfrm>
            <a:off x="301752" y="2812894"/>
            <a:ext cx="4782312" cy="1129409"/>
          </a:xfrm>
          <a:prstGeom prst="roundRect">
            <a:avLst>
              <a:gd name="adj" fmla="val 6000"/>
            </a:avLst>
          </a:prstGeom>
          <a:solidFill>
            <a:srgbClr val="F2F7F7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Controlli di formato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Il sistema impedisce lettere nei campi numerici, per consentire il consolidamento quantitativo.</a:t>
            </a:r>
          </a:p>
        </p:txBody>
      </p:sp>
      <p:sp>
        <p:nvSpPr>
          <p:cNvPr id="10" name="Card1">
            <a:extLst>
              <a:ext uri="{FF2B5EF4-FFF2-40B4-BE49-F238E27FC236}">
                <a16:creationId xmlns:a16="http://schemas.microsoft.com/office/drawing/2014/main" id="{0EBBDB2C-5A88-867D-47BA-CCCD06041140}"/>
              </a:ext>
            </a:extLst>
          </p:cNvPr>
          <p:cNvSpPr/>
          <p:nvPr/>
        </p:nvSpPr>
        <p:spPr>
          <a:xfrm>
            <a:off x="301752" y="4095903"/>
            <a:ext cx="4782312" cy="134625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Regole di allarme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L’Admin configura soglie o rapporti percentuali dinamici. Il superamento genera un avviso, senza bloccare Salva.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0704EE-DDA0-518A-7DCA-CA687EF70402}"/>
              </a:ext>
            </a:extLst>
          </p:cNvPr>
          <p:cNvSpPr txBox="1"/>
          <p:nvPr/>
        </p:nvSpPr>
        <p:spPr>
          <a:xfrm>
            <a:off x="5394960" y="1439533"/>
            <a:ext cx="6492240" cy="361410"/>
          </a:xfrm>
          <a:prstGeom prst="rect">
            <a:avLst/>
          </a:prstGeom>
          <a:noFill/>
        </p:spPr>
        <p:txBody>
          <a:bodyPr wrap="square" lIns="18288" tIns="27432" rIns="18288" bIns="27432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L’inserimento dei valori nel record</a:t>
            </a:r>
          </a:p>
        </p:txBody>
      </p:sp>
      <p:sp>
        <p:nvSpPr>
          <p:cNvPr id="12" name="Testo originale sotto il titolo">
            <a:extLst>
              <a:ext uri="{FF2B5EF4-FFF2-40B4-BE49-F238E27FC236}">
                <a16:creationId xmlns:a16="http://schemas.microsoft.com/office/drawing/2014/main" id="{CC697882-4217-9E28-B952-B9B1E4A4835D}"/>
              </a:ext>
            </a:extLst>
          </p:cNvPr>
          <p:cNvSpPr txBox="1"/>
          <p:nvPr/>
        </p:nvSpPr>
        <p:spPr>
          <a:xfrm>
            <a:off x="640080" y="1005840"/>
            <a:ext cx="10908792" cy="361410"/>
          </a:xfrm>
          <a:prstGeom prst="rect">
            <a:avLst/>
          </a:prstGeom>
          <a:noFill/>
        </p:spPr>
        <p:txBody>
          <a:bodyPr wrap="square" lIns="18288" tIns="0" rIns="18288" bIns="27432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400" b="0"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I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campi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seguono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 lo stile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associato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 al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tipo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 di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dato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selezionato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, es Kwh o Litri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F476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itolo">
            <a:extLst>
              <a:ext uri="{FF2B5EF4-FFF2-40B4-BE49-F238E27FC236}">
                <a16:creationId xmlns:a16="http://schemas.microsoft.com/office/drawing/2014/main" id="{CC697882-4217-9E28-B952-B9B1E4A4835D}"/>
              </a:ext>
            </a:extLst>
          </p:cNvPr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 dirty="0">
                <a:solidFill>
                  <a:srgbClr val="073E31"/>
                </a:solidFill>
                <a:latin typeface="Calibri"/>
              </a:rPr>
              <a:t>Compilazione del modulo di raccolta - i controlli sui dati</a:t>
            </a:r>
          </a:p>
        </p:txBody>
      </p:sp>
    </p:spTree>
    <p:extLst>
      <p:ext uri="{BB962C8B-B14F-4D97-AF65-F5344CB8AC3E}">
        <p14:creationId xmlns:p14="http://schemas.microsoft.com/office/powerpoint/2010/main" val="2717909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A7297-18FF-9771-9738-8B6160774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5D6B32D6-C232-FD1F-39AA-E9D9F75204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23910" y="1502780"/>
            <a:ext cx="6038809" cy="3939379"/>
          </a:xfrm>
          <a:prstGeom prst="rect">
            <a:avLst/>
          </a:prstGeom>
        </p:spPr>
      </p:pic>
      <p:sp>
        <p:nvSpPr>
          <p:cNvPr id="7" name="BandaChiave">
            <a:extLst>
              <a:ext uri="{FF2B5EF4-FFF2-40B4-BE49-F238E27FC236}">
                <a16:creationId xmlns:a16="http://schemas.microsoft.com/office/drawing/2014/main" id="{D231DB42-3BA8-9441-57C4-66BA3BF55071}"/>
              </a:ext>
            </a:extLst>
          </p:cNvPr>
          <p:cNvSpPr/>
          <p:nvPr/>
        </p:nvSpPr>
        <p:spPr>
          <a:xfrm>
            <a:off x="305752" y="5709123"/>
            <a:ext cx="11580496" cy="691676"/>
          </a:xfrm>
          <a:prstGeom prst="roundRect">
            <a:avLst>
              <a:gd name="adj" fmla="val 10000"/>
            </a:avLst>
          </a:prstGeom>
          <a:solidFill>
            <a:srgbClr val="0F4761"/>
          </a:solidFill>
          <a:ln>
            <a:noFill/>
          </a:ln>
        </p:spPr>
        <p:txBody>
          <a:bodyPr wrap="square" lIns="228600" tIns="27432" rIns="228600" bIns="27432" anchor="ctr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La lettura del documento riduce le attività manuali e migliora qualità e velocità della raccolta dati.</a:t>
            </a:r>
          </a:p>
        </p:txBody>
      </p:sp>
      <p:sp>
        <p:nvSpPr>
          <p:cNvPr id="8" name="Card1">
            <a:extLst>
              <a:ext uri="{FF2B5EF4-FFF2-40B4-BE49-F238E27FC236}">
                <a16:creationId xmlns:a16="http://schemas.microsoft.com/office/drawing/2014/main" id="{2E89D81E-04DF-64AC-2C18-6A68CED77B6B}"/>
              </a:ext>
            </a:extLst>
          </p:cNvPr>
          <p:cNvSpPr/>
          <p:nvPr/>
        </p:nvSpPr>
        <p:spPr>
          <a:xfrm>
            <a:off x="301752" y="1439533"/>
            <a:ext cx="3995928" cy="17618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Il documento di origine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La bolletta si può caricare in Envizi come immagine.</a:t>
            </a:r>
          </a:p>
        </p:txBody>
      </p:sp>
      <p:sp>
        <p:nvSpPr>
          <p:cNvPr id="9" name="Card2">
            <a:extLst>
              <a:ext uri="{FF2B5EF4-FFF2-40B4-BE49-F238E27FC236}">
                <a16:creationId xmlns:a16="http://schemas.microsoft.com/office/drawing/2014/main" id="{FC9DD995-8CA1-611B-C032-63707E2E22A9}"/>
              </a:ext>
            </a:extLst>
          </p:cNvPr>
          <p:cNvSpPr/>
          <p:nvPr/>
        </p:nvSpPr>
        <p:spPr>
          <a:xfrm>
            <a:off x="301752" y="3364046"/>
            <a:ext cx="3995928" cy="1807054"/>
          </a:xfrm>
          <a:prstGeom prst="roundRect">
            <a:avLst>
              <a:gd name="adj" fmla="val 6000"/>
            </a:avLst>
          </a:prstGeom>
          <a:solidFill>
            <a:srgbClr val="F2F7F7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Il riconoscimento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La piattaforma riconosce automaticamente le informazioni principali, riducendo il lavoro di inserimento.</a:t>
            </a:r>
          </a:p>
        </p:txBody>
      </p:sp>
      <p:sp>
        <p:nvSpPr>
          <p:cNvPr id="10" name="Testo originale sotto il titolo">
            <a:extLst>
              <a:ext uri="{FF2B5EF4-FFF2-40B4-BE49-F238E27FC236}">
                <a16:creationId xmlns:a16="http://schemas.microsoft.com/office/drawing/2014/main" id="{CF219B83-B4DA-6A75-3532-04ED772D40F9}"/>
              </a:ext>
            </a:extLst>
          </p:cNvPr>
          <p:cNvSpPr txBox="1"/>
          <p:nvPr/>
        </p:nvSpPr>
        <p:spPr>
          <a:xfrm>
            <a:off x="640080" y="1005840"/>
            <a:ext cx="10908792" cy="361410"/>
          </a:xfrm>
          <a:prstGeom prst="rect">
            <a:avLst/>
          </a:prstGeom>
          <a:noFill/>
        </p:spPr>
        <p:txBody>
          <a:bodyPr wrap="square" lIns="18288" tIns="0" rIns="18288" bIns="27432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400" b="0"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Il riconoscimento automatico supporta l’acquisizione delle informazioni principali</a:t>
            </a:r>
          </a:p>
        </p:txBody>
      </p:sp>
      <p:sp>
        <p:nvSpPr>
          <p:cNvPr id="11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itolo">
            <a:extLst>
              <a:ext uri="{FF2B5EF4-FFF2-40B4-BE49-F238E27FC236}">
                <a16:creationId xmlns:a16="http://schemas.microsoft.com/office/drawing/2014/main" id="{CF219B83-B4DA-6A75-3532-04ED772D40F9}"/>
              </a:ext>
            </a:extLst>
          </p:cNvPr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Il caricamento della bolletta come immagine</a:t>
            </a:r>
          </a:p>
        </p:txBody>
      </p:sp>
    </p:spTree>
    <p:extLst>
      <p:ext uri="{BB962C8B-B14F-4D97-AF65-F5344CB8AC3E}">
        <p14:creationId xmlns:p14="http://schemas.microsoft.com/office/powerpoint/2010/main" val="395860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7DE6F-1559-084B-1C50-AD5959CDC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ndaChiave">
            <a:extLst>
              <a:ext uri="{FF2B5EF4-FFF2-40B4-BE49-F238E27FC236}">
                <a16:creationId xmlns:a16="http://schemas.microsoft.com/office/drawing/2014/main" id="{4604CD0D-E4FF-9C34-1531-9DED110B42B8}"/>
              </a:ext>
            </a:extLst>
          </p:cNvPr>
          <p:cNvSpPr/>
          <p:nvPr/>
        </p:nvSpPr>
        <p:spPr>
          <a:xfrm>
            <a:off x="305752" y="5709123"/>
            <a:ext cx="11580496" cy="691676"/>
          </a:xfrm>
          <a:prstGeom prst="roundRect">
            <a:avLst>
              <a:gd name="adj" fmla="val 10000"/>
            </a:avLst>
          </a:prstGeom>
          <a:solidFill>
            <a:srgbClr val="0F4761"/>
          </a:solidFill>
          <a:ln>
            <a:noFill/>
          </a:ln>
        </p:spPr>
        <p:txBody>
          <a:bodyPr wrap="square" lIns="228600" tIns="27432" rIns="228600" bIns="27432" anchor="ctr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Connettori e file restano preferibili quando disponibili. Il riconoscimento è utile soprattutto per PDF e immagini.</a:t>
            </a:r>
          </a:p>
        </p:txBody>
      </p:sp>
      <p:sp>
        <p:nvSpPr>
          <p:cNvPr id="5" name="Card1">
            <a:extLst>
              <a:ext uri="{FF2B5EF4-FFF2-40B4-BE49-F238E27FC236}">
                <a16:creationId xmlns:a16="http://schemas.microsoft.com/office/drawing/2014/main" id="{B3D7B7F1-5125-B25E-7A5B-BF890960EFAE}"/>
              </a:ext>
            </a:extLst>
          </p:cNvPr>
          <p:cNvSpPr/>
          <p:nvPr/>
        </p:nvSpPr>
        <p:spPr>
          <a:xfrm>
            <a:off x="301752" y="1439533"/>
            <a:ext cx="5650992" cy="400262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Le informazioni riconosciute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Fornitore e numero della bolletta.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</a:b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Periodo di fatturazione.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</a:b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POD/PDR o identificativi della fornitura.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</a:b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Consumi e costi.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</a:b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Imposte e oneri.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</a:b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Unità di misura.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</a:b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</a:b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Altri dati utili alla contabilizzazione e alla rendicontazione ESG.</a:t>
            </a:r>
          </a:p>
        </p:txBody>
      </p:sp>
      <p:sp>
        <p:nvSpPr>
          <p:cNvPr id="6" name="Card2">
            <a:extLst>
              <a:ext uri="{FF2B5EF4-FFF2-40B4-BE49-F238E27FC236}">
                <a16:creationId xmlns:a16="http://schemas.microsoft.com/office/drawing/2014/main" id="{B59CCF60-F327-323E-C180-5133B7F9E5EF}"/>
              </a:ext>
            </a:extLst>
          </p:cNvPr>
          <p:cNvSpPr/>
          <p:nvPr/>
        </p:nvSpPr>
        <p:spPr>
          <a:xfrm>
            <a:off x="6153912" y="1439533"/>
            <a:ext cx="5733288" cy="4002625"/>
          </a:xfrm>
          <a:prstGeom prst="roundRect">
            <a:avLst>
              <a:gd name="adj" fmla="val 6000"/>
            </a:avLst>
          </a:prstGeom>
          <a:solidFill>
            <a:srgbClr val="F2F7F7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I benefici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Meno data entry manuale e risparmio di tempo.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</a:b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</a:b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Meno errori di trascrizione.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</a:b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</a:b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Dati standardizzati tra fornitori diversi.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</a:b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</a:b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Caricamento delle bollette più rapido.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</a:b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</a:b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Qualità e tracciabilità a supporto degli audit ESG.</a:t>
            </a:r>
          </a:p>
        </p:txBody>
      </p:sp>
      <p:sp>
        <p:nvSpPr>
          <p:cNvPr id="7" name="Testo originale sotto il titolo">
            <a:extLst>
              <a:ext uri="{FF2B5EF4-FFF2-40B4-BE49-F238E27FC236}">
                <a16:creationId xmlns:a16="http://schemas.microsoft.com/office/drawing/2014/main" id="{DBB02069-4F8D-0B60-6379-15B431982F05}"/>
              </a:ext>
            </a:extLst>
          </p:cNvPr>
          <p:cNvSpPr txBox="1"/>
          <p:nvPr/>
        </p:nvSpPr>
        <p:spPr>
          <a:xfrm>
            <a:off x="640080" y="1005840"/>
            <a:ext cx="10908792" cy="361410"/>
          </a:xfrm>
          <a:prstGeom prst="rect">
            <a:avLst/>
          </a:prstGeom>
          <a:noFill/>
        </p:spPr>
        <p:txBody>
          <a:bodyPr wrap="square" lIns="18288" tIns="0" rIns="18288" bIns="27432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400" b="0"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OCR e AI estraggono informazioni da fatture di energia elettrica, gas e acqua</a:t>
            </a:r>
          </a:p>
        </p:txBody>
      </p:sp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itolo">
            <a:extLst>
              <a:ext uri="{FF2B5EF4-FFF2-40B4-BE49-F238E27FC236}">
                <a16:creationId xmlns:a16="http://schemas.microsoft.com/office/drawing/2014/main" id="{DBB02069-4F8D-0B60-6379-15B431982F05}"/>
              </a:ext>
            </a:extLst>
          </p:cNvPr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Il riconoscimento intelligente delle bollette</a:t>
            </a:r>
          </a:p>
        </p:txBody>
      </p:sp>
    </p:spTree>
    <p:extLst>
      <p:ext uri="{BB962C8B-B14F-4D97-AF65-F5344CB8AC3E}">
        <p14:creationId xmlns:p14="http://schemas.microsoft.com/office/powerpoint/2010/main" val="2456931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8BFB9-51C3-DD23-3286-4BCCA3F33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D8852833-B9CB-821D-08A2-FA49E78E94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90401" y="2266878"/>
            <a:ext cx="7499277" cy="3720344"/>
          </a:xfrm>
          <a:prstGeom prst="rect">
            <a:avLst/>
          </a:prstGeom>
        </p:spPr>
      </p:pic>
      <p:sp>
        <p:nvSpPr>
          <p:cNvPr id="7" name="BandaChiave">
            <a:extLst>
              <a:ext uri="{FF2B5EF4-FFF2-40B4-BE49-F238E27FC236}">
                <a16:creationId xmlns:a16="http://schemas.microsoft.com/office/drawing/2014/main" id="{9C8668BB-B3F2-1555-DBBC-F29327BE7A15}"/>
              </a:ext>
            </a:extLst>
          </p:cNvPr>
          <p:cNvSpPr/>
          <p:nvPr/>
        </p:nvSpPr>
        <p:spPr>
          <a:xfrm>
            <a:off x="305752" y="5709123"/>
            <a:ext cx="11580496" cy="691676"/>
          </a:xfrm>
          <a:prstGeom prst="roundRect">
            <a:avLst>
              <a:gd name="adj" fmla="val 10000"/>
            </a:avLst>
          </a:prstGeom>
          <a:solidFill>
            <a:srgbClr val="0F4761"/>
          </a:solidFill>
          <a:ln>
            <a:noFill/>
          </a:ln>
        </p:spPr>
        <p:txBody>
          <a:bodyPr wrap="square" lIns="228600" tIns="27432" rIns="228600" bIns="27432" anchor="ctr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Il record collega il dato all’utente che lo ha aggiornato e all’immagine della bolletta.</a:t>
            </a:r>
          </a:p>
        </p:txBody>
      </p:sp>
      <p:sp>
        <p:nvSpPr>
          <p:cNvPr id="8" name="Card1">
            <a:extLst>
              <a:ext uri="{FF2B5EF4-FFF2-40B4-BE49-F238E27FC236}">
                <a16:creationId xmlns:a16="http://schemas.microsoft.com/office/drawing/2014/main" id="{21B6876B-AB3A-AB86-A9DE-E1EE8C59F33E}"/>
              </a:ext>
            </a:extLst>
          </p:cNvPr>
          <p:cNvSpPr/>
          <p:nvPr/>
        </p:nvSpPr>
        <p:spPr>
          <a:xfrm>
            <a:off x="301752" y="1439533"/>
            <a:ext cx="3703320" cy="155406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Il contesto del record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In alto a sinistra: location Allevamenti Centro e account Elettricità POD 5124…</a:t>
            </a:r>
          </a:p>
        </p:txBody>
      </p:sp>
      <p:sp>
        <p:nvSpPr>
          <p:cNvPr id="9" name="Card2">
            <a:extLst>
              <a:ext uri="{FF2B5EF4-FFF2-40B4-BE49-F238E27FC236}">
                <a16:creationId xmlns:a16="http://schemas.microsoft.com/office/drawing/2014/main" id="{B22FC90F-85A7-912E-7845-63AAA5A9881C}"/>
              </a:ext>
            </a:extLst>
          </p:cNvPr>
          <p:cNvSpPr/>
          <p:nvPr/>
        </p:nvSpPr>
        <p:spPr>
          <a:xfrm>
            <a:off x="301752" y="3156235"/>
            <a:ext cx="3703320" cy="2123289"/>
          </a:xfrm>
          <a:prstGeom prst="roundRect">
            <a:avLst>
              <a:gd name="adj" fmla="val 6000"/>
            </a:avLst>
          </a:prstGeom>
          <a:solidFill>
            <a:srgbClr val="F2F7F7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Il pannello dei dettagli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Nella griglia sono presenti i record. L’icona rettangolare a destra mostra l’utente che ha aggiornato il dato e l’immagine della bolletta.</a:t>
            </a:r>
          </a:p>
        </p:txBody>
      </p:sp>
      <p:sp>
        <p:nvSpPr>
          <p:cNvPr id="10" name="Testo originale sotto il titolo">
            <a:extLst>
              <a:ext uri="{FF2B5EF4-FFF2-40B4-BE49-F238E27FC236}">
                <a16:creationId xmlns:a16="http://schemas.microsoft.com/office/drawing/2014/main" id="{B4A55E33-E59D-204A-9E0F-B5A73BDDDC22}"/>
              </a:ext>
            </a:extLst>
          </p:cNvPr>
          <p:cNvSpPr txBox="1"/>
          <p:nvPr/>
        </p:nvSpPr>
        <p:spPr>
          <a:xfrm>
            <a:off x="640080" y="1005840"/>
            <a:ext cx="10908792" cy="361410"/>
          </a:xfrm>
          <a:prstGeom prst="rect">
            <a:avLst/>
          </a:prstGeom>
          <a:noFill/>
        </p:spPr>
        <p:txBody>
          <a:bodyPr wrap="square" lIns="18288" tIns="0" rIns="18288" bIns="27432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400" b="0"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La griglia rende visibili i dati caricati e le informazioni di dettaglio</a:t>
            </a:r>
          </a:p>
        </p:txBody>
      </p:sp>
      <p:sp>
        <p:nvSpPr>
          <p:cNvPr id="11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itolo">
            <a:extLst>
              <a:ext uri="{FF2B5EF4-FFF2-40B4-BE49-F238E27FC236}">
                <a16:creationId xmlns:a16="http://schemas.microsoft.com/office/drawing/2014/main" id="{B4A55E33-E59D-204A-9E0F-B5A73BDDDC22}"/>
              </a:ext>
            </a:extLst>
          </p:cNvPr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Il record e la bolletta allegata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00B33DE9-BB24-C543-AB01-54F67C46E6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70218" y="263823"/>
            <a:ext cx="2716030" cy="1952743"/>
          </a:xfrm>
          <a:prstGeom prst="rect">
            <a:avLst/>
          </a:prstGeom>
        </p:spPr>
      </p:pic>
      <p:sp>
        <p:nvSpPr>
          <p:cNvPr id="3" name="Freccia giù 2">
            <a:extLst>
              <a:ext uri="{FF2B5EF4-FFF2-40B4-BE49-F238E27FC236}">
                <a16:creationId xmlns:a16="http://schemas.microsoft.com/office/drawing/2014/main" id="{CE4EF914-7CB6-B841-F279-30AB3A1C3FAF}"/>
              </a:ext>
            </a:extLst>
          </p:cNvPr>
          <p:cNvSpPr/>
          <p:nvPr/>
        </p:nvSpPr>
        <p:spPr>
          <a:xfrm rot="16200000">
            <a:off x="9109396" y="579323"/>
            <a:ext cx="589927" cy="468283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1857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AF7E1-2043-CF3C-2104-48DC4B4FD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208DC139-50F4-3C2F-94D4-25F10504A25D}"/>
              </a:ext>
            </a:extLst>
          </p:cNvPr>
          <p:cNvSpPr txBox="1"/>
          <p:nvPr/>
        </p:nvSpPr>
        <p:spPr>
          <a:xfrm>
            <a:off x="2975020" y="2099256"/>
            <a:ext cx="5486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/>
              <a:t>Gestione operativa dati</a:t>
            </a:r>
          </a:p>
          <a:p>
            <a:pPr algn="ctr"/>
            <a:endParaRPr lang="it-IT" sz="3200" dirty="0"/>
          </a:p>
          <a:p>
            <a:pPr algn="ctr"/>
            <a:r>
              <a:rPr lang="it-IT" sz="3200" dirty="0"/>
              <a:t>Un utente chiede a un altro utente di catturare i dati di un account </a:t>
            </a:r>
          </a:p>
        </p:txBody>
      </p:sp>
    </p:spTree>
    <p:extLst>
      <p:ext uri="{BB962C8B-B14F-4D97-AF65-F5344CB8AC3E}">
        <p14:creationId xmlns:p14="http://schemas.microsoft.com/office/powerpoint/2010/main" val="3906336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886CC61C-2C32-3F48-7F89-4267A0BA3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189" y="1481364"/>
            <a:ext cx="11268467" cy="2273218"/>
          </a:xfrm>
          <a:prstGeom prst="rect">
            <a:avLst/>
          </a:prstGeom>
        </p:spPr>
      </p:pic>
      <p:sp>
        <p:nvSpPr>
          <p:cNvPr id="3" name="Titolo">
            <a:extLst>
              <a:ext uri="{FF2B5EF4-FFF2-40B4-BE49-F238E27FC236}">
                <a16:creationId xmlns:a16="http://schemas.microsoft.com/office/drawing/2014/main" id="{19E4B098-945C-B120-9014-806245AE1F36}"/>
              </a:ext>
            </a:extLst>
          </p:cNvPr>
          <p:cNvSpPr txBox="1"/>
          <p:nvPr/>
        </p:nvSpPr>
        <p:spPr>
          <a:xfrm>
            <a:off x="334190" y="318654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 dirty="0">
                <a:solidFill>
                  <a:srgbClr val="073E31"/>
                </a:solidFill>
                <a:latin typeface="Calibri"/>
              </a:rPr>
              <a:t>Prerequisito (opzionale, ma suggerito). L’utente Admin associa ogni location a un utente. Una location -&gt; un utente assegnatario,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4B86399-1CE2-8DB2-6F45-080D4D999663}"/>
              </a:ext>
            </a:extLst>
          </p:cNvPr>
          <p:cNvSpPr txBox="1"/>
          <p:nvPr/>
        </p:nvSpPr>
        <p:spPr>
          <a:xfrm>
            <a:off x="334190" y="1206643"/>
            <a:ext cx="714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Home page&gt;Gestisci&gt;Contatti di Notifica&gt;Crea Nuovo. 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73F370A-6D15-6998-F695-0475ED81AC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653" y="2899866"/>
            <a:ext cx="4175529" cy="3672536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7A6CE5A8-08BB-425D-8E54-57F3EDC6DA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7022" y="3004056"/>
            <a:ext cx="4030462" cy="3520786"/>
          </a:xfrm>
          <a:prstGeom prst="rect">
            <a:avLst/>
          </a:prstGeom>
        </p:spPr>
      </p:pic>
      <p:sp>
        <p:nvSpPr>
          <p:cNvPr id="11" name="Freccia giù 10">
            <a:extLst>
              <a:ext uri="{FF2B5EF4-FFF2-40B4-BE49-F238E27FC236}">
                <a16:creationId xmlns:a16="http://schemas.microsoft.com/office/drawing/2014/main" id="{4DB112AB-9520-44F0-222C-006E18AD9EE2}"/>
              </a:ext>
            </a:extLst>
          </p:cNvPr>
          <p:cNvSpPr/>
          <p:nvPr/>
        </p:nvSpPr>
        <p:spPr>
          <a:xfrm>
            <a:off x="9850582" y="1575975"/>
            <a:ext cx="277091" cy="363661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Freccia giù 11">
            <a:extLst>
              <a:ext uri="{FF2B5EF4-FFF2-40B4-BE49-F238E27FC236}">
                <a16:creationId xmlns:a16="http://schemas.microsoft.com/office/drawing/2014/main" id="{3AE0A186-D6DC-9234-E142-FBBE8FDBBAB7}"/>
              </a:ext>
            </a:extLst>
          </p:cNvPr>
          <p:cNvSpPr/>
          <p:nvPr/>
        </p:nvSpPr>
        <p:spPr>
          <a:xfrm>
            <a:off x="1842655" y="4114719"/>
            <a:ext cx="277091" cy="363661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Freccia giù 12">
            <a:extLst>
              <a:ext uri="{FF2B5EF4-FFF2-40B4-BE49-F238E27FC236}">
                <a16:creationId xmlns:a16="http://schemas.microsoft.com/office/drawing/2014/main" id="{F5E88A14-6CF0-7947-03AB-59ABBAB27D35}"/>
              </a:ext>
            </a:extLst>
          </p:cNvPr>
          <p:cNvSpPr/>
          <p:nvPr/>
        </p:nvSpPr>
        <p:spPr>
          <a:xfrm>
            <a:off x="6941128" y="4776050"/>
            <a:ext cx="277091" cy="363661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Freccia giù 13">
            <a:extLst>
              <a:ext uri="{FF2B5EF4-FFF2-40B4-BE49-F238E27FC236}">
                <a16:creationId xmlns:a16="http://schemas.microsoft.com/office/drawing/2014/main" id="{B1130189-292C-2A84-462B-4AB387AF55E7}"/>
              </a:ext>
            </a:extLst>
          </p:cNvPr>
          <p:cNvSpPr/>
          <p:nvPr/>
        </p:nvSpPr>
        <p:spPr>
          <a:xfrm>
            <a:off x="6913420" y="4029303"/>
            <a:ext cx="277091" cy="363661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5894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CB253E15-A5DE-9029-24EA-A8C0DA5E45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80" y="757566"/>
            <a:ext cx="11945439" cy="4031764"/>
          </a:xfrm>
          <a:prstGeom prst="rect">
            <a:avLst/>
          </a:prstGeom>
        </p:spPr>
      </p:pic>
      <p:sp>
        <p:nvSpPr>
          <p:cNvPr id="3" name="Titolo">
            <a:extLst>
              <a:ext uri="{FF2B5EF4-FFF2-40B4-BE49-F238E27FC236}">
                <a16:creationId xmlns:a16="http://schemas.microsoft.com/office/drawing/2014/main" id="{6088C645-41AB-3792-9E1C-E0BBB9E7E9C3}"/>
              </a:ext>
            </a:extLst>
          </p:cNvPr>
          <p:cNvSpPr txBox="1"/>
          <p:nvPr/>
        </p:nvSpPr>
        <p:spPr>
          <a:xfrm>
            <a:off x="334190" y="318654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 dirty="0">
                <a:solidFill>
                  <a:srgbClr val="073E31"/>
                </a:solidFill>
                <a:latin typeface="Calibri"/>
              </a:rPr>
              <a:t>Ogni location ha un assegnatario.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93280F4-B08A-A1AB-5C69-C8E7626D9383}"/>
              </a:ext>
            </a:extLst>
          </p:cNvPr>
          <p:cNvSpPr txBox="1"/>
          <p:nvPr/>
        </p:nvSpPr>
        <p:spPr>
          <a:xfrm>
            <a:off x="334189" y="4905076"/>
            <a:ext cx="106247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Quando sarà creata la richiesta dati per un Account – esempio la bolletta elettrica di Settembre della sede di Campo Ligure questa sarà assegnata via email direttamente all’Assegnatario indicato in tabella. In caso di assenza l’utente </a:t>
            </a:r>
            <a:r>
              <a:rPr lang="it-IT" dirty="0" err="1"/>
              <a:t>reviewer</a:t>
            </a:r>
            <a:r>
              <a:rPr lang="it-IT" dirty="0"/>
              <a:t> (chi ha creato il problema/</a:t>
            </a:r>
            <a:r>
              <a:rPr lang="it-IT" dirty="0" err="1"/>
              <a:t>issue</a:t>
            </a:r>
            <a:r>
              <a:rPr lang="it-IT" dirty="0"/>
              <a:t>) può riassegnarla a un diverso utente nominativo.</a:t>
            </a:r>
          </a:p>
        </p:txBody>
      </p:sp>
    </p:spTree>
    <p:extLst>
      <p:ext uri="{BB962C8B-B14F-4D97-AF65-F5344CB8AC3E}">
        <p14:creationId xmlns:p14="http://schemas.microsoft.com/office/powerpoint/2010/main" val="205600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">
            <a:extLst>
              <a:ext uri="{FF2B5EF4-FFF2-40B4-BE49-F238E27FC236}">
                <a16:creationId xmlns:a16="http://schemas.microsoft.com/office/drawing/2014/main" id="{EF46708E-E0F3-E4EE-4D5B-6FA86F1905F9}"/>
              </a:ext>
            </a:extLst>
          </p:cNvPr>
          <p:cNvSpPr txBox="1"/>
          <p:nvPr/>
        </p:nvSpPr>
        <p:spPr>
          <a:xfrm>
            <a:off x="334190" y="318654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 dirty="0">
                <a:solidFill>
                  <a:srgbClr val="073E31"/>
                </a:solidFill>
                <a:latin typeface="Calibri"/>
              </a:rPr>
              <a:t>Un utente chiede la cattura dei dati di gasolio della sede Allevamenti Centro.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1920FFB-0E16-3654-18F7-4A7F6763DDBF}"/>
              </a:ext>
            </a:extLst>
          </p:cNvPr>
          <p:cNvSpPr txBox="1"/>
          <p:nvPr/>
        </p:nvSpPr>
        <p:spPr>
          <a:xfrm>
            <a:off x="595745" y="757566"/>
            <a:ext cx="107511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Scenario: </a:t>
            </a:r>
            <a:r>
              <a:rPr lang="it-IT" dirty="0" err="1"/>
              <a:t>Fanco</a:t>
            </a:r>
            <a:r>
              <a:rPr lang="it-IT" dirty="0"/>
              <a:t> Piani è un utente generale, non ha ruoli di lavoro assegnati</a:t>
            </a:r>
          </a:p>
          <a:p>
            <a:r>
              <a:rPr lang="it-IT" dirty="0"/>
              <a:t>Da Home Page&gt;Gestisci&gt;Account&gt;Visualizza elenco account&gt;Seleziona Allevamenti Nord in colonna Location, seleziona l’account Gasolio, tasto destro mouse. Se seleziona cattura dati sarà lui stesso a inserire i dati, se inserisce </a:t>
            </a:r>
            <a:r>
              <a:rPr lang="it-IT" dirty="0" err="1"/>
              <a:t>Acqusizione</a:t>
            </a:r>
            <a:r>
              <a:rPr lang="it-IT" dirty="0"/>
              <a:t> Dati Richiesta attiverà un problema/</a:t>
            </a:r>
            <a:r>
              <a:rPr lang="it-IT" dirty="0" err="1"/>
              <a:t>issue</a:t>
            </a:r>
            <a:r>
              <a:rPr lang="it-IT" dirty="0"/>
              <a:t> per l’Assegnatario della sede Allevamenti Nord (identificato in Gestisci&gt;Contatti di Notifica)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AB376FD-C927-0E6E-B317-944356174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890" y="2396807"/>
            <a:ext cx="9749983" cy="433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01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94D42CFA-33BB-CBED-341A-97A8087C0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92" y="0"/>
            <a:ext cx="5243851" cy="68580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25EA14D5-E7BC-B1A8-ECD8-D4D03A8632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8508" y="5090968"/>
            <a:ext cx="2476500" cy="1079500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72E32347-C2E2-97F8-BC53-28FB4891CB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804" y="3156527"/>
            <a:ext cx="6090672" cy="3013941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E6F897A2-A2B1-7595-80BF-D7AD59CED5DB}"/>
              </a:ext>
            </a:extLst>
          </p:cNvPr>
          <p:cNvSpPr txBox="1"/>
          <p:nvPr/>
        </p:nvSpPr>
        <p:spPr>
          <a:xfrm>
            <a:off x="5420543" y="161820"/>
            <a:ext cx="5243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Il modulo di creazione problema 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DCBDC5E-C201-55C9-87EB-8F6A31F164F8}"/>
              </a:ext>
            </a:extLst>
          </p:cNvPr>
          <p:cNvSpPr txBox="1"/>
          <p:nvPr/>
        </p:nvSpPr>
        <p:spPr>
          <a:xfrm>
            <a:off x="5676803" y="748145"/>
            <a:ext cx="56423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Il </a:t>
            </a:r>
            <a:r>
              <a:rPr lang="it-IT" dirty="0" err="1"/>
              <a:t>reviewer</a:t>
            </a:r>
            <a:r>
              <a:rPr lang="it-IT" dirty="0"/>
              <a:t> descrive il compito richiesto in forma descrittiva.</a:t>
            </a:r>
          </a:p>
          <a:p>
            <a:r>
              <a:rPr lang="it-IT" dirty="0"/>
              <a:t>Il modulo guida la scelta strutturata dell’oggetto di richiesta, es dati del gas della location Allevamenti nord, questo riduce la probabilità di errori rispetto a metodi tradizionali email e </a:t>
            </a:r>
            <a:r>
              <a:rPr lang="it-IT" dirty="0" err="1"/>
              <a:t>excel</a:t>
            </a:r>
            <a:r>
              <a:rPr lang="it-IT" dirty="0"/>
              <a:t>. </a:t>
            </a:r>
          </a:p>
          <a:p>
            <a:r>
              <a:rPr lang="it-IT" dirty="0"/>
              <a:t>Possibile pianificare l’invio periodico della richiesta al responsabile di sede configurato in contatti.</a:t>
            </a:r>
          </a:p>
        </p:txBody>
      </p:sp>
    </p:spTree>
    <p:extLst>
      <p:ext uri="{BB962C8B-B14F-4D97-AF65-F5344CB8AC3E}">
        <p14:creationId xmlns:p14="http://schemas.microsoft.com/office/powerpoint/2010/main" val="1445159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244CEB69-DD68-6E23-7660-D732793C1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81" y="795606"/>
            <a:ext cx="9027474" cy="5266787"/>
          </a:xfrm>
          <a:prstGeom prst="rect">
            <a:avLst/>
          </a:prstGeom>
        </p:spPr>
      </p:pic>
      <p:sp>
        <p:nvSpPr>
          <p:cNvPr id="3" name="Titolo">
            <a:extLst>
              <a:ext uri="{FF2B5EF4-FFF2-40B4-BE49-F238E27FC236}">
                <a16:creationId xmlns:a16="http://schemas.microsoft.com/office/drawing/2014/main" id="{64F29A0D-0367-2670-D4A1-6484C835F809}"/>
              </a:ext>
            </a:extLst>
          </p:cNvPr>
          <p:cNvSpPr txBox="1"/>
          <p:nvPr/>
        </p:nvSpPr>
        <p:spPr>
          <a:xfrm>
            <a:off x="334190" y="318654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 dirty="0">
                <a:solidFill>
                  <a:srgbClr val="073E31"/>
                </a:solidFill>
                <a:latin typeface="Calibri"/>
              </a:rPr>
              <a:t>L’utente assegnatario – configurato responsabile di sede – riceve email e accede </a:t>
            </a:r>
          </a:p>
        </p:txBody>
      </p:sp>
    </p:spTree>
    <p:extLst>
      <p:ext uri="{BB962C8B-B14F-4D97-AF65-F5344CB8AC3E}">
        <p14:creationId xmlns:p14="http://schemas.microsoft.com/office/powerpoint/2010/main" val="1635564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6ADA2F6F-3EDC-7342-0092-6C44D99E3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54" y="1069357"/>
            <a:ext cx="10712080" cy="5095916"/>
          </a:xfrm>
          <a:prstGeom prst="rect">
            <a:avLst/>
          </a:prstGeom>
        </p:spPr>
      </p:pic>
      <p:sp>
        <p:nvSpPr>
          <p:cNvPr id="3" name="Titolo">
            <a:extLst>
              <a:ext uri="{FF2B5EF4-FFF2-40B4-BE49-F238E27FC236}">
                <a16:creationId xmlns:a16="http://schemas.microsoft.com/office/drawing/2014/main" id="{607351F1-362A-DF3F-D95D-EB36729FE66E}"/>
              </a:ext>
            </a:extLst>
          </p:cNvPr>
          <p:cNvSpPr txBox="1"/>
          <p:nvPr/>
        </p:nvSpPr>
        <p:spPr>
          <a:xfrm>
            <a:off x="334190" y="318654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 dirty="0">
                <a:solidFill>
                  <a:srgbClr val="073E31"/>
                </a:solidFill>
                <a:latin typeface="Calibri"/>
              </a:rPr>
              <a:t>L’utente assegnatario – visualizza la tavola di lavoro (</a:t>
            </a:r>
            <a:r>
              <a:rPr lang="it-IT" sz="2400" b="1" dirty="0" err="1">
                <a:solidFill>
                  <a:srgbClr val="073E31"/>
                </a:solidFill>
                <a:latin typeface="Calibri"/>
              </a:rPr>
              <a:t>kan</a:t>
            </a:r>
            <a:r>
              <a:rPr lang="it-IT" sz="2400" b="1" dirty="0">
                <a:solidFill>
                  <a:srgbClr val="073E31"/>
                </a:solidFill>
                <a:latin typeface="Calibri"/>
              </a:rPr>
              <a:t> </a:t>
            </a:r>
            <a:r>
              <a:rPr lang="it-IT" sz="2400" b="1" dirty="0" err="1">
                <a:solidFill>
                  <a:srgbClr val="073E31"/>
                </a:solidFill>
                <a:latin typeface="Calibri"/>
              </a:rPr>
              <a:t>ban</a:t>
            </a:r>
            <a:r>
              <a:rPr lang="it-IT" sz="2400" b="1" dirty="0">
                <a:solidFill>
                  <a:srgbClr val="073E31"/>
                </a:solidFill>
                <a:latin typeface="Calibri"/>
              </a:rPr>
              <a:t>). Seleziona la scheda in da fare e visualizza a destra i dettagli. Preme cattura dati e compila modulo.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E9A348A-639A-8D68-517C-7FAB3F52B27E}"/>
              </a:ext>
            </a:extLst>
          </p:cNvPr>
          <p:cNvSpPr txBox="1"/>
          <p:nvPr/>
        </p:nvSpPr>
        <p:spPr>
          <a:xfrm>
            <a:off x="6467061" y="4691270"/>
            <a:ext cx="21866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Chi ha assegnato il problema, scadenza…</a:t>
            </a:r>
          </a:p>
        </p:txBody>
      </p:sp>
      <p:sp>
        <p:nvSpPr>
          <p:cNvPr id="5" name="Freccia giù 4">
            <a:extLst>
              <a:ext uri="{FF2B5EF4-FFF2-40B4-BE49-F238E27FC236}">
                <a16:creationId xmlns:a16="http://schemas.microsoft.com/office/drawing/2014/main" id="{3696696E-86CB-AB4B-F2DA-0D8E561D4F9A}"/>
              </a:ext>
            </a:extLst>
          </p:cNvPr>
          <p:cNvSpPr/>
          <p:nvPr/>
        </p:nvSpPr>
        <p:spPr>
          <a:xfrm>
            <a:off x="9441324" y="4354939"/>
            <a:ext cx="477078" cy="49033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35159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">
            <a:extLst>
              <a:ext uri="{FF2B5EF4-FFF2-40B4-BE49-F238E27FC236}">
                <a16:creationId xmlns:a16="http://schemas.microsoft.com/office/drawing/2014/main" id="{EE8E442B-EE93-583B-1441-6A63F598BC00}"/>
              </a:ext>
            </a:extLst>
          </p:cNvPr>
          <p:cNvSpPr txBox="1"/>
          <p:nvPr/>
        </p:nvSpPr>
        <p:spPr>
          <a:xfrm>
            <a:off x="210207" y="205155"/>
            <a:ext cx="11098924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 dirty="0">
                <a:solidFill>
                  <a:srgbClr val="073E31"/>
                </a:solidFill>
                <a:latin typeface="Calibri"/>
              </a:rPr>
              <a:t>Verso il basso vede i valori dei record precedenti e i valori registrati, e più in basso la storia di chi ha inserito o modificato il record. Può riassegnare il compito/inserire note.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08DF0EA2-C028-7460-1DE9-A65BBB282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4897" y="1250729"/>
            <a:ext cx="4122721" cy="3061475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F0A52BD9-5B8D-2493-926E-833A52A98F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248" y="1492466"/>
            <a:ext cx="4589750" cy="3229824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5D956F46-4015-1D22-CE41-D3B2DF2F82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063" y="3628176"/>
            <a:ext cx="3896296" cy="3229824"/>
          </a:xfrm>
          <a:prstGeom prst="rect">
            <a:avLst/>
          </a:prstGeom>
        </p:spPr>
      </p:pic>
      <p:sp>
        <p:nvSpPr>
          <p:cNvPr id="10" name="Freccia giù 9">
            <a:extLst>
              <a:ext uri="{FF2B5EF4-FFF2-40B4-BE49-F238E27FC236}">
                <a16:creationId xmlns:a16="http://schemas.microsoft.com/office/drawing/2014/main" id="{064A7D49-984C-0C0F-139E-DA92222B725F}"/>
              </a:ext>
            </a:extLst>
          </p:cNvPr>
          <p:cNvSpPr/>
          <p:nvPr/>
        </p:nvSpPr>
        <p:spPr>
          <a:xfrm>
            <a:off x="5160579" y="3429000"/>
            <a:ext cx="175419" cy="47033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1224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1442F-4A75-6EDF-3F6F-BE8FC7B99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086492DD-4EA6-8F20-2E9B-5C25BF65B424}"/>
              </a:ext>
            </a:extLst>
          </p:cNvPr>
          <p:cNvSpPr txBox="1"/>
          <p:nvPr/>
        </p:nvSpPr>
        <p:spPr>
          <a:xfrm>
            <a:off x="2975020" y="2099256"/>
            <a:ext cx="5486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/>
              <a:t>Gestione operativa dati</a:t>
            </a:r>
          </a:p>
          <a:p>
            <a:pPr algn="ctr"/>
            <a:endParaRPr lang="it-IT" sz="3200" dirty="0"/>
          </a:p>
          <a:p>
            <a:pPr algn="ctr"/>
            <a:r>
              <a:rPr lang="it-IT" sz="3200" dirty="0"/>
              <a:t>Un utente chiede a un altro utente di catturare i dati per molteplici account</a:t>
            </a:r>
          </a:p>
        </p:txBody>
      </p:sp>
    </p:spTree>
    <p:extLst>
      <p:ext uri="{BB962C8B-B14F-4D97-AF65-F5344CB8AC3E}">
        <p14:creationId xmlns:p14="http://schemas.microsoft.com/office/powerpoint/2010/main" val="35162814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">
            <a:extLst>
              <a:ext uri="{FF2B5EF4-FFF2-40B4-BE49-F238E27FC236}">
                <a16:creationId xmlns:a16="http://schemas.microsoft.com/office/drawing/2014/main" id="{3035F317-472F-B2D3-7EDF-F7DA976D3E55}"/>
              </a:ext>
            </a:extLst>
          </p:cNvPr>
          <p:cNvSpPr txBox="1"/>
          <p:nvPr/>
        </p:nvSpPr>
        <p:spPr>
          <a:xfrm>
            <a:off x="334190" y="318654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 dirty="0">
                <a:solidFill>
                  <a:srgbClr val="073E31"/>
                </a:solidFill>
                <a:latin typeface="Calibri"/>
              </a:rPr>
              <a:t>Il revisore può selezionare molteplici account e chiedere acquisizione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FD122403-177B-6D1D-E9FC-4AC7EF921C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86" y="1508464"/>
            <a:ext cx="11508600" cy="459804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8036CF1-FA57-1DB0-BF29-6C3A286FBA3D}"/>
              </a:ext>
            </a:extLst>
          </p:cNvPr>
          <p:cNvSpPr txBox="1"/>
          <p:nvPr/>
        </p:nvSpPr>
        <p:spPr>
          <a:xfrm>
            <a:off x="334190" y="914400"/>
            <a:ext cx="8252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Gestisci&gt;Account&gt;seleziona molteplici account, tasto destro mouse, </a:t>
            </a:r>
            <a:br>
              <a:rPr lang="it-IT" dirty="0"/>
            </a:br>
            <a:r>
              <a:rPr lang="it-IT" dirty="0"/>
              <a:t>-&gt;Acquisizione dati richiesta.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A0CEDB73-1EC1-2EBF-D0FD-11EB0BF0AB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6847" y="2018214"/>
            <a:ext cx="3467558" cy="4598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320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0EFAA554-90A9-84DA-D1DE-B580417113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067" y="693682"/>
            <a:ext cx="7772400" cy="5744817"/>
          </a:xfrm>
          <a:prstGeom prst="rect">
            <a:avLst/>
          </a:prstGeom>
        </p:spPr>
      </p:pic>
      <p:sp>
        <p:nvSpPr>
          <p:cNvPr id="4" name="Titolo">
            <a:extLst>
              <a:ext uri="{FF2B5EF4-FFF2-40B4-BE49-F238E27FC236}">
                <a16:creationId xmlns:a16="http://schemas.microsoft.com/office/drawing/2014/main" id="{9A601EEE-5259-3A5B-3426-DF5636A8EC69}"/>
              </a:ext>
            </a:extLst>
          </p:cNvPr>
          <p:cNvSpPr txBox="1"/>
          <p:nvPr/>
        </p:nvSpPr>
        <p:spPr>
          <a:xfrm>
            <a:off x="334190" y="318654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 dirty="0">
                <a:solidFill>
                  <a:srgbClr val="073E31"/>
                </a:solidFill>
                <a:latin typeface="Calibri"/>
              </a:rPr>
              <a:t>L’assegnatario riceve una mail con i link ai singoli compiti in carico</a:t>
            </a:r>
          </a:p>
        </p:txBody>
      </p:sp>
    </p:spTree>
    <p:extLst>
      <p:ext uri="{BB962C8B-B14F-4D97-AF65-F5344CB8AC3E}">
        <p14:creationId xmlns:p14="http://schemas.microsoft.com/office/powerpoint/2010/main" val="42825499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0C304D1B-AC0F-D182-DD28-0026B348FE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15" y="1863632"/>
            <a:ext cx="10365709" cy="4127263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95209B94-051E-885A-21AF-B0F45B353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170" y="3429000"/>
            <a:ext cx="4667715" cy="321169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5D0DE6E-FA1E-9CCF-0CB2-DEE843CC8E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677" y="1028336"/>
            <a:ext cx="7772400" cy="621304"/>
          </a:xfrm>
          <a:prstGeom prst="rect">
            <a:avLst/>
          </a:prstGeom>
        </p:spPr>
      </p:pic>
      <p:sp>
        <p:nvSpPr>
          <p:cNvPr id="6" name="Freccia giù 5">
            <a:extLst>
              <a:ext uri="{FF2B5EF4-FFF2-40B4-BE49-F238E27FC236}">
                <a16:creationId xmlns:a16="http://schemas.microsoft.com/office/drawing/2014/main" id="{A212EB06-A1C5-2310-5FBA-A347C07638EE}"/>
              </a:ext>
            </a:extLst>
          </p:cNvPr>
          <p:cNvSpPr/>
          <p:nvPr/>
        </p:nvSpPr>
        <p:spPr>
          <a:xfrm>
            <a:off x="6390290" y="4130566"/>
            <a:ext cx="430924" cy="43092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Freccia giù 6">
            <a:extLst>
              <a:ext uri="{FF2B5EF4-FFF2-40B4-BE49-F238E27FC236}">
                <a16:creationId xmlns:a16="http://schemas.microsoft.com/office/drawing/2014/main" id="{0AB6B8DE-6351-F0E8-BC1C-792D29F4DAC7}"/>
              </a:ext>
            </a:extLst>
          </p:cNvPr>
          <p:cNvSpPr/>
          <p:nvPr/>
        </p:nvSpPr>
        <p:spPr>
          <a:xfrm rot="16200000">
            <a:off x="509752" y="1123526"/>
            <a:ext cx="430924" cy="43092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Titolo">
            <a:extLst>
              <a:ext uri="{FF2B5EF4-FFF2-40B4-BE49-F238E27FC236}">
                <a16:creationId xmlns:a16="http://schemas.microsoft.com/office/drawing/2014/main" id="{015CD9FF-05CE-21D8-C3E2-A56E78C9C75B}"/>
              </a:ext>
            </a:extLst>
          </p:cNvPr>
          <p:cNvSpPr txBox="1"/>
          <p:nvPr/>
        </p:nvSpPr>
        <p:spPr>
          <a:xfrm>
            <a:off x="334190" y="318654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 dirty="0">
                <a:solidFill>
                  <a:srgbClr val="073E31"/>
                </a:solidFill>
                <a:latin typeface="Calibri"/>
              </a:rPr>
              <a:t>L’assegnatario clicca su un link nella mail e atterra sul singolo compito. Dunque torna alla mail e clicca sui link allegati fino a completamento attività. </a:t>
            </a:r>
          </a:p>
        </p:txBody>
      </p:sp>
    </p:spTree>
    <p:extLst>
      <p:ext uri="{BB962C8B-B14F-4D97-AF65-F5344CB8AC3E}">
        <p14:creationId xmlns:p14="http://schemas.microsoft.com/office/powerpoint/2010/main" val="36281766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954DD-29C8-88F4-D19F-F2E98E5D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F4C638C9-D561-C0E1-013E-75C6CC71A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677" y="1028336"/>
            <a:ext cx="7772400" cy="621304"/>
          </a:xfrm>
          <a:prstGeom prst="rect">
            <a:avLst/>
          </a:prstGeom>
        </p:spPr>
      </p:pic>
      <p:sp>
        <p:nvSpPr>
          <p:cNvPr id="7" name="Freccia giù 6">
            <a:extLst>
              <a:ext uri="{FF2B5EF4-FFF2-40B4-BE49-F238E27FC236}">
                <a16:creationId xmlns:a16="http://schemas.microsoft.com/office/drawing/2014/main" id="{8F2F258C-DE4B-AA4E-7FC5-6F68F872C219}"/>
              </a:ext>
            </a:extLst>
          </p:cNvPr>
          <p:cNvSpPr/>
          <p:nvPr/>
        </p:nvSpPr>
        <p:spPr>
          <a:xfrm rot="16200000">
            <a:off x="509752" y="1123526"/>
            <a:ext cx="430924" cy="43092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Titolo">
            <a:extLst>
              <a:ext uri="{FF2B5EF4-FFF2-40B4-BE49-F238E27FC236}">
                <a16:creationId xmlns:a16="http://schemas.microsoft.com/office/drawing/2014/main" id="{C506AFF3-7B0E-1A4C-B4CD-C7CD31FECD58}"/>
              </a:ext>
            </a:extLst>
          </p:cNvPr>
          <p:cNvSpPr txBox="1"/>
          <p:nvPr/>
        </p:nvSpPr>
        <p:spPr>
          <a:xfrm>
            <a:off x="334190" y="318654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 dirty="0">
                <a:solidFill>
                  <a:srgbClr val="073E31"/>
                </a:solidFill>
                <a:latin typeface="Calibri"/>
              </a:rPr>
              <a:t>L’assegnatario clicca su un link nella mail e atterra sul singolo compito. Dunque torna alla mail e clicca sui link allegati fino a completamento attività. 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4D99D83B-2C16-8D43-022F-CE60F0C64A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778" y="2112579"/>
            <a:ext cx="4656173" cy="358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6761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C562EEE8-E0D8-6498-DA60-B3AD512FC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767" y="1189934"/>
            <a:ext cx="4707278" cy="3623365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08F66295-3CC6-59D1-9B6D-59F034F39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795" y="1351720"/>
            <a:ext cx="5015068" cy="3461579"/>
          </a:xfrm>
          <a:prstGeom prst="rect">
            <a:avLst/>
          </a:prstGeom>
        </p:spPr>
      </p:pic>
      <p:sp>
        <p:nvSpPr>
          <p:cNvPr id="7" name="Titolo">
            <a:extLst>
              <a:ext uri="{FF2B5EF4-FFF2-40B4-BE49-F238E27FC236}">
                <a16:creationId xmlns:a16="http://schemas.microsoft.com/office/drawing/2014/main" id="{AC854B15-A0F4-99E1-BA48-632D68F7FF0D}"/>
              </a:ext>
            </a:extLst>
          </p:cNvPr>
          <p:cNvSpPr txBox="1"/>
          <p:nvPr/>
        </p:nvSpPr>
        <p:spPr>
          <a:xfrm>
            <a:off x="334190" y="318654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 dirty="0">
                <a:solidFill>
                  <a:srgbClr val="073E31"/>
                </a:solidFill>
                <a:latin typeface="Calibri"/>
              </a:rPr>
              <a:t>Modifica stati, diversi livelli di autorizzazione in base 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8A627A2-EB6D-718E-BB48-B2F80EE1E065}"/>
              </a:ext>
            </a:extLst>
          </p:cNvPr>
          <p:cNvSpPr txBox="1"/>
          <p:nvPr/>
        </p:nvSpPr>
        <p:spPr>
          <a:xfrm>
            <a:off x="6188767" y="5076497"/>
            <a:ext cx="7096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Revisore</a:t>
            </a:r>
          </a:p>
          <a:p>
            <a:r>
              <a:rPr lang="it-IT" dirty="0"/>
              <a:t>O ha ruolo di lavoro </a:t>
            </a:r>
            <a:r>
              <a:rPr lang="it-IT" dirty="0" err="1"/>
              <a:t>Issue</a:t>
            </a:r>
            <a:r>
              <a:rPr lang="it-IT" dirty="0"/>
              <a:t> Manager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6E2E9EE-6A7B-9422-4F19-1D3F24302C93}"/>
              </a:ext>
            </a:extLst>
          </p:cNvPr>
          <p:cNvSpPr txBox="1"/>
          <p:nvPr/>
        </p:nvSpPr>
        <p:spPr>
          <a:xfrm>
            <a:off x="468795" y="5136948"/>
            <a:ext cx="7096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Assegnatario</a:t>
            </a:r>
          </a:p>
          <a:p>
            <a:r>
              <a:rPr lang="it-IT" dirty="0"/>
              <a:t>E non ha ruolo </a:t>
            </a:r>
            <a:r>
              <a:rPr lang="it-IT" dirty="0" err="1"/>
              <a:t>Issue</a:t>
            </a:r>
            <a:r>
              <a:rPr lang="it-IT" dirty="0"/>
              <a:t> Manager</a:t>
            </a:r>
          </a:p>
        </p:txBody>
      </p:sp>
    </p:spTree>
    <p:extLst>
      <p:ext uri="{BB962C8B-B14F-4D97-AF65-F5344CB8AC3E}">
        <p14:creationId xmlns:p14="http://schemas.microsoft.com/office/powerpoint/2010/main" val="14855336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CF61C-3B5A-9333-72D0-DC4A6948A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7A8885F4-1873-1D08-1B9B-D4F68AE03AF0}"/>
              </a:ext>
            </a:extLst>
          </p:cNvPr>
          <p:cNvSpPr txBox="1"/>
          <p:nvPr/>
        </p:nvSpPr>
        <p:spPr>
          <a:xfrm>
            <a:off x="2975020" y="2099256"/>
            <a:ext cx="5486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/>
              <a:t>Gestione operativa dati</a:t>
            </a:r>
          </a:p>
          <a:p>
            <a:pPr algn="ctr"/>
            <a:endParaRPr lang="it-IT" sz="3200" dirty="0"/>
          </a:p>
          <a:p>
            <a:pPr algn="ctr"/>
            <a:r>
              <a:rPr lang="it-IT" sz="3200" dirty="0"/>
              <a:t>Un utente ricerca account e record con il motore di ricerca</a:t>
            </a:r>
          </a:p>
        </p:txBody>
      </p:sp>
    </p:spTree>
    <p:extLst>
      <p:ext uri="{BB962C8B-B14F-4D97-AF65-F5344CB8AC3E}">
        <p14:creationId xmlns:p14="http://schemas.microsoft.com/office/powerpoint/2010/main" val="39126123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9405F-0342-4CC0-3180-8E2E8B89A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043568E-49CF-6895-6BEC-535D24290A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87997" y="2840450"/>
            <a:ext cx="5665117" cy="2113354"/>
          </a:xfrm>
          <a:prstGeom prst="rect">
            <a:avLst/>
          </a:prstGeom>
        </p:spPr>
      </p:pic>
      <p:sp>
        <p:nvSpPr>
          <p:cNvPr id="10" name="BandaChiave">
            <a:extLst>
              <a:ext uri="{FF2B5EF4-FFF2-40B4-BE49-F238E27FC236}">
                <a16:creationId xmlns:a16="http://schemas.microsoft.com/office/drawing/2014/main" id="{9904FC1B-82C5-1558-FF9D-D68C4B71FE85}"/>
              </a:ext>
            </a:extLst>
          </p:cNvPr>
          <p:cNvSpPr/>
          <p:nvPr/>
        </p:nvSpPr>
        <p:spPr>
          <a:xfrm>
            <a:off x="305752" y="5709123"/>
            <a:ext cx="11580496" cy="691676"/>
          </a:xfrm>
          <a:prstGeom prst="roundRect">
            <a:avLst>
              <a:gd name="adj" fmla="val 10000"/>
            </a:avLst>
          </a:prstGeom>
          <a:solidFill>
            <a:srgbClr val="0F4761"/>
          </a:solidFill>
          <a:ln>
            <a:noFill/>
          </a:ln>
        </p:spPr>
        <p:txBody>
          <a:bodyPr wrap="square" lIns="228600" tIns="27432" rIns="228600" bIns="27432" anchor="ctr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Una volta selezionato l’account, il percorso verso il record rimane lo stesso.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E59716-84E6-C47A-E49E-71AAB4363B60}"/>
              </a:ext>
            </a:extLst>
          </p:cNvPr>
          <p:cNvSpPr txBox="1"/>
          <p:nvPr/>
        </p:nvSpPr>
        <p:spPr>
          <a:xfrm>
            <a:off x="6245352" y="1439533"/>
            <a:ext cx="5440680" cy="878638"/>
          </a:xfrm>
          <a:prstGeom prst="rect">
            <a:avLst/>
          </a:prstGeom>
          <a:noFill/>
        </p:spPr>
        <p:txBody>
          <a:bodyPr wrap="square" lIns="18288" tIns="27432" rIns="18288" bIns="27432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La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selezione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dell’account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007D79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Scegliere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l’account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desiderato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 e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continuare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 con il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percorso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già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descritto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 per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accedere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 al record.</a:t>
            </a:r>
          </a:p>
        </p:txBody>
      </p:sp>
      <p:sp>
        <p:nvSpPr>
          <p:cNvPr id="14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itolo">
            <a:extLst>
              <a:ext uri="{FF2B5EF4-FFF2-40B4-BE49-F238E27FC236}">
                <a16:creationId xmlns:a16="http://schemas.microsoft.com/office/drawing/2014/main" id="{847AAC9A-3933-0F62-8A4E-15BCF8145B61}"/>
              </a:ext>
            </a:extLst>
          </p:cNvPr>
          <p:cNvSpPr txBox="1"/>
          <p:nvPr/>
        </p:nvSpPr>
        <p:spPr>
          <a:xfrm>
            <a:off x="640080" y="389155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 dirty="0">
                <a:solidFill>
                  <a:srgbClr val="073E31"/>
                </a:solidFill>
                <a:latin typeface="Calibri"/>
              </a:rPr>
              <a:t>La ricerca dell’account </a:t>
            </a:r>
          </a:p>
        </p:txBody>
      </p:sp>
      <p:sp>
        <p:nvSpPr>
          <p:cNvPr id="3" name="Testo originale sotto il titolo">
            <a:extLst>
              <a:ext uri="{FF2B5EF4-FFF2-40B4-BE49-F238E27FC236}">
                <a16:creationId xmlns:a16="http://schemas.microsoft.com/office/drawing/2014/main" id="{3A85DAE5-2E95-46C2-0B7D-8CB7DD46C367}"/>
              </a:ext>
            </a:extLst>
          </p:cNvPr>
          <p:cNvSpPr txBox="1"/>
          <p:nvPr/>
        </p:nvSpPr>
        <p:spPr>
          <a:xfrm>
            <a:off x="6245352" y="1005840"/>
            <a:ext cx="10908792" cy="361410"/>
          </a:xfrm>
          <a:prstGeom prst="rect">
            <a:avLst/>
          </a:prstGeom>
          <a:noFill/>
        </p:spPr>
        <p:txBody>
          <a:bodyPr wrap="square" lIns="18288" tIns="0" rIns="18288" bIns="27432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400" b="0"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Home Page &gt;</a:t>
            </a:r>
            <a:r>
              <a:rPr kumimoji="0" lang="it-IT" sz="1600" b="1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 Ricerca Account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 &gt; </a:t>
            </a:r>
            <a:r>
              <a:rPr lang="it-IT" sz="1600" b="1" dirty="0">
                <a:solidFill>
                  <a:srgbClr val="0F4761"/>
                </a:solidFill>
                <a:latin typeface="Calibri"/>
                <a:cs typeface="Calibri"/>
              </a:rPr>
              <a:t>testo ricerca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0F476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409615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68843-E0F8-B19C-82CB-DD5349512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CABE3914-BC05-851D-51F2-0B95A05AB7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94216" y="2608643"/>
            <a:ext cx="7220259" cy="1128164"/>
          </a:xfrm>
          <a:prstGeom prst="rect">
            <a:avLst/>
          </a:prstGeom>
        </p:spPr>
      </p:pic>
      <p:sp>
        <p:nvSpPr>
          <p:cNvPr id="11" name="BandaChiave">
            <a:extLst>
              <a:ext uri="{FF2B5EF4-FFF2-40B4-BE49-F238E27FC236}">
                <a16:creationId xmlns:a16="http://schemas.microsoft.com/office/drawing/2014/main" id="{9B32A9F9-B9AE-6370-FB24-F21FBC8ADB6A}"/>
              </a:ext>
            </a:extLst>
          </p:cNvPr>
          <p:cNvSpPr/>
          <p:nvPr/>
        </p:nvSpPr>
        <p:spPr>
          <a:xfrm>
            <a:off x="305752" y="5709123"/>
            <a:ext cx="11580496" cy="691676"/>
          </a:xfrm>
          <a:prstGeom prst="roundRect">
            <a:avLst>
              <a:gd name="adj" fmla="val 10000"/>
            </a:avLst>
          </a:prstGeom>
          <a:solidFill>
            <a:srgbClr val="0F4761"/>
          </a:solidFill>
          <a:ln>
            <a:noFill/>
          </a:ln>
        </p:spPr>
        <p:txBody>
          <a:bodyPr wrap="square" lIns="228600" tIns="27432" rIns="228600" bIns="27432" anchor="ctr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Con il tipo ricerca Record si arriva direttamente alla cattura dati: selezionare Cattura e inserire i valori.</a:t>
            </a:r>
          </a:p>
        </p:txBody>
      </p:sp>
      <p:sp>
        <p:nvSpPr>
          <p:cNvPr id="13" name="Card2">
            <a:extLst>
              <a:ext uri="{FF2B5EF4-FFF2-40B4-BE49-F238E27FC236}">
                <a16:creationId xmlns:a16="http://schemas.microsoft.com/office/drawing/2014/main" id="{7AFF2FDD-77E7-CE94-0BCE-38CB3EA70EB7}"/>
              </a:ext>
            </a:extLst>
          </p:cNvPr>
          <p:cNvSpPr/>
          <p:nvPr/>
        </p:nvSpPr>
        <p:spPr>
          <a:xfrm>
            <a:off x="450433" y="973565"/>
            <a:ext cx="9012221" cy="1353999"/>
          </a:xfrm>
          <a:prstGeom prst="roundRect">
            <a:avLst>
              <a:gd name="adj" fmla="val 6000"/>
            </a:avLst>
          </a:prstGeom>
          <a:solidFill>
            <a:srgbClr val="F2F7F7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Ricerca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 per Record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È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 il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percorso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più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rapido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endParaRPr kumimoji="0" lang="it-IT" sz="1600" b="0" i="0" u="none" strike="noStrike" kern="1200" cap="none" spc="0" normalizeH="0" baseline="0" noProof="0" dirty="0">
              <a:ln>
                <a:noFill/>
              </a:ln>
              <a:solidFill>
                <a:srgbClr val="0F4761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lang="it-IT" sz="1600" dirty="0">
                <a:solidFill>
                  <a:srgbClr val="0F4761"/>
                </a:solidFill>
                <a:latin typeface="Calibri"/>
                <a:cs typeface="Calibri"/>
              </a:rPr>
              <a:t>Impostare motore di ricerca su record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Cercando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 “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elet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”,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i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 record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compaiono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 dal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più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recente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 al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meno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recente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</a:p>
        </p:txBody>
      </p:sp>
      <p:sp>
        <p:nvSpPr>
          <p:cNvPr id="1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" name="Titolo">
            <a:extLst>
              <a:ext uri="{FF2B5EF4-FFF2-40B4-BE49-F238E27FC236}">
                <a16:creationId xmlns:a16="http://schemas.microsoft.com/office/drawing/2014/main" id="{804A8563-7457-95D5-A8D4-3D6DAE60A119}"/>
              </a:ext>
            </a:extLst>
          </p:cNvPr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 dirty="0">
                <a:solidFill>
                  <a:srgbClr val="073E31"/>
                </a:solidFill>
                <a:latin typeface="Calibri"/>
              </a:rPr>
              <a:t>La ricerca rapida dei record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A2AF1497-8297-4191-F520-E0EB9DBD23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40" y="2608643"/>
            <a:ext cx="3187700" cy="2819400"/>
          </a:xfrm>
          <a:prstGeom prst="rect">
            <a:avLst/>
          </a:prstGeom>
        </p:spPr>
      </p:pic>
      <p:sp>
        <p:nvSpPr>
          <p:cNvPr id="4" name="Ovale 3">
            <a:extLst>
              <a:ext uri="{FF2B5EF4-FFF2-40B4-BE49-F238E27FC236}">
                <a16:creationId xmlns:a16="http://schemas.microsoft.com/office/drawing/2014/main" id="{1A591BDD-2C26-1BEC-B476-3FA9A2B21FEA}"/>
              </a:ext>
            </a:extLst>
          </p:cNvPr>
          <p:cNvSpPr/>
          <p:nvPr/>
        </p:nvSpPr>
        <p:spPr>
          <a:xfrm>
            <a:off x="1097333" y="2803554"/>
            <a:ext cx="2140367" cy="594764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diritto a freccia 6">
            <a:extLst>
              <a:ext uri="{FF2B5EF4-FFF2-40B4-BE49-F238E27FC236}">
                <a16:creationId xmlns:a16="http://schemas.microsoft.com/office/drawing/2014/main" id="{5E3D6C1A-7D16-FA98-E1D6-57475EEEADCC}"/>
              </a:ext>
            </a:extLst>
          </p:cNvPr>
          <p:cNvCxnSpPr/>
          <p:nvPr/>
        </p:nvCxnSpPr>
        <p:spPr>
          <a:xfrm>
            <a:off x="3237700" y="3100936"/>
            <a:ext cx="1223464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5A94299-A8C0-2E12-EE97-824AAEB5E802}"/>
              </a:ext>
            </a:extLst>
          </p:cNvPr>
          <p:cNvSpPr txBox="1"/>
          <p:nvPr/>
        </p:nvSpPr>
        <p:spPr>
          <a:xfrm>
            <a:off x="6428509" y="2618888"/>
            <a:ext cx="2340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Griglia dei record</a:t>
            </a:r>
          </a:p>
        </p:txBody>
      </p:sp>
    </p:spTree>
    <p:extLst>
      <p:ext uri="{BB962C8B-B14F-4D97-AF65-F5344CB8AC3E}">
        <p14:creationId xmlns:p14="http://schemas.microsoft.com/office/powerpoint/2010/main" val="7695541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EFAD6-4196-123E-CAE2-AAD85C6FC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D1C322AB-E312-DDB3-030E-D2B2E42074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2759" y="2054760"/>
            <a:ext cx="7201113" cy="1940924"/>
          </a:xfrm>
          <a:prstGeom prst="rect">
            <a:avLst/>
          </a:prstGeom>
        </p:spPr>
      </p:pic>
      <p:sp>
        <p:nvSpPr>
          <p:cNvPr id="7" name="BandaChiave">
            <a:extLst>
              <a:ext uri="{FF2B5EF4-FFF2-40B4-BE49-F238E27FC236}">
                <a16:creationId xmlns:a16="http://schemas.microsoft.com/office/drawing/2014/main" id="{1C53E5E2-01F4-63B3-0297-AB32E78FEF5B}"/>
              </a:ext>
            </a:extLst>
          </p:cNvPr>
          <p:cNvSpPr/>
          <p:nvPr/>
        </p:nvSpPr>
        <p:spPr>
          <a:xfrm>
            <a:off x="305752" y="5709123"/>
            <a:ext cx="11580496" cy="691676"/>
          </a:xfrm>
          <a:prstGeom prst="roundRect">
            <a:avLst>
              <a:gd name="adj" fmla="val 10000"/>
            </a:avLst>
          </a:prstGeom>
          <a:solidFill>
            <a:srgbClr val="0F4761"/>
          </a:solidFill>
          <a:ln>
            <a:noFill/>
          </a:ln>
        </p:spPr>
        <p:txBody>
          <a:bodyPr wrap="square" lIns="228600" tIns="27432" rIns="228600" bIns="27432" anchor="ctr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La percentuale di approvazione è ancora zero: il percorso di raccolta dati è appena iniziato.</a:t>
            </a:r>
          </a:p>
        </p:txBody>
      </p:sp>
      <p:sp>
        <p:nvSpPr>
          <p:cNvPr id="8" name="Card1">
            <a:extLst>
              <a:ext uri="{FF2B5EF4-FFF2-40B4-BE49-F238E27FC236}">
                <a16:creationId xmlns:a16="http://schemas.microsoft.com/office/drawing/2014/main" id="{3D9E6262-E1DF-8236-BC67-6EC163283C18}"/>
              </a:ext>
            </a:extLst>
          </p:cNvPr>
          <p:cNvSpPr/>
          <p:nvPr/>
        </p:nvSpPr>
        <p:spPr>
          <a:xfrm>
            <a:off x="301752" y="1439533"/>
            <a:ext cx="3995928" cy="1581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Il calcolo delle emissioni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La vista mensile espone i dati di emissione calcolati dalla piattaforma.</a:t>
            </a:r>
          </a:p>
        </p:txBody>
      </p:sp>
      <p:sp>
        <p:nvSpPr>
          <p:cNvPr id="9" name="Card2">
            <a:extLst>
              <a:ext uri="{FF2B5EF4-FFF2-40B4-BE49-F238E27FC236}">
                <a16:creationId xmlns:a16="http://schemas.microsoft.com/office/drawing/2014/main" id="{F0D41351-1814-12A0-C711-0DD1B75710B2}"/>
              </a:ext>
            </a:extLst>
          </p:cNvPr>
          <p:cNvSpPr/>
          <p:nvPr/>
        </p:nvSpPr>
        <p:spPr>
          <a:xfrm>
            <a:off x="301752" y="3183341"/>
            <a:ext cx="3995928" cy="1852230"/>
          </a:xfrm>
          <a:prstGeom prst="roundRect">
            <a:avLst>
              <a:gd name="adj" fmla="val 6000"/>
            </a:avLst>
          </a:prstGeom>
          <a:solidFill>
            <a:srgbClr val="F2F7F7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Il fattore per l’elettricità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Envizi seleziona automaticamente il fattore di emissione in base alla posizione geografica della sede.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F5F9C2-8BC6-8E26-2E1D-6FD84DC46A5C}"/>
              </a:ext>
            </a:extLst>
          </p:cNvPr>
          <p:cNvSpPr txBox="1"/>
          <p:nvPr/>
        </p:nvSpPr>
        <p:spPr>
          <a:xfrm>
            <a:off x="4599432" y="1439533"/>
            <a:ext cx="7287768" cy="361410"/>
          </a:xfrm>
          <a:prstGeom prst="rect">
            <a:avLst/>
          </a:prstGeom>
          <a:noFill/>
        </p:spPr>
        <p:txBody>
          <a:bodyPr wrap="square" lIns="18288" tIns="27432" rIns="18288" bIns="27432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Dati mensili e stato di approvazione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D00CB0-6986-7F41-EBBF-1F4A79FF332B}"/>
              </a:ext>
            </a:extLst>
          </p:cNvPr>
          <p:cNvSpPr txBox="1"/>
          <p:nvPr/>
        </p:nvSpPr>
        <p:spPr>
          <a:xfrm>
            <a:off x="4599432" y="4385032"/>
            <a:ext cx="7287768" cy="813174"/>
          </a:xfrm>
          <a:prstGeom prst="rect">
            <a:avLst/>
          </a:prstGeom>
          <a:noFill/>
        </p:spPr>
        <p:txBody>
          <a:bodyPr wrap="square" lIns="18288" tIns="27432" rIns="18288" bIns="27432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0% di approvazione in questa fase iniziale</a:t>
            </a:r>
          </a:p>
        </p:txBody>
      </p:sp>
      <p:sp>
        <p:nvSpPr>
          <p:cNvPr id="12" name="Testo originale sotto il titolo">
            <a:extLst>
              <a:ext uri="{FF2B5EF4-FFF2-40B4-BE49-F238E27FC236}">
                <a16:creationId xmlns:a16="http://schemas.microsoft.com/office/drawing/2014/main" id="{D79B5D8F-1B00-2CA5-6B91-14F44E7E0B50}"/>
              </a:ext>
            </a:extLst>
          </p:cNvPr>
          <p:cNvSpPr txBox="1"/>
          <p:nvPr/>
        </p:nvSpPr>
        <p:spPr>
          <a:xfrm>
            <a:off x="640080" y="1005840"/>
            <a:ext cx="10908792" cy="361410"/>
          </a:xfrm>
          <a:prstGeom prst="rect">
            <a:avLst/>
          </a:prstGeom>
          <a:noFill/>
        </p:spPr>
        <p:txBody>
          <a:bodyPr wrap="square" lIns="18288" tIns="0" rIns="18288" bIns="27432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400" b="0"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Riesamina &gt; Dati Mensili mostra le emissioni calcolate da Envizi</a:t>
            </a:r>
          </a:p>
        </p:txBody>
      </p:sp>
      <p:sp>
        <p:nvSpPr>
          <p:cNvPr id="1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itolo">
            <a:extLst>
              <a:ext uri="{FF2B5EF4-FFF2-40B4-BE49-F238E27FC236}">
                <a16:creationId xmlns:a16="http://schemas.microsoft.com/office/drawing/2014/main" id="{D79B5D8F-1B00-2CA5-6B91-14F44E7E0B50}"/>
              </a:ext>
            </a:extLst>
          </p:cNvPr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 dirty="0">
                <a:solidFill>
                  <a:srgbClr val="073E31"/>
                </a:solidFill>
                <a:latin typeface="Calibri"/>
              </a:rPr>
              <a:t>Le emissioni nella vista Dati Mensili</a:t>
            </a:r>
          </a:p>
        </p:txBody>
      </p:sp>
    </p:spTree>
    <p:extLst>
      <p:ext uri="{BB962C8B-B14F-4D97-AF65-F5344CB8AC3E}">
        <p14:creationId xmlns:p14="http://schemas.microsoft.com/office/powerpoint/2010/main" val="18052020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A93DC-CF69-AC74-F886-8AB820B6A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2AAF225D-9D36-B08D-B8C2-8647C24C8A5B}"/>
              </a:ext>
            </a:extLst>
          </p:cNvPr>
          <p:cNvSpPr txBox="1"/>
          <p:nvPr/>
        </p:nvSpPr>
        <p:spPr>
          <a:xfrm>
            <a:off x="2975020" y="2099256"/>
            <a:ext cx="5486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/>
              <a:t>Gestione operativa dati</a:t>
            </a:r>
          </a:p>
          <a:p>
            <a:pPr algn="ctr"/>
            <a:endParaRPr lang="it-IT" sz="3200" dirty="0"/>
          </a:p>
          <a:p>
            <a:pPr algn="ctr"/>
            <a:r>
              <a:rPr lang="it-IT" sz="3200" dirty="0"/>
              <a:t>Un utente vuole correggere un dato editando i valori già immessi</a:t>
            </a:r>
          </a:p>
        </p:txBody>
      </p:sp>
    </p:spTree>
    <p:extLst>
      <p:ext uri="{BB962C8B-B14F-4D97-AF65-F5344CB8AC3E}">
        <p14:creationId xmlns:p14="http://schemas.microsoft.com/office/powerpoint/2010/main" val="28942933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2941C-DC47-A1F3-604C-E3687E3BF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4CE4DF6C-629B-CCA6-6BEF-68360C2D3E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2759" y="2101340"/>
            <a:ext cx="7201113" cy="2236282"/>
          </a:xfrm>
          <a:prstGeom prst="rect">
            <a:avLst/>
          </a:prstGeom>
        </p:spPr>
      </p:pic>
      <p:sp>
        <p:nvSpPr>
          <p:cNvPr id="7" name="BandaChiave">
            <a:extLst>
              <a:ext uri="{FF2B5EF4-FFF2-40B4-BE49-F238E27FC236}">
                <a16:creationId xmlns:a16="http://schemas.microsoft.com/office/drawing/2014/main" id="{929C8629-2F12-88AE-CFE8-1BC2504EBF10}"/>
              </a:ext>
            </a:extLst>
          </p:cNvPr>
          <p:cNvSpPr/>
          <p:nvPr/>
        </p:nvSpPr>
        <p:spPr>
          <a:xfrm>
            <a:off x="305752" y="5709123"/>
            <a:ext cx="11580496" cy="691676"/>
          </a:xfrm>
          <a:prstGeom prst="roundRect">
            <a:avLst>
              <a:gd name="adj" fmla="val 10000"/>
            </a:avLst>
          </a:prstGeom>
          <a:solidFill>
            <a:srgbClr val="0F4761"/>
          </a:solidFill>
          <a:ln>
            <a:noFill/>
          </a:ln>
        </p:spPr>
        <p:txBody>
          <a:bodyPr wrap="square" lIns="228600" tIns="27432" rIns="228600" bIns="27432" anchor="ctr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Il meccanismo è identico, qualunque sia il percorso usato per raggiungere il record.</a:t>
            </a:r>
          </a:p>
        </p:txBody>
      </p:sp>
      <p:sp>
        <p:nvSpPr>
          <p:cNvPr id="8" name="Card1">
            <a:extLst>
              <a:ext uri="{FF2B5EF4-FFF2-40B4-BE49-F238E27FC236}">
                <a16:creationId xmlns:a16="http://schemas.microsoft.com/office/drawing/2014/main" id="{83504C5F-6675-815D-F5EF-B0545F77DA2E}"/>
              </a:ext>
            </a:extLst>
          </p:cNvPr>
          <p:cNvSpPr/>
          <p:nvPr/>
        </p:nvSpPr>
        <p:spPr>
          <a:xfrm>
            <a:off x="301752" y="1439533"/>
            <a:ext cx="3995928" cy="158117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1 · La selezione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Individuare il record e aprire il menu con il tasto destro del mouse.</a:t>
            </a:r>
          </a:p>
        </p:txBody>
      </p:sp>
      <p:sp>
        <p:nvSpPr>
          <p:cNvPr id="9" name="Card2">
            <a:extLst>
              <a:ext uri="{FF2B5EF4-FFF2-40B4-BE49-F238E27FC236}">
                <a16:creationId xmlns:a16="http://schemas.microsoft.com/office/drawing/2014/main" id="{F14EE68E-8D57-D0E9-5BB8-CFDDD46DD35D}"/>
              </a:ext>
            </a:extLst>
          </p:cNvPr>
          <p:cNvSpPr/>
          <p:nvPr/>
        </p:nvSpPr>
        <p:spPr>
          <a:xfrm>
            <a:off x="301752" y="3183341"/>
            <a:ext cx="3995928" cy="1852230"/>
          </a:xfrm>
          <a:prstGeom prst="roundRect">
            <a:avLst>
              <a:gd name="adj" fmla="val 6000"/>
            </a:avLst>
          </a:prstGeom>
          <a:solidFill>
            <a:srgbClr val="F2F7F7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2 · L’operazione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Scegliere se modificare i valori già inseriti oppure cancellare il record.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6A8109-28B9-849E-3F09-31994C586312}"/>
              </a:ext>
            </a:extLst>
          </p:cNvPr>
          <p:cNvSpPr txBox="1"/>
          <p:nvPr/>
        </p:nvSpPr>
        <p:spPr>
          <a:xfrm>
            <a:off x="4599432" y="1439533"/>
            <a:ext cx="7287768" cy="361410"/>
          </a:xfrm>
          <a:prstGeom prst="rect">
            <a:avLst/>
          </a:prstGeom>
          <a:noFill/>
        </p:spPr>
        <p:txBody>
          <a:bodyPr wrap="square" lIns="18288" tIns="27432" rIns="18288" bIns="27432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Le operazioni sul record</a:t>
            </a:r>
          </a:p>
        </p:txBody>
      </p:sp>
      <p:sp>
        <p:nvSpPr>
          <p:cNvPr id="11" name="Testo originale sotto il titolo">
            <a:extLst>
              <a:ext uri="{FF2B5EF4-FFF2-40B4-BE49-F238E27FC236}">
                <a16:creationId xmlns:a16="http://schemas.microsoft.com/office/drawing/2014/main" id="{FC7A280D-6E4E-874A-CA94-E80063B2E0CF}"/>
              </a:ext>
            </a:extLst>
          </p:cNvPr>
          <p:cNvSpPr txBox="1"/>
          <p:nvPr/>
        </p:nvSpPr>
        <p:spPr>
          <a:xfrm>
            <a:off x="640080" y="1005840"/>
            <a:ext cx="10908792" cy="361410"/>
          </a:xfrm>
          <a:prstGeom prst="rect">
            <a:avLst/>
          </a:prstGeom>
          <a:noFill/>
        </p:spPr>
        <p:txBody>
          <a:bodyPr wrap="square" lIns="18288" tIns="0" rIns="18288" bIns="27432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400" b="0"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Il menu contestuale permette di aggiornare o cancellare i dati</a:t>
            </a:r>
          </a:p>
        </p:txBody>
      </p:sp>
      <p:sp>
        <p:nvSpPr>
          <p:cNvPr id="12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itolo">
            <a:extLst>
              <a:ext uri="{FF2B5EF4-FFF2-40B4-BE49-F238E27FC236}">
                <a16:creationId xmlns:a16="http://schemas.microsoft.com/office/drawing/2014/main" id="{FC7A280D-6E4E-874A-CA94-E80063B2E0CF}"/>
              </a:ext>
            </a:extLst>
          </p:cNvPr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La modifica di un record inserito</a:t>
            </a:r>
          </a:p>
        </p:txBody>
      </p:sp>
    </p:spTree>
    <p:extLst>
      <p:ext uri="{BB962C8B-B14F-4D97-AF65-F5344CB8AC3E}">
        <p14:creationId xmlns:p14="http://schemas.microsoft.com/office/powerpoint/2010/main" val="23664791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31E3068C-6672-3B20-D8DD-F7BD10EA7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" y="1082745"/>
            <a:ext cx="11358552" cy="5252015"/>
          </a:xfrm>
          <a:prstGeom prst="rect">
            <a:avLst/>
          </a:prstGeom>
        </p:spPr>
      </p:pic>
      <p:sp>
        <p:nvSpPr>
          <p:cNvPr id="5" name="Testo originale sotto il titolo">
            <a:extLst>
              <a:ext uri="{FF2B5EF4-FFF2-40B4-BE49-F238E27FC236}">
                <a16:creationId xmlns:a16="http://schemas.microsoft.com/office/drawing/2014/main" id="{86BDF948-0A8C-AD78-3992-27222086A3B5}"/>
              </a:ext>
            </a:extLst>
          </p:cNvPr>
          <p:cNvSpPr txBox="1"/>
          <p:nvPr/>
        </p:nvSpPr>
        <p:spPr>
          <a:xfrm>
            <a:off x="640080" y="1005840"/>
            <a:ext cx="4774064" cy="307777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22344"/>
                </a:solidFill>
                <a:latin typeface="IBM Plex Sans"/>
              </a:defRPr>
            </a:pP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122344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Click Gestisci</a:t>
            </a:r>
            <a:r>
              <a:rPr lang="it-IT" sz="1400" b="0" dirty="0">
                <a:solidFill>
                  <a:srgbClr val="122344"/>
                </a:solidFill>
                <a:latin typeface="IBM Plex Sans"/>
              </a:rPr>
              <a:t>&gt;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122344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Accounts&gt;</a:t>
            </a:r>
            <a:r>
              <a:rPr lang="it-IT" sz="1400" b="0" dirty="0">
                <a:solidFill>
                  <a:srgbClr val="122344"/>
                </a:solidFill>
                <a:latin typeface="IBM Plex Sans"/>
              </a:rPr>
              <a:t> dalla griglia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122344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 </a:t>
            </a:r>
            <a:r>
              <a:rPr lang="it-IT" sz="1400" b="0" dirty="0" err="1">
                <a:solidFill>
                  <a:srgbClr val="122344"/>
                </a:solidFill>
                <a:latin typeface="IBM Plex Sans"/>
              </a:rPr>
              <a:t>s</a:t>
            </a:r>
            <a:r>
              <a:rPr kumimoji="0" lang="it-IT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22344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eleziona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122344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 l’account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122344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6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86BDF948-0A8C-AD78-3992-27222086A3B5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L’utente vuole correggere un record</a:t>
            </a:r>
          </a:p>
        </p:txBody>
      </p:sp>
    </p:spTree>
    <p:extLst>
      <p:ext uri="{BB962C8B-B14F-4D97-AF65-F5344CB8AC3E}">
        <p14:creationId xmlns:p14="http://schemas.microsoft.com/office/powerpoint/2010/main" val="28915503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DFAFCCD5-4208-D76F-6D99-6583F00DB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540" y="2491740"/>
            <a:ext cx="939800" cy="533400"/>
          </a:xfrm>
          <a:prstGeom prst="rect">
            <a:avLst/>
          </a:prstGeom>
        </p:spPr>
      </p:pic>
      <p:sp>
        <p:nvSpPr>
          <p:cNvPr id="10" name="Rettangolo 9">
            <a:extLst>
              <a:ext uri="{FF2B5EF4-FFF2-40B4-BE49-F238E27FC236}">
                <a16:creationId xmlns:a16="http://schemas.microsoft.com/office/drawing/2014/main" id="{3DB4959B-3C25-1C4C-51F2-25EDC1043FB9}"/>
              </a:ext>
            </a:extLst>
          </p:cNvPr>
          <p:cNvSpPr/>
          <p:nvPr/>
        </p:nvSpPr>
        <p:spPr>
          <a:xfrm>
            <a:off x="2847340" y="2570480"/>
            <a:ext cx="454660" cy="1879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2DFBEA52-F924-DBB3-EF59-0F2EE7123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13540"/>
            <a:ext cx="10533522" cy="5510780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860DA2F7-1B7A-422A-C1EA-E494CD461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0268" y="233680"/>
            <a:ext cx="1963788" cy="1219345"/>
          </a:xfrm>
          <a:prstGeom prst="rect">
            <a:avLst/>
          </a:prstGeom>
        </p:spPr>
      </p:pic>
      <p:sp>
        <p:nvSpPr>
          <p:cNvPr id="14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295D38FD-0EAF-117E-3538-EB11DE7E5FEE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 dirty="0">
                <a:solidFill>
                  <a:srgbClr val="073E31"/>
                </a:solidFill>
                <a:latin typeface="Calibri"/>
              </a:rPr>
              <a:t>Click dx mouse, seleziona Record </a:t>
            </a:r>
          </a:p>
        </p:txBody>
      </p:sp>
    </p:spTree>
    <p:extLst>
      <p:ext uri="{BB962C8B-B14F-4D97-AF65-F5344CB8AC3E}">
        <p14:creationId xmlns:p14="http://schemas.microsoft.com/office/powerpoint/2010/main" val="18592170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AC69D28F-C792-C4F9-7033-47B8E8DF2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3" y="1178136"/>
            <a:ext cx="12105174" cy="4308264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DFB9B4E9-0788-C7C6-A340-83EB6DDDB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880" y="3584182"/>
            <a:ext cx="1306830" cy="733818"/>
          </a:xfrm>
          <a:prstGeom prst="rect">
            <a:avLst/>
          </a:prstGeom>
        </p:spPr>
      </p:pic>
      <p:sp>
        <p:nvSpPr>
          <p:cNvPr id="12" name="Rettangolo 11">
            <a:extLst>
              <a:ext uri="{FF2B5EF4-FFF2-40B4-BE49-F238E27FC236}">
                <a16:creationId xmlns:a16="http://schemas.microsoft.com/office/drawing/2014/main" id="{9C0EAAA2-F8EB-344E-6F94-23BDDBED01F5}"/>
              </a:ext>
            </a:extLst>
          </p:cNvPr>
          <p:cNvSpPr/>
          <p:nvPr/>
        </p:nvSpPr>
        <p:spPr>
          <a:xfrm flipV="1">
            <a:off x="3267710" y="3584182"/>
            <a:ext cx="1306830" cy="321466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0FE5D842-4617-9D4C-BBAE-2757CCF4C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0268" y="233680"/>
            <a:ext cx="1963788" cy="1219345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A5EAB990-8C87-78EA-ABA9-661DD47660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9950" y="3251200"/>
            <a:ext cx="292100" cy="3556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774DEE9C-9B82-9991-3CCF-5683648B81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2610" y="221963"/>
            <a:ext cx="330200" cy="304800"/>
          </a:xfrm>
          <a:prstGeom prst="rect">
            <a:avLst/>
          </a:prstGeom>
        </p:spPr>
      </p:pic>
      <p:sp>
        <p:nvSpPr>
          <p:cNvPr id="1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7BA10E5A-1F89-BC7E-53DB-238AE19D5BEB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Seleziona record.       Click dx mouse, Edit Record</a:t>
            </a:r>
          </a:p>
        </p:txBody>
      </p:sp>
    </p:spTree>
    <p:extLst>
      <p:ext uri="{BB962C8B-B14F-4D97-AF65-F5344CB8AC3E}">
        <p14:creationId xmlns:p14="http://schemas.microsoft.com/office/powerpoint/2010/main" val="36289081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F6C52630-3E50-9324-6209-DD549A5EE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644" y="1341120"/>
            <a:ext cx="7772400" cy="4504573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E4EC0469-157E-E402-4F02-12BAAFF4D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0268" y="233680"/>
            <a:ext cx="1963788" cy="121934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703AEC08-70C7-8235-47ED-F9BB847D45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126" y="4691622"/>
            <a:ext cx="1306830" cy="733818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81FE0EDA-DC68-3419-487C-39AA15A26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126" y="3736582"/>
            <a:ext cx="1306830" cy="733818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DA3FAE04-B9C9-B6CF-A621-2DA561E8D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8606" y="5478784"/>
            <a:ext cx="1306830" cy="733818"/>
          </a:xfrm>
          <a:prstGeom prst="rect">
            <a:avLst/>
          </a:prstGeom>
        </p:spPr>
      </p:pic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002B9865-40A1-ACED-C3B5-7DB6955F3D72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Torno sul record, correggo valori, salvo</a:t>
            </a:r>
          </a:p>
        </p:txBody>
      </p:sp>
    </p:spTree>
    <p:extLst>
      <p:ext uri="{BB962C8B-B14F-4D97-AF65-F5344CB8AC3E}">
        <p14:creationId xmlns:p14="http://schemas.microsoft.com/office/powerpoint/2010/main" val="3431011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209B1-D512-4874-2028-7896018E3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DA0705ED-EC1F-9976-EED7-1E067C4F4B00}"/>
              </a:ext>
            </a:extLst>
          </p:cNvPr>
          <p:cNvSpPr txBox="1"/>
          <p:nvPr/>
        </p:nvSpPr>
        <p:spPr>
          <a:xfrm>
            <a:off x="2975020" y="2099256"/>
            <a:ext cx="5486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/>
              <a:t>Gestione operativa dati</a:t>
            </a:r>
          </a:p>
          <a:p>
            <a:pPr algn="ctr"/>
            <a:endParaRPr lang="it-IT" sz="3200" dirty="0"/>
          </a:p>
          <a:p>
            <a:pPr algn="ctr"/>
            <a:r>
              <a:rPr lang="it-IT" sz="3200" dirty="0"/>
              <a:t>Riassunto e preparazione al controllo di qualità dei dati inseriti</a:t>
            </a:r>
          </a:p>
        </p:txBody>
      </p:sp>
    </p:spTree>
    <p:extLst>
      <p:ext uri="{BB962C8B-B14F-4D97-AF65-F5344CB8AC3E}">
        <p14:creationId xmlns:p14="http://schemas.microsoft.com/office/powerpoint/2010/main" val="9364128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BD309-9AD1-F4AB-6332-353DAD2D6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ndaChiave">
            <a:extLst>
              <a:ext uri="{FF2B5EF4-FFF2-40B4-BE49-F238E27FC236}">
                <a16:creationId xmlns:a16="http://schemas.microsoft.com/office/drawing/2014/main" id="{05E37260-F13E-62F6-DC92-2E216144D3B5}"/>
              </a:ext>
            </a:extLst>
          </p:cNvPr>
          <p:cNvSpPr/>
          <p:nvPr/>
        </p:nvSpPr>
        <p:spPr>
          <a:xfrm>
            <a:off x="305752" y="5709123"/>
            <a:ext cx="11580496" cy="691676"/>
          </a:xfrm>
          <a:prstGeom prst="roundRect">
            <a:avLst>
              <a:gd name="adj" fmla="val 10000"/>
            </a:avLst>
          </a:prstGeom>
          <a:solidFill>
            <a:srgbClr val="0F4761"/>
          </a:solidFill>
          <a:ln>
            <a:noFill/>
          </a:ln>
        </p:spPr>
        <p:txBody>
          <a:bodyPr wrap="square" lIns="228600" tIns="27432" rIns="228600" bIns="27432" anchor="ctr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Fasi 1–4: la Data Foundation raccoglie i dati e ne supporta qualità, tracciabilità e governance.</a:t>
            </a:r>
          </a:p>
        </p:txBody>
      </p:sp>
      <p:sp>
        <p:nvSpPr>
          <p:cNvPr id="5" name="Card1">
            <a:extLst>
              <a:ext uri="{FF2B5EF4-FFF2-40B4-BE49-F238E27FC236}">
                <a16:creationId xmlns:a16="http://schemas.microsoft.com/office/drawing/2014/main" id="{18C60FD0-34FD-7537-3482-2AE5E69D806A}"/>
              </a:ext>
            </a:extLst>
          </p:cNvPr>
          <p:cNvSpPr/>
          <p:nvPr/>
        </p:nvSpPr>
        <p:spPr>
          <a:xfrm>
            <a:off x="301752" y="1439533"/>
            <a:ext cx="5733288" cy="192451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01  Configurazione iniziale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L’Amministratore di sistema configura struttura organizzativa, utenti e gruppi. Assegna ruoli e autorizzazioni secondo la Segregation of Duties: ciascuno opera solo sulle sedi e sui dati di competenza.</a:t>
            </a:r>
          </a:p>
        </p:txBody>
      </p:sp>
      <p:sp>
        <p:nvSpPr>
          <p:cNvPr id="6" name="Card2">
            <a:extLst>
              <a:ext uri="{FF2B5EF4-FFF2-40B4-BE49-F238E27FC236}">
                <a16:creationId xmlns:a16="http://schemas.microsoft.com/office/drawing/2014/main" id="{22A8E2F5-5B7A-9F8B-B07A-00C5B5CEE86B}"/>
              </a:ext>
            </a:extLst>
          </p:cNvPr>
          <p:cNvSpPr/>
          <p:nvPr/>
        </p:nvSpPr>
        <p:spPr>
          <a:xfrm>
            <a:off x="6153912" y="1439533"/>
            <a:ext cx="5733288" cy="1924513"/>
          </a:xfrm>
          <a:prstGeom prst="roundRect">
            <a:avLst>
              <a:gd name="adj" fmla="val 6000"/>
            </a:avLst>
          </a:prstGeom>
          <a:solidFill>
            <a:srgbClr val="F2F7F7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02  Raccolta dei dati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Template Excel, file automatici, API, inserimento diretto, survey e raccolta distribuita alimentano la piattaforma. Ogni dato confluisce nella Data Foundation con la tracciabilità della propria origine.</a:t>
            </a:r>
          </a:p>
        </p:txBody>
      </p:sp>
      <p:sp>
        <p:nvSpPr>
          <p:cNvPr id="7" name="Card1">
            <a:extLst>
              <a:ext uri="{FF2B5EF4-FFF2-40B4-BE49-F238E27FC236}">
                <a16:creationId xmlns:a16="http://schemas.microsoft.com/office/drawing/2014/main" id="{D6B092A3-86BC-83EB-90F0-902B733F02DB}"/>
              </a:ext>
            </a:extLst>
          </p:cNvPr>
          <p:cNvSpPr/>
          <p:nvPr/>
        </p:nvSpPr>
        <p:spPr>
          <a:xfrm>
            <a:off x="301752" y="3535715"/>
            <a:ext cx="5733288" cy="192451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03  Gestione operativa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Gli utenti inseriscono e modificano record nel proprio perimetro, allegano bollette e usano l’AI per riconoscere i documenti. Gerarchie, griglie e ricerca aiutano a trovare e aggiornare il dato.</a:t>
            </a:r>
          </a:p>
        </p:txBody>
      </p:sp>
      <p:sp>
        <p:nvSpPr>
          <p:cNvPr id="8" name="Card2">
            <a:extLst>
              <a:ext uri="{FF2B5EF4-FFF2-40B4-BE49-F238E27FC236}">
                <a16:creationId xmlns:a16="http://schemas.microsoft.com/office/drawing/2014/main" id="{E37A0944-2702-A589-4F9F-17B39C2BF965}"/>
              </a:ext>
            </a:extLst>
          </p:cNvPr>
          <p:cNvSpPr/>
          <p:nvPr/>
        </p:nvSpPr>
        <p:spPr>
          <a:xfrm>
            <a:off x="6153912" y="3535715"/>
            <a:ext cx="5733288" cy="1924513"/>
          </a:xfrm>
          <a:prstGeom prst="roundRect">
            <a:avLst>
              <a:gd name="adj" fmla="val 6000"/>
            </a:avLst>
          </a:prstGeom>
          <a:solidFill>
            <a:srgbClr val="F2F7F7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04  Data Quality e Data Governance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L’ESG Manager verifica completezza, dati mancanti o in ritardo, anomalie, variazioni significative e coerenza. L’Issue Management assegna le correzioni agli utenti competenti e ne segue l’avanzamento fino alla risoluzione.</a:t>
            </a:r>
          </a:p>
        </p:txBody>
      </p:sp>
      <p:sp>
        <p:nvSpPr>
          <p:cNvPr id="9" name="Testo originale sotto il titolo">
            <a:extLst>
              <a:ext uri="{FF2B5EF4-FFF2-40B4-BE49-F238E27FC236}">
                <a16:creationId xmlns:a16="http://schemas.microsoft.com/office/drawing/2014/main" id="{E2AB2656-77B0-DAF6-089F-C0148D0A8552}"/>
              </a:ext>
            </a:extLst>
          </p:cNvPr>
          <p:cNvSpPr txBox="1"/>
          <p:nvPr/>
        </p:nvSpPr>
        <p:spPr>
          <a:xfrm>
            <a:off x="640080" y="1005840"/>
            <a:ext cx="10908792" cy="361410"/>
          </a:xfrm>
          <a:prstGeom prst="rect">
            <a:avLst/>
          </a:prstGeom>
          <a:noFill/>
        </p:spPr>
        <p:txBody>
          <a:bodyPr wrap="square" lIns="18288" tIns="0" rIns="18288" bIns="27432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400" b="0"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Scenario Alfafood, azienda alimentare: utenti distribuiti collaborano alla Data Foundation ESG</a:t>
            </a:r>
          </a:p>
        </p:txBody>
      </p:sp>
      <p:sp>
        <p:nvSpPr>
          <p:cNvPr id="10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itolo">
            <a:extLst>
              <a:ext uri="{FF2B5EF4-FFF2-40B4-BE49-F238E27FC236}">
                <a16:creationId xmlns:a16="http://schemas.microsoft.com/office/drawing/2014/main" id="{E2AB2656-77B0-DAF6-089F-C0148D0A8552}"/>
              </a:ext>
            </a:extLst>
          </p:cNvPr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Il processo ESG: raccolta e qualità dei dati</a:t>
            </a:r>
          </a:p>
        </p:txBody>
      </p:sp>
    </p:spTree>
    <p:extLst>
      <p:ext uri="{BB962C8B-B14F-4D97-AF65-F5344CB8AC3E}">
        <p14:creationId xmlns:p14="http://schemas.microsoft.com/office/powerpoint/2010/main" val="10188685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9FE1F-F76D-B918-F29D-53865D936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ndaChiave">
            <a:extLst>
              <a:ext uri="{FF2B5EF4-FFF2-40B4-BE49-F238E27FC236}">
                <a16:creationId xmlns:a16="http://schemas.microsoft.com/office/drawing/2014/main" id="{C5A4FC6F-1DD5-31DC-27FE-6C116FC2F9B5}"/>
              </a:ext>
            </a:extLst>
          </p:cNvPr>
          <p:cNvSpPr/>
          <p:nvPr/>
        </p:nvSpPr>
        <p:spPr>
          <a:xfrm>
            <a:off x="305752" y="5709123"/>
            <a:ext cx="11580496" cy="691676"/>
          </a:xfrm>
          <a:prstGeom prst="roundRect">
            <a:avLst>
              <a:gd name="adj" fmla="val 10000"/>
            </a:avLst>
          </a:prstGeom>
          <a:solidFill>
            <a:srgbClr val="0F4761"/>
          </a:solidFill>
          <a:ln>
            <a:noFill/>
          </a:ln>
        </p:spPr>
        <p:txBody>
          <a:bodyPr wrap="square" lIns="228600" tIns="27432" rIns="228600" bIns="27432" anchor="ctr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Fasi 5–8: dati controllati e tracciabili sostengono il reporting ESG e le decisioni del management.</a:t>
            </a:r>
          </a:p>
        </p:txBody>
      </p:sp>
      <p:sp>
        <p:nvSpPr>
          <p:cNvPr id="5" name="Card1">
            <a:extLst>
              <a:ext uri="{FF2B5EF4-FFF2-40B4-BE49-F238E27FC236}">
                <a16:creationId xmlns:a16="http://schemas.microsoft.com/office/drawing/2014/main" id="{31C6252E-3A4A-5B7E-A05F-96EB86D6B657}"/>
              </a:ext>
            </a:extLst>
          </p:cNvPr>
          <p:cNvSpPr/>
          <p:nvPr/>
        </p:nvSpPr>
        <p:spPr>
          <a:xfrm>
            <a:off x="301752" y="1439533"/>
            <a:ext cx="5733288" cy="192451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05  Revisione e approvazione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Dopo raccolta e correzione delle anomalie, revisori e approvatori verificano i dati in workflow a uno o più livelli. La Data Foundation diventa controllata, approvata e pronta per il reporting.</a:t>
            </a:r>
          </a:p>
        </p:txBody>
      </p:sp>
      <p:sp>
        <p:nvSpPr>
          <p:cNvPr id="6" name="Card2">
            <a:extLst>
              <a:ext uri="{FF2B5EF4-FFF2-40B4-BE49-F238E27FC236}">
                <a16:creationId xmlns:a16="http://schemas.microsoft.com/office/drawing/2014/main" id="{1A99BA90-42AC-46B8-55EF-0CD6463F5945}"/>
              </a:ext>
            </a:extLst>
          </p:cNvPr>
          <p:cNvSpPr/>
          <p:nvPr/>
        </p:nvSpPr>
        <p:spPr>
          <a:xfrm>
            <a:off x="6153912" y="1439533"/>
            <a:ext cx="5733288" cy="1924513"/>
          </a:xfrm>
          <a:prstGeom prst="roundRect">
            <a:avLst>
              <a:gd name="adj" fmla="val 6000"/>
            </a:avLst>
          </a:prstGeom>
          <a:solidFill>
            <a:srgbClr val="F2F7F7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06  Auditabilità e tracciabilità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La cronologia e i report di audit mostrano chi ha modificato il dato, quando, il valore precedente, il nuovo valore e chi lo ha approvato. Supportano trasparenza, requisiti di audit e verifiche interne o esterne.</a:t>
            </a:r>
          </a:p>
        </p:txBody>
      </p:sp>
      <p:sp>
        <p:nvSpPr>
          <p:cNvPr id="7" name="Card1">
            <a:extLst>
              <a:ext uri="{FF2B5EF4-FFF2-40B4-BE49-F238E27FC236}">
                <a16:creationId xmlns:a16="http://schemas.microsoft.com/office/drawing/2014/main" id="{33067B9B-FB89-A952-5809-F463885C57F9}"/>
              </a:ext>
            </a:extLst>
          </p:cNvPr>
          <p:cNvSpPr/>
          <p:nvPr/>
        </p:nvSpPr>
        <p:spPr>
          <a:xfrm>
            <a:off x="301752" y="3535715"/>
            <a:ext cx="5733288" cy="192451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07  Dashboard, KPI e reporting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Dati completi, verificati, approvati e tracciabili alimentano dashboard operative, report direzionali e KPI. Il management monitora le performance ESG, individua aree di miglioramento e decide su dati affidabili.</a:t>
            </a:r>
          </a:p>
        </p:txBody>
      </p:sp>
      <p:sp>
        <p:nvSpPr>
          <p:cNvPr id="8" name="Card2">
            <a:extLst>
              <a:ext uri="{FF2B5EF4-FFF2-40B4-BE49-F238E27FC236}">
                <a16:creationId xmlns:a16="http://schemas.microsoft.com/office/drawing/2014/main" id="{024D2123-7A5A-F936-BBC3-CACF3E9913F8}"/>
              </a:ext>
            </a:extLst>
          </p:cNvPr>
          <p:cNvSpPr/>
          <p:nvPr/>
        </p:nvSpPr>
        <p:spPr>
          <a:xfrm>
            <a:off x="6153912" y="3535715"/>
            <a:ext cx="5733288" cy="1924513"/>
          </a:xfrm>
          <a:prstGeom prst="roundRect">
            <a:avLst>
              <a:gd name="adj" fmla="val 6000"/>
            </a:avLst>
          </a:prstGeom>
          <a:solidFill>
            <a:srgbClr val="F2F7F7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7D79"/>
                </a:solidFill>
                <a:effectLst/>
                <a:uLnTx/>
                <a:uFillTx/>
                <a:latin typeface="Calibri"/>
                <a:cs typeface="Calibri"/>
              </a:rPr>
              <a:t>08  Analisi e miglioramento continuo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Oltre agli obblighi di reporting, l’azienda usa le informazioni per individuare inefficienze, guidare iniziative di miglioramento, monitorare gli obiettivi ESG e misurare i risultati delle azioni intraprese.</a:t>
            </a:r>
          </a:p>
        </p:txBody>
      </p:sp>
      <p:sp>
        <p:nvSpPr>
          <p:cNvPr id="9" name="Testo originale sotto il titolo">
            <a:extLst>
              <a:ext uri="{FF2B5EF4-FFF2-40B4-BE49-F238E27FC236}">
                <a16:creationId xmlns:a16="http://schemas.microsoft.com/office/drawing/2014/main" id="{DE68110D-2CF8-5A87-C40D-4166D62739B7}"/>
              </a:ext>
            </a:extLst>
          </p:cNvPr>
          <p:cNvSpPr txBox="1"/>
          <p:nvPr/>
        </p:nvSpPr>
        <p:spPr>
          <a:xfrm>
            <a:off x="640080" y="1005840"/>
            <a:ext cx="10908792" cy="361410"/>
          </a:xfrm>
          <a:prstGeom prst="rect">
            <a:avLst/>
          </a:prstGeom>
          <a:noFill/>
        </p:spPr>
        <p:txBody>
          <a:bodyPr wrap="square" lIns="18288" tIns="0" rIns="18288" bIns="27432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 sz="1400" b="0"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0F4761"/>
                </a:solidFill>
                <a:effectLst/>
                <a:uLnTx/>
                <a:uFillTx/>
                <a:latin typeface="Calibri"/>
                <a:cs typeface="Calibri"/>
              </a:rPr>
              <a:t>La dimostrazione segue l’intero ciclo del dato e approfondisce ogni fase con passaggi operativi e ruoli</a:t>
            </a:r>
          </a:p>
        </p:txBody>
      </p:sp>
      <p:sp>
        <p:nvSpPr>
          <p:cNvPr id="10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itolo">
            <a:extLst>
              <a:ext uri="{FF2B5EF4-FFF2-40B4-BE49-F238E27FC236}">
                <a16:creationId xmlns:a16="http://schemas.microsoft.com/office/drawing/2014/main" id="{DE68110D-2CF8-5A87-C40D-4166D62739B7}"/>
              </a:ext>
            </a:extLst>
          </p:cNvPr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Il processo ESG: approvazione, reporting e miglioramento</a:t>
            </a:r>
          </a:p>
        </p:txBody>
      </p:sp>
    </p:spTree>
    <p:extLst>
      <p:ext uri="{BB962C8B-B14F-4D97-AF65-F5344CB8AC3E}">
        <p14:creationId xmlns:p14="http://schemas.microsoft.com/office/powerpoint/2010/main" val="23655470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7" name="Testo originale sotto il titolo"/>
          <p:cNvSpPr txBox="1"/>
          <p:nvPr/>
        </p:nvSpPr>
        <p:spPr>
          <a:xfrm>
            <a:off x="548640" y="5641848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>
                <a:solidFill>
                  <a:srgbClr val="073E31"/>
                </a:solidFill>
              </a:defRPr>
            </a:pPr>
            <a:r>
              <a:rPr sz="2000" b="0" i="0" dirty="0">
                <a:solidFill>
                  <a:srgbClr val="073E31"/>
                </a:solidFill>
                <a:latin typeface="Calibri"/>
              </a:rPr>
              <a:t> </a:t>
            </a:r>
            <a:endParaRPr sz="2400" b="0" i="0" dirty="0">
              <a:solidFill>
                <a:srgbClr val="D8E8DC"/>
              </a:solidFill>
              <a:latin typeface="Calibri"/>
            </a:endParaRPr>
          </a:p>
        </p:txBody>
      </p:sp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>
              <a:defRPr sz="2000">
                <a:solidFill>
                  <a:srgbClr val="073E31"/>
                </a:solidFill>
              </a:defRPr>
            </a:pPr>
            <a:endParaRPr lang="it-IT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Grazie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6EF24286-BAAB-56CB-EE5D-375D369C0873}"/>
              </a:ext>
            </a:extLst>
          </p:cNvPr>
          <p:cNvSpPr txBox="1"/>
          <p:nvPr/>
        </p:nvSpPr>
        <p:spPr>
          <a:xfrm>
            <a:off x="10058400" y="219456"/>
            <a:ext cx="27432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IBM ENVIZI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8CDF11D0-1C53-0547-9873-8FB7E1E39671}"/>
              </a:ext>
            </a:extLst>
          </p:cNvPr>
          <p:cNvSpPr txBox="1"/>
          <p:nvPr/>
        </p:nvSpPr>
        <p:spPr>
          <a:xfrm>
            <a:off x="640080" y="1280160"/>
            <a:ext cx="62179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Thank you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6CC8070-723C-29F9-6B8C-870A277CC8CE}"/>
              </a:ext>
            </a:extLst>
          </p:cNvPr>
          <p:cNvSpPr/>
          <p:nvPr/>
        </p:nvSpPr>
        <p:spPr>
          <a:xfrm>
            <a:off x="640080" y="2084831"/>
            <a:ext cx="100584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5511781-77E8-AB51-35E5-D1D2C2451BA2}"/>
              </a:ext>
            </a:extLst>
          </p:cNvPr>
          <p:cNvSpPr txBox="1"/>
          <p:nvPr/>
        </p:nvSpPr>
        <p:spPr>
          <a:xfrm>
            <a:off x="640080" y="2423160"/>
            <a:ext cx="589788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5B687A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Sustainability data that supports reporting, decisions and business value.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8CE9F074-FDBC-705B-960A-8459F4BC17DE}"/>
              </a:ext>
            </a:extLst>
          </p:cNvPr>
          <p:cNvSpPr txBox="1"/>
          <p:nvPr/>
        </p:nvSpPr>
        <p:spPr>
          <a:xfrm>
            <a:off x="640080" y="3822191"/>
            <a:ext cx="42062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Felice Petrignano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434EFB8C-0790-AAB3-DB53-C9B2F350C225}"/>
              </a:ext>
            </a:extLst>
          </p:cNvPr>
          <p:cNvSpPr txBox="1"/>
          <p:nvPr/>
        </p:nvSpPr>
        <p:spPr>
          <a:xfrm>
            <a:off x="640080" y="4206240"/>
            <a:ext cx="512064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F252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Senior Technology Specialist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6BEDC525-C44E-79D2-F7A4-4D024636405B}"/>
              </a:ext>
            </a:extLst>
          </p:cNvPr>
          <p:cNvSpPr txBox="1"/>
          <p:nvPr/>
        </p:nvSpPr>
        <p:spPr>
          <a:xfrm>
            <a:off x="640080" y="4517136"/>
            <a:ext cx="530352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F252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IBM Italy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F621139D-38E0-2953-A093-2FC128265975}"/>
              </a:ext>
            </a:extLst>
          </p:cNvPr>
          <p:cNvSpPr txBox="1"/>
          <p:nvPr/>
        </p:nvSpPr>
        <p:spPr>
          <a:xfrm>
            <a:off x="640080" y="5047488"/>
            <a:ext cx="530352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linkedin.com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/in/</a:t>
            </a: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fpetrignano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306529D3-89C5-8762-7A9F-5369BAAECD79}"/>
              </a:ext>
            </a:extLst>
          </p:cNvPr>
          <p:cNvSpPr/>
          <p:nvPr/>
        </p:nvSpPr>
        <p:spPr>
          <a:xfrm>
            <a:off x="7635240" y="640080"/>
            <a:ext cx="3794760" cy="544068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9DED0332-C7E5-AB26-11BC-B0241C7CD2B4}"/>
              </a:ext>
            </a:extLst>
          </p:cNvPr>
          <p:cNvSpPr txBox="1"/>
          <p:nvPr/>
        </p:nvSpPr>
        <p:spPr>
          <a:xfrm>
            <a:off x="8001000" y="1078992"/>
            <a:ext cx="30632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LET’S CONNECT</a:t>
            </a:r>
          </a:p>
        </p:txBody>
      </p:sp>
      <p:pic>
        <p:nvPicPr>
          <p:cNvPr id="15" name="Picture 13" descr="linkedin_qr_original.png">
            <a:extLst>
              <a:ext uri="{FF2B5EF4-FFF2-40B4-BE49-F238E27FC236}">
                <a16:creationId xmlns:a16="http://schemas.microsoft.com/office/drawing/2014/main" id="{5488A219-564D-1AA5-DC0B-80CAF2A9B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735" y="1600200"/>
            <a:ext cx="2529767" cy="3154680"/>
          </a:xfrm>
          <a:prstGeom prst="rect">
            <a:avLst/>
          </a:prstGeom>
        </p:spPr>
      </p:pic>
      <p:sp>
        <p:nvSpPr>
          <p:cNvPr id="16" name="TextBox 14">
            <a:extLst>
              <a:ext uri="{FF2B5EF4-FFF2-40B4-BE49-F238E27FC236}">
                <a16:creationId xmlns:a16="http://schemas.microsoft.com/office/drawing/2014/main" id="{D4866AE4-DC69-6812-12BF-9F23A0B9733F}"/>
              </a:ext>
            </a:extLst>
          </p:cNvPr>
          <p:cNvSpPr txBox="1"/>
          <p:nvPr/>
        </p:nvSpPr>
        <p:spPr>
          <a:xfrm>
            <a:off x="8001000" y="5074920"/>
            <a:ext cx="306324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Scan the QR code to connect on LinkedIn</a:t>
            </a:r>
          </a:p>
        </p:txBody>
      </p:sp>
    </p:spTree>
    <p:extLst>
      <p:ext uri="{BB962C8B-B14F-4D97-AF65-F5344CB8AC3E}">
        <p14:creationId xmlns:p14="http://schemas.microsoft.com/office/powerpoint/2010/main" val="3904177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2">
            <a:extLst>
              <a:ext uri="{FF2B5EF4-FFF2-40B4-BE49-F238E27FC236}">
                <a16:creationId xmlns:a16="http://schemas.microsoft.com/office/drawing/2014/main" id="{E5692321-2990-921A-697F-F435F6803838}"/>
              </a:ext>
            </a:extLst>
          </p:cNvPr>
          <p:cNvSpPr/>
          <p:nvPr/>
        </p:nvSpPr>
        <p:spPr>
          <a:xfrm>
            <a:off x="9062519" y="176407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IBM Envizi</a:t>
            </a: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36576" tIns="0" rIns="36576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Riferimenti ufficiali</a:t>
            </a: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 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3"/>
              </a:rPr>
              <a:t>Raccolta dei dati Account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84248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Record, allegati e modalità di acquisizione.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52344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4"/>
              </a:rPr>
              <a:t>Estrazione delle bollette con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27832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Anteprima: verifica dei valori prima del salvataggio.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95928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5"/>
              </a:rPr>
              <a:t>Richieste di raccolta dati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71416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Issue per più Account, sedi e assegnatari.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508760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6"/>
              </a:rPr>
              <a:t>Compilazione su richiesta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84248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Notifiche, scheda della Issue e invio dei dati.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752344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7"/>
              </a:rPr>
              <a:t>Richieste pianificate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27832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Modifica delle date e della frequenza di invio.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995928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8"/>
              </a:rPr>
              <a:t>Navigazione e controlli sui dati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471416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Consultazione di Account, record e viste di sintesi.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50992"/>
            <a:ext cx="10908792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500" b="0">
                <a:solidFill>
                  <a:srgbClr val="333333"/>
                </a:solidFill>
                <a:latin typeface="Calibri"/>
              </a:rPr>
              <a:t>Documentazione IBM in inglese. Consultazione: 9 ottobre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2722</Words>
  <Application>Microsoft Macintosh PowerPoint</Application>
  <PresentationFormat>Widescreen</PresentationFormat>
  <Paragraphs>262</Paragraphs>
  <Slides>40</Slides>
  <Notes>17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40</vt:i4>
      </vt:variant>
    </vt:vector>
  </HeadingPairs>
  <TitlesOfParts>
    <vt:vector size="51" baseType="lpstr">
      <vt:lpstr>Aptos</vt:lpstr>
      <vt:lpstr>Aptos Display</vt:lpstr>
      <vt:lpstr>Arial</vt:lpstr>
      <vt:lpstr>Calibri</vt:lpstr>
      <vt:lpstr>IBM Plex Sans</vt:lpstr>
      <vt:lpstr>IBM Plex Sans Light</vt:lpstr>
      <vt:lpstr>Symbol</vt:lpstr>
      <vt:lpstr>Times New Roman</vt:lpstr>
      <vt:lpstr>Wingdings</vt:lpstr>
      <vt:lpstr>Tema di Office</vt:lpstr>
      <vt:lpstr>ChatGPT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Felice Petrignano</dc:creator>
  <cp:lastModifiedBy>Felice Petrignano</cp:lastModifiedBy>
  <cp:revision>8</cp:revision>
  <dcterms:created xsi:type="dcterms:W3CDTF">2026-10-09T13:31:22Z</dcterms:created>
  <dcterms:modified xsi:type="dcterms:W3CDTF">2026-10-09T14:27:52Z</dcterms:modified>
</cp:coreProperties>
</file>