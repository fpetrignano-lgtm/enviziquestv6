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635" r:id="rId2"/>
    <p:sldId id="2142533171" r:id="rId3"/>
    <p:sldId id="2142533068" r:id="rId4"/>
    <p:sldId id="2142533059" r:id="rId5"/>
    <p:sldId id="2142533142" r:id="rId6"/>
    <p:sldId id="2142533089" r:id="rId7"/>
    <p:sldId id="2142533070" r:id="rId8"/>
    <p:sldId id="2142533180" r:id="rId9"/>
    <p:sldId id="2142533181" r:id="rId10"/>
    <p:sldId id="2142533179" r:id="rId11"/>
    <p:sldId id="2142533101" r:id="rId12"/>
    <p:sldId id="2142533182" r:id="rId13"/>
    <p:sldId id="2142533183" r:id="rId14"/>
    <p:sldId id="2142533184" r:id="rId15"/>
    <p:sldId id="2142533185" r:id="rId16"/>
    <p:sldId id="2142533079" r:id="rId17"/>
    <p:sldId id="2142533073" r:id="rId18"/>
    <p:sldId id="2142533074" r:id="rId19"/>
    <p:sldId id="2142533071" r:id="rId20"/>
    <p:sldId id="2142533078" r:id="rId21"/>
    <p:sldId id="2142533076" r:id="rId22"/>
    <p:sldId id="2142533111" r:id="rId23"/>
    <p:sldId id="2142533075" r:id="rId24"/>
    <p:sldId id="2142533077" r:id="rId25"/>
    <p:sldId id="2142533112" r:id="rId26"/>
    <p:sldId id="2142533072" r:id="rId27"/>
    <p:sldId id="2142533186" r:id="rId28"/>
    <p:sldId id="2142533102" r:id="rId29"/>
    <p:sldId id="2142533098" r:id="rId30"/>
    <p:sldId id="2142533062" r:id="rId31"/>
    <p:sldId id="2142533063" r:id="rId32"/>
    <p:sldId id="2142533094" r:id="rId33"/>
    <p:sldId id="2142533096" r:id="rId34"/>
    <p:sldId id="2142533095" r:id="rId35"/>
    <p:sldId id="2142533103" r:id="rId36"/>
    <p:sldId id="2142533196" r:id="rId37"/>
    <p:sldId id="2142533173" r:id="rId38"/>
    <p:sldId id="2142533084" r:id="rId39"/>
    <p:sldId id="2142533085" r:id="rId40"/>
    <p:sldId id="569" r:id="rId41"/>
    <p:sldId id="2142533174" r:id="rId42"/>
    <p:sldId id="2142533195" r:id="rId43"/>
    <p:sldId id="2142533092" r:id="rId44"/>
    <p:sldId id="2142533194" r:id="rId45"/>
    <p:sldId id="2142533097" r:id="rId46"/>
    <p:sldId id="2142533205" r:id="rId47"/>
    <p:sldId id="2142533212" r:id="rId48"/>
    <p:sldId id="2142533160" r:id="rId49"/>
    <p:sldId id="2142533210" r:id="rId50"/>
    <p:sldId id="2147472659" r:id="rId51"/>
    <p:sldId id="2147472660" r:id="rId52"/>
    <p:sldId id="560" r:id="rId5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164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EE89-4BDF-4A13-1CBE-7385029C65F5}"/>
            </a:ext>
          </a:extLst>
        </p:cNvPr>
        <p:cNvGrpSpPr/>
        <p:nvPr/>
      </p:nvGrpSpPr>
      <p:grpSpPr>
        <a:xfrm>
          <a:off x="0" y="0"/>
          <a:ext cx="0" cy="0"/>
          <a:chOff x="0" y="0"/>
          <a:chExt cx="0" cy="0"/>
        </a:xfrm>
      </p:grpSpPr>
      <p:sp>
        <p:nvSpPr>
          <p:cNvPr id="4253" name="PlaceHolder 1">
            <a:extLst>
              <a:ext uri="{FF2B5EF4-FFF2-40B4-BE49-F238E27FC236}">
                <a16:creationId xmlns:a16="http://schemas.microsoft.com/office/drawing/2014/main" id="{0FC1C29E-C31A-687F-CDAF-D242CBC89A33}"/>
              </a:ext>
            </a:extLst>
          </p:cNvPr>
          <p:cNvSpPr>
            <a:spLocks noGrp="1" noRot="1" noChangeAspect="1"/>
          </p:cNvSpPr>
          <p:nvPr>
            <p:ph type="sldImg"/>
          </p:nvPr>
        </p:nvSpPr>
        <p:spPr>
          <a:xfrm>
            <a:off x="0" y="0"/>
            <a:ext cx="0" cy="0"/>
          </a:xfrm>
          <a:prstGeom prst="rect">
            <a:avLst/>
          </a:prstGeom>
          <a:ln w="0">
            <a:noFill/>
          </a:ln>
        </p:spPr>
      </p:sp>
      <p:sp>
        <p:nvSpPr>
          <p:cNvPr id="4254" name="PlaceHolder 2">
            <a:extLst>
              <a:ext uri="{FF2B5EF4-FFF2-40B4-BE49-F238E27FC236}">
                <a16:creationId xmlns:a16="http://schemas.microsoft.com/office/drawing/2014/main" id="{691857AE-C190-C60B-BF49-21FABE880171}"/>
              </a:ext>
            </a:extLst>
          </p:cNvPr>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it-IT"/>
              <a:t>[Sources]</a:t>
            </a:r>
          </a:p>
          <a:p>
            <a:r>
              <a:rPr lang="it-IT"/>
              <a:t>https://www.ibm.com/docs/en/envizi-esg-suite?topic=modules-utility-bill-analytics</a:t>
            </a:r>
          </a:p>
          <a:p>
            <a:r>
              <a:rPr lang="it-IT"/>
              <a:t>https://www.ibm.com/docs/en/envizi-esg-suite?topic=reference-utility-bill-analytics</a:t>
            </a:r>
          </a:p>
          <a:p>
            <a:r>
              <a:rPr lang="it-IT"/>
              <a:t>https://www.ibm.com/docs/en/envizi-esg-suite?topic=modules-interval-metering-analytics</a:t>
            </a:r>
          </a:p>
          <a:p>
            <a:r>
              <a:rPr lang="it-IT"/>
              <a:t>https://www.ibm.com/products/envizi/interval-meter-analytics</a:t>
            </a:r>
          </a:p>
          <a:p>
            <a:r>
              <a:rPr lang="it-IT"/>
              <a:t>https://www.ibm.com/docs/en/envizi-esg-suite?topic=analytics-configuring-meter-alert-rules</a:t>
            </a:r>
          </a:p>
          <a:p>
            <a:r>
              <a:rPr lang="it-IT"/>
              <a:t>https://www.ibm.com/docs/en/envizi-esg-suite?topic=quality-account-inactivity-alerts</a:t>
            </a:r>
          </a:p>
          <a:p>
            <a:r>
              <a:rPr lang="it-IT"/>
              <a:t>Consultazione: 9 ottobre 2026</a:t>
            </a:r>
          </a:p>
          <a:p>
            <a:r>
              <a:rPr lang="it-IT"/>
              <a:t>[/Sources]</a:t>
            </a:r>
          </a:p>
          <a:p>
            <a:r>
              <a:rPr lang="it-IT"/>
              <a:t>Alfago è un caso simulato, come specificato nel capitolo. I livelli 1–3 sono una struttura didattica della demo. La disponibilità dipende dai moduli e dalla configurazione. Le anomalie segnalano condizioni da indagare e non dimostrano automaticamente cause o risparmi. Gli alert di inattività sono disponibili anche per gli account secondo la documentazione IBM.</a:t>
            </a:r>
          </a:p>
        </p:txBody>
      </p:sp>
      <p:sp>
        <p:nvSpPr>
          <p:cNvPr id="4255" name="PlaceHolder 3">
            <a:extLst>
              <a:ext uri="{FF2B5EF4-FFF2-40B4-BE49-F238E27FC236}">
                <a16:creationId xmlns:a16="http://schemas.microsoft.com/office/drawing/2014/main" id="{76DF4804-1DC9-30B7-43A0-15FD23AC73AE}"/>
              </a:ext>
            </a:extLst>
          </p:cNvPr>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1658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17EA-47A7-7E06-4870-93371F547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35369-B121-6EDF-2C93-B313F64F5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F1816-0B31-A036-BA62-7C080BB91982}"/>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 case: Review energy trends of all utilities for whole Organization , reporting group or a location. </a:t>
            </a:r>
          </a:p>
          <a:p>
            <a:pPr fontAlgn="base"/>
            <a:r>
              <a:rPr lang="en-US" sz="2667" b="0" i="0" kern="1200" dirty="0">
                <a:solidFill>
                  <a:schemeClr val="bg1"/>
                </a:solidFill>
                <a:effectLst/>
                <a:latin typeface="IBM Plex Sans Light" panose="020B0503050203000203" pitchFamily="34" charset="0"/>
                <a:ea typeface="+mn-ea"/>
                <a:cs typeface="+mn-cs"/>
              </a:rPr>
              <a:t>Persona: Sustainability Analyst or manager, Energy Manager</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How to navigate: Monitor menu -&gt; Performance dashboards.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Performance dashboards are part of base platform and provide consumption, cost and emissions details for whole portfolio , group or a location.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Filters on measures ( utility data types), groups and locations can be used to further slice and dice the data for reporting needs.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User can also select to compare the data with base year or previous year.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These dashboards can be shared with internal stakeholders and views can be saved for later use. </a:t>
            </a:r>
          </a:p>
          <a:p>
            <a:pPr marL="514350" indent="-514350" fontAlgn="base">
              <a:buAutoNum type="arabicPeriod"/>
            </a:pPr>
            <a:r>
              <a:rPr lang="en-US" sz="2667" b="0" i="0" kern="1200" dirty="0">
                <a:solidFill>
                  <a:schemeClr val="bg1"/>
                </a:solidFill>
                <a:effectLst/>
                <a:latin typeface="IBM Plex Sans Light" panose="020B0503050203000203" pitchFamily="34" charset="0"/>
                <a:ea typeface="+mn-ea"/>
                <a:cs typeface="+mn-cs"/>
              </a:rPr>
              <a:t>This dashboard also helps comparing current consumption, emissions and cost values with previous year, baseline year or target values. </a:t>
            </a:r>
          </a:p>
          <a:p>
            <a:pPr marL="0" indent="0" fontAlgn="base">
              <a:buNone/>
            </a:pPr>
            <a:endParaRPr lang="en-US" sz="2667" b="0" i="0" kern="1200" dirty="0">
              <a:solidFill>
                <a:schemeClr val="bg1"/>
              </a:solidFill>
              <a:effectLst/>
              <a:latin typeface="IBM Plex Sans Light" panose="020B0503050203000203" pitchFamily="34" charset="0"/>
              <a:ea typeface="+mn-ea"/>
              <a:cs typeface="+mn-cs"/>
            </a:endParaRPr>
          </a:p>
          <a:p>
            <a:pPr marL="0" indent="0" fontAlgn="base">
              <a:buNone/>
            </a:pPr>
            <a:endParaRPr lang="en-US" sz="2667" b="0" i="0" kern="1200" dirty="0">
              <a:solidFill>
                <a:schemeClr val="bg1"/>
              </a:solidFill>
              <a:effectLst/>
              <a:latin typeface="IBM Plex Sans Light" panose="020B0503050203000203" pitchFamily="34" charset="0"/>
              <a:ea typeface="+mn-ea"/>
              <a:cs typeface="+mn-cs"/>
            </a:endParaRPr>
          </a:p>
          <a:p>
            <a:pPr marL="514350" indent="-514350" fontAlgn="base">
              <a:buAutoNum type="arabicPeriod"/>
            </a:pPr>
            <a:endParaRPr lang="en-US" dirty="0"/>
          </a:p>
        </p:txBody>
      </p:sp>
      <p:sp>
        <p:nvSpPr>
          <p:cNvPr id="4" name="Slide Number Placeholder 3">
            <a:extLst>
              <a:ext uri="{FF2B5EF4-FFF2-40B4-BE49-F238E27FC236}">
                <a16:creationId xmlns:a16="http://schemas.microsoft.com/office/drawing/2014/main" id="{29AE278E-A66D-584E-A42A-1F301CB485A4}"/>
              </a:ext>
            </a:extLst>
          </p:cNvPr>
          <p:cNvSpPr>
            <a:spLocks noGrp="1"/>
          </p:cNvSpPr>
          <p:nvPr>
            <p:ph type="sldNum" sz="quarter" idx="5"/>
          </p:nvPr>
        </p:nvSpPr>
        <p:spPr/>
        <p:txBody>
          <a:bodyPr/>
          <a:lstStyle/>
          <a:p>
            <a:fld id="{6E2E38B8-B0B4-AD41-AC6E-B781F46A9FD3}" type="slidenum">
              <a:rPr lang="en-US" smtClean="0"/>
              <a:pPr/>
              <a:t>3</a:t>
            </a:fld>
            <a:endParaRPr lang="en-US" dirty="0"/>
          </a:p>
        </p:txBody>
      </p:sp>
      <p:sp>
        <p:nvSpPr>
          <p:cNvPr id="5" name="Footer Placeholder 4">
            <a:extLst>
              <a:ext uri="{FF2B5EF4-FFF2-40B4-BE49-F238E27FC236}">
                <a16:creationId xmlns:a16="http://schemas.microsoft.com/office/drawing/2014/main" id="{B25C37FF-958B-5C7A-B85F-5E9EB5FDA4F0}"/>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23744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7C569-BBAB-310A-7CC2-1167B0DFF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5FF13-0EE8-01F6-50AA-9D432359B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B65569-EBEF-0A7C-ADCB-28AA4C8EFE21}"/>
              </a:ext>
            </a:extLst>
          </p:cNvPr>
          <p:cNvSpPr>
            <a:spLocks noGrp="1"/>
          </p:cNvSpPr>
          <p:nvPr>
            <p:ph type="body" idx="1"/>
          </p:nvPr>
        </p:nvSpPr>
        <p:spPr/>
        <p:txBody>
          <a:bodyPr/>
          <a:lstStyle/>
          <a:p>
            <a:pPr marL="0" marR="0" lvl="0" indent="0" algn="l" defTabSz="2438522" rtl="0" eaLnBrk="1" fontAlgn="auto" latinLnBrk="0" hangingPunct="1">
              <a:lnSpc>
                <a:spcPct val="115000"/>
              </a:lnSpc>
              <a:spcBef>
                <a:spcPts val="1600"/>
              </a:spcBef>
              <a:spcAft>
                <a:spcPts val="800"/>
              </a:spcAft>
              <a:buClrTx/>
              <a:buSzTx/>
              <a:buFontTx/>
              <a:buNone/>
              <a:tabLst/>
              <a:defRPr/>
            </a:pPr>
            <a:r>
              <a:rPr lang="en-US" sz="1800" b="0" i="0" kern="1200" dirty="0">
                <a:solidFill>
                  <a:schemeClr val="bg1"/>
                </a:solidFill>
                <a:effectLst/>
                <a:latin typeface="IBM Plex Sans Light" panose="020B0503050203000203" pitchFamily="34" charset="0"/>
                <a:ea typeface="+mn-ea"/>
                <a:cs typeface="+mn-cs"/>
              </a:rPr>
              <a:t>The meter summary shows 30-day consumption patterns, key metadata, and data health. Users can tailor the display using the Page Settings menu to adjust what’s shown (e.g., time of use, percent completeness).</a:t>
            </a: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 Preview panel on top right-hand side ( monitor icon) can toggle meter settings, tags, building schedules notes and attachments. </a:t>
            </a:r>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Also show the preview panel on right hand side ( monitor icon on top right to toggle) and show meter details, settings/ attributes  like max demand , expected profile, Tags ( for Meter Utility performance power report : meter load type is used to show load type), Schedule ( Schedules can be added to a meter)</a:t>
            </a: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Click on word Schedule – to open the schedule which shows the building is occupied 6 am till 6 pm weekdays. This helps using the data in power report to showcase base load, operating load and out of hours consumption. </a:t>
            </a:r>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marL="0" marR="0" lvl="0" indent="0" algn="l" defTabSz="2438522" rtl="0" eaLnBrk="1" fontAlgn="auto" latinLnBrk="0" hangingPunct="1">
              <a:lnSpc>
                <a:spcPct val="115000"/>
              </a:lnSpc>
              <a:spcBef>
                <a:spcPts val="1600"/>
              </a:spcBef>
              <a:spcAft>
                <a:spcPts val="800"/>
              </a:spcAft>
              <a:buClrTx/>
              <a:buSzTx/>
              <a:buFontTx/>
              <a:buNone/>
              <a:tabLst/>
              <a:defRP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How to navigate: </a:t>
            </a:r>
          </a:p>
          <a:p>
            <a:pPr marL="285750" indent="-285750">
              <a:lnSpc>
                <a:spcPct val="115000"/>
              </a:lnSpc>
              <a:spcAft>
                <a:spcPts val="800"/>
              </a:spcAft>
              <a:buFontTx/>
              <a:buChar char="-"/>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Click back from Envizi page ( top left. Not the browser back button) accounts screen and click on Meters. Meters grid shows the meters installed for that building/ location storing time series data which can be 5, 15, 30 mins or 1 hour. Click on the demo meter to open the summary screen. </a:t>
            </a:r>
          </a:p>
          <a:p>
            <a:pPr marL="285750" indent="-285750">
              <a:lnSpc>
                <a:spcPct val="115000"/>
              </a:lnSpc>
              <a:spcAft>
                <a:spcPts val="800"/>
              </a:spcAft>
              <a:buFontTx/>
              <a:buChar char="-"/>
            </a:pPr>
            <a:r>
              <a:rPr lang="en-US" sz="1800" b="0" i="0" kern="1200" dirty="0">
                <a:solidFill>
                  <a:schemeClr val="bg1"/>
                </a:solidFill>
                <a:effectLst/>
                <a:latin typeface="IBM Plex Sans Light" panose="020B0503050203000203" pitchFamily="34" charset="0"/>
                <a:ea typeface="+mn-ea"/>
                <a:cs typeface="+mn-cs"/>
              </a:rPr>
              <a:t>Navigate to a meter’s summary page via the global search bar in top middle ( select option meter and search </a:t>
            </a:r>
            <a:r>
              <a:rPr lang="en-US" sz="1800" b="0" i="0" kern="1200" dirty="0" err="1">
                <a:solidFill>
                  <a:schemeClr val="bg1"/>
                </a:solidFill>
                <a:effectLst/>
                <a:latin typeface="IBM Plex Sans Light" panose="020B0503050203000203" pitchFamily="34" charset="0"/>
                <a:ea typeface="+mn-ea"/>
                <a:cs typeface="+mn-cs"/>
              </a:rPr>
              <a:t>demo_regression</a:t>
            </a:r>
            <a:r>
              <a:rPr lang="en-US" sz="1800" b="0" i="0" kern="1200" dirty="0">
                <a:solidFill>
                  <a:schemeClr val="bg1"/>
                </a:solidFill>
                <a:effectLst/>
                <a:latin typeface="IBM Plex Sans Light" panose="020B0503050203000203" pitchFamily="34" charset="0"/>
                <a:ea typeface="+mn-ea"/>
                <a:cs typeface="+mn-cs"/>
              </a:rPr>
              <a:t>) , manage menu, or org hierarchy. </a:t>
            </a:r>
          </a:p>
          <a:p>
            <a:pPr marL="285750" indent="-285750">
              <a:lnSpc>
                <a:spcPct val="115000"/>
              </a:lnSpc>
              <a:spcAft>
                <a:spcPts val="800"/>
              </a:spcAft>
              <a:buFontTx/>
              <a:buChar char="-"/>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US" dirty="0"/>
          </a:p>
          <a:p>
            <a:pPr marL="0" marR="0" lvl="0" indent="0" algn="l" defTabSz="2438522" rtl="0" eaLnBrk="1" fontAlgn="auto" latinLnBrk="0" hangingPunct="1">
              <a:lnSpc>
                <a:spcPct val="115000"/>
              </a:lnSpc>
              <a:spcBef>
                <a:spcPts val="1600"/>
              </a:spcBef>
              <a:spcAft>
                <a:spcPts val="800"/>
              </a:spcAft>
              <a:buClrTx/>
              <a:buSzTx/>
              <a:buFontTx/>
              <a:buNone/>
              <a:tabLst/>
              <a:defRPr/>
            </a:pPr>
            <a:endParaRPr lang="en-AU" sz="2667" b="0" i="0" kern="1200" dirty="0">
              <a:solidFill>
                <a:schemeClr val="bg1"/>
              </a:solidFill>
              <a:effectLst/>
              <a:latin typeface="IBM Plex Sans Light" panose="020B0503050203000203" pitchFamily="34" charset="0"/>
              <a:ea typeface="+mn-ea"/>
              <a:cs typeface="+mn-cs"/>
            </a:endParaRP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AF8FD782-4DB6-F0E6-4932-6027DCBB8C4B}"/>
              </a:ext>
            </a:extLst>
          </p:cNvPr>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a:extLst>
              <a:ext uri="{FF2B5EF4-FFF2-40B4-BE49-F238E27FC236}">
                <a16:creationId xmlns:a16="http://schemas.microsoft.com/office/drawing/2014/main" id="{F1E72A79-4549-9386-B32D-AC20F32BE64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593631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5</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4033540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6F328-6644-ACFD-F48E-8ED317A8C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F0528-3CC3-BE75-556B-8032FC4B32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70A43-9E95-062C-13B6-8AE69C8979D2}"/>
              </a:ext>
            </a:extLst>
          </p:cNvPr>
          <p:cNvSpPr>
            <a:spLocks noGrp="1"/>
          </p:cNvSpPr>
          <p:nvPr>
            <p:ph type="body" idx="1"/>
          </p:nvPr>
        </p:nvSpPr>
        <p:spPr/>
        <p:txBody>
          <a:bodyPr/>
          <a:lstStyle/>
          <a:p>
            <a:pPr>
              <a:lnSpc>
                <a:spcPct val="115000"/>
              </a:lnSpc>
              <a:spcAft>
                <a:spcPts val="800"/>
              </a:spcAft>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From meter summary screen -&gt; sub menu on top right select Review -&gt; Daily Data</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Meter data cannot be ingested manually and is for review purposes only. </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r>
              <a:rPr lang="en-AU" sz="1800" b="1" kern="100" dirty="0">
                <a:effectLst/>
                <a:latin typeface="IBM Plex Sans" panose="020B0503050203000203" pitchFamily="34" charset="0"/>
                <a:ea typeface="Yu Mincho" panose="02020400000000000000" pitchFamily="18" charset="-128"/>
                <a:cs typeface="Times New Roman" panose="02020603050405020304" pitchFamily="18" charset="0"/>
              </a:rPr>
              <a:t>Use case</a:t>
            </a:r>
            <a:r>
              <a:rPr lang="en-AU" sz="1800" kern="100" dirty="0">
                <a:effectLst/>
                <a:latin typeface="IBM Plex Sans" panose="020B0503050203000203" pitchFamily="34" charset="0"/>
                <a:ea typeface="Yu Mincho" panose="02020400000000000000" pitchFamily="18" charset="-128"/>
                <a:cs typeface="Times New Roman" panose="02020603050405020304" pitchFamily="18" charset="0"/>
              </a:rPr>
              <a:t>: How meter data is stored and normalized as daily dataset for reporting. </a:t>
            </a: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AU" sz="1800" kern="100" dirty="0">
              <a:effectLst/>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8967182C-CD62-71CB-5605-F0E4AE900E7C}"/>
              </a:ext>
            </a:extLst>
          </p:cNvPr>
          <p:cNvSpPr>
            <a:spLocks noGrp="1"/>
          </p:cNvSpPr>
          <p:nvPr>
            <p:ph type="sldNum" sz="quarter" idx="5"/>
          </p:nvPr>
        </p:nvSpPr>
        <p:spPr/>
        <p:txBody>
          <a:bodyPr/>
          <a:lstStyle/>
          <a:p>
            <a:fld id="{6E2E38B8-B0B4-AD41-AC6E-B781F46A9FD3}" type="slidenum">
              <a:rPr lang="en-US" smtClean="0"/>
              <a:pPr/>
              <a:t>6</a:t>
            </a:fld>
            <a:endParaRPr lang="en-US" dirty="0"/>
          </a:p>
        </p:txBody>
      </p:sp>
      <p:sp>
        <p:nvSpPr>
          <p:cNvPr id="5" name="Footer Placeholder 4">
            <a:extLst>
              <a:ext uri="{FF2B5EF4-FFF2-40B4-BE49-F238E27FC236}">
                <a16:creationId xmlns:a16="http://schemas.microsoft.com/office/drawing/2014/main" id="{E959ED03-2FAD-1650-F122-2027C80E25A8}"/>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4206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8746-73D0-6C2B-CC76-119884762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D82B5-06AB-FCA5-0228-A1424470B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76ED27-0104-C405-3DC0-DA5023A97ED0}"/>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Report – Billed vs Metered on Bill Basis. </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Scenario: I am Energy manager and trying to identify billing anomalies. Reviewing this report monthly or quarterly can help identify billing anomalies. </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4B9B36E1-DA48-C696-A384-572804BFE462}"/>
              </a:ext>
            </a:extLst>
          </p:cNvPr>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a:extLst>
              <a:ext uri="{FF2B5EF4-FFF2-40B4-BE49-F238E27FC236}">
                <a16:creationId xmlns:a16="http://schemas.microsoft.com/office/drawing/2014/main" id="{CD399668-4262-3551-7360-731EA43901A3}"/>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929405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A1C1C-F68A-08F4-233F-0AD9430CC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D2C3B-FE18-7564-4C5E-72CDE1DA9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A1C49-84C3-4713-76FE-3B23E7954A7A}"/>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1" i="1" kern="1200" dirty="0">
                <a:solidFill>
                  <a:schemeClr val="bg1"/>
                </a:solidFill>
                <a:effectLst/>
                <a:latin typeface="IBM Plex Sans Light" panose="020B0503050203000203" pitchFamily="34" charset="0"/>
                <a:ea typeface="+mn-ea"/>
                <a:cs typeface="+mn-cs"/>
              </a:rPr>
              <a:t>Persona: Building Manager</a:t>
            </a:r>
            <a:endParaRPr lang="en-AU" sz="2667" b="1" i="1"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Scenario: I’m a building manager and want to investigate a particular event on a particular day. Weekly profile is a good place to get an overview of what’s happening with a particular meter on a particular day. </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Use the meter: </a:t>
            </a:r>
            <a:r>
              <a:rPr lang="en-US" sz="2667" b="1" i="0" kern="1200" dirty="0">
                <a:solidFill>
                  <a:schemeClr val="bg1"/>
                </a:solidFill>
                <a:effectLst/>
                <a:latin typeface="IBM Plex Sans Light" panose="020B0503050203000203" pitchFamily="34" charset="0"/>
                <a:ea typeface="+mn-ea"/>
                <a:cs typeface="+mn-cs"/>
              </a:rPr>
              <a:t>Demo Regression</a:t>
            </a:r>
            <a:r>
              <a:rPr lang="en-US" sz="2667" b="0" i="0" kern="1200" dirty="0">
                <a:solidFill>
                  <a:schemeClr val="bg1"/>
                </a:solidFill>
                <a:effectLst/>
                <a:latin typeface="IBM Plex Sans Light" panose="020B0503050203000203" pitchFamily="34" charset="0"/>
                <a:ea typeface="+mn-ea"/>
                <a:cs typeface="+mn-cs"/>
              </a:rPr>
              <a:t> in location: Melbourne Bay for regression model and most of meter reports. Open the meter by doing global search and selecting meter: Demo regression. </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Or in meter grid, search demo regression.  Once you select the meter and go to meter summary page, select all meter reports from Analyze sub menu.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Meter Profile dashboard can be used to review the profile of a meter and analyze demand and other measures for a meter. FM or BM can review key meters performance of last day or 2 and review if they are performing as expected. </a:t>
            </a:r>
          </a:p>
          <a:p>
            <a:pPr fontAlgn="base"/>
            <a:r>
              <a:rPr lang="en-US" sz="2667" b="0" i="0" kern="1200" dirty="0">
                <a:solidFill>
                  <a:schemeClr val="bg1"/>
                </a:solidFill>
                <a:effectLst/>
                <a:latin typeface="IBM Plex Sans Light" panose="020B0503050203000203" pitchFamily="34" charset="0"/>
                <a:ea typeface="+mn-ea"/>
                <a:cs typeface="+mn-cs"/>
              </a:rPr>
              <a:t>Helps pinpoint equipment running outside scheduled hours or detect load spikes.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Can  also run the weekly profile dashboard for demand over the week.</a:t>
            </a:r>
          </a:p>
        </p:txBody>
      </p:sp>
      <p:sp>
        <p:nvSpPr>
          <p:cNvPr id="4" name="Slide Number Placeholder 3">
            <a:extLst>
              <a:ext uri="{FF2B5EF4-FFF2-40B4-BE49-F238E27FC236}">
                <a16:creationId xmlns:a16="http://schemas.microsoft.com/office/drawing/2014/main" id="{E9542958-D72A-61D9-9EDD-C48ADFD58B23}"/>
              </a:ext>
            </a:extLst>
          </p:cNvPr>
          <p:cNvSpPr>
            <a:spLocks noGrp="1"/>
          </p:cNvSpPr>
          <p:nvPr>
            <p:ph type="sldNum" sz="quarter" idx="5"/>
          </p:nvPr>
        </p:nvSpPr>
        <p:spPr/>
        <p:txBody>
          <a:bodyPr/>
          <a:lstStyle/>
          <a:p>
            <a:fld id="{6E2E38B8-B0B4-AD41-AC6E-B781F46A9FD3}" type="slidenum">
              <a:rPr lang="en-US" smtClean="0"/>
              <a:pPr/>
              <a:t>11</a:t>
            </a:fld>
            <a:endParaRPr lang="en-US" dirty="0"/>
          </a:p>
        </p:txBody>
      </p:sp>
      <p:sp>
        <p:nvSpPr>
          <p:cNvPr id="5" name="Footer Placeholder 4">
            <a:extLst>
              <a:ext uri="{FF2B5EF4-FFF2-40B4-BE49-F238E27FC236}">
                <a16:creationId xmlns:a16="http://schemas.microsoft.com/office/drawing/2014/main" id="{39107105-2AB3-9CF2-4182-92AE8624AFE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761193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16A6-D702-FA27-95BC-54A44B679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1144C-596A-E5C5-8B52-463937F00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77D95-DFA1-F466-CB14-E2A8FDD1FE82}"/>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Compared to the profile dashboard, this one also provides a summary of consumption and profile information. The main use case for this dashboard is analyzing the drivers behind consumption trend</a:t>
            </a:r>
          </a:p>
        </p:txBody>
      </p:sp>
      <p:sp>
        <p:nvSpPr>
          <p:cNvPr id="4" name="Slide Number Placeholder 3">
            <a:extLst>
              <a:ext uri="{FF2B5EF4-FFF2-40B4-BE49-F238E27FC236}">
                <a16:creationId xmlns:a16="http://schemas.microsoft.com/office/drawing/2014/main" id="{9B2D620E-4BCD-274A-C3BC-088A6102DF3E}"/>
              </a:ext>
            </a:extLst>
          </p:cNvPr>
          <p:cNvSpPr>
            <a:spLocks noGrp="1"/>
          </p:cNvSpPr>
          <p:nvPr>
            <p:ph type="sldNum" sz="quarter" idx="5"/>
          </p:nvPr>
        </p:nvSpPr>
        <p:spPr/>
        <p:txBody>
          <a:bodyPr/>
          <a:lstStyle/>
          <a:p>
            <a:fld id="{6E2E38B8-B0B4-AD41-AC6E-B781F46A9FD3}" type="slidenum">
              <a:rPr lang="en-US" smtClean="0"/>
              <a:pPr/>
              <a:t>16</a:t>
            </a:fld>
            <a:endParaRPr lang="en-US" dirty="0"/>
          </a:p>
        </p:txBody>
      </p:sp>
      <p:sp>
        <p:nvSpPr>
          <p:cNvPr id="5" name="Footer Placeholder 4">
            <a:extLst>
              <a:ext uri="{FF2B5EF4-FFF2-40B4-BE49-F238E27FC236}">
                <a16:creationId xmlns:a16="http://schemas.microsoft.com/office/drawing/2014/main" id="{69E4775F-CBC3-7078-7028-6EA82D6E981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695637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7C1E8-F7CF-A46E-738B-2AD35F348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1D506-D892-CA2D-0205-3FA00AAFE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5162F-2E1B-6606-99E2-22322F7591F8}"/>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Determine whether abnormal usage is a one-time event or recurring pattern.</a:t>
            </a:r>
            <a:br>
              <a:rPr lang="en-US" sz="2667" b="0" i="0" kern="1200" dirty="0">
                <a:solidFill>
                  <a:schemeClr val="bg1"/>
                </a:solidFill>
                <a:effectLst/>
                <a:latin typeface="IBM Plex Sans Light" panose="020B0503050203000203" pitchFamily="34" charset="0"/>
                <a:ea typeface="+mn-ea"/>
                <a:cs typeface="+mn-cs"/>
              </a:rPr>
            </a:br>
            <a:r>
              <a:rPr lang="en-US" sz="2667" b="0" i="0" kern="1200" dirty="0">
                <a:solidFill>
                  <a:schemeClr val="bg1"/>
                </a:solidFill>
                <a:effectLst/>
                <a:latin typeface="IBM Plex Sans Light" panose="020B0503050203000203" pitchFamily="34" charset="0"/>
                <a:ea typeface="+mn-ea"/>
                <a:cs typeface="+mn-cs"/>
              </a:rPr>
              <a:t>Allows comparison of load profiles across multiple similar days (e.g., Mondays). Add filters like temperature to isolate environmental factors. Great for hypothesis testing.</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r>
              <a:rPr lang="en-US" dirty="0"/>
              <a:t>Scenario: I’m a building manager and want to investigate a particular event on a particular day. Profile comparison allows me to see how a particular day’s consumption pattern compares to relevant days.</a:t>
            </a:r>
          </a:p>
          <a:p>
            <a:endParaRPr lang="en-US" dirty="0"/>
          </a:p>
          <a:p>
            <a:pPr marL="247688" indent="-247688">
              <a:buAutoNum type="arabicPeriod"/>
            </a:pPr>
            <a:r>
              <a:rPr lang="en-US" dirty="0"/>
              <a:t>To compare days of the week, use this drop down to choose what days of the week to select from, then select particular days.</a:t>
            </a:r>
          </a:p>
          <a:p>
            <a:pPr marL="247688" indent="-247688">
              <a:buAutoNum type="arabicPeriod"/>
            </a:pPr>
            <a:r>
              <a:rPr lang="en-US" dirty="0"/>
              <a:t>To compare meters based on like weather days, you can for example choose days above 90 degrees, or days with minimum temperatures below a certain temperature, then select days to plot. </a:t>
            </a:r>
          </a:p>
          <a:p>
            <a:pPr marL="247688" indent="-247688">
              <a:buAutoNum type="arabicPeriod"/>
            </a:pPr>
            <a:r>
              <a:rPr lang="en-US" dirty="0"/>
              <a:t>Other criteria for choosing days to plot can be done.</a:t>
            </a:r>
          </a:p>
          <a:p>
            <a:pPr marL="247688" indent="-247688">
              <a:buAutoNum type="arabicPeriod"/>
            </a:pPr>
            <a:r>
              <a:rPr lang="en-US" dirty="0"/>
              <a:t>Once days have been selected, Generate Chart with this days</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AU"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5F860BC0-1771-430A-3E1C-5B1F33A76911}"/>
              </a:ext>
            </a:extLst>
          </p:cNvPr>
          <p:cNvSpPr>
            <a:spLocks noGrp="1"/>
          </p:cNvSpPr>
          <p:nvPr>
            <p:ph type="sldNum" sz="quarter" idx="5"/>
          </p:nvPr>
        </p:nvSpPr>
        <p:spPr/>
        <p:txBody>
          <a:bodyPr/>
          <a:lstStyle/>
          <a:p>
            <a:fld id="{6E2E38B8-B0B4-AD41-AC6E-B781F46A9FD3}" type="slidenum">
              <a:rPr lang="en-US" smtClean="0"/>
              <a:pPr/>
              <a:t>17</a:t>
            </a:fld>
            <a:endParaRPr lang="en-US" dirty="0"/>
          </a:p>
        </p:txBody>
      </p:sp>
      <p:sp>
        <p:nvSpPr>
          <p:cNvPr id="5" name="Footer Placeholder 4">
            <a:extLst>
              <a:ext uri="{FF2B5EF4-FFF2-40B4-BE49-F238E27FC236}">
                <a16:creationId xmlns:a16="http://schemas.microsoft.com/office/drawing/2014/main" id="{967BBAF3-22C4-1DEB-760F-4A5BD767A199}"/>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809084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9F37B-5C13-0638-8BFE-C049AE688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3044F-521A-22E2-D1AD-9F6E25120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1B1CB-83C0-20FB-E50A-CD1F3FD78427}"/>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This dashboard is supported only for electricity meters. Maximum demand for a meter can be set in meter settings. </a:t>
            </a:r>
          </a:p>
          <a:p>
            <a:pPr marL="0" marR="0" lvl="0" indent="0" algn="l" defTabSz="2438522" rtl="0" eaLnBrk="1" fontAlgn="auto"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auto"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Displays maximum demand events along with the agreed supply capacity line, helping track overage risks and optimize load during peak pricing periods.</a:t>
            </a:r>
            <a:endParaRPr lang="en-AU" sz="2667" b="0" i="0" kern="1200" dirty="0">
              <a:solidFill>
                <a:schemeClr val="bg1"/>
              </a:solidFill>
              <a:effectLst/>
              <a:latin typeface="IBM Plex Sans Light" panose="020B0503050203000203" pitchFamily="34" charset="0"/>
              <a:ea typeface="+mn-ea"/>
              <a:cs typeface="+mn-cs"/>
            </a:endParaRPr>
          </a:p>
          <a:p>
            <a:r>
              <a:rPr lang="en-US" sz="2667" b="0" i="0" kern="1200" dirty="0">
                <a:solidFill>
                  <a:schemeClr val="bg1"/>
                </a:solidFill>
                <a:effectLst/>
                <a:latin typeface="IBM Plex Sans Light" panose="020B0503050203000203" pitchFamily="34" charset="0"/>
                <a:ea typeface="+mn-ea"/>
                <a:cs typeface="+mn-cs"/>
              </a:rPr>
              <a:t>Use the Maximum Demand dashboard to rank maximum demand events in order from highest to lowest. A maximum demand event is defined as the maximum recorded demand (kVA) for a given day. If kVA is not captured for a given meter, then kW will be displayed. </a:t>
            </a:r>
          </a:p>
        </p:txBody>
      </p:sp>
      <p:sp>
        <p:nvSpPr>
          <p:cNvPr id="4" name="Slide Number Placeholder 3">
            <a:extLst>
              <a:ext uri="{FF2B5EF4-FFF2-40B4-BE49-F238E27FC236}">
                <a16:creationId xmlns:a16="http://schemas.microsoft.com/office/drawing/2014/main" id="{F42C2169-755A-F67D-D950-0002A3697DE8}"/>
              </a:ext>
            </a:extLst>
          </p:cNvPr>
          <p:cNvSpPr>
            <a:spLocks noGrp="1"/>
          </p:cNvSpPr>
          <p:nvPr>
            <p:ph type="sldNum" sz="quarter" idx="5"/>
          </p:nvPr>
        </p:nvSpPr>
        <p:spPr/>
        <p:txBody>
          <a:bodyPr/>
          <a:lstStyle/>
          <a:p>
            <a:fld id="{6E2E38B8-B0B4-AD41-AC6E-B781F46A9FD3}" type="slidenum">
              <a:rPr lang="en-US" smtClean="0"/>
              <a:pPr/>
              <a:t>18</a:t>
            </a:fld>
            <a:endParaRPr lang="en-US" dirty="0"/>
          </a:p>
        </p:txBody>
      </p:sp>
      <p:sp>
        <p:nvSpPr>
          <p:cNvPr id="5" name="Footer Placeholder 4">
            <a:extLst>
              <a:ext uri="{FF2B5EF4-FFF2-40B4-BE49-F238E27FC236}">
                <a16:creationId xmlns:a16="http://schemas.microsoft.com/office/drawing/2014/main" id="{F08816C1-2BF2-AEA7-FD04-FC6D15667687}"/>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128619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D8D7-FDA8-1C0E-DFE9-8575F46EE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00D34-9008-260C-B301-D9947135C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F16CB-32D5-B86A-00CD-F0A4046C5CAD}"/>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Daily consumption information, average, min and max temperature is included as a secondary axis. This allows performance comparison on similar weather days. </a:t>
            </a:r>
          </a:p>
          <a:p>
            <a:pPr fontAlgn="base"/>
            <a:r>
              <a:rPr lang="en-US" sz="2667" b="0" i="0" kern="1200" dirty="0">
                <a:solidFill>
                  <a:schemeClr val="bg1"/>
                </a:solidFill>
                <a:effectLst/>
                <a:latin typeface="IBM Plex Sans Light" panose="020B0503050203000203" pitchFamily="34" charset="0"/>
                <a:ea typeface="+mn-ea"/>
                <a:cs typeface="+mn-cs"/>
              </a:rPr>
              <a:t>If using the intra-day function (by selecting a single day in the time navigator) the Daily Performance dashboard will display hourly consumption across that given day.</a:t>
            </a:r>
          </a:p>
          <a:p>
            <a:pPr fontAlgn="base"/>
            <a:r>
              <a:rPr lang="en-US" sz="2667" b="0" i="0" kern="1200" dirty="0">
                <a:solidFill>
                  <a:schemeClr val="bg1"/>
                </a:solidFill>
                <a:effectLst/>
                <a:latin typeface="IBM Plex Sans Light" panose="020B0503050203000203" pitchFamily="34" charset="0"/>
                <a:ea typeface="+mn-ea"/>
                <a:cs typeface="+mn-cs"/>
              </a:rPr>
              <a:t>This dashboard supports electricity and non electricity data types.</a:t>
            </a:r>
          </a:p>
        </p:txBody>
      </p:sp>
      <p:sp>
        <p:nvSpPr>
          <p:cNvPr id="4" name="Slide Number Placeholder 3">
            <a:extLst>
              <a:ext uri="{FF2B5EF4-FFF2-40B4-BE49-F238E27FC236}">
                <a16:creationId xmlns:a16="http://schemas.microsoft.com/office/drawing/2014/main" id="{AB613927-FDC5-F116-F25E-25C1F825465E}"/>
              </a:ext>
            </a:extLst>
          </p:cNvPr>
          <p:cNvSpPr>
            <a:spLocks noGrp="1"/>
          </p:cNvSpPr>
          <p:nvPr>
            <p:ph type="sldNum" sz="quarter" idx="5"/>
          </p:nvPr>
        </p:nvSpPr>
        <p:spPr/>
        <p:txBody>
          <a:bodyPr/>
          <a:lstStyle/>
          <a:p>
            <a:fld id="{6E2E38B8-B0B4-AD41-AC6E-B781F46A9FD3}" type="slidenum">
              <a:rPr lang="en-US" smtClean="0"/>
              <a:pPr/>
              <a:t>19</a:t>
            </a:fld>
            <a:endParaRPr lang="en-US" dirty="0"/>
          </a:p>
        </p:txBody>
      </p:sp>
      <p:sp>
        <p:nvSpPr>
          <p:cNvPr id="5" name="Footer Placeholder 4">
            <a:extLst>
              <a:ext uri="{FF2B5EF4-FFF2-40B4-BE49-F238E27FC236}">
                <a16:creationId xmlns:a16="http://schemas.microsoft.com/office/drawing/2014/main" id="{82056C10-5948-76B0-A409-02437A1E60A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603575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4C2E8-F594-85FF-0794-9E7437881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167A7-D8B8-CA9A-F473-836488112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14281-1B31-95C2-0D97-84A443FBCDF1}"/>
              </a:ext>
            </a:extLst>
          </p:cNvPr>
          <p:cNvSpPr>
            <a:spLocks noGrp="1"/>
          </p:cNvSpPr>
          <p:nvPr>
            <p:ph type="body" idx="1"/>
          </p:nvPr>
        </p:nvSpPr>
        <p:spPr/>
        <p:txBody>
          <a:bodyPr/>
          <a:lstStyle/>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Persona: Building Engineer or Portfolio Analyst</a:t>
            </a: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dirty="0"/>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The Heat Map provides a way to visualize up to 3 months of interval meter data in a simple and easy to use interface. It displays hourly consumption information in a matrix.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Each cell within the matrix represents consumption on a given day in a given hour.</a:t>
            </a:r>
          </a:p>
          <a:p>
            <a:pPr fontAlgn="base"/>
            <a:r>
              <a:rPr lang="en-US" sz="2667" b="0" i="0" kern="1200" dirty="0">
                <a:solidFill>
                  <a:schemeClr val="bg1"/>
                </a:solidFill>
                <a:effectLst/>
                <a:latin typeface="IBM Plex Sans Light" panose="020B0503050203000203" pitchFamily="34" charset="0"/>
                <a:ea typeface="+mn-ea"/>
                <a:cs typeface="+mn-cs"/>
              </a:rPr>
              <a:t>The color of the cell indicates the relative consumption - the darker the color the higher the consumption. You can scroll down the heat map to view up to 3 months of consumption information.</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6539817A-C2AA-4996-1953-519F987BA465}"/>
              </a:ext>
            </a:extLst>
          </p:cNvPr>
          <p:cNvSpPr>
            <a:spLocks noGrp="1"/>
          </p:cNvSpPr>
          <p:nvPr>
            <p:ph type="sldNum" sz="quarter" idx="5"/>
          </p:nvPr>
        </p:nvSpPr>
        <p:spPr/>
        <p:txBody>
          <a:bodyPr/>
          <a:lstStyle/>
          <a:p>
            <a:fld id="{6E2E38B8-B0B4-AD41-AC6E-B781F46A9FD3}" type="slidenum">
              <a:rPr lang="en-US" smtClean="0"/>
              <a:pPr/>
              <a:t>20</a:t>
            </a:fld>
            <a:endParaRPr lang="en-US" dirty="0"/>
          </a:p>
        </p:txBody>
      </p:sp>
      <p:sp>
        <p:nvSpPr>
          <p:cNvPr id="5" name="Footer Placeholder 4">
            <a:extLst>
              <a:ext uri="{FF2B5EF4-FFF2-40B4-BE49-F238E27FC236}">
                <a16:creationId xmlns:a16="http://schemas.microsoft.com/office/drawing/2014/main" id="{08C11398-4A81-3FFD-402D-8BCFDC72B6C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603538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E6BC-C75B-AE98-D835-F016078FF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D0169-4750-0125-BAB8-6D35A5D89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5B59A-0443-15EA-4911-7DFDF2EB0D9D}"/>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 case: Use the regression analysis tool in Envizi to do baseline regression analysis of consumption against heating and cooling loads or against other performance metrics that are predictive of consumption.</a:t>
            </a:r>
          </a:p>
          <a:p>
            <a:pPr fontAlgn="base"/>
            <a:r>
              <a:rPr lang="en-US" sz="2667" b="0" i="0" kern="1200" dirty="0">
                <a:solidFill>
                  <a:schemeClr val="bg1"/>
                </a:solidFill>
                <a:effectLst/>
                <a:latin typeface="IBM Plex Sans Light" panose="020B0503050203000203" pitchFamily="34" charset="0"/>
                <a:ea typeface="+mn-ea"/>
                <a:cs typeface="+mn-cs"/>
              </a:rPr>
              <a:t>Persona: Energy or Facility Manager.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For any energy initiative measurement, a user can create a baseline model to track savings if the meter is weather dependent.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Use the Demo Regression meter in location Melbourne Bay. ( search meter or location from global search on top of the screen). Navigate to the meter summary screen. </a:t>
            </a:r>
          </a:p>
          <a:p>
            <a:pPr fontAlgn="base"/>
            <a:r>
              <a:rPr lang="en-US" sz="2667" b="0" i="0" kern="1200" dirty="0">
                <a:solidFill>
                  <a:schemeClr val="bg1"/>
                </a:solidFill>
                <a:effectLst/>
                <a:latin typeface="IBM Plex Sans Light" panose="020B0503050203000203" pitchFamily="34" charset="0"/>
                <a:ea typeface="+mn-ea"/>
                <a:cs typeface="+mn-cs"/>
              </a:rPr>
              <a:t>From sub menu Analyze -&gt; Regression analysis. Select the base period ( 12 months ) from 2024. You can review the active model on the meter with base line of Jan – Nov 2024. This will create a baseline model for the meter to track any initiatives completed in following years.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(Also works for Accounts if meters are not present and account data is weather dependent. Account summary -&gt; Analyze -&gt; Regression Analysis)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Heating degree days (HDD): The number of degrees that a day's average temperature value is below the HDD base temperature of the building.</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Cooling degree days (CDD): The number of degrees that a day's average temperature is above the CDD base temperature of the building.</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HDD base temperature: This is the temperature value below which buildings need to be heated. HDD base temperatures are set differently for each building but in some cases default values such as 65 degrees Fahrenheit or 18 Degrees Celsius can be used as defaults.</a:t>
            </a:r>
          </a:p>
          <a:p>
            <a:pPr marL="0" marR="0" lvl="0" indent="0" algn="l" defTabSz="2438522" rtl="0" eaLnBrk="1" fontAlgn="base" latinLnBrk="0" hangingPunct="1">
              <a:lnSpc>
                <a:spcPct val="100000"/>
              </a:lnSpc>
              <a:spcBef>
                <a:spcPts val="1600"/>
              </a:spcBef>
              <a:spcAft>
                <a:spcPts val="0"/>
              </a:spcAft>
              <a:buClrTx/>
              <a:buSzTx/>
              <a:buFontTx/>
              <a:buNone/>
              <a:tabLst/>
              <a:defRPr/>
            </a:pPr>
            <a:r>
              <a:rPr lang="en-US" dirty="0"/>
              <a:t>CDD base temperature: This is the temperature above which buildings needs to be cooled. CDD base temperatures are set differently for each building but in some cases default values such as 65 degrees Fahrenheit or 18 Degrees Celsius can be used as defaults. If the temperature goes above the base temperature, the building will start using HVAC systems to cool the building down. </a:t>
            </a:r>
            <a:r>
              <a:rPr lang="en-US" sz="2667" b="0" i="0" kern="1200" dirty="0">
                <a:solidFill>
                  <a:schemeClr val="bg1"/>
                </a:solidFill>
                <a:effectLst/>
                <a:latin typeface="IBM Plex Sans Light" panose="020B0503050203000203" pitchFamily="34" charset="0"/>
                <a:ea typeface="+mn-ea"/>
                <a:cs typeface="+mn-cs"/>
              </a:rPr>
              <a:t>If you want the regression analysis tool to suggest an optimum base temperature, in the Proposed Model tool, select the </a:t>
            </a:r>
            <a:r>
              <a:rPr lang="en-US" sz="2667" b="1" i="0" kern="1200" dirty="0">
                <a:solidFill>
                  <a:schemeClr val="bg1"/>
                </a:solidFill>
                <a:effectLst/>
                <a:latin typeface="IBM Plex Sans Light" panose="020B0503050203000203" pitchFamily="34" charset="0"/>
                <a:ea typeface="+mn-ea"/>
                <a:cs typeface="+mn-cs"/>
              </a:rPr>
              <a:t>Auto Fit</a:t>
            </a:r>
            <a:r>
              <a:rPr lang="en-US" sz="2667" b="0" i="0" kern="1200" dirty="0">
                <a:solidFill>
                  <a:schemeClr val="bg1"/>
                </a:solidFill>
                <a:effectLst/>
                <a:latin typeface="IBM Plex Sans Light" panose="020B0503050203000203" pitchFamily="34" charset="0"/>
                <a:ea typeface="+mn-ea"/>
                <a:cs typeface="+mn-cs"/>
              </a:rPr>
              <a:t> option.</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Based on the parameters, regression model can be created in bulk using bulk regression </a:t>
            </a:r>
            <a:r>
              <a:rPr lang="en-US" sz="2667" b="0" i="0" kern="1200" dirty="0" err="1">
                <a:solidFill>
                  <a:schemeClr val="bg1"/>
                </a:solidFill>
                <a:effectLst/>
                <a:latin typeface="IBM Plex Sans Light" panose="020B0503050203000203" pitchFamily="34" charset="0"/>
                <a:ea typeface="+mn-ea"/>
                <a:cs typeface="+mn-cs"/>
              </a:rPr>
              <a:t>Modeller</a:t>
            </a:r>
            <a:r>
              <a:rPr lang="en-US" sz="2667" b="0" i="0" kern="1200" dirty="0">
                <a:solidFill>
                  <a:schemeClr val="bg1"/>
                </a:solidFill>
                <a:effectLst/>
                <a:latin typeface="IBM Plex Sans Light" panose="020B0503050203000203" pitchFamily="34" charset="0"/>
                <a:ea typeface="+mn-ea"/>
                <a:cs typeface="+mn-cs"/>
              </a:rPr>
              <a:t> – Meters report for weather dependent meters.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https://www.ibm.com/docs/en/envizi-esg-suite?topic=monitoring-regression-analysis</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0525FF9-4AFB-6A28-D8B8-8115F4F1943C}"/>
              </a:ext>
            </a:extLst>
          </p:cNvPr>
          <p:cNvSpPr>
            <a:spLocks noGrp="1"/>
          </p:cNvSpPr>
          <p:nvPr>
            <p:ph type="sldNum" sz="quarter" idx="5"/>
          </p:nvPr>
        </p:nvSpPr>
        <p:spPr/>
        <p:txBody>
          <a:bodyPr/>
          <a:lstStyle/>
          <a:p>
            <a:fld id="{6E2E38B8-B0B4-AD41-AC6E-B781F46A9FD3}" type="slidenum">
              <a:rPr lang="en-US" smtClean="0"/>
              <a:pPr/>
              <a:t>21</a:t>
            </a:fld>
            <a:endParaRPr lang="en-US" dirty="0"/>
          </a:p>
        </p:txBody>
      </p:sp>
      <p:sp>
        <p:nvSpPr>
          <p:cNvPr id="5" name="Footer Placeholder 4">
            <a:extLst>
              <a:ext uri="{FF2B5EF4-FFF2-40B4-BE49-F238E27FC236}">
                <a16:creationId xmlns:a16="http://schemas.microsoft.com/office/drawing/2014/main" id="{889974BF-90D1-1D05-F12A-73E417DDA79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939932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9A9F3-06A3-FCED-AECE-B8A4ED571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A2D65-235D-635C-E60B-FD9853507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80EE5-B38F-C12A-792F-D22FF8DA5385}"/>
              </a:ext>
            </a:extLst>
          </p:cNvPr>
          <p:cNvSpPr>
            <a:spLocks noGrp="1"/>
          </p:cNvSpPr>
          <p:nvPr>
            <p:ph type="body" idx="1"/>
          </p:nvPr>
        </p:nvSpPr>
        <p:spPr/>
        <p:txBody>
          <a:bodyPr/>
          <a:lstStyle/>
          <a:p>
            <a:pPr fontAlgn="base"/>
            <a:r>
              <a:rPr lang="en-US" sz="2667" b="1" i="0" kern="1200" dirty="0">
                <a:solidFill>
                  <a:schemeClr val="bg1"/>
                </a:solidFill>
                <a:effectLst/>
                <a:latin typeface="IBM Plex Sans Light" panose="020B0503050203000203" pitchFamily="34" charset="0"/>
                <a:ea typeface="+mn-ea"/>
                <a:cs typeface="+mn-cs"/>
              </a:rPr>
              <a:t>Use case</a:t>
            </a:r>
            <a:r>
              <a:rPr lang="en-US" sz="2667" b="0" i="0" kern="1200" dirty="0">
                <a:solidFill>
                  <a:schemeClr val="bg1"/>
                </a:solidFill>
                <a:effectLst/>
                <a:latin typeface="IBM Plex Sans Light" panose="020B0503050203000203" pitchFamily="34" charset="0"/>
                <a:ea typeface="+mn-ea"/>
                <a:cs typeface="+mn-cs"/>
              </a:rPr>
              <a:t>: Review baseline regression model created for a meter and track how program initiatives is tracking against the actual consumption. </a:t>
            </a:r>
          </a:p>
          <a:p>
            <a:pPr fontAlgn="base"/>
            <a:r>
              <a:rPr lang="en-US" sz="2667" b="0" i="0" kern="1200" dirty="0">
                <a:solidFill>
                  <a:schemeClr val="bg1"/>
                </a:solidFill>
                <a:effectLst/>
                <a:latin typeface="IBM Plex Sans Light" panose="020B0503050203000203" pitchFamily="34" charset="0"/>
                <a:ea typeface="+mn-ea"/>
                <a:cs typeface="+mn-cs"/>
              </a:rPr>
              <a:t>Meter summary screen -&gt; Sub menu -&gt; </a:t>
            </a:r>
          </a:p>
          <a:p>
            <a:pPr fontAlgn="base"/>
            <a:r>
              <a:rPr lang="en-US" sz="2667" b="0" i="0" kern="1200" dirty="0">
                <a:solidFill>
                  <a:schemeClr val="bg1"/>
                </a:solidFill>
                <a:effectLst/>
                <a:latin typeface="IBM Plex Sans Light" panose="020B0503050203000203" pitchFamily="34" charset="0"/>
                <a:ea typeface="+mn-ea"/>
                <a:cs typeface="+mn-cs"/>
              </a:rPr>
              <a:t>This report requires a valid regression model in place for meter and can show waste based on that regression model. </a:t>
            </a:r>
          </a:p>
        </p:txBody>
      </p:sp>
      <p:sp>
        <p:nvSpPr>
          <p:cNvPr id="4" name="Slide Number Placeholder 3">
            <a:extLst>
              <a:ext uri="{FF2B5EF4-FFF2-40B4-BE49-F238E27FC236}">
                <a16:creationId xmlns:a16="http://schemas.microsoft.com/office/drawing/2014/main" id="{CC75B44C-8871-FD96-CF0C-2DDADD92D556}"/>
              </a:ext>
            </a:extLst>
          </p:cNvPr>
          <p:cNvSpPr>
            <a:spLocks noGrp="1"/>
          </p:cNvSpPr>
          <p:nvPr>
            <p:ph type="sldNum" sz="quarter" idx="5"/>
          </p:nvPr>
        </p:nvSpPr>
        <p:spPr/>
        <p:txBody>
          <a:bodyPr/>
          <a:lstStyle/>
          <a:p>
            <a:fld id="{6E2E38B8-B0B4-AD41-AC6E-B781F46A9FD3}" type="slidenum">
              <a:rPr lang="en-US" smtClean="0"/>
              <a:pPr/>
              <a:t>23</a:t>
            </a:fld>
            <a:endParaRPr lang="en-US" dirty="0"/>
          </a:p>
        </p:txBody>
      </p:sp>
      <p:sp>
        <p:nvSpPr>
          <p:cNvPr id="5" name="Footer Placeholder 4">
            <a:extLst>
              <a:ext uri="{FF2B5EF4-FFF2-40B4-BE49-F238E27FC236}">
                <a16:creationId xmlns:a16="http://schemas.microsoft.com/office/drawing/2014/main" id="{3BA235AB-9977-3758-5C95-AC0985B28DE7}"/>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83279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CDDCA-CC92-7370-58A4-3F446F0D2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BD819-5D2F-1933-2D0D-89D39A8C7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83CCB-5396-D322-8B30-ED5A870B45C8}"/>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If a regression model is not in place or the user wants to base the expected behavior on historic or like weather day, this dashboard can be used. </a:t>
            </a:r>
          </a:p>
        </p:txBody>
      </p:sp>
      <p:sp>
        <p:nvSpPr>
          <p:cNvPr id="4" name="Slide Number Placeholder 3">
            <a:extLst>
              <a:ext uri="{FF2B5EF4-FFF2-40B4-BE49-F238E27FC236}">
                <a16:creationId xmlns:a16="http://schemas.microsoft.com/office/drawing/2014/main" id="{3DB5B97C-BF18-91DE-5A21-CE8A84C2057B}"/>
              </a:ext>
            </a:extLst>
          </p:cNvPr>
          <p:cNvSpPr>
            <a:spLocks noGrp="1"/>
          </p:cNvSpPr>
          <p:nvPr>
            <p:ph type="sldNum" sz="quarter" idx="5"/>
          </p:nvPr>
        </p:nvSpPr>
        <p:spPr/>
        <p:txBody>
          <a:bodyPr/>
          <a:lstStyle/>
          <a:p>
            <a:fld id="{6E2E38B8-B0B4-AD41-AC6E-B781F46A9FD3}" type="slidenum">
              <a:rPr lang="en-US" smtClean="0"/>
              <a:pPr/>
              <a:t>24</a:t>
            </a:fld>
            <a:endParaRPr lang="en-US" dirty="0"/>
          </a:p>
        </p:txBody>
      </p:sp>
      <p:sp>
        <p:nvSpPr>
          <p:cNvPr id="5" name="Footer Placeholder 4">
            <a:extLst>
              <a:ext uri="{FF2B5EF4-FFF2-40B4-BE49-F238E27FC236}">
                <a16:creationId xmlns:a16="http://schemas.microsoft.com/office/drawing/2014/main" id="{89231F1B-D6C7-0D92-1B54-746AE594BD22}"/>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513115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2E38B8-B0B4-AD41-AC6E-B781F46A9FD3}" type="slidenum">
              <a:rPr lang="en-US" smtClean="0"/>
              <a:pPr/>
              <a:t>25</a:t>
            </a:fld>
            <a:endParaRPr lang="en-US"/>
          </a:p>
        </p:txBody>
      </p:sp>
      <p:sp>
        <p:nvSpPr>
          <p:cNvPr id="5" name="Segnaposto piè di pagina 4"/>
          <p:cNvSpPr>
            <a:spLocks noGrp="1"/>
          </p:cNvSpPr>
          <p:nvPr>
            <p:ph type="ftr" sz="quarter" idx="4"/>
          </p:nvPr>
        </p:nvSpPr>
        <p:spPr/>
        <p:txBody>
          <a:bodyPr/>
          <a:lstStyle/>
          <a:p>
            <a:r>
              <a:rPr lang="en-US"/>
              <a:t>Group Name / DOC ID / Month XX, 2022 / © 2022 IBM Corporation</a:t>
            </a:r>
          </a:p>
        </p:txBody>
      </p:sp>
    </p:spTree>
    <p:extLst>
      <p:ext uri="{BB962C8B-B14F-4D97-AF65-F5344CB8AC3E}">
        <p14:creationId xmlns:p14="http://schemas.microsoft.com/office/powerpoint/2010/main" val="883823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F7C56-436B-E624-4A47-459B8E3BA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2201A-7A44-AB43-9766-7F7C25FC2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BD0F5-AFEC-2217-A600-7B4F12B67DC6}"/>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The Interval Chart Builder supports all the charting options that were available in the Meter Comparison and Measure Comparison charts, and it also includes the following </a:t>
            </a:r>
            <a:r>
              <a:rPr lang="en-US" sz="2667" b="0" i="0" kern="1200" dirty="0" err="1">
                <a:solidFill>
                  <a:schemeClr val="bg1"/>
                </a:solidFill>
                <a:effectLst/>
                <a:latin typeface="IBM Plex Sans Light" panose="020B0503050203000203" pitchFamily="34" charset="0"/>
                <a:ea typeface="+mn-ea"/>
                <a:cs typeface="+mn-cs"/>
              </a:rPr>
              <a:t>features:Save</a:t>
            </a:r>
            <a:r>
              <a:rPr lang="en-US" sz="2667" b="0" i="0" kern="1200" dirty="0">
                <a:solidFill>
                  <a:schemeClr val="bg1"/>
                </a:solidFill>
                <a:effectLst/>
                <a:latin typeface="IBM Plex Sans Light" panose="020B0503050203000203" pitchFamily="34" charset="0"/>
                <a:ea typeface="+mn-ea"/>
                <a:cs typeface="+mn-cs"/>
              </a:rPr>
              <a:t> and share charts</a:t>
            </a:r>
          </a:p>
          <a:p>
            <a:pPr fontAlgn="base"/>
            <a:r>
              <a:rPr lang="en-US" sz="2667" b="0" i="0" kern="1200" dirty="0">
                <a:solidFill>
                  <a:schemeClr val="bg1"/>
                </a:solidFill>
                <a:effectLst/>
                <a:latin typeface="IBM Plex Sans Light" panose="020B0503050203000203" pitchFamily="34" charset="0"/>
                <a:ea typeface="+mn-ea"/>
                <a:cs typeface="+mn-cs"/>
              </a:rPr>
              <a:t>Compare performance against same period previous month or previous year</a:t>
            </a:r>
          </a:p>
          <a:p>
            <a:pPr fontAlgn="base"/>
            <a:r>
              <a:rPr lang="en-US" sz="2667" b="0" i="0" kern="1200" dirty="0">
                <a:solidFill>
                  <a:schemeClr val="bg1"/>
                </a:solidFill>
                <a:effectLst/>
                <a:latin typeface="IBM Plex Sans Light" panose="020B0503050203000203" pitchFamily="34" charset="0"/>
                <a:ea typeface="+mn-ea"/>
                <a:cs typeface="+mn-cs"/>
              </a:rPr>
              <a:t>Annotate chart titles and descriptions</a:t>
            </a:r>
          </a:p>
          <a:p>
            <a:pPr fontAlgn="base"/>
            <a:r>
              <a:rPr lang="en-US" sz="2667" b="0" i="0" kern="1200" dirty="0">
                <a:solidFill>
                  <a:schemeClr val="bg1"/>
                </a:solidFill>
                <a:effectLst/>
                <a:latin typeface="IBM Plex Sans Light" panose="020B0503050203000203" pitchFamily="34" charset="0"/>
                <a:ea typeface="+mn-ea"/>
                <a:cs typeface="+mn-cs"/>
              </a:rPr>
              <a:t>Modify series visualizations such as chart style, for example, </a:t>
            </a:r>
            <a:r>
              <a:rPr lang="en-US" sz="2667" b="0" i="0" kern="1200" dirty="0" err="1">
                <a:solidFill>
                  <a:schemeClr val="bg1"/>
                </a:solidFill>
                <a:effectLst/>
                <a:latin typeface="IBM Plex Sans Light" panose="020B0503050203000203" pitchFamily="34" charset="0"/>
                <a:ea typeface="+mn-ea"/>
                <a:cs typeface="+mn-cs"/>
              </a:rPr>
              <a:t>column,area</a:t>
            </a:r>
            <a:r>
              <a:rPr lang="en-US" sz="2667" b="0" i="0" kern="1200" dirty="0">
                <a:solidFill>
                  <a:schemeClr val="bg1"/>
                </a:solidFill>
                <a:effectLst/>
                <a:latin typeface="IBM Plex Sans Light" panose="020B0503050203000203" pitchFamily="34" charset="0"/>
                <a:ea typeface="+mn-ea"/>
                <a:cs typeface="+mn-cs"/>
              </a:rPr>
              <a:t>, and so on</a:t>
            </a:r>
          </a:p>
          <a:p>
            <a:pPr fontAlgn="base"/>
            <a:r>
              <a:rPr lang="en-US" sz="2667" b="0" i="0" kern="1200" dirty="0">
                <a:solidFill>
                  <a:schemeClr val="bg1"/>
                </a:solidFill>
                <a:effectLst/>
                <a:latin typeface="IBM Plex Sans Light" panose="020B0503050203000203" pitchFamily="34" charset="0"/>
                <a:ea typeface="+mn-ea"/>
                <a:cs typeface="+mn-cs"/>
              </a:rPr>
              <a:t>Modify series color and opacity</a:t>
            </a:r>
          </a:p>
          <a:p>
            <a:pPr fontAlgn="base"/>
            <a:r>
              <a:rPr lang="en-US" sz="2667" b="0" i="0" kern="1200" dirty="0">
                <a:solidFill>
                  <a:schemeClr val="bg1"/>
                </a:solidFill>
                <a:effectLst/>
                <a:latin typeface="IBM Plex Sans Light" panose="020B0503050203000203" pitchFamily="34" charset="0"/>
                <a:ea typeface="+mn-ea"/>
                <a:cs typeface="+mn-cs"/>
              </a:rPr>
              <a:t>Modify axis details such as min and max values, legend, units, and how the axis will be displayed</a:t>
            </a:r>
          </a:p>
          <a:p>
            <a:pPr fontAlgn="base"/>
            <a:r>
              <a:rPr lang="en-US" sz="2667" b="0" i="0" kern="1200" dirty="0">
                <a:solidFill>
                  <a:schemeClr val="bg1"/>
                </a:solidFill>
                <a:effectLst/>
                <a:latin typeface="IBM Plex Sans Light" panose="020B0503050203000203" pitchFamily="34" charset="0"/>
                <a:ea typeface="+mn-ea"/>
                <a:cs typeface="+mn-cs"/>
              </a:rPr>
              <a:t>Arrange the series sequence to ensure that the chart is appropriately layered</a:t>
            </a:r>
          </a:p>
          <a:p>
            <a:pPr fontAlgn="base"/>
            <a:r>
              <a:rPr lang="en-US" sz="2667" b="0" i="0" kern="1200" dirty="0">
                <a:solidFill>
                  <a:schemeClr val="bg1"/>
                </a:solidFill>
                <a:effectLst/>
                <a:latin typeface="IBM Plex Sans Light" panose="020B0503050203000203" pitchFamily="34" charset="0"/>
                <a:ea typeface="+mn-ea"/>
                <a:cs typeface="+mn-cs"/>
              </a:rPr>
              <a:t>Highlight the periods that contain estimated data</a:t>
            </a:r>
          </a:p>
          <a:p>
            <a:pPr fontAlgn="base"/>
            <a:r>
              <a:rPr lang="en-US" sz="2667" b="0" i="0" kern="1200" dirty="0">
                <a:solidFill>
                  <a:schemeClr val="bg1"/>
                </a:solidFill>
                <a:effectLst/>
                <a:latin typeface="IBM Plex Sans Light" panose="020B0503050203000203" pitchFamily="34" charset="0"/>
                <a:ea typeface="+mn-ea"/>
                <a:cs typeface="+mn-cs"/>
              </a:rPr>
              <a:t>Select location specific metrics like weather data, schedules and certain meter based attributes</a:t>
            </a:r>
          </a:p>
          <a:p>
            <a:pPr fontAlgn="base"/>
            <a:r>
              <a:rPr lang="en-US" sz="2667" b="0" i="0" kern="1200" dirty="0">
                <a:solidFill>
                  <a:schemeClr val="bg1"/>
                </a:solidFill>
                <a:effectLst/>
                <a:latin typeface="IBM Plex Sans Light" panose="020B0503050203000203" pitchFamily="34" charset="0"/>
                <a:ea typeface="+mn-ea"/>
                <a:cs typeface="+mn-cs"/>
              </a:rPr>
              <a:t>Extend the measures that can be selected for display</a:t>
            </a:r>
          </a:p>
          <a:p>
            <a:pPr fontAlgn="base"/>
            <a:r>
              <a:rPr lang="en-US" sz="2667" b="0" i="0" kern="1200" dirty="0">
                <a:solidFill>
                  <a:schemeClr val="bg1"/>
                </a:solidFill>
                <a:effectLst/>
                <a:latin typeface="IBM Plex Sans Light" panose="020B0503050203000203" pitchFamily="34" charset="0"/>
                <a:ea typeface="+mn-ea"/>
                <a:cs typeface="+mn-cs"/>
              </a:rPr>
              <a:t>The Interval Chart Builder dashboard is available at the meter, location, and group level. </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163E6B76-0E72-AFE3-4055-4345F5B5A118}"/>
              </a:ext>
            </a:extLst>
          </p:cNvPr>
          <p:cNvSpPr>
            <a:spLocks noGrp="1"/>
          </p:cNvSpPr>
          <p:nvPr>
            <p:ph type="sldNum" sz="quarter" idx="5"/>
          </p:nvPr>
        </p:nvSpPr>
        <p:spPr/>
        <p:txBody>
          <a:bodyPr/>
          <a:lstStyle/>
          <a:p>
            <a:fld id="{6E2E38B8-B0B4-AD41-AC6E-B781F46A9FD3}" type="slidenum">
              <a:rPr lang="en-US" smtClean="0"/>
              <a:pPr/>
              <a:t>26</a:t>
            </a:fld>
            <a:endParaRPr lang="en-US" dirty="0"/>
          </a:p>
        </p:txBody>
      </p:sp>
      <p:sp>
        <p:nvSpPr>
          <p:cNvPr id="5" name="Footer Placeholder 4">
            <a:extLst>
              <a:ext uri="{FF2B5EF4-FFF2-40B4-BE49-F238E27FC236}">
                <a16:creationId xmlns:a16="http://schemas.microsoft.com/office/drawing/2014/main" id="{24D9CAE3-2EA8-50C6-00FB-333306CEA61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8618904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2A1ED-1E54-DD19-1A36-F9BD84D50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C7ACC-81FA-EE86-6BB7-5FA27F3E3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3C36-59B6-B543-5C33-581A7F32EEDA}"/>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Two ways to navigate:</a:t>
            </a:r>
          </a:p>
          <a:p>
            <a:pPr marL="457200" indent="-457200" fontAlgn="base">
              <a:buFontTx/>
              <a:buChar char="-"/>
            </a:pPr>
            <a:r>
              <a:rPr lang="en-US" sz="2667" b="0" i="0" kern="1200" dirty="0">
                <a:solidFill>
                  <a:schemeClr val="bg1"/>
                </a:solidFill>
                <a:effectLst/>
                <a:latin typeface="IBM Plex Sans Light" panose="020B0503050203000203" pitchFamily="34" charset="0"/>
                <a:ea typeface="+mn-ea"/>
                <a:cs typeface="+mn-cs"/>
              </a:rPr>
              <a:t>Global search on top middle screen -&gt; Select location -&gt; Grand Central -&gt; Summary screen</a:t>
            </a:r>
          </a:p>
          <a:p>
            <a:pPr marL="457200" indent="-457200" fontAlgn="base">
              <a:buFontTx/>
              <a:buChar char="-"/>
            </a:pPr>
            <a:r>
              <a:rPr lang="en-US" sz="2667" b="0" i="0" kern="1200" dirty="0">
                <a:solidFill>
                  <a:schemeClr val="bg1"/>
                </a:solidFill>
                <a:effectLst/>
                <a:latin typeface="IBM Plex Sans Light" panose="020B0503050203000203" pitchFamily="34" charset="0"/>
                <a:ea typeface="+mn-ea"/>
                <a:cs typeface="+mn-cs"/>
              </a:rPr>
              <a:t>Org hierarchy -&gt; MREF Locations Portfolio group -&gt; Select Grand Central location -&gt; More -&gt; Meter Hierarchy</a:t>
            </a:r>
          </a:p>
          <a:p>
            <a:pPr marL="457200" indent="-457200" fontAlgn="base">
              <a:buFontTx/>
              <a:buChar cha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Build virtual meters by summing or netting actual meter values. Great for retroactive modeling or when one tenant lacks dedicated metering.</a:t>
            </a:r>
            <a:endParaRPr lang="en-AU" sz="2667" b="0" i="0" kern="1200" dirty="0">
              <a:solidFill>
                <a:schemeClr val="bg1"/>
              </a:solidFill>
              <a:effectLst/>
              <a:latin typeface="IBM Plex Sans Light" panose="020B0503050203000203" pitchFamily="34" charset="0"/>
              <a:ea typeface="+mn-ea"/>
              <a:cs typeface="+mn-cs"/>
            </a:endParaRPr>
          </a:p>
          <a:p>
            <a:pPr marL="0" indent="0" fontAlgn="base">
              <a:buFontTx/>
              <a:buNone/>
            </a:pPr>
            <a:endParaRPr lang="en-US" sz="2667" b="0" i="0" kern="1200" dirty="0">
              <a:solidFill>
                <a:schemeClr val="bg1"/>
              </a:solidFill>
              <a:effectLst/>
              <a:latin typeface="IBM Plex Sans Light" panose="020B0503050203000203" pitchFamily="34" charset="0"/>
              <a:ea typeface="+mn-ea"/>
              <a:cs typeface="+mn-cs"/>
            </a:endParaRPr>
          </a:p>
          <a:p>
            <a:pPr marL="0" indent="0" fontAlgn="base">
              <a:buFontTx/>
              <a:buNone/>
            </a:pPr>
            <a:r>
              <a:rPr lang="en-US" sz="2667" b="0" i="0" kern="1200" dirty="0">
                <a:solidFill>
                  <a:schemeClr val="bg1"/>
                </a:solidFill>
                <a:effectLst/>
                <a:latin typeface="IBM Plex Sans Light" panose="020B0503050203000203" pitchFamily="34" charset="0"/>
                <a:ea typeface="+mn-ea"/>
                <a:cs typeface="+mn-cs"/>
              </a:rPr>
              <a:t>In the example above in Grand Central, we can see main meter for Distribution board 1 and 2 along with sub meters for each tenant A, B and C. For Tenant D, user can create a virtual meter in Envizi based on rule -&gt; Tenant D = (E1 – A+B+C)</a:t>
            </a:r>
          </a:p>
        </p:txBody>
      </p:sp>
      <p:sp>
        <p:nvSpPr>
          <p:cNvPr id="4" name="Slide Number Placeholder 3">
            <a:extLst>
              <a:ext uri="{FF2B5EF4-FFF2-40B4-BE49-F238E27FC236}">
                <a16:creationId xmlns:a16="http://schemas.microsoft.com/office/drawing/2014/main" id="{0F3B434B-338D-134C-7DE2-489F5CE94A69}"/>
              </a:ext>
            </a:extLst>
          </p:cNvPr>
          <p:cNvSpPr>
            <a:spLocks noGrp="1"/>
          </p:cNvSpPr>
          <p:nvPr>
            <p:ph type="sldNum" sz="quarter" idx="5"/>
          </p:nvPr>
        </p:nvSpPr>
        <p:spPr/>
        <p:txBody>
          <a:bodyPr/>
          <a:lstStyle/>
          <a:p>
            <a:fld id="{6E2E38B8-B0B4-AD41-AC6E-B781F46A9FD3}" type="slidenum">
              <a:rPr lang="en-US" smtClean="0"/>
              <a:pPr/>
              <a:t>28</a:t>
            </a:fld>
            <a:endParaRPr lang="en-US" dirty="0"/>
          </a:p>
        </p:txBody>
      </p:sp>
      <p:sp>
        <p:nvSpPr>
          <p:cNvPr id="5" name="Footer Placeholder 4">
            <a:extLst>
              <a:ext uri="{FF2B5EF4-FFF2-40B4-BE49-F238E27FC236}">
                <a16:creationId xmlns:a16="http://schemas.microsoft.com/office/drawing/2014/main" id="{83383F7F-4199-22EE-CBF3-3F223810469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8330428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4913C-BA8B-E675-0BED-7F7938A46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1B2F5-C77A-6DAE-1BE6-358547517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DF63EF-05CB-B1E7-5FFE-F02A1EF9401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Go back or Navigate to Location from global search – Charlotte Watson Center. </a:t>
            </a:r>
          </a:p>
          <a:p>
            <a:pPr fontAlgn="base"/>
            <a:r>
              <a:rPr lang="en-US" sz="2667" b="0" i="0" kern="1200" dirty="0">
                <a:solidFill>
                  <a:schemeClr val="bg1"/>
                </a:solidFill>
                <a:effectLst/>
                <a:latin typeface="IBM Plex Sans Light" panose="020B0503050203000203" pitchFamily="34" charset="0"/>
                <a:ea typeface="+mn-ea"/>
                <a:cs typeface="+mn-cs"/>
              </a:rPr>
              <a:t>From quick links select accounts and gas account: BR400 – Main boiler. </a:t>
            </a:r>
          </a:p>
          <a:p>
            <a:pPr fontAlgn="base"/>
            <a:r>
              <a:rPr lang="en-US" sz="2667" b="0" i="0" kern="1200" dirty="0">
                <a:solidFill>
                  <a:schemeClr val="bg1"/>
                </a:solidFill>
                <a:effectLst/>
                <a:latin typeface="IBM Plex Sans Light" panose="020B0503050203000203" pitchFamily="34" charset="0"/>
                <a:ea typeface="+mn-ea"/>
                <a:cs typeface="+mn-cs"/>
              </a:rPr>
              <a:t>From sub menu Track -&gt; Performance</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Select the dashboard from Aug 24 till Jul 25. It will show approx. 17 % reduction of Gas consumption after the boiler upgrade. </a:t>
            </a:r>
          </a:p>
          <a:p>
            <a:pPr fontAlgn="base"/>
            <a:r>
              <a:rPr lang="en-US" sz="2667" b="0" i="0" kern="1200" dirty="0">
                <a:solidFill>
                  <a:schemeClr val="bg1"/>
                </a:solidFill>
                <a:effectLst/>
                <a:latin typeface="IBM Plex Sans Light" panose="020B0503050203000203" pitchFamily="34" charset="0"/>
                <a:ea typeface="+mn-ea"/>
                <a:cs typeface="+mn-cs"/>
              </a:rPr>
              <a:t>This case verify the boiler upgrade’s verification. Though if such projects are weather dependent, weather normalization is better suited for verification of upgraded program.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69827E4A-85CA-D138-FB16-7ED7CF6AF8D8}"/>
              </a:ext>
            </a:extLst>
          </p:cNvPr>
          <p:cNvSpPr>
            <a:spLocks noGrp="1"/>
          </p:cNvSpPr>
          <p:nvPr>
            <p:ph type="sldNum" sz="quarter" idx="5"/>
          </p:nvPr>
        </p:nvSpPr>
        <p:spPr/>
        <p:txBody>
          <a:bodyPr/>
          <a:lstStyle/>
          <a:p>
            <a:fld id="{6E2E38B8-B0B4-AD41-AC6E-B781F46A9FD3}" type="slidenum">
              <a:rPr lang="en-US" smtClean="0"/>
              <a:pPr/>
              <a:t>29</a:t>
            </a:fld>
            <a:endParaRPr lang="en-US" dirty="0"/>
          </a:p>
        </p:txBody>
      </p:sp>
      <p:sp>
        <p:nvSpPr>
          <p:cNvPr id="5" name="Footer Placeholder 4">
            <a:extLst>
              <a:ext uri="{FF2B5EF4-FFF2-40B4-BE49-F238E27FC236}">
                <a16:creationId xmlns:a16="http://schemas.microsoft.com/office/drawing/2014/main" id="{FD2F073E-1BE2-33F3-F3EE-C4206086C83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2041488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78A9F-30BC-3D99-407C-FE7D12161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184C8-273E-DF22-D900-8818B0E68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402C0-27AA-8F0D-B416-16F9FA5E35B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Power Report : Utility Performance Management. Understand when, where and how much energy and water is being used across your portfolio to inform where to target to drive the biggest savings</a:t>
            </a:r>
          </a:p>
          <a:p>
            <a:pPr>
              <a:lnSpc>
                <a:spcPct val="115000"/>
              </a:lnSpc>
              <a:spcAft>
                <a:spcPts val="800"/>
              </a:spcAft>
            </a:pPr>
            <a:endParaRPr lang="en-US" dirty="0"/>
          </a:p>
          <a:p>
            <a:pPr>
              <a:lnSpc>
                <a:spcPct val="115000"/>
              </a:lnSpc>
              <a:spcAft>
                <a:spcPts val="800"/>
              </a:spcAft>
            </a:pPr>
            <a:r>
              <a:rPr lang="en-US" dirty="0"/>
              <a:t>Meter’s daily dataset based. In development and not released yet. If required, this report can be accessed. Water and Gas data might not be visible though due to development work on this. </a:t>
            </a:r>
          </a:p>
          <a:p>
            <a:pPr>
              <a:lnSpc>
                <a:spcPct val="115000"/>
              </a:lnSpc>
              <a:spcAft>
                <a:spcPts val="800"/>
              </a:spcAft>
            </a:pPr>
            <a:endParaRPr lang="en-US" dirty="0"/>
          </a:p>
          <a:p>
            <a:r>
              <a:rPr lang="en-US" dirty="0"/>
              <a:t>Scenario: I’m an energy manager and I want to understand how building cohorts in my portfolio compare using advanced portfolio benchmarking using meter data, operating schedules, weather and, optionally, another variable such as production volumes. </a:t>
            </a:r>
          </a:p>
          <a:p>
            <a:endParaRPr lang="en-US" dirty="0"/>
          </a:p>
          <a:p>
            <a:pPr marL="247688" indent="-247688">
              <a:buAutoNum type="arabicPeriod"/>
            </a:pPr>
            <a:r>
              <a:rPr lang="en-US" dirty="0"/>
              <a:t>Using global search, select “Reports” from the drop down box, type in “Utility performance” then click on the Utility Performance Benchmarking </a:t>
            </a:r>
            <a:r>
              <a:rPr lang="en-US" dirty="0" err="1"/>
              <a:t>PowerReport</a:t>
            </a:r>
            <a:r>
              <a:rPr lang="en-US" dirty="0"/>
              <a:t>. When the report is shown in a list (of one), click on that report.</a:t>
            </a:r>
          </a:p>
          <a:p>
            <a:pPr marL="247688" indent="-247688">
              <a:buAutoNum type="arabicPeriod"/>
            </a:pPr>
            <a:r>
              <a:rPr lang="en-US" dirty="0"/>
              <a:t>The home screen of the report shows the cost savings potential of all of the buildings in a portfolio of cohorts relative to a benchmark. That benchmark is determined by taking meter data and normalizing it by operating schedules, building size, and weather data, and then compares the buildings on an intensity basis against relative to the benchmark. This allows identification or outliers within a portfolio that require an energy audit or further investigation. </a:t>
            </a:r>
          </a:p>
          <a:p>
            <a:pPr marL="247688" indent="-247688">
              <a:buAutoNum type="arabicPeriod"/>
            </a:pPr>
            <a:r>
              <a:rPr lang="en-US" dirty="0"/>
              <a:t>To understand the savings potential at a site level, click “View Details”</a:t>
            </a:r>
          </a:p>
          <a:p>
            <a:pPr marL="247688" indent="-247688">
              <a:buAutoNum type="arabicPeriod"/>
            </a:pPr>
            <a:r>
              <a:rPr lang="en-US" dirty="0"/>
              <a:t>The Filter tab on the right hand side of the dashboard allows users to filter the group of benchmarked sites down to a particular part of the hierarchy or type of facility. </a:t>
            </a:r>
          </a:p>
          <a:p>
            <a:pPr marL="247688" indent="-247688">
              <a:buAutoNum type="arabicPeriod"/>
            </a:pPr>
            <a:r>
              <a:rPr lang="en-US" dirty="0"/>
              <a:t>The reporting period allows users to select the period that the benchmarking is done</a:t>
            </a:r>
          </a:p>
          <a:p>
            <a:pPr marL="247688" indent="-247688">
              <a:buAutoNum type="arabicPeriod"/>
            </a:pPr>
            <a:r>
              <a:rPr lang="en-US" dirty="0"/>
              <a:t>Currently there are no gas and water meters in the demonstration site that are part of a benchmarking cohort. But if there were, they would appear here.</a:t>
            </a:r>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C36A1D18-27C5-3B9D-407B-BC5A7439FD2B}"/>
              </a:ext>
            </a:extLst>
          </p:cNvPr>
          <p:cNvSpPr>
            <a:spLocks noGrp="1"/>
          </p:cNvSpPr>
          <p:nvPr>
            <p:ph type="sldNum" sz="quarter" idx="5"/>
          </p:nvPr>
        </p:nvSpPr>
        <p:spPr/>
        <p:txBody>
          <a:bodyPr/>
          <a:lstStyle/>
          <a:p>
            <a:fld id="{6E2E38B8-B0B4-AD41-AC6E-B781F46A9FD3}" type="slidenum">
              <a:rPr lang="en-US" smtClean="0"/>
              <a:pPr/>
              <a:t>30</a:t>
            </a:fld>
            <a:endParaRPr lang="en-US" dirty="0"/>
          </a:p>
        </p:txBody>
      </p:sp>
      <p:sp>
        <p:nvSpPr>
          <p:cNvPr id="5" name="Footer Placeholder 4">
            <a:extLst>
              <a:ext uri="{FF2B5EF4-FFF2-40B4-BE49-F238E27FC236}">
                <a16:creationId xmlns:a16="http://schemas.microsoft.com/office/drawing/2014/main" id="{CC32DEB8-ADBE-CEA6-B51E-C0A8938B780C}"/>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888660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C37D-F270-B1D2-D8C5-1BE058332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E6EEF-A0B7-F42B-97B2-6309F73D0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F97CC-58AE-1133-C881-B812F7A6338C}"/>
              </a:ext>
            </a:extLst>
          </p:cNvPr>
          <p:cNvSpPr>
            <a:spLocks noGrp="1"/>
          </p:cNvSpPr>
          <p:nvPr>
            <p:ph type="body" idx="1"/>
          </p:nvPr>
        </p:nvSpPr>
        <p:spPr/>
        <p:txBody>
          <a:bodyPr/>
          <a:lstStyle/>
          <a:p>
            <a:pPr marL="0" indent="0">
              <a:buNone/>
            </a:pPr>
            <a:r>
              <a:rPr lang="en-US" dirty="0"/>
              <a:t>This power report is getting enhanced and will be called Meter Utility performance Power report. </a:t>
            </a:r>
          </a:p>
          <a:p>
            <a:pPr marL="0" indent="0">
              <a:buNone/>
            </a:pPr>
            <a:r>
              <a:rPr lang="en-US" dirty="0"/>
              <a:t>Report showcase meter data centralized categorized based on load type tags and split consumption to base load, operating and non operating hours and savings from regression. </a:t>
            </a:r>
          </a:p>
          <a:p>
            <a:pPr marL="0" indent="0">
              <a:buNone/>
            </a:pPr>
            <a:endParaRPr lang="en-US" dirty="0"/>
          </a:p>
          <a:p>
            <a:pPr marL="247688" indent="-247688">
              <a:buAutoNum type="arabicPeriod"/>
            </a:pPr>
            <a:r>
              <a:rPr lang="en-US" dirty="0"/>
              <a:t>This dashboard shows potential savings by operating period (base load, operating hours, out of hours). Choose to view through a cost lens or a consumption lens. </a:t>
            </a:r>
          </a:p>
          <a:p>
            <a:pPr marL="247688" indent="-247688">
              <a:buAutoNum type="arabicPeriod"/>
            </a:pPr>
            <a:r>
              <a:rPr lang="en-US" dirty="0"/>
              <a:t>See the savings opportunity by site, by operating band. Click on a the data label for a particular site to see the data for that particular site. </a:t>
            </a:r>
          </a:p>
          <a:p>
            <a:pPr marL="247688" indent="-247688">
              <a:buAutoNum type="arabicPeriod"/>
            </a:pPr>
            <a:r>
              <a:rPr lang="en-US" dirty="0"/>
              <a:t>See the intensity analysis that underpins the benchmarking by clicking through on “View Intensity Analysis”</a:t>
            </a:r>
          </a:p>
          <a:p>
            <a:pPr marL="247688" indent="-247688">
              <a:buAutoNum type="arabicPeriod"/>
            </a:pPr>
            <a:endParaRPr lang="en-US" dirty="0"/>
          </a:p>
          <a:p>
            <a:pPr>
              <a:lnSpc>
                <a:spcPct val="115000"/>
              </a:lnSpc>
              <a:spcAft>
                <a:spcPts val="800"/>
              </a:spcAft>
            </a:pPr>
            <a:endParaRPr lang="en-US" dirty="0"/>
          </a:p>
        </p:txBody>
      </p:sp>
      <p:sp>
        <p:nvSpPr>
          <p:cNvPr id="4" name="Slide Number Placeholder 3">
            <a:extLst>
              <a:ext uri="{FF2B5EF4-FFF2-40B4-BE49-F238E27FC236}">
                <a16:creationId xmlns:a16="http://schemas.microsoft.com/office/drawing/2014/main" id="{B131FCFC-E4F7-2E2A-E5E9-D80BB65FD304}"/>
              </a:ext>
            </a:extLst>
          </p:cNvPr>
          <p:cNvSpPr>
            <a:spLocks noGrp="1"/>
          </p:cNvSpPr>
          <p:nvPr>
            <p:ph type="sldNum" sz="quarter" idx="5"/>
          </p:nvPr>
        </p:nvSpPr>
        <p:spPr/>
        <p:txBody>
          <a:bodyPr/>
          <a:lstStyle/>
          <a:p>
            <a:fld id="{6E2E38B8-B0B4-AD41-AC6E-B781F46A9FD3}" type="slidenum">
              <a:rPr lang="en-US" smtClean="0"/>
              <a:pPr/>
              <a:t>31</a:t>
            </a:fld>
            <a:endParaRPr lang="en-US" dirty="0"/>
          </a:p>
        </p:txBody>
      </p:sp>
      <p:sp>
        <p:nvSpPr>
          <p:cNvPr id="5" name="Footer Placeholder 4">
            <a:extLst>
              <a:ext uri="{FF2B5EF4-FFF2-40B4-BE49-F238E27FC236}">
                <a16:creationId xmlns:a16="http://schemas.microsoft.com/office/drawing/2014/main" id="{38CE796E-5D91-3987-7D60-2068EB6068FA}"/>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15184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F724-830D-D68F-4516-EBE14CA11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1CA9E-092D-A4DD-288E-767A7A8862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34B22-D187-55B2-FA01-0482DC47A807}"/>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The Inactivity rules help the user/s get notified when meter data is not received.  To set a meter alert. </a:t>
            </a:r>
          </a:p>
          <a:p>
            <a:pPr fontAlgn="base"/>
            <a:r>
              <a:rPr lang="en-US" sz="2667" b="0" i="0" kern="1200" dirty="0">
                <a:solidFill>
                  <a:schemeClr val="bg1"/>
                </a:solidFill>
                <a:effectLst/>
                <a:latin typeface="IBM Plex Sans Light" panose="020B0503050203000203" pitchFamily="34" charset="0"/>
                <a:ea typeface="+mn-ea"/>
                <a:cs typeface="+mn-cs"/>
              </a:rPr>
              <a:t>Go to manage -&gt; Meter -&gt; search the meter -&gt; Right click or select actions -&gt; set inactivity alert. </a:t>
            </a:r>
          </a:p>
          <a:p>
            <a:pPr fontAlgn="base"/>
            <a:r>
              <a:rPr lang="en-US" sz="2667" b="0" i="0" kern="1200" dirty="0">
                <a:solidFill>
                  <a:schemeClr val="bg1"/>
                </a:solidFill>
                <a:effectLst/>
                <a:latin typeface="IBM Plex Sans Light" panose="020B0503050203000203" pitchFamily="34" charset="0"/>
                <a:ea typeface="+mn-ea"/>
                <a:cs typeface="+mn-cs"/>
              </a:rPr>
              <a:t>User can create multiple alerts with different statuses – Normal, high and critical. </a:t>
            </a:r>
          </a:p>
          <a:p>
            <a:pPr fontAlgn="base"/>
            <a:r>
              <a:rPr lang="en-US" sz="2667" b="0" i="0" kern="1200" dirty="0">
                <a:solidFill>
                  <a:schemeClr val="bg1"/>
                </a:solidFill>
                <a:effectLst/>
                <a:latin typeface="IBM Plex Sans Light" panose="020B0503050203000203" pitchFamily="34" charset="0"/>
                <a:ea typeface="+mn-ea"/>
                <a:cs typeface="+mn-cs"/>
              </a:rPr>
              <a:t>For each status, you can assign a user in Manage -&gt; Notification contacts. If there is no notification contact, an issue is still created which can be assigned and actioned. </a:t>
            </a:r>
          </a:p>
        </p:txBody>
      </p:sp>
      <p:sp>
        <p:nvSpPr>
          <p:cNvPr id="4" name="Slide Number Placeholder 3">
            <a:extLst>
              <a:ext uri="{FF2B5EF4-FFF2-40B4-BE49-F238E27FC236}">
                <a16:creationId xmlns:a16="http://schemas.microsoft.com/office/drawing/2014/main" id="{DC6B9E86-CB48-73A5-E4EB-10F23507105D}"/>
              </a:ext>
            </a:extLst>
          </p:cNvPr>
          <p:cNvSpPr>
            <a:spLocks noGrp="1"/>
          </p:cNvSpPr>
          <p:nvPr>
            <p:ph type="sldNum" sz="quarter" idx="5"/>
          </p:nvPr>
        </p:nvSpPr>
        <p:spPr/>
        <p:txBody>
          <a:bodyPr/>
          <a:lstStyle/>
          <a:p>
            <a:fld id="{6E2E38B8-B0B4-AD41-AC6E-B781F46A9FD3}" type="slidenum">
              <a:rPr lang="en-US" smtClean="0"/>
              <a:pPr/>
              <a:t>32</a:t>
            </a:fld>
            <a:endParaRPr lang="en-US" dirty="0"/>
          </a:p>
        </p:txBody>
      </p:sp>
      <p:sp>
        <p:nvSpPr>
          <p:cNvPr id="5" name="Footer Placeholder 4">
            <a:extLst>
              <a:ext uri="{FF2B5EF4-FFF2-40B4-BE49-F238E27FC236}">
                <a16:creationId xmlns:a16="http://schemas.microsoft.com/office/drawing/2014/main" id="{D47973EF-E307-E42B-14A5-398518CAD675}"/>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736007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6DBDD-A8DC-7A8F-E85B-12E2C7F35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2080C-779B-1FFF-F9D1-EC48A2D77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16C0E-1496-43AA-9DEF-5F82D92486C1}"/>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When an alert is created, it can be viewed in issues ( home page -&gt; Quick links -&gt; Issues)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Go to manage -&gt; Meter -&gt; search the meter -&gt; Right click or select actions -&gt; set inactivity alert. </a:t>
            </a:r>
          </a:p>
          <a:p>
            <a:pPr fontAlgn="base"/>
            <a:r>
              <a:rPr lang="en-US" sz="2667" b="0" i="0" kern="1200" dirty="0">
                <a:solidFill>
                  <a:schemeClr val="bg1"/>
                </a:solidFill>
                <a:effectLst/>
                <a:latin typeface="IBM Plex Sans Light" panose="020B0503050203000203" pitchFamily="34" charset="0"/>
                <a:ea typeface="+mn-ea"/>
                <a:cs typeface="+mn-cs"/>
              </a:rPr>
              <a:t>User can create multiple alerts with different statuses – Normal, high and critical. </a:t>
            </a:r>
          </a:p>
          <a:p>
            <a:pPr fontAlgn="base"/>
            <a:r>
              <a:rPr lang="en-US" sz="2667" b="0" i="0" kern="1200" dirty="0">
                <a:solidFill>
                  <a:schemeClr val="bg1"/>
                </a:solidFill>
                <a:effectLst/>
                <a:latin typeface="IBM Plex Sans Light" panose="020B0503050203000203" pitchFamily="34" charset="0"/>
                <a:ea typeface="+mn-ea"/>
                <a:cs typeface="+mn-cs"/>
              </a:rPr>
              <a:t>For each status, you can assign a user in Manage -&gt; Notification contacts. If there is no notification contact, an issue is still created which can be assigned and actioned. </a:t>
            </a:r>
          </a:p>
        </p:txBody>
      </p:sp>
      <p:sp>
        <p:nvSpPr>
          <p:cNvPr id="4" name="Slide Number Placeholder 3">
            <a:extLst>
              <a:ext uri="{FF2B5EF4-FFF2-40B4-BE49-F238E27FC236}">
                <a16:creationId xmlns:a16="http://schemas.microsoft.com/office/drawing/2014/main" id="{780CA554-5BF5-11E3-5677-2BD0C71508A4}"/>
              </a:ext>
            </a:extLst>
          </p:cNvPr>
          <p:cNvSpPr>
            <a:spLocks noGrp="1"/>
          </p:cNvSpPr>
          <p:nvPr>
            <p:ph type="sldNum" sz="quarter" idx="5"/>
          </p:nvPr>
        </p:nvSpPr>
        <p:spPr/>
        <p:txBody>
          <a:bodyPr/>
          <a:lstStyle/>
          <a:p>
            <a:fld id="{6E2E38B8-B0B4-AD41-AC6E-B781F46A9FD3}" type="slidenum">
              <a:rPr lang="en-US" smtClean="0"/>
              <a:pPr/>
              <a:t>33</a:t>
            </a:fld>
            <a:endParaRPr lang="en-US" dirty="0"/>
          </a:p>
        </p:txBody>
      </p:sp>
      <p:sp>
        <p:nvSpPr>
          <p:cNvPr id="5" name="Footer Placeholder 4">
            <a:extLst>
              <a:ext uri="{FF2B5EF4-FFF2-40B4-BE49-F238E27FC236}">
                <a16:creationId xmlns:a16="http://schemas.microsoft.com/office/drawing/2014/main" id="{70B6CA42-A136-ABFE-423F-E5F649226E51}"/>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1297772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D6A1-4910-7A6A-4EA2-B39BE0769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939EB-FDA0-4CEC-8428-58D7B7A1B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A4A71-D893-51B6-5BFD-D54CE2DBCDC8}"/>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Absolute rule - An absolute rule is based on a user defined absolute threshold, for example, if demand exceeds 20 kW within a given time period. You can configure absolute rules through the Meter Summary page or from any meters grid.</a:t>
            </a:r>
          </a:p>
          <a:p>
            <a:pPr fontAlgn="base"/>
            <a:endParaRPr lang="en-US" sz="2667" b="0" i="0" kern="1200" dirty="0">
              <a:solidFill>
                <a:schemeClr val="bg1"/>
              </a:solidFill>
              <a:effectLst/>
              <a:latin typeface="IBM Plex Sans Light" panose="020B0503050203000203" pitchFamily="34" charset="0"/>
              <a:ea typeface="+mn-ea"/>
              <a:cs typeface="+mn-cs"/>
            </a:endParaRPr>
          </a:p>
          <a:p>
            <a:pPr marL="0" marR="0" lvl="0" indent="0" algn="l" defTabSz="2438522" rtl="0" eaLnBrk="1" fontAlgn="base" latinLnBrk="0" hangingPunct="1">
              <a:lnSpc>
                <a:spcPct val="100000"/>
              </a:lnSpc>
              <a:spcBef>
                <a:spcPts val="1600"/>
              </a:spcBef>
              <a:spcAft>
                <a:spcPts val="0"/>
              </a:spcAft>
              <a:buClrTx/>
              <a:buSzTx/>
              <a:buFontTx/>
              <a:buNone/>
              <a:tabLst/>
              <a:defRPr/>
            </a:pPr>
            <a:r>
              <a:rPr lang="en-US" sz="2667" b="0" i="0" kern="1200" dirty="0">
                <a:solidFill>
                  <a:schemeClr val="bg1"/>
                </a:solidFill>
                <a:effectLst/>
                <a:latin typeface="IBM Plex Sans Light" panose="020B0503050203000203" pitchFamily="34" charset="0"/>
                <a:ea typeface="+mn-ea"/>
                <a:cs typeface="+mn-cs"/>
              </a:rPr>
              <a:t>To view an absolute rule, right-click a meter in the Meters grid, or on any meters dashboard click </a:t>
            </a:r>
            <a:r>
              <a:rPr lang="en-US" sz="2667" b="1" i="0" kern="1200" dirty="0">
                <a:solidFill>
                  <a:schemeClr val="bg1"/>
                </a:solidFill>
                <a:effectLst/>
                <a:latin typeface="IBM Plex Sans Light" panose="020B0503050203000203" pitchFamily="34" charset="0"/>
                <a:ea typeface="+mn-ea"/>
                <a:cs typeface="+mn-cs"/>
              </a:rPr>
              <a:t>More</a:t>
            </a:r>
            <a:r>
              <a:rPr lang="en-US" sz="2667" b="0" i="0" kern="1200" dirty="0">
                <a:solidFill>
                  <a:schemeClr val="bg1"/>
                </a:solidFill>
                <a:effectLst/>
                <a:latin typeface="IBM Plex Sans Light" panose="020B0503050203000203" pitchFamily="34" charset="0"/>
                <a:ea typeface="+mn-ea"/>
                <a:cs typeface="+mn-cs"/>
              </a:rPr>
              <a:t> &gt; </a:t>
            </a:r>
            <a:r>
              <a:rPr lang="en-US" sz="2667" b="1" i="0" kern="1200" dirty="0">
                <a:solidFill>
                  <a:schemeClr val="bg1"/>
                </a:solidFill>
                <a:effectLst/>
                <a:latin typeface="IBM Plex Sans Light" panose="020B0503050203000203" pitchFamily="34" charset="0"/>
                <a:ea typeface="+mn-ea"/>
                <a:cs typeface="+mn-cs"/>
              </a:rPr>
              <a:t>Absolute Rules</a:t>
            </a:r>
            <a:r>
              <a:rPr lang="en-US" sz="2667" b="0" i="0" kern="1200" dirty="0">
                <a:solidFill>
                  <a:schemeClr val="bg1"/>
                </a:solidFill>
                <a:effectLst/>
                <a:latin typeface="IBM Plex Sans Light" panose="020B0503050203000203" pitchFamily="34" charset="0"/>
                <a:ea typeface="+mn-ea"/>
                <a:cs typeface="+mn-cs"/>
              </a:rPr>
              <a:t>.</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In the Set Alerts page, select a period using the time navigator.</a:t>
            </a:r>
          </a:p>
          <a:p>
            <a:pPr fontAlgn="base"/>
            <a:r>
              <a:rPr lang="en-US" sz="2667" b="0" i="0" kern="1200" dirty="0">
                <a:solidFill>
                  <a:schemeClr val="bg1"/>
                </a:solidFill>
                <a:effectLst/>
                <a:latin typeface="IBM Plex Sans Light" panose="020B0503050203000203" pitchFamily="34" charset="0"/>
                <a:ea typeface="+mn-ea"/>
                <a:cs typeface="+mn-cs"/>
              </a:rPr>
              <a:t>In the Select Measure grid, select a unit of measure and click </a:t>
            </a:r>
            <a:r>
              <a:rPr lang="en-US" sz="2667" b="1" i="0" kern="1200" dirty="0">
                <a:solidFill>
                  <a:schemeClr val="bg1"/>
                </a:solidFill>
                <a:effectLst/>
                <a:latin typeface="IBM Plex Sans Light" panose="020B0503050203000203" pitchFamily="34" charset="0"/>
                <a:ea typeface="+mn-ea"/>
                <a:cs typeface="+mn-cs"/>
              </a:rPr>
              <a:t>Generate Chart</a:t>
            </a:r>
            <a:r>
              <a:rPr lang="en-US" sz="2667" b="0" i="0" kern="1200" dirty="0">
                <a:solidFill>
                  <a:schemeClr val="bg1"/>
                </a:solidFill>
                <a:effectLst/>
                <a:latin typeface="IBM Plex Sans Light" panose="020B0503050203000203" pitchFamily="34" charset="0"/>
                <a:ea typeface="+mn-ea"/>
                <a:cs typeface="+mn-cs"/>
              </a:rPr>
              <a:t>. A cumulative consumption chart is displayed showing average, minimum, maximum, 68% confidence interval (1 standard deviation from the mean), and 95% confidence interval (~2 standard deviations from the mean). You can use these charts to determine the appropriate threshold for the rule.</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5FC49E4-A362-A3AC-FD0E-C4C198E69CEA}"/>
              </a:ext>
            </a:extLst>
          </p:cNvPr>
          <p:cNvSpPr>
            <a:spLocks noGrp="1"/>
          </p:cNvSpPr>
          <p:nvPr>
            <p:ph type="sldNum" sz="quarter" idx="5"/>
          </p:nvPr>
        </p:nvSpPr>
        <p:spPr/>
        <p:txBody>
          <a:bodyPr/>
          <a:lstStyle/>
          <a:p>
            <a:fld id="{6E2E38B8-B0B4-AD41-AC6E-B781F46A9FD3}" type="slidenum">
              <a:rPr lang="en-US" smtClean="0"/>
              <a:pPr/>
              <a:t>34</a:t>
            </a:fld>
            <a:endParaRPr lang="en-US" dirty="0"/>
          </a:p>
        </p:txBody>
      </p:sp>
      <p:sp>
        <p:nvSpPr>
          <p:cNvPr id="5" name="Footer Placeholder 4">
            <a:extLst>
              <a:ext uri="{FF2B5EF4-FFF2-40B4-BE49-F238E27FC236}">
                <a16:creationId xmlns:a16="http://schemas.microsoft.com/office/drawing/2014/main" id="{0010E460-42E6-8811-58A6-E1106C5164B4}"/>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0807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EAD05-90A3-AD19-2796-4E01746E5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D5279-4309-8D41-58E8-869F50EBF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59EF1-2EF3-B26E-53FE-9F73F1F2B4E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Users can configure BEPA variance rules to trigger alerts when the difference between expected and actual meter data exceeds a specified percentage.</a:t>
            </a:r>
          </a:p>
          <a:p>
            <a:pPr fontAlgn="base"/>
            <a:r>
              <a:rPr lang="en-US" sz="2667" b="0" i="0" kern="1200" dirty="0">
                <a:solidFill>
                  <a:schemeClr val="bg1"/>
                </a:solidFill>
                <a:effectLst/>
                <a:latin typeface="IBM Plex Sans Light" panose="020B0503050203000203" pitchFamily="34" charset="0"/>
                <a:ea typeface="+mn-ea"/>
                <a:cs typeface="+mn-cs"/>
              </a:rPr>
              <a:t>From meter summary page -&gt; more submenu -&gt; Variance rules</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Building schedules are also supported and can be added if required to add performance rules for operating or non operating hours.  Used if advanced meter rules are required. For most scenarios Variance rules will s</a:t>
            </a:r>
          </a:p>
        </p:txBody>
      </p:sp>
      <p:sp>
        <p:nvSpPr>
          <p:cNvPr id="4" name="Slide Number Placeholder 3">
            <a:extLst>
              <a:ext uri="{FF2B5EF4-FFF2-40B4-BE49-F238E27FC236}">
                <a16:creationId xmlns:a16="http://schemas.microsoft.com/office/drawing/2014/main" id="{02C6F373-3E16-9E10-2718-ACCB47B6F9C9}"/>
              </a:ext>
            </a:extLst>
          </p:cNvPr>
          <p:cNvSpPr>
            <a:spLocks noGrp="1"/>
          </p:cNvSpPr>
          <p:nvPr>
            <p:ph type="sldNum" sz="quarter" idx="5"/>
          </p:nvPr>
        </p:nvSpPr>
        <p:spPr/>
        <p:txBody>
          <a:bodyPr/>
          <a:lstStyle/>
          <a:p>
            <a:fld id="{6E2E38B8-B0B4-AD41-AC6E-B781F46A9FD3}" type="slidenum">
              <a:rPr lang="en-US" smtClean="0"/>
              <a:pPr/>
              <a:t>35</a:t>
            </a:fld>
            <a:endParaRPr lang="en-US" dirty="0"/>
          </a:p>
        </p:txBody>
      </p:sp>
      <p:sp>
        <p:nvSpPr>
          <p:cNvPr id="5" name="Footer Placeholder 4">
            <a:extLst>
              <a:ext uri="{FF2B5EF4-FFF2-40B4-BE49-F238E27FC236}">
                <a16:creationId xmlns:a16="http://schemas.microsoft.com/office/drawing/2014/main" id="{AAB6A8E9-0C1A-49F4-4F52-013ADDA5E9C5}"/>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952758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11FF-623D-BFB6-D822-F741E7AF1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369F9-6C82-0A3C-D879-051F4C170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4E7B8-697E-073F-1FF0-3C9BE871863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C43BA07-C1E0-D5F3-B2BF-11650721F1F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101287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FBA1-3036-4F19-9EDA-780676FFA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FA16D-25BA-1661-F2D5-AA361909E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696C9-F5C3-AF39-8D73-C18AFD26AAA5}"/>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How to run: Home Page – Power reports -&gt; Account data health check</a:t>
            </a:r>
          </a:p>
          <a:p>
            <a:pPr fontAlgn="base"/>
            <a:r>
              <a:rPr lang="en-US" sz="2667" b="0" i="0" kern="1200" dirty="0">
                <a:solidFill>
                  <a:schemeClr val="bg1"/>
                </a:solidFill>
                <a:effectLst/>
                <a:latin typeface="IBM Plex Sans Light" panose="020B0503050203000203" pitchFamily="34" charset="0"/>
                <a:ea typeface="+mn-ea"/>
                <a:cs typeface="+mn-cs"/>
              </a:rPr>
              <a:t>Drill down to see accounts in arrears and follow up with internal stakeholders to get the data or close the accounts.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AD7B2028-6157-41DC-196C-CCC962DF2580}"/>
              </a:ext>
            </a:extLst>
          </p:cNvPr>
          <p:cNvSpPr>
            <a:spLocks noGrp="1"/>
          </p:cNvSpPr>
          <p:nvPr>
            <p:ph type="sldNum" sz="quarter" idx="5"/>
          </p:nvPr>
        </p:nvSpPr>
        <p:spPr/>
        <p:txBody>
          <a:bodyPr/>
          <a:lstStyle/>
          <a:p>
            <a:fld id="{6E2E38B8-B0B4-AD41-AC6E-B781F46A9FD3}" type="slidenum">
              <a:rPr lang="en-US" smtClean="0"/>
              <a:pPr/>
              <a:t>38</a:t>
            </a:fld>
            <a:endParaRPr lang="en-US" dirty="0"/>
          </a:p>
        </p:txBody>
      </p:sp>
      <p:sp>
        <p:nvSpPr>
          <p:cNvPr id="5" name="Footer Placeholder 4">
            <a:extLst>
              <a:ext uri="{FF2B5EF4-FFF2-40B4-BE49-F238E27FC236}">
                <a16:creationId xmlns:a16="http://schemas.microsoft.com/office/drawing/2014/main" id="{99313526-295A-5F20-0436-FB40C10DD08D}"/>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492800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05703-461E-5597-E40D-C3B949B65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8D20A-4A20-F203-A9E5-3A6718145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36042-16E9-386A-8B7A-286C6EBC00A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How to run: Home Page – Power reports -&gt; Meter  data health check</a:t>
            </a:r>
          </a:p>
          <a:p>
            <a:pPr fontAlgn="base"/>
            <a:r>
              <a:rPr lang="en-US" sz="2667" b="0" i="0" kern="1200" dirty="0">
                <a:solidFill>
                  <a:schemeClr val="bg1"/>
                </a:solidFill>
                <a:effectLst/>
                <a:latin typeface="IBM Plex Sans Light" panose="020B0503050203000203" pitchFamily="34" charset="0"/>
                <a:ea typeface="+mn-ea"/>
                <a:cs typeface="+mn-cs"/>
              </a:rPr>
              <a:t>Drill down from Vide Details to see in Meters without data. </a:t>
            </a:r>
          </a:p>
          <a:p>
            <a:pPr fontAlgn="base"/>
            <a:r>
              <a:rPr lang="en-US" sz="2667" b="0" i="0" kern="1200" dirty="0">
                <a:solidFill>
                  <a:schemeClr val="bg1"/>
                </a:solidFill>
                <a:effectLst/>
                <a:latin typeface="IBM Plex Sans Light" panose="020B0503050203000203" pitchFamily="34" charset="0"/>
                <a:ea typeface="+mn-ea"/>
                <a:cs typeface="+mn-cs"/>
              </a:rPr>
              <a:t>Filters can be applied to filter data for a group and specified date range.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Report can be shared as pdf to other stakeholders.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F67F2A01-55C8-FDC9-7E44-3866FCA22791}"/>
              </a:ext>
            </a:extLst>
          </p:cNvPr>
          <p:cNvSpPr>
            <a:spLocks noGrp="1"/>
          </p:cNvSpPr>
          <p:nvPr>
            <p:ph type="sldNum" sz="quarter" idx="5"/>
          </p:nvPr>
        </p:nvSpPr>
        <p:spPr/>
        <p:txBody>
          <a:bodyPr/>
          <a:lstStyle/>
          <a:p>
            <a:fld id="{6E2E38B8-B0B4-AD41-AC6E-B781F46A9FD3}" type="slidenum">
              <a:rPr lang="en-US" smtClean="0"/>
              <a:pPr/>
              <a:t>39</a:t>
            </a:fld>
            <a:endParaRPr lang="en-US" dirty="0"/>
          </a:p>
        </p:txBody>
      </p:sp>
      <p:sp>
        <p:nvSpPr>
          <p:cNvPr id="5" name="Footer Placeholder 4">
            <a:extLst>
              <a:ext uri="{FF2B5EF4-FFF2-40B4-BE49-F238E27FC236}">
                <a16:creationId xmlns:a16="http://schemas.microsoft.com/office/drawing/2014/main" id="{181AEF7F-018C-ADD9-E577-17895EBF9B36}"/>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5587410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AU" dirty="0"/>
              <a:t>Run the report from Global search in top middle screen and select Report on search field -&gt; Type -&gt; Accounts incomplete data. </a:t>
            </a:r>
          </a:p>
          <a:p>
            <a:r>
              <a:rPr lang="en-AU" dirty="0"/>
              <a:t>Select Group -&gt; MREF Locations and leave 1 year as default ending in June 25. </a:t>
            </a:r>
          </a:p>
          <a:p>
            <a:endParaRPr lang="en-AU" dirty="0"/>
          </a:p>
        </p:txBody>
      </p:sp>
      <p:sp>
        <p:nvSpPr>
          <p:cNvPr id="4" name="Slide Number Placeholder 3"/>
          <p:cNvSpPr>
            <a:spLocks noGrp="1"/>
          </p:cNvSpPr>
          <p:nvPr>
            <p:ph type="sldNum" sz="quarter" idx="10"/>
          </p:nvPr>
        </p:nvSpPr>
        <p:spPr/>
        <p:txBody>
          <a:bodyPr/>
          <a:lstStyle/>
          <a:p>
            <a:fld id="{A971AAB4-4AF7-4A40-8B4D-113FB2F32F4C}" type="slidenum">
              <a:rPr lang="en-AU" smtClean="0"/>
              <a:pPr/>
              <a:t>40</a:t>
            </a:fld>
            <a:endParaRPr lang="en-AU" dirty="0"/>
          </a:p>
        </p:txBody>
      </p:sp>
    </p:spTree>
    <p:extLst>
      <p:ext uri="{BB962C8B-B14F-4D97-AF65-F5344CB8AC3E}">
        <p14:creationId xmlns:p14="http://schemas.microsoft.com/office/powerpoint/2010/main" val="3420830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D58E-39CB-FA0C-A8D6-0BB95DEE5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FEFDC-ACCF-1DEC-F448-E4FEB2AC4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1CA0C-4D40-4F58-212F-6D5F137D70B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1D63470-172D-AD95-8E50-30E18EBAA57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43411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C973-E811-E2AD-E1E4-35C289A01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7FF9E-792E-10C2-60ED-336A2F837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A2FEFB-50B8-6DEB-6466-CCF173DA3FE6}"/>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Envizi </a:t>
            </a:r>
          </a:p>
          <a:p>
            <a:pPr fontAlgn="base"/>
            <a:r>
              <a:rPr lang="en-US" sz="2667" b="0" i="0" kern="1200" dirty="0">
                <a:solidFill>
                  <a:schemeClr val="bg1"/>
                </a:solidFill>
                <a:effectLst/>
                <a:latin typeface="IBM Plex Sans Light" panose="020B0503050203000203" pitchFamily="34" charset="0"/>
                <a:ea typeface="+mn-ea"/>
                <a:cs typeface="+mn-cs"/>
              </a:rPr>
              <a:t>Open Location : One Penn Plaza </a:t>
            </a:r>
          </a:p>
          <a:p>
            <a:pPr fontAlgn="base"/>
            <a:r>
              <a:rPr lang="en-US" sz="2667" b="0" i="0" kern="1200" dirty="0">
                <a:solidFill>
                  <a:schemeClr val="bg1"/>
                </a:solidFill>
                <a:effectLst/>
                <a:latin typeface="IBM Plex Sans Light" panose="020B0503050203000203" pitchFamily="34" charset="0"/>
                <a:ea typeface="+mn-ea"/>
                <a:cs typeface="+mn-cs"/>
              </a:rPr>
              <a:t>From Global search or Org Hierarchy under MREF Locations.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These modules have separate enablement material. You can let the BP or client know that Envizi can integrate with GRESB, NABERS and Energy Star if they are interested. </a:t>
            </a:r>
          </a:p>
          <a:p>
            <a:pPr fontAlgn="base"/>
            <a:endParaRPr lang="en-US" sz="2667" b="0" i="0" kern="1200" dirty="0">
              <a:solidFill>
                <a:schemeClr val="bg1"/>
              </a:solidFill>
              <a:effectLst/>
              <a:latin typeface="IBM Plex Sans Light" panose="020B0503050203000203" pitchFamily="34" charset="0"/>
              <a:ea typeface="+mn-ea"/>
              <a:cs typeface="+mn-cs"/>
            </a:endParaRPr>
          </a:p>
        </p:txBody>
      </p:sp>
      <p:sp>
        <p:nvSpPr>
          <p:cNvPr id="4" name="Slide Number Placeholder 3">
            <a:extLst>
              <a:ext uri="{FF2B5EF4-FFF2-40B4-BE49-F238E27FC236}">
                <a16:creationId xmlns:a16="http://schemas.microsoft.com/office/drawing/2014/main" id="{44754B83-CA66-37A2-F28D-A33C9D62D1BC}"/>
              </a:ext>
            </a:extLst>
          </p:cNvPr>
          <p:cNvSpPr>
            <a:spLocks noGrp="1"/>
          </p:cNvSpPr>
          <p:nvPr>
            <p:ph type="sldNum" sz="quarter" idx="5"/>
          </p:nvPr>
        </p:nvSpPr>
        <p:spPr/>
        <p:txBody>
          <a:bodyPr/>
          <a:lstStyle/>
          <a:p>
            <a:fld id="{6E2E38B8-B0B4-AD41-AC6E-B781F46A9FD3}" type="slidenum">
              <a:rPr lang="en-US" smtClean="0"/>
              <a:pPr/>
              <a:t>43</a:t>
            </a:fld>
            <a:endParaRPr lang="en-US" dirty="0"/>
          </a:p>
        </p:txBody>
      </p:sp>
      <p:sp>
        <p:nvSpPr>
          <p:cNvPr id="5" name="Footer Placeholder 4">
            <a:extLst>
              <a:ext uri="{FF2B5EF4-FFF2-40B4-BE49-F238E27FC236}">
                <a16:creationId xmlns:a16="http://schemas.microsoft.com/office/drawing/2014/main" id="{84892267-8052-5E8F-858B-715E78A2D9C9}"/>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4135587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A23D3-07A2-23D1-3B8E-7DE30D67D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2DF05-C2E9-A2D7-6FFF-9540F380A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F4D23-8D2A-13C9-F901-C467642B589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8DBF5FC-9E35-3B9E-BA10-C35A65862E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409248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7D3C-158A-840A-D453-9D5C16F1D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CE75F-A545-4BD6-2064-DF3008FA8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84C2A-9D23-C974-3335-1A5F71AB4A3B}"/>
              </a:ext>
            </a:extLst>
          </p:cNvPr>
          <p:cNvSpPr>
            <a:spLocks noGrp="1"/>
          </p:cNvSpPr>
          <p:nvPr>
            <p:ph type="body" idx="1"/>
          </p:nvPr>
        </p:nvSpPr>
        <p:spPr/>
        <p:txBody>
          <a:bodyPr/>
          <a:lstStyle/>
          <a:p>
            <a:pPr fontAlgn="base"/>
            <a:r>
              <a:rPr lang="en-US" sz="2667" b="0" i="0" kern="1200" dirty="0">
                <a:solidFill>
                  <a:schemeClr val="bg1"/>
                </a:solidFill>
                <a:effectLst/>
                <a:latin typeface="IBM Plex Sans Light" panose="020B0503050203000203" pitchFamily="34" charset="0"/>
                <a:ea typeface="+mn-ea"/>
                <a:cs typeface="+mn-cs"/>
              </a:rPr>
              <a:t>Persona: Energy Manager/ Facility manager. </a:t>
            </a:r>
          </a:p>
          <a:p>
            <a:pPr fontAlgn="base"/>
            <a:r>
              <a:rPr lang="en-US" sz="2667" b="0" i="0" kern="1200" dirty="0">
                <a:solidFill>
                  <a:schemeClr val="bg1"/>
                </a:solidFill>
                <a:effectLst/>
                <a:latin typeface="IBM Plex Sans Light" panose="020B0503050203000203" pitchFamily="34" charset="0"/>
                <a:ea typeface="+mn-ea"/>
                <a:cs typeface="+mn-cs"/>
              </a:rPr>
              <a:t>Use case: Based on the UBA dashboards/ reports or MREF suggestions, lets take a location with higher intensity of Natural Gas and go through a journey of a program initiative called: Boiler upgrade. </a:t>
            </a:r>
          </a:p>
          <a:p>
            <a:pPr fontAlgn="base"/>
            <a:r>
              <a:rPr lang="en-US" sz="2667" b="0" i="0" kern="1200" dirty="0">
                <a:solidFill>
                  <a:schemeClr val="bg1"/>
                </a:solidFill>
                <a:effectLst/>
                <a:latin typeface="IBM Plex Sans Light" panose="020B0503050203000203" pitchFamily="34" charset="0"/>
                <a:ea typeface="+mn-ea"/>
                <a:cs typeface="+mn-cs"/>
              </a:rPr>
              <a:t>A energy consultant will create the business case with cost savings which can be ingested in Envizi under Programs module.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Navigate to Location from global search – Charlotte Watson Center. </a:t>
            </a:r>
          </a:p>
          <a:p>
            <a:pPr fontAlgn="base"/>
            <a:r>
              <a:rPr lang="en-US" sz="2667" b="0" i="0" kern="1200" dirty="0">
                <a:solidFill>
                  <a:schemeClr val="bg1"/>
                </a:solidFill>
                <a:effectLst/>
                <a:latin typeface="IBM Plex Sans Light" panose="020B0503050203000203" pitchFamily="34" charset="0"/>
                <a:ea typeface="+mn-ea"/>
                <a:cs typeface="+mn-cs"/>
              </a:rPr>
              <a:t>From quick links select sub menu More -&gt; Program Actions -&gt; select existing Program and press Edit.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Boiler upgrade started in Aug and finished in Oct 13</a:t>
            </a:r>
            <a:r>
              <a:rPr lang="en-US" sz="2667" b="0" i="0" kern="1200" baseline="30000" dirty="0">
                <a:solidFill>
                  <a:schemeClr val="bg1"/>
                </a:solidFill>
                <a:effectLst/>
                <a:latin typeface="IBM Plex Sans Light" panose="020B0503050203000203" pitchFamily="34" charset="0"/>
                <a:ea typeface="+mn-ea"/>
                <a:cs typeface="+mn-cs"/>
              </a:rPr>
              <a:t>th</a:t>
            </a:r>
            <a:r>
              <a:rPr lang="en-US" sz="2667" b="0" i="0" kern="1200" dirty="0">
                <a:solidFill>
                  <a:schemeClr val="bg1"/>
                </a:solidFill>
                <a:effectLst/>
                <a:latin typeface="IBM Plex Sans Light" panose="020B0503050203000203" pitchFamily="34" charset="0"/>
                <a:ea typeface="+mn-ea"/>
                <a:cs typeface="+mn-cs"/>
              </a:rPr>
              <a:t>. </a:t>
            </a:r>
          </a:p>
          <a:p>
            <a:pPr fontAlgn="base"/>
            <a:endParaRPr lang="en-US" sz="2667" b="0" i="0" kern="1200" dirty="0">
              <a:solidFill>
                <a:schemeClr val="bg1"/>
              </a:solidFill>
              <a:effectLst/>
              <a:latin typeface="IBM Plex Sans Light" panose="020B0503050203000203" pitchFamily="34" charset="0"/>
              <a:ea typeface="+mn-ea"/>
              <a:cs typeface="+mn-cs"/>
            </a:endParaRPr>
          </a:p>
          <a:p>
            <a:pPr fontAlgn="base"/>
            <a:r>
              <a:rPr lang="en-US" sz="2667" b="0" i="0" kern="1200" dirty="0">
                <a:solidFill>
                  <a:schemeClr val="bg1"/>
                </a:solidFill>
                <a:effectLst/>
                <a:latin typeface="IBM Plex Sans Light" panose="020B0503050203000203" pitchFamily="34" charset="0"/>
                <a:ea typeface="+mn-ea"/>
                <a:cs typeface="+mn-cs"/>
              </a:rPr>
              <a:t>This program data from Envizi can be used in Planning Analytics for analysis, scenario modelling and forecasting. (Not covered in this demo)</a:t>
            </a:r>
          </a:p>
        </p:txBody>
      </p:sp>
      <p:sp>
        <p:nvSpPr>
          <p:cNvPr id="4" name="Slide Number Placeholder 3">
            <a:extLst>
              <a:ext uri="{FF2B5EF4-FFF2-40B4-BE49-F238E27FC236}">
                <a16:creationId xmlns:a16="http://schemas.microsoft.com/office/drawing/2014/main" id="{2537C10A-FDA2-0590-22EF-DDCD88367A55}"/>
              </a:ext>
            </a:extLst>
          </p:cNvPr>
          <p:cNvSpPr>
            <a:spLocks noGrp="1"/>
          </p:cNvSpPr>
          <p:nvPr>
            <p:ph type="sldNum" sz="quarter" idx="5"/>
          </p:nvPr>
        </p:nvSpPr>
        <p:spPr/>
        <p:txBody>
          <a:bodyPr/>
          <a:lstStyle/>
          <a:p>
            <a:fld id="{6E2E38B8-B0B4-AD41-AC6E-B781F46A9FD3}" type="slidenum">
              <a:rPr lang="en-US" smtClean="0"/>
              <a:pPr/>
              <a:t>45</a:t>
            </a:fld>
            <a:endParaRPr lang="en-US" dirty="0"/>
          </a:p>
        </p:txBody>
      </p:sp>
      <p:sp>
        <p:nvSpPr>
          <p:cNvPr id="5" name="Footer Placeholder 4">
            <a:extLst>
              <a:ext uri="{FF2B5EF4-FFF2-40B4-BE49-F238E27FC236}">
                <a16:creationId xmlns:a16="http://schemas.microsoft.com/office/drawing/2014/main" id="{1F089CCE-1481-7391-8F33-12DDA055013F}"/>
              </a:ext>
            </a:extLst>
          </p:cNvPr>
          <p:cNvSpPr>
            <a:spLocks noGrp="1"/>
          </p:cNvSpPr>
          <p:nvPr>
            <p:ph type="ftr" sz="quarter" idx="4"/>
          </p:nvPr>
        </p:nvSpPr>
        <p:spPr/>
        <p:txBody>
          <a:bodyPr/>
          <a:lstStyle/>
          <a:p>
            <a:r>
              <a:rPr lang="en-US"/>
              <a:t>Group Name / DOC ID / Month XX, 2022 / © 2022 IBM Corporation</a:t>
            </a:r>
            <a:endParaRPr lang="en-US" dirty="0"/>
          </a:p>
        </p:txBody>
      </p:sp>
    </p:spTree>
    <p:extLst>
      <p:ext uri="{BB962C8B-B14F-4D97-AF65-F5344CB8AC3E}">
        <p14:creationId xmlns:p14="http://schemas.microsoft.com/office/powerpoint/2010/main" val="36010444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1D6A-E9F8-2C75-DC64-9323AB234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D9F58-4813-B72D-6264-A1201AF94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D97E1-00C9-2CF7-A6B6-E709E33DB79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6A9863B-CDE6-CDAE-AABC-F6A566B6974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85273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0D5E-B234-D12D-FC8A-908FC5F8205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BF4DC0D-99CF-7C93-5F1E-5C4E962AB57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563633A-2770-DEA4-3374-6FF06BBD0C3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555B294-DC2E-CCE4-7221-8EC8B7942B4E}"/>
              </a:ext>
            </a:extLst>
          </p:cNvPr>
          <p:cNvSpPr>
            <a:spLocks noGrp="1"/>
          </p:cNvSpPr>
          <p:nvPr>
            <p:ph type="sldNum" sz="quarter" idx="5"/>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fld id="{6E2E38B8-B0B4-AD41-AC6E-B781F46A9FD3}" type="slidenum">
              <a:rPr kumimoji="0" lang="en-US" sz="600" b="0" i="0" u="none" strike="noStrike" kern="1200" cap="none" spc="0" normalizeH="0" baseline="0" noProof="0" smtClean="0">
                <a:ln>
                  <a:noFill/>
                </a:ln>
                <a:solidFill>
                  <a:srgbClr val="000000"/>
                </a:solidFill>
                <a:effectLst/>
                <a:uLnTx/>
                <a:uFillTx/>
                <a:latin typeface="IBM Plex Sans Light" panose="020B0503050203000203" pitchFamily="34" charset="0"/>
              </a:rPr>
              <a:pPr marL="0" marR="0" lvl="0" indent="0" algn="l" defTabSz="1829379" rtl="0" eaLnBrk="1" fontAlgn="auto" latinLnBrk="0" hangingPunct="1">
                <a:lnSpc>
                  <a:spcPct val="100000"/>
                </a:lnSpc>
                <a:spcBef>
                  <a:spcPts val="0"/>
                </a:spcBef>
                <a:spcAft>
                  <a:spcPts val="0"/>
                </a:spcAft>
                <a:buClrTx/>
                <a:buSzTx/>
                <a:buFontTx/>
                <a:buNone/>
                <a:tabLst/>
                <a:defRPr/>
              </a:pPr>
              <a:t>48</a:t>
            </a:fld>
            <a:endPar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endParaRPr>
          </a:p>
        </p:txBody>
      </p:sp>
      <p:sp>
        <p:nvSpPr>
          <p:cNvPr id="5" name="Segnaposto piè di pagina 4">
            <a:extLst>
              <a:ext uri="{FF2B5EF4-FFF2-40B4-BE49-F238E27FC236}">
                <a16:creationId xmlns:a16="http://schemas.microsoft.com/office/drawing/2014/main" id="{E2CC8183-776F-B853-B97B-E5FE73CA348B}"/>
              </a:ext>
            </a:extLst>
          </p:cNvPr>
          <p:cNvSpPr>
            <a:spLocks noGrp="1"/>
          </p:cNvSpPr>
          <p:nvPr>
            <p:ph type="ftr" sz="quarter" idx="4"/>
          </p:nvPr>
        </p:nvSpPr>
        <p:spPr/>
        <p:txBody>
          <a:body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IBM Plex Sans Light" panose="020B0503050203000203" pitchFamily="34" charset="0"/>
              </a:rPr>
              <a:t>Group Name / DOC ID / Month XX, 2022 / © 2022 IBM Corporation</a:t>
            </a:r>
          </a:p>
        </p:txBody>
      </p:sp>
    </p:spTree>
    <p:extLst>
      <p:ext uri="{BB962C8B-B14F-4D97-AF65-F5344CB8AC3E}">
        <p14:creationId xmlns:p14="http://schemas.microsoft.com/office/powerpoint/2010/main" val="34273007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https://www.ibm.com/docs/en/envizi-esg-suite?topic=</a:t>
            </a:r>
            <a:r>
              <a:rPr lang="it-IT"/>
              <a:t>modules-utility-bill-analytics</a:t>
            </a:r>
            <a:endParaRPr/>
          </a:p>
          <a:p>
            <a:r>
              <a:t>https://www.ibm.com/</a:t>
            </a:r>
            <a:r>
              <a:rPr lang="it-IT"/>
              <a:t>docs</a:t>
            </a:r>
            <a:r>
              <a:t>/</a:t>
            </a:r>
            <a:r>
              <a:rPr lang="it-IT"/>
              <a:t>en</a:t>
            </a:r>
            <a:r>
              <a:t>/</a:t>
            </a:r>
            <a:r>
              <a:rPr lang="it-IT"/>
              <a:t>envizi-esg-suite?topic=reference-utility-bill-analytics</a:t>
            </a:r>
            <a:endParaRPr/>
          </a:p>
          <a:p>
            <a:r>
              <a:t>https://www.ibm.com/docs/en/envizi-esg-suite?topic=</a:t>
            </a:r>
            <a:r>
              <a:rPr lang="it-IT"/>
              <a:t>modules-interval-metering-analytics</a:t>
            </a:r>
            <a:endParaRPr/>
          </a:p>
          <a:p>
            <a:r>
              <a:t>https://www.ibm.com/</a:t>
            </a:r>
            <a:r>
              <a:rPr lang="it-IT"/>
              <a:t>products</a:t>
            </a:r>
            <a:r>
              <a:t>/</a:t>
            </a:r>
            <a:r>
              <a:rPr lang="it-IT"/>
              <a:t>envizi</a:t>
            </a:r>
            <a:r>
              <a:t>/</a:t>
            </a:r>
            <a:r>
              <a:rPr lang="it-IT"/>
              <a:t>interval-meter-analytics</a:t>
            </a:r>
          </a:p>
          <a:p>
            <a:r>
              <a:rPr lang="it-IT"/>
              <a:t>https://www.ibm.com/docs/en/envizi-esg-suite?topic=analytics-configuring-meter-alert-rules</a:t>
            </a:r>
          </a:p>
          <a:p>
            <a:r>
              <a:rPr lang="it-IT"/>
              <a:t>https://www.ibm.com/docs/en/envizi-esg-suite?topic=quality-account-inactivity-alerts</a:t>
            </a:r>
            <a:endParaRPr/>
          </a:p>
          <a:p>
            <a:r>
              <a:rPr lang="it-IT"/>
              <a:t>Consultazione: 9 ottobre 2026</a:t>
            </a:r>
            <a:endParaRPr/>
          </a:p>
          <a:p>
            <a:r>
              <a:t>[/Sources]</a:t>
            </a:r>
            <a:endParaRPr lang="it-IT"/>
          </a:p>
          <a:p>
            <a:r>
              <a:rPr lang="it-IT"/>
              <a:t>Alfago è un caso simulato, come specificato nel capitolo. I livelli 1–3 sono una struttura didattica della demo. La disponibilità dipende dai moduli e dalla configurazione. Le anomalie segnalano condizioni da indagare e non dimostrano automaticamente cause o risparmi. Gli alert di inattività sono disponibili anche per gli account secondo la documentazione IBM.</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2CD5BE-E354-EA96-E64F-F0AC23732922}"/>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F881D665-4F2A-B398-CF3B-E36463680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B62C9EF8-4D18-94A5-2298-F4CF4888D7D1}"/>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97BB4CE8-49F6-D42C-4392-EC366D961B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89CD48A-D0E6-FB05-1933-269EA049CB9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172051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A41227-707B-840F-C5B6-326D4E78309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513DBE6-D642-FCBA-19A1-752B14C47FF7}"/>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8BFD7EA-1030-8813-65B5-7A81C8D3735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CF140446-FFF6-17E5-ACF8-AAF75FF3747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75132EE-4F7E-3128-8E7B-30843F245A1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950853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166E11-7E16-C139-0F93-275D6EDC757D}"/>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ECBA044-A369-C235-DB9D-AE5A05E5E1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4E10939B-4D64-4D30-014F-39C4CA45194B}"/>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344D1C52-4AE4-F41A-A00D-1D7882562B7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DA93982-01C2-35D3-029E-EC975C6E83B3}"/>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280396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6F5A6AE-11FD-5A63-2E08-DF2C2B7D9D5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410F067A-E360-CAC1-1F32-DB72D71F4E8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EBBD238-8593-B0CD-DBC2-CB69E647521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8770B1B-0690-0BEC-B058-B0DBC7FD31C9}"/>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8806F3C-4249-4004-F93C-27862B6F644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0CB48D6-B592-58F5-C76E-CF741432A37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7530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EDDB3F-EF4D-C16F-E98B-FD693A6DAD83}"/>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68E7AE9-A7F7-0347-42AB-8AD7BCE1C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2D4C9A04-81F9-74C1-DB8D-1D5CDA6817C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4057E23-D517-E2C4-48F8-812427F10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4194130F-0369-F665-444A-1AEEB290DE87}"/>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19CB378-0BBE-7A6A-9A27-1693870067D4}"/>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8" name="Segnaposto piè di pagina 7">
            <a:extLst>
              <a:ext uri="{FF2B5EF4-FFF2-40B4-BE49-F238E27FC236}">
                <a16:creationId xmlns:a16="http://schemas.microsoft.com/office/drawing/2014/main" id="{298C14BD-DCA0-E70E-E566-FB849B7E8E60}"/>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B3FE4936-13E5-3E5A-A8E0-8497C7CD6B6E}"/>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665921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CAA408-E97E-B094-5112-817B204BBAF0}"/>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4FDFA8E-07AC-4B21-B497-CC9ADDF143B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4" name="Segnaposto piè di pagina 3">
            <a:extLst>
              <a:ext uri="{FF2B5EF4-FFF2-40B4-BE49-F238E27FC236}">
                <a16:creationId xmlns:a16="http://schemas.microsoft.com/office/drawing/2014/main" id="{4A25898B-B35D-550D-EDEB-B7534B4ABD6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A0BEA91-934D-06ED-D3B7-5F4ED0DF1BE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575608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C898587A-16A6-8E53-EDC2-DC408C313E83}"/>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3" name="Segnaposto piè di pagina 2">
            <a:extLst>
              <a:ext uri="{FF2B5EF4-FFF2-40B4-BE49-F238E27FC236}">
                <a16:creationId xmlns:a16="http://schemas.microsoft.com/office/drawing/2014/main" id="{E84954C8-60E0-744B-BED1-4574E5919EFB}"/>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B05B2A9-ACC0-F125-6C44-B9F7C50E6EC7}"/>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136508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EE919-3668-774A-93E4-D3767B1E80F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D4AB452-9D05-AE91-C6D4-1413437E1C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02CAF97-D7AC-F7AE-3B0D-5E4E1A230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D7664DB-3F60-869A-293D-E15D1FC2D83A}"/>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D185D03E-D3B8-FA59-A614-971B4252BAF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D5BD76F-4DE0-6325-2725-EDF82A93EE8F}"/>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4011976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8C9AA3-452A-D8E6-4056-46533132064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50485C4C-21FC-0A89-3F11-52803FA7F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3F56574D-7784-A7EF-A94D-ABE692421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DD79D49-DC4F-7E47-0AF0-00AA891973DD}"/>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6" name="Segnaposto piè di pagina 5">
            <a:extLst>
              <a:ext uri="{FF2B5EF4-FFF2-40B4-BE49-F238E27FC236}">
                <a16:creationId xmlns:a16="http://schemas.microsoft.com/office/drawing/2014/main" id="{C2482D1F-24A5-E115-5D77-0E0A4D3C491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DE02F41-E34F-5DA7-77B2-B33D4704241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70026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D44DA4-C384-685E-B6DE-4F509B83F97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8DBF331-686A-90F4-5621-81D1DA547C5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B11B76D-A486-90B4-2B90-E9613066CB26}"/>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7FE2F5F2-2D4D-B5C2-57AC-629A1285B84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FE253B1-35A4-6615-4536-77EA6DEC3AF5}"/>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386780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BFDDA5C-3BB3-197C-3EBF-81F1DF4FBAD7}"/>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641F594-5469-2400-E613-EF1DC070548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906D95-E722-D35C-CA9C-77DBD6940912}"/>
              </a:ext>
            </a:extLst>
          </p:cNvPr>
          <p:cNvSpPr>
            <a:spLocks noGrp="1"/>
          </p:cNvSpPr>
          <p:nvPr>
            <p:ph type="dt" sz="half" idx="10"/>
          </p:nvPr>
        </p:nvSpPr>
        <p:spPr/>
        <p:txBody>
          <a:body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ECD9CC98-F182-27F0-9D6F-D6D2310C0B2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0FA1D40-3A3E-B9DF-413C-78DFEA3BDC90}"/>
              </a:ext>
            </a:extLst>
          </p:cNvPr>
          <p:cNvSpPr>
            <a:spLocks noGrp="1"/>
          </p:cNvSpPr>
          <p:nvPr>
            <p:ph type="sldNum" sz="quarter" idx="12"/>
          </p:nvPr>
        </p:nvSpPr>
        <p:spPr/>
        <p:txBody>
          <a:bodyPr/>
          <a:lstStyle/>
          <a:p>
            <a:fld id="{8175C065-B770-1D45-B8C0-4B0EDA9DDAA4}" type="slidenum">
              <a:rPr lang="it-IT" smtClean="0"/>
              <a:t>‹N›</a:t>
            </a:fld>
            <a:endParaRPr lang="it-IT"/>
          </a:p>
        </p:txBody>
      </p:sp>
    </p:spTree>
    <p:extLst>
      <p:ext uri="{BB962C8B-B14F-4D97-AF65-F5344CB8AC3E}">
        <p14:creationId xmlns:p14="http://schemas.microsoft.com/office/powerpoint/2010/main" val="325803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sfondo leggero.png">
            <a:extLst>
              <a:ext uri="{FF2B5EF4-FFF2-40B4-BE49-F238E27FC236}">
                <a16:creationId xmlns:a16="http://schemas.microsoft.com/office/drawing/2014/main" id="{B6667F1F-51A6-7F2E-50D5-83472D047906}"/>
              </a:ext>
            </a:extLst>
          </p:cNvPr>
          <p:cNvPicPr>
            <a:picLocks noChangeAspect="1"/>
          </p:cNvPicPr>
          <p:nvPr userDrawn="1"/>
        </p:nvPicPr>
        <p:blipFill>
          <a:blip r:embed="rId2"/>
          <a:stretch>
            <a:fillRect/>
          </a:stretch>
        </p:blipFill>
        <p:spPr>
          <a:xfrm>
            <a:off x="0" y="0"/>
            <a:ext cx="12188952" cy="6858000"/>
          </a:xfrm>
          <a:prstGeom prst="rect">
            <a:avLst/>
          </a:prstGeom>
        </p:spPr>
      </p:pic>
      <p:sp>
        <p:nvSpPr>
          <p:cNvPr id="5" name="CasellaDiTesto 4">
            <a:extLst>
              <a:ext uri="{FF2B5EF4-FFF2-40B4-BE49-F238E27FC236}">
                <a16:creationId xmlns:a16="http://schemas.microsoft.com/office/drawing/2014/main" id="{5273C7BB-B8F5-AF70-58A1-27484AE2341A}"/>
              </a:ext>
            </a:extLst>
          </p:cNvPr>
          <p:cNvSpPr txBox="1"/>
          <p:nvPr userDrawn="1"/>
        </p:nvSpPr>
        <p:spPr>
          <a:xfrm>
            <a:off x="471115" y="-23853"/>
            <a:ext cx="9968948" cy="523220"/>
          </a:xfrm>
          <a:prstGeom prst="rect">
            <a:avLst/>
          </a:prstGeom>
          <a:noFill/>
        </p:spPr>
        <p:txBody>
          <a:bodyPr wrap="square">
            <a:spAutoFit/>
          </a:bodyPr>
          <a:lstStyle/>
          <a:p>
            <a:endParaRPr lang="it-IT" sz="2800" b="1" dirty="0">
              <a:solidFill>
                <a:srgbClr val="14433A"/>
              </a:solidFill>
              <a:latin typeface="IBM Plex Sans" panose="020B0503050203000203" pitchFamily="34" charset="0"/>
            </a:endParaRPr>
          </a:p>
        </p:txBody>
      </p:sp>
    </p:spTree>
    <p:extLst>
      <p:ext uri="{BB962C8B-B14F-4D97-AF65-F5344CB8AC3E}">
        <p14:creationId xmlns:p14="http://schemas.microsoft.com/office/powerpoint/2010/main" val="348021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 4 columns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288000" y="1714500"/>
            <a:ext cx="2477765"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3333316" y="1714500"/>
            <a:ext cx="2475384"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6380919" y="1714500"/>
            <a:ext cx="2476178"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9428522" y="1714500"/>
            <a:ext cx="2479352" cy="4286250"/>
          </a:xfrm>
        </p:spPr>
        <p:txBody>
          <a:bodyPr/>
          <a:lstStyle>
            <a:lvl1pPr>
              <a:spcBef>
                <a:spcPts val="0"/>
              </a:spcBef>
              <a:defRPr sz="1000" b="0" i="0">
                <a:solidFill>
                  <a:schemeClr val="tx1"/>
                </a:solidFill>
                <a:latin typeface="IBM Plex Sans" panose="020B0503050203000203" pitchFamily="34" charset="0"/>
              </a:defRPr>
            </a:lvl1pPr>
            <a:lvl2pPr marL="91404" indent="-91404">
              <a:spcBef>
                <a:spcPts val="0"/>
              </a:spcBef>
              <a:defRPr sz="1000" b="0" i="0">
                <a:solidFill>
                  <a:schemeClr val="tx1"/>
                </a:solidFill>
                <a:latin typeface="IBM Plex Sans" panose="020B0503050203000203" pitchFamily="34" charset="0"/>
              </a:defRPr>
            </a:lvl2pPr>
            <a:lvl3pPr marL="182806" indent="-91404">
              <a:spcBef>
                <a:spcPts val="0"/>
              </a:spcBef>
              <a:defRPr sz="1000" b="0" i="0">
                <a:solidFill>
                  <a:schemeClr val="tx1"/>
                </a:solidFill>
                <a:latin typeface="IBM Plex Sans" panose="020B0503050203000203" pitchFamily="34" charset="0"/>
              </a:defRPr>
            </a:lvl3pPr>
            <a:lvl4pPr marL="274210" indent="-91404">
              <a:spcBef>
                <a:spcPts val="0"/>
              </a:spcBef>
              <a:defRPr sz="1000" b="0" i="0">
                <a:solidFill>
                  <a:schemeClr val="tx1"/>
                </a:solidFill>
                <a:latin typeface="IBM Plex Sans" panose="020B0503050203000203" pitchFamily="34" charset="0"/>
              </a:defRPr>
            </a:lvl4pPr>
            <a:lvl5pPr>
              <a:spcBef>
                <a:spcPts val="0"/>
              </a:spcBef>
              <a:defRPr sz="1000" b="0" i="0">
                <a:solidFill>
                  <a:schemeClr val="tx1"/>
                </a:solidFill>
                <a:latin typeface="IBM Plex Sans" panose="020B0503050203000203"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284126" y="6402118"/>
            <a:ext cx="2477765" cy="190500"/>
          </a:xfrm>
        </p:spPr>
        <p:txBody>
          <a:bodyPr/>
          <a:lstStyle/>
          <a:p>
            <a:endParaRPr lang="en-US" dirty="0"/>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11769264" y="6469420"/>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61880222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ver, plai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CC25B71-827F-9C78-56BA-F30A6070AC9F}"/>
              </a:ext>
            </a:extLst>
          </p:cNvPr>
          <p:cNvSpPr>
            <a:spLocks noGrp="1"/>
          </p:cNvSpPr>
          <p:nvPr>
            <p:ph type="title"/>
          </p:nvPr>
        </p:nvSpPr>
        <p:spPr>
          <a:xfrm>
            <a:off x="287998" y="192024"/>
            <a:ext cx="5524575" cy="3144044"/>
          </a:xfrm>
        </p:spPr>
        <p:txBody>
          <a:bodyPr/>
          <a:lstStyle>
            <a:lvl1pPr>
              <a:lnSpc>
                <a:spcPct val="100000"/>
              </a:lnSpc>
              <a:defRPr sz="4299">
                <a:solidFill>
                  <a:schemeClr val="tx2"/>
                </a:solidFill>
              </a:defRPr>
            </a:lvl1pPr>
          </a:lstStyle>
          <a:p>
            <a:r>
              <a:rPr lang="en-GB"/>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11138525" y="6263482"/>
            <a:ext cx="819043" cy="304800"/>
          </a:xfrm>
          <a:prstGeom prst="rect">
            <a:avLst/>
          </a:prstGeom>
        </p:spPr>
      </p:pic>
    </p:spTree>
    <p:extLst>
      <p:ext uri="{BB962C8B-B14F-4D97-AF65-F5344CB8AC3E}">
        <p14:creationId xmlns:p14="http://schemas.microsoft.com/office/powerpoint/2010/main" val="395422400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287998" y="192024"/>
            <a:ext cx="5524575" cy="1429544"/>
          </a:xfrm>
        </p:spPr>
        <p:txBody>
          <a:bodyPr rIns="457200"/>
          <a:lstStyle>
            <a:lvl1pPr>
              <a:lnSpc>
                <a:spcPct val="100000"/>
              </a:lnSpc>
              <a:defRPr sz="3199">
                <a:solidFill>
                  <a:schemeClr val="tx2"/>
                </a:solidFill>
              </a:defRPr>
            </a:lvl1pPr>
          </a:lstStyle>
          <a:p>
            <a:r>
              <a:rPr lang="en-GB"/>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284125" y="6402118"/>
            <a:ext cx="2477765" cy="190500"/>
          </a:xfrm>
        </p:spPr>
        <p:txBody>
          <a:bodyPr/>
          <a:lstStyle/>
          <a:p>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2360325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Video or imagery, 3/4, ins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3333316" y="282575"/>
            <a:ext cx="8574559" cy="6289675"/>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07002118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Video or imagery, 3/4, ble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287999" y="1714500"/>
            <a:ext cx="2477765" cy="4286250"/>
          </a:xfrm>
        </p:spPr>
        <p:txBody>
          <a:bodyPr/>
          <a:lstStyle>
            <a:lvl1pPr>
              <a:lnSpc>
                <a:spcPct val="110000"/>
              </a:lnSpc>
              <a:spcBef>
                <a:spcPts val="0"/>
              </a:spcBef>
              <a:defRPr sz="1400">
                <a:solidFill>
                  <a:schemeClr val="tx1"/>
                </a:solidFill>
              </a:defRPr>
            </a:lvl1pPr>
            <a:lvl2pPr marL="127990" indent="-127990">
              <a:lnSpc>
                <a:spcPct val="110000"/>
              </a:lnSpc>
              <a:spcBef>
                <a:spcPts val="0"/>
              </a:spcBef>
              <a:defRPr sz="1400">
                <a:solidFill>
                  <a:schemeClr val="tx1"/>
                </a:solidFill>
              </a:defRPr>
            </a:lvl2pPr>
            <a:lvl3pPr marL="255981" indent="-127990">
              <a:lnSpc>
                <a:spcPct val="110000"/>
              </a:lnSpc>
              <a:spcBef>
                <a:spcPts val="0"/>
              </a:spcBef>
              <a:defRPr sz="1400">
                <a:solidFill>
                  <a:schemeClr val="tx1"/>
                </a:solidFill>
              </a:defRPr>
            </a:lvl3pPr>
            <a:lvl4pPr marL="383971" indent="-127990">
              <a:lnSpc>
                <a:spcPct val="110000"/>
              </a:lnSpc>
              <a:spcBef>
                <a:spcPts val="0"/>
              </a:spcBef>
              <a:defRPr sz="1400">
                <a:solidFill>
                  <a:schemeClr val="tx1"/>
                </a:solidFill>
              </a:defRPr>
            </a:lvl4pPr>
            <a:lvl5pPr>
              <a:lnSpc>
                <a:spcPct val="110000"/>
              </a:lnSpc>
              <a:spcBef>
                <a:spcPts val="0"/>
              </a:spcBef>
              <a:defRPr sz="14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3047603" y="0"/>
            <a:ext cx="9144397" cy="6858000"/>
          </a:xfrm>
          <a:solidFill>
            <a:srgbClr val="E0E0E0"/>
          </a:solidFill>
        </p:spPr>
        <p:txBody>
          <a:bodyPr anchor="ctr"/>
          <a:lstStyle>
            <a:lvl1pPr algn="ctr">
              <a:defRPr>
                <a:solidFill>
                  <a:schemeClr val="accent5"/>
                </a:solidFill>
              </a:defRPr>
            </a:lvl1pPr>
          </a:lstStyle>
          <a:p>
            <a:r>
              <a:rPr lang="en-US" dirty="0"/>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11776446" y="6448424"/>
            <a:ext cx="128254" cy="127001"/>
          </a:xfrm>
          <a:prstGeom prst="rect">
            <a:avLst/>
          </a:prstGeom>
        </p:spPr>
        <p:txBody>
          <a:bodyPr/>
          <a:lstStyle/>
          <a:p>
            <a:fld id="{86CB4B4D-7CA3-9044-876B-883B54F8677D}" type="slidenum">
              <a:rPr lang="en-US" smtClean="0"/>
              <a:t>‹N›</a:t>
            </a:fld>
            <a:endParaRPr lang="en-US" dirty="0"/>
          </a:p>
        </p:txBody>
      </p:sp>
    </p:spTree>
    <p:extLst>
      <p:ext uri="{BB962C8B-B14F-4D97-AF65-F5344CB8AC3E}">
        <p14:creationId xmlns:p14="http://schemas.microsoft.com/office/powerpoint/2010/main" val="222981870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287999" y="288036"/>
            <a:ext cx="2474590" cy="762794"/>
          </a:xfrm>
        </p:spPr>
        <p:txBody>
          <a:bodyPr/>
          <a:lstStyle>
            <a:lvl1pPr>
              <a:lnSpc>
                <a:spcPct val="110000"/>
              </a:lnSpc>
              <a:defRPr sz="1400">
                <a:solidFill>
                  <a:schemeClr val="tx2"/>
                </a:solidFill>
              </a:defRPr>
            </a:lvl1pPr>
          </a:lstStyle>
          <a:p>
            <a:r>
              <a:rPr lang="en-GB"/>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11769264" y="6469419"/>
            <a:ext cx="135436" cy="123111"/>
          </a:xfrm>
          <a:prstGeom prst="rect">
            <a:avLst/>
          </a:prstGeom>
          <a:ln w="12700">
            <a:miter lim="400000"/>
          </a:ln>
        </p:spPr>
        <p:txBody>
          <a:bodyPr wrap="none" lIns="0" tIns="0" rIns="0" bIns="0" anchor="ctr">
            <a:spAutoFit/>
          </a:bodyPr>
          <a:lstStyle>
            <a:lvl1pPr algn="r">
              <a:defRPr sz="8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‹N›</a:t>
            </a:fld>
            <a:endParaRPr lang="en-US" dirty="0"/>
          </a:p>
        </p:txBody>
      </p:sp>
    </p:spTree>
    <p:extLst>
      <p:ext uri="{BB962C8B-B14F-4D97-AF65-F5344CB8AC3E}">
        <p14:creationId xmlns:p14="http://schemas.microsoft.com/office/powerpoint/2010/main" val="12477192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32004" y="3084230"/>
            <a:ext cx="1727991" cy="689541"/>
          </a:xfrm>
          <a:prstGeom prst="rect">
            <a:avLst/>
          </a:prstGeom>
        </p:spPr>
      </p:pic>
    </p:spTree>
    <p:extLst>
      <p:ext uri="{BB962C8B-B14F-4D97-AF65-F5344CB8AC3E}">
        <p14:creationId xmlns:p14="http://schemas.microsoft.com/office/powerpoint/2010/main" val="21314375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8390B64A-8642-221E-07D5-D63664D4F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F4BC928-42BA-37B4-95A8-700FD0BA9F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7F09F2-0C7B-17C9-10BD-51D64AC055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EC6173-F612-4749-9A99-74C714A5253F}" type="datetimeFigureOut">
              <a:rPr lang="it-IT" smtClean="0"/>
              <a:t>14/10/26</a:t>
            </a:fld>
            <a:endParaRPr lang="it-IT"/>
          </a:p>
        </p:txBody>
      </p:sp>
      <p:sp>
        <p:nvSpPr>
          <p:cNvPr id="5" name="Segnaposto piè di pagina 4">
            <a:extLst>
              <a:ext uri="{FF2B5EF4-FFF2-40B4-BE49-F238E27FC236}">
                <a16:creationId xmlns:a16="http://schemas.microsoft.com/office/drawing/2014/main" id="{D0ABCAB8-7CC0-5919-3A46-44261402D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CF1454EC-0176-B6DB-9F4C-489697EFD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75C065-B770-1D45-B8C0-4B0EDA9DDAA4}" type="slidenum">
              <a:rPr lang="it-IT" smtClean="0"/>
              <a:t>‹N›</a:t>
            </a:fld>
            <a:endParaRPr lang="it-IT"/>
          </a:p>
        </p:txBody>
      </p:sp>
    </p:spTree>
    <p:extLst>
      <p:ext uri="{BB962C8B-B14F-4D97-AF65-F5344CB8AC3E}">
        <p14:creationId xmlns:p14="http://schemas.microsoft.com/office/powerpoint/2010/main" val="4124492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5" r:id="rId13"/>
    <p:sldLayoutId id="2147483676" r:id="rId14"/>
    <p:sldLayoutId id="2147483677" r:id="rId15"/>
    <p:sldLayoutId id="2147483678" r:id="rId16"/>
    <p:sldLayoutId id="2147483679" r:id="rId17"/>
    <p:sldLayoutId id="2147483680" r:id="rId18"/>
    <p:sldLayoutId id="2147483681"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hyperlink" Target="https://www.ibm.com/docs/en/envizi-esg-suite?topic=monitoring-regression-analysis" TargetMode="Externa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6.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hyperlink" Target="https://www.ibm.com/docs/en/envizi-esg-suite?topic=quality-account-inactivity-alerts" TargetMode="External"/><Relationship Id="rId3" Type="http://schemas.openxmlformats.org/officeDocument/2006/relationships/hyperlink" Target="https://www.ibm.com/docs/en/envizi-esg-suite?topic=modules-utility-bill-analytics" TargetMode="External"/><Relationship Id="rId7" Type="http://schemas.openxmlformats.org/officeDocument/2006/relationships/hyperlink" Target="https://www.ibm.com/docs/en/envizi-esg-suite?topic=analytics-configuring-meter-alert-rules" TargetMode="External"/><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hyperlink" Target="https://www.ibm.com/products/envizi/interval-meter-analytics" TargetMode="External"/><Relationship Id="rId5" Type="http://schemas.openxmlformats.org/officeDocument/2006/relationships/hyperlink" Target="https://www.ibm.com/docs/en/envizi-esg-suite?topic=modules-interval-metering-analytics" TargetMode="External"/><Relationship Id="rId4" Type="http://schemas.openxmlformats.org/officeDocument/2006/relationships/hyperlink" Target="https://www.ibm.com/docs/en/envizi-esg-suite?topic=reference-utility-bill-analytic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E94C1-566C-F582-C817-9E35FF694902}"/>
            </a:ext>
          </a:extLst>
        </p:cNvPr>
        <p:cNvGrpSpPr/>
        <p:nvPr/>
      </p:nvGrpSpPr>
      <p:grpSpPr>
        <a:xfrm>
          <a:off x="0" y="0"/>
          <a:ext cx="0" cy="0"/>
          <a:chOff x="0" y="0"/>
          <a:chExt cx="0" cy="0"/>
        </a:xfrm>
      </p:grpSpPr>
      <p:pic>
        <p:nvPicPr>
          <p:cNvPr id="13" name="SK-1-img-2">
            <a:extLst>
              <a:ext uri="{FF2B5EF4-FFF2-40B4-BE49-F238E27FC236}">
                <a16:creationId xmlns:a16="http://schemas.microsoft.com/office/drawing/2014/main" id="{857ED53D-59A7-5D41-890D-F7114A35434A}"/>
              </a:ext>
            </a:extLst>
          </p:cNvPr>
          <p:cNvPicPr/>
          <p:nvPr/>
        </p:nvPicPr>
        <p:blipFill>
          <a:blip r:embed="rId3"/>
          <a:stretch/>
        </p:blipFill>
        <p:spPr>
          <a:xfrm>
            <a:off x="6547594" y="1097280"/>
            <a:ext cx="4953008" cy="3438102"/>
          </a:xfrm>
          <a:prstGeom prst="rect">
            <a:avLst/>
          </a:prstGeom>
          <a:noFill/>
          <a:ln w="0">
            <a:noFill/>
          </a:ln>
        </p:spPr>
      </p:pic>
      <p:pic>
        <p:nvPicPr>
          <p:cNvPr id="17" name="SK-1-img-6">
            <a:extLst>
              <a:ext uri="{FF2B5EF4-FFF2-40B4-BE49-F238E27FC236}">
                <a16:creationId xmlns:a16="http://schemas.microsoft.com/office/drawing/2014/main" id="{5D56AC93-A688-6ECC-034F-E950D9F4CA2B}"/>
              </a:ext>
            </a:extLst>
          </p:cNvPr>
          <p:cNvPicPr/>
          <p:nvPr/>
        </p:nvPicPr>
        <p:blipFill>
          <a:blip r:embed="rId4"/>
          <a:stretch/>
        </p:blipFill>
        <p:spPr>
          <a:xfrm>
            <a:off x="640080" y="6035040"/>
            <a:ext cx="10881360" cy="9144"/>
          </a:xfrm>
          <a:prstGeom prst="rect">
            <a:avLst/>
          </a:prstGeom>
          <a:noFill/>
          <a:ln w="0">
            <a:noFill/>
          </a:ln>
        </p:spPr>
      </p:pic>
      <p:pic>
        <p:nvPicPr>
          <p:cNvPr id="18" name="SK-1-img-7">
            <a:extLst>
              <a:ext uri="{FF2B5EF4-FFF2-40B4-BE49-F238E27FC236}">
                <a16:creationId xmlns:a16="http://schemas.microsoft.com/office/drawing/2014/main" id="{4159CB6A-B84D-80D0-F0A2-0063A85ECD0A}"/>
              </a:ext>
            </a:extLst>
          </p:cNvPr>
          <p:cNvPicPr/>
          <p:nvPr/>
        </p:nvPicPr>
        <p:blipFill>
          <a:blip r:embed="rId5"/>
          <a:stretch/>
        </p:blipFill>
        <p:spPr>
          <a:xfrm>
            <a:off x="6010157" y="1097280"/>
            <a:ext cx="5490445" cy="4937760"/>
          </a:xfrm>
          <a:prstGeom prst="rect">
            <a:avLst/>
          </a:prstGeom>
          <a:noFill/>
          <a:ln w="0">
            <a:noFill/>
          </a:ln>
        </p:spPr>
      </p:pic>
      <p:sp>
        <p:nvSpPr>
          <p:cNvPr id="22" name="SK-1-text-11">
            <a:extLst>
              <a:ext uri="{FF2B5EF4-FFF2-40B4-BE49-F238E27FC236}">
                <a16:creationId xmlns:a16="http://schemas.microsoft.com/office/drawing/2014/main" id="{189C8CF6-A3DA-3FE8-27B2-730050E5FCB9}"/>
              </a:ext>
            </a:extLst>
          </p:cNvPr>
          <p:cNvSpPr/>
          <p:nvPr/>
        </p:nvSpPr>
        <p:spPr>
          <a:xfrm>
            <a:off x="640080" y="594360"/>
            <a:ext cx="5212080" cy="3657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1800" b="1">
                <a:solidFill>
                  <a:srgbClr val="2E7D4F"/>
                </a:solidFill>
                <a:latin typeface="Calibri"/>
              </a:rPr>
              <a:t>2026 ESG REPORTING</a:t>
            </a:r>
          </a:p>
        </p:txBody>
      </p:sp>
      <p:sp>
        <p:nvSpPr>
          <p:cNvPr id="23" name="SK-1-text-12">
            <a:extLst>
              <a:ext uri="{FF2B5EF4-FFF2-40B4-BE49-F238E27FC236}">
                <a16:creationId xmlns:a16="http://schemas.microsoft.com/office/drawing/2014/main" id="{8759690C-0B4B-284E-AD9B-87FB5185FDFC}"/>
              </a:ext>
            </a:extLst>
          </p:cNvPr>
          <p:cNvSpPr/>
          <p:nvPr/>
        </p:nvSpPr>
        <p:spPr>
          <a:xfrm>
            <a:off x="640080" y="1234440"/>
            <a:ext cx="5029200" cy="73152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lgn="l">
              <a:lnSpc>
                <a:spcPct val="105000"/>
              </a:lnSpc>
              <a:spcBef>
                <a:spcPts val="0"/>
              </a:spcBef>
              <a:spcAft>
                <a:spcPts val="800"/>
              </a:spcAft>
            </a:pPr>
            <a:r>
              <a:rPr lang="it-IT" sz="4400" b="1">
                <a:solidFill>
                  <a:srgbClr val="14433A"/>
                </a:solidFill>
                <a:latin typeface="Calibri"/>
              </a:rPr>
              <a:t>Envizi</a:t>
            </a:r>
          </a:p>
        </p:txBody>
      </p:sp>
      <p:sp>
        <p:nvSpPr>
          <p:cNvPr id="24" name="SK-1-text-13">
            <a:extLst>
              <a:ext uri="{FF2B5EF4-FFF2-40B4-BE49-F238E27FC236}">
                <a16:creationId xmlns:a16="http://schemas.microsoft.com/office/drawing/2014/main" id="{26CC8673-84D8-87CF-6C96-8DC5FF6EAD58}"/>
              </a:ext>
            </a:extLst>
          </p:cNvPr>
          <p:cNvSpPr/>
          <p:nvPr/>
        </p:nvSpPr>
        <p:spPr>
          <a:xfrm>
            <a:off x="640080" y="2331720"/>
            <a:ext cx="5029200" cy="3337560"/>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noAutofit/>
          </a:bodyPr>
          <a:lstStyle/>
          <a:p>
            <a:pPr>
              <a:buNone/>
            </a:pPr>
            <a:r>
              <a:rPr lang="it-IT" sz="2800" dirty="0">
                <a:solidFill>
                  <a:srgbClr val="0F62FE"/>
                </a:solidFill>
              </a:rPr>
              <a:t>Modulo: Meter  Analytics</a:t>
            </a:r>
            <a:br>
              <a:rPr lang="it-IT" sz="2400" dirty="0"/>
            </a:br>
            <a:endParaRPr lang="it-IT" sz="2400" b="1" dirty="0"/>
          </a:p>
          <a:p>
            <a:r>
              <a:rPr lang="it-IT" sz="2400" dirty="0">
                <a:solidFill>
                  <a:srgbClr val="161616"/>
                </a:solidFill>
              </a:rPr>
              <a:t>Analizzare costi, consumi e benchmark per individuare inefficienze e opportunità di risparmio. </a:t>
            </a: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endParaRPr lang="it-IT" sz="2200" b="0" dirty="0">
              <a:solidFill>
                <a:srgbClr val="5B6B70"/>
              </a:solidFill>
              <a:latin typeface="Calibri"/>
            </a:endParaRPr>
          </a:p>
          <a:p>
            <a:pPr algn="l">
              <a:lnSpc>
                <a:spcPct val="105000"/>
              </a:lnSpc>
              <a:spcBef>
                <a:spcPts val="0"/>
              </a:spcBef>
              <a:spcAft>
                <a:spcPts val="800"/>
              </a:spcAft>
            </a:pPr>
            <a:r>
              <a:rPr lang="it-IT" sz="2200" b="0" dirty="0">
                <a:solidFill>
                  <a:srgbClr val="5B6B70"/>
                </a:solidFill>
                <a:latin typeface="Calibri"/>
              </a:rPr>
              <a:t>Felice Petrignano</a:t>
            </a:r>
          </a:p>
          <a:p>
            <a:pPr algn="l">
              <a:lnSpc>
                <a:spcPct val="105000"/>
              </a:lnSpc>
              <a:spcBef>
                <a:spcPts val="0"/>
              </a:spcBef>
              <a:spcAft>
                <a:spcPts val="800"/>
              </a:spcAft>
            </a:pPr>
            <a:r>
              <a:rPr lang="it-IT" sz="2200" b="0" dirty="0">
                <a:solidFill>
                  <a:srgbClr val="5B6B70"/>
                </a:solidFill>
                <a:latin typeface="Calibri"/>
              </a:rPr>
              <a:t>SME </a:t>
            </a:r>
            <a:r>
              <a:rPr lang="it-IT" sz="2200" b="0" dirty="0" err="1">
                <a:solidFill>
                  <a:srgbClr val="5B6B70"/>
                </a:solidFill>
                <a:latin typeface="Calibri"/>
              </a:rPr>
              <a:t>Envizi</a:t>
            </a:r>
            <a:r>
              <a:rPr lang="it-IT" sz="2200" b="0" dirty="0">
                <a:solidFill>
                  <a:srgbClr val="5B6B70"/>
                </a:solidFill>
                <a:latin typeface="Calibri"/>
              </a:rPr>
              <a:t> IBM Italia</a:t>
            </a:r>
          </a:p>
        </p:txBody>
      </p:sp>
      <p:sp>
        <p:nvSpPr>
          <p:cNvPr id="25" name="Linea verde titolo">
            <a:extLst>
              <a:ext uri="{FF2B5EF4-FFF2-40B4-BE49-F238E27FC236}">
                <a16:creationId xmlns:a16="http://schemas.microsoft.com/office/drawing/2014/main" id="{A6678BFC-6560-E5C2-2666-C334E1932CBD}"/>
              </a:ext>
            </a:extLst>
          </p:cNvPr>
          <p:cNvSpPr/>
          <p:nvPr/>
        </p:nvSpPr>
        <p:spPr>
          <a:xfrm>
            <a:off x="640080" y="274320"/>
            <a:ext cx="1005840" cy="73152"/>
          </a:xfrm>
          <a:prstGeom prst="rect">
            <a:avLst/>
          </a:prstGeom>
          <a:solidFill>
            <a:srgbClr val="4EA72E"/>
          </a:solidFill>
          <a:ln>
            <a:noFill/>
          </a:ln>
        </p:spPr>
        <p:txBody>
          <a:bodyPr/>
          <a:lstStyle/>
          <a:p>
            <a:endParaRPr lang="it-IT"/>
          </a:p>
        </p:txBody>
      </p:sp>
      <p:sp>
        <p:nvSpPr>
          <p:cNvPr id="26" name="Rettangolo 2">
            <a:extLst>
              <a:ext uri="{FF2B5EF4-FFF2-40B4-BE49-F238E27FC236}">
                <a16:creationId xmlns:a16="http://schemas.microsoft.com/office/drawing/2014/main" id="{B80EF3E5-EEB9-BD34-726E-465740FD31FE}"/>
              </a:ext>
            </a:extLst>
          </p:cNvPr>
          <p:cNvSpPr/>
          <p:nvPr/>
        </p:nvSpPr>
        <p:spPr>
          <a:xfrm>
            <a:off x="9035359" y="172244"/>
            <a:ext cx="3029561" cy="2670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t>IBM </a:t>
            </a:r>
            <a:r>
              <a:rPr lang="it-IT" err="1"/>
              <a:t>Envizi</a:t>
            </a:r>
            <a:endParaRPr lang="it-IT"/>
          </a:p>
        </p:txBody>
      </p:sp>
    </p:spTree>
    <p:extLst>
      <p:ext uri="{BB962C8B-B14F-4D97-AF65-F5344CB8AC3E}">
        <p14:creationId xmlns:p14="http://schemas.microsoft.com/office/powerpoint/2010/main" val="2082824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999" y="320445"/>
            <a:ext cx="6399967" cy="184666"/>
          </a:xfrm>
          <a:prstGeom prst="rect">
            <a:avLst/>
          </a:prstGeom>
          <a:noFill/>
        </p:spPr>
        <p:txBody>
          <a:bodyPr wrap="square" lIns="0" tIns="0" rIns="0" bIns="0">
            <a:spAutoFit/>
          </a:bodyPr>
          <a:lstStyle/>
          <a:p>
            <a:r>
              <a:rPr lang="it-IT" sz="1200" b="1">
                <a:solidFill>
                  <a:srgbClr val="0F62FE"/>
                </a:solidFill>
                <a:latin typeface="IBM Plex Sans Light"/>
              </a:rPr>
              <a:t>IBM ENVIZI METER ANALYTICS</a:t>
            </a:r>
          </a:p>
        </p:txBody>
      </p:sp>
      <p:sp>
        <p:nvSpPr>
          <p:cNvPr id="3" name="TextBox 2"/>
          <p:cNvSpPr txBox="1"/>
          <p:nvPr/>
        </p:nvSpPr>
        <p:spPr>
          <a:xfrm>
            <a:off x="287999" y="571872"/>
            <a:ext cx="8228529" cy="292388"/>
          </a:xfrm>
          <a:prstGeom prst="rect">
            <a:avLst/>
          </a:prstGeom>
          <a:noFill/>
        </p:spPr>
        <p:txBody>
          <a:bodyPr wrap="square" lIns="0" tIns="0" rIns="0" bIns="0">
            <a:spAutoFit/>
          </a:bodyPr>
          <a:lstStyle/>
          <a:p>
            <a:r>
              <a:rPr lang="it-IT" sz="1900" b="1">
                <a:solidFill>
                  <a:srgbClr val="161616"/>
                </a:solidFill>
                <a:latin typeface="IBM Plex Sans Light"/>
              </a:rPr>
              <a:t>Dal dato del contatore alle decisioni operative</a:t>
            </a:r>
          </a:p>
        </p:txBody>
      </p:sp>
      <p:sp>
        <p:nvSpPr>
          <p:cNvPr id="4" name="Rounded Rectangle 3"/>
          <p:cNvSpPr/>
          <p:nvPr/>
        </p:nvSpPr>
        <p:spPr>
          <a:xfrm>
            <a:off x="287999" y="2186515"/>
            <a:ext cx="5638066" cy="2438083"/>
          </a:xfrm>
          <a:prstGeom prst="roundRect">
            <a:avLst>
              <a:gd name="adj" fmla="val 5000"/>
            </a:avLst>
          </a:prstGeom>
          <a:solidFill>
            <a:srgbClr val="F4F6FA"/>
          </a:solidFill>
          <a:ln w="12700">
            <a:solidFill>
              <a:srgbClr val="D7E0F0"/>
            </a:solidFill>
          </a:ln>
          <a:effectLst/>
        </p:spPr>
        <p:txBody>
          <a:bodyPr rtlCol="0" anchor="ctr"/>
          <a:lstStyle/>
          <a:p>
            <a:pPr algn="ctr"/>
            <a:endParaRPr lang="it-IT" sz="900"/>
          </a:p>
        </p:txBody>
      </p:sp>
      <p:sp>
        <p:nvSpPr>
          <p:cNvPr id="5" name="TextBox 4"/>
          <p:cNvSpPr txBox="1"/>
          <p:nvPr/>
        </p:nvSpPr>
        <p:spPr>
          <a:xfrm>
            <a:off x="479998" y="2437942"/>
            <a:ext cx="5254068" cy="2591987"/>
          </a:xfrm>
          <a:prstGeom prst="rect">
            <a:avLst/>
          </a:prstGeom>
          <a:noFill/>
        </p:spPr>
        <p:txBody>
          <a:bodyPr wrap="square" lIns="0" tIns="0" rIns="0" bIns="0">
            <a:normAutofit/>
          </a:bodyPr>
          <a:lstStyle/>
          <a:p>
            <a:pPr>
              <a:spcAft>
                <a:spcPts val="500"/>
              </a:spcAft>
            </a:pPr>
            <a:r>
              <a:rPr lang="it-IT" sz="1200" b="1" dirty="0">
                <a:solidFill>
                  <a:srgbClr val="0F62FE"/>
                </a:solidFill>
                <a:latin typeface="IBM Plex Sans Light"/>
              </a:rPr>
              <a:t>Perché Meter Analytics?</a:t>
            </a:r>
          </a:p>
          <a:p>
            <a:pPr>
              <a:spcAft>
                <a:spcPts val="500"/>
              </a:spcAft>
            </a:pPr>
            <a:r>
              <a:rPr lang="it-IT" sz="1200" dirty="0">
                <a:solidFill>
                  <a:srgbClr val="161616"/>
                </a:solidFill>
                <a:latin typeface="IBM Plex Sans Light"/>
              </a:rPr>
              <a:t>Le dashboard di IBM </a:t>
            </a:r>
            <a:r>
              <a:rPr lang="it-IT" sz="1200" dirty="0" err="1">
                <a:solidFill>
                  <a:srgbClr val="161616"/>
                </a:solidFill>
                <a:latin typeface="IBM Plex Sans Light"/>
              </a:rPr>
              <a:t>Envizi</a:t>
            </a:r>
            <a:r>
              <a:rPr lang="it-IT" sz="1200" dirty="0">
                <a:solidFill>
                  <a:srgbClr val="161616"/>
                </a:solidFill>
                <a:latin typeface="IBM Plex Sans Light"/>
              </a:rPr>
              <a:t> Energy mostrano dove si concentrano consumi, costi ed emissioni. Meter Analytics consente di fare un passo in più:</a:t>
            </a:r>
          </a:p>
          <a:p>
            <a:pPr marL="171416" indent="-171416">
              <a:spcAft>
                <a:spcPts val="300"/>
              </a:spcAft>
              <a:buClr>
                <a:srgbClr val="0F62FE"/>
              </a:buClr>
              <a:buFont typeface="IBM Plex Sans Light"/>
              <a:buChar char="—"/>
            </a:pPr>
            <a:r>
              <a:rPr lang="it-IT" sz="1200" dirty="0">
                <a:solidFill>
                  <a:srgbClr val="161616"/>
                </a:solidFill>
                <a:latin typeface="IBM Plex Sans Light"/>
              </a:rPr>
              <a:t>monitorare in modo continuo i dati provenienti dai contatori;</a:t>
            </a:r>
          </a:p>
          <a:p>
            <a:pPr marL="171416" indent="-171416">
              <a:spcAft>
                <a:spcPts val="300"/>
              </a:spcAft>
              <a:buClr>
                <a:srgbClr val="0F62FE"/>
              </a:buClr>
              <a:buFont typeface="IBM Plex Sans Light"/>
              <a:buChar char="—"/>
            </a:pPr>
            <a:r>
              <a:rPr lang="it-IT" sz="1200" dirty="0">
                <a:solidFill>
                  <a:srgbClr val="161616"/>
                </a:solidFill>
                <a:latin typeface="IBM Plex Sans Light"/>
              </a:rPr>
              <a:t>individuare tempestivamente anomalie e sprechi;</a:t>
            </a:r>
          </a:p>
          <a:p>
            <a:pPr marL="171416" indent="-171416">
              <a:spcAft>
                <a:spcPts val="300"/>
              </a:spcAft>
              <a:buClr>
                <a:srgbClr val="0F62FE"/>
              </a:buClr>
              <a:buFont typeface="IBM Plex Sans Light"/>
              <a:buChar char="—"/>
            </a:pPr>
            <a:r>
              <a:rPr lang="it-IT" sz="1200" dirty="0">
                <a:solidFill>
                  <a:srgbClr val="161616"/>
                </a:solidFill>
                <a:latin typeface="IBM Plex Sans Light"/>
              </a:rPr>
              <a:t>analizzare il comportamento di impianti e linee produttive;</a:t>
            </a:r>
          </a:p>
          <a:p>
            <a:pPr marL="171416" indent="-171416">
              <a:spcAft>
                <a:spcPts val="300"/>
              </a:spcAft>
              <a:buClr>
                <a:srgbClr val="0F62FE"/>
              </a:buClr>
              <a:buFont typeface="IBM Plex Sans Light"/>
              <a:buChar char="—"/>
            </a:pPr>
            <a:r>
              <a:rPr lang="it-IT" sz="1200" dirty="0">
                <a:solidFill>
                  <a:srgbClr val="161616"/>
                </a:solidFill>
                <a:latin typeface="IBM Plex Sans Light"/>
              </a:rPr>
              <a:t>comprendere le cause dei consumi anomali;</a:t>
            </a:r>
          </a:p>
          <a:p>
            <a:pPr marL="171416" indent="-171416">
              <a:spcAft>
                <a:spcPts val="300"/>
              </a:spcAft>
              <a:buClr>
                <a:srgbClr val="0F62FE"/>
              </a:buClr>
              <a:buFont typeface="IBM Plex Sans Light"/>
              <a:buChar char="—"/>
            </a:pPr>
            <a:r>
              <a:rPr lang="it-IT" sz="1200" dirty="0">
                <a:solidFill>
                  <a:srgbClr val="161616"/>
                </a:solidFill>
                <a:latin typeface="IBM Plex Sans Light"/>
              </a:rPr>
              <a:t>verificare l’efficacia degli interventi di efficientamento.</a:t>
            </a:r>
          </a:p>
        </p:txBody>
      </p:sp>
      <p:sp>
        <p:nvSpPr>
          <p:cNvPr id="6" name="Rounded Rectangle 5"/>
          <p:cNvSpPr/>
          <p:nvPr/>
        </p:nvSpPr>
        <p:spPr>
          <a:xfrm>
            <a:off x="6264349" y="2186515"/>
            <a:ext cx="5635018" cy="2438083"/>
          </a:xfrm>
          <a:prstGeom prst="roundRect">
            <a:avLst>
              <a:gd name="adj" fmla="val 5000"/>
            </a:avLst>
          </a:prstGeom>
          <a:solidFill>
            <a:srgbClr val="001141"/>
          </a:solidFill>
          <a:ln>
            <a:noFill/>
          </a:ln>
          <a:effectLst/>
        </p:spPr>
        <p:txBody>
          <a:bodyPr rtlCol="0" anchor="ctr"/>
          <a:lstStyle/>
          <a:p>
            <a:pPr algn="ctr"/>
            <a:endParaRPr lang="it-IT" sz="900"/>
          </a:p>
        </p:txBody>
      </p:sp>
      <p:sp>
        <p:nvSpPr>
          <p:cNvPr id="7" name="TextBox 6"/>
          <p:cNvSpPr txBox="1"/>
          <p:nvPr/>
        </p:nvSpPr>
        <p:spPr>
          <a:xfrm>
            <a:off x="6456348" y="2437942"/>
            <a:ext cx="5251020" cy="2591987"/>
          </a:xfrm>
          <a:prstGeom prst="rect">
            <a:avLst/>
          </a:prstGeom>
          <a:noFill/>
        </p:spPr>
        <p:txBody>
          <a:bodyPr wrap="square" lIns="0" tIns="0" rIns="0" bIns="0">
            <a:normAutofit/>
          </a:bodyPr>
          <a:lstStyle/>
          <a:p>
            <a:pPr>
              <a:spcAft>
                <a:spcPts val="500"/>
              </a:spcAft>
            </a:pPr>
            <a:r>
              <a:rPr lang="it-IT" sz="1200" b="1">
                <a:solidFill>
                  <a:srgbClr val="78A9FF"/>
                </a:solidFill>
                <a:latin typeface="IBM Plex Sans Light"/>
              </a:rPr>
              <a:t>COSA VEDREMO NELLA DEMO</a:t>
            </a:r>
          </a:p>
          <a:p>
            <a:pPr marL="171416" indent="-171416">
              <a:spcAft>
                <a:spcPts val="450"/>
              </a:spcAft>
              <a:buClr>
                <a:srgbClr val="78A9FF"/>
              </a:buClr>
              <a:buFont typeface="IBM Plex Sans Light"/>
              <a:buChar char="—"/>
            </a:pPr>
            <a:r>
              <a:rPr lang="it-IT" sz="1200">
                <a:solidFill>
                  <a:srgbClr val="FFFFFF"/>
                </a:solidFill>
                <a:latin typeface="IBM Plex Sans Light"/>
              </a:rPr>
              <a:t>Acquisizione dei dati dai </a:t>
            </a:r>
            <a:r>
              <a:rPr lang="it-IT" sz="1200" err="1">
                <a:solidFill>
                  <a:srgbClr val="FFFFFF"/>
                </a:solidFill>
                <a:latin typeface="IBM Plex Sans Light"/>
              </a:rPr>
              <a:t>meter</a:t>
            </a:r>
            <a:endParaRPr lang="it-IT" sz="1200">
              <a:solidFill>
                <a:srgbClr val="FFFFFF"/>
              </a:solidFill>
              <a:latin typeface="IBM Plex Sans Light"/>
            </a:endParaRPr>
          </a:p>
          <a:p>
            <a:pPr marL="171416" indent="-171416">
              <a:spcAft>
                <a:spcPts val="450"/>
              </a:spcAft>
              <a:buClr>
                <a:srgbClr val="78A9FF"/>
              </a:buClr>
              <a:buFont typeface="IBM Plex Sans Light"/>
              <a:buChar char="—"/>
            </a:pPr>
            <a:r>
              <a:rPr lang="it-IT" sz="1200">
                <a:solidFill>
                  <a:srgbClr val="FFFFFF"/>
                </a:solidFill>
                <a:latin typeface="IBM Plex Sans Light"/>
              </a:rPr>
              <a:t>Monitoraggio quasi real-time</a:t>
            </a:r>
          </a:p>
          <a:p>
            <a:pPr marL="171416" indent="-171416">
              <a:spcAft>
                <a:spcPts val="450"/>
              </a:spcAft>
              <a:buClr>
                <a:srgbClr val="78A9FF"/>
              </a:buClr>
              <a:buFont typeface="IBM Plex Sans Light"/>
              <a:buChar char="—"/>
            </a:pPr>
            <a:r>
              <a:rPr lang="it-IT" sz="1200">
                <a:solidFill>
                  <a:srgbClr val="FFFFFF"/>
                </a:solidFill>
                <a:latin typeface="IBM Plex Sans Light"/>
              </a:rPr>
              <a:t>Individuazione automatica delle anomalie</a:t>
            </a:r>
          </a:p>
          <a:p>
            <a:pPr marL="171416" indent="-171416">
              <a:spcAft>
                <a:spcPts val="450"/>
              </a:spcAft>
              <a:buClr>
                <a:srgbClr val="78A9FF"/>
              </a:buClr>
              <a:buFont typeface="IBM Plex Sans Light"/>
              <a:buChar char="—"/>
            </a:pPr>
            <a:r>
              <a:rPr lang="it-IT" sz="1200">
                <a:solidFill>
                  <a:srgbClr val="FFFFFF"/>
                </a:solidFill>
                <a:latin typeface="IBM Plex Sans Light"/>
              </a:rPr>
              <a:t>Analisi delle cause (Root Cause Analysis)</a:t>
            </a:r>
          </a:p>
          <a:p>
            <a:pPr marL="171416" indent="-171416">
              <a:spcAft>
                <a:spcPts val="450"/>
              </a:spcAft>
              <a:buClr>
                <a:srgbClr val="78A9FF"/>
              </a:buClr>
              <a:buFont typeface="IBM Plex Sans Light"/>
              <a:buChar char="—"/>
            </a:pPr>
            <a:r>
              <a:rPr lang="it-IT" sz="1200">
                <a:solidFill>
                  <a:srgbClr val="FFFFFF"/>
                </a:solidFill>
                <a:latin typeface="IBM Plex Sans Light"/>
              </a:rPr>
              <a:t>Dashboard operative per Energy Manager e manutenzione</a:t>
            </a:r>
          </a:p>
        </p:txBody>
      </p:sp>
      <p:sp>
        <p:nvSpPr>
          <p:cNvPr id="8" name="Rounded Rectangle 7"/>
          <p:cNvSpPr/>
          <p:nvPr/>
        </p:nvSpPr>
        <p:spPr>
          <a:xfrm>
            <a:off x="287999" y="5043643"/>
            <a:ext cx="11611368" cy="914281"/>
          </a:xfrm>
          <a:prstGeom prst="roundRect">
            <a:avLst>
              <a:gd name="adj" fmla="val 12000"/>
            </a:avLst>
          </a:prstGeom>
          <a:solidFill>
            <a:srgbClr val="E8EFFE"/>
          </a:solidFill>
          <a:ln>
            <a:noFill/>
          </a:ln>
          <a:effectLst/>
        </p:spPr>
        <p:txBody>
          <a:bodyPr wrap="square" lIns="274284" rIns="274284" rtlCol="0" anchor="ctr"/>
          <a:lstStyle/>
          <a:p>
            <a:pPr algn="ctr"/>
            <a:r>
              <a:rPr lang="it-IT" sz="1200" b="1">
                <a:solidFill>
                  <a:srgbClr val="0F62FE"/>
                </a:solidFill>
                <a:latin typeface="IBM Plex Sans Light"/>
              </a:rPr>
              <a:t>In sintesi:  </a:t>
            </a:r>
            <a:r>
              <a:rPr lang="it-IT" sz="1200">
                <a:solidFill>
                  <a:srgbClr val="161616"/>
                </a:solidFill>
                <a:latin typeface="IBM Plex Sans Light"/>
              </a:rPr>
              <a:t>Envizi Energy risponde alla domanda “Dove stanno aumentando consumi ed emissioni?”, Meter Analytics risponde alla domanda “Perché sta succedendo e su quale impianto devo intervenire?”</a:t>
            </a:r>
          </a:p>
        </p:txBody>
      </p:sp>
      <p:pic>
        <p:nvPicPr>
          <p:cNvPr id="9" name="Picture 3">
            <a:extLst>
              <a:ext uri="{FF2B5EF4-FFF2-40B4-BE49-F238E27FC236}">
                <a16:creationId xmlns:a16="http://schemas.microsoft.com/office/drawing/2014/main" id="{15859E55-7892-82AF-60BC-BE811F1254A1}"/>
              </a:ext>
            </a:extLst>
          </p:cNvPr>
          <p:cNvPicPr>
            <a:picLocks noChangeAspect="1"/>
          </p:cNvPicPr>
          <p:nvPr/>
        </p:nvPicPr>
        <p:blipFill>
          <a:blip r:embed="rId2"/>
          <a:stretch>
            <a:fillRect/>
          </a:stretch>
        </p:blipFill>
        <p:spPr>
          <a:xfrm>
            <a:off x="6333623" y="225152"/>
            <a:ext cx="4365808" cy="1858879"/>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C71D6-ABBB-15A9-182C-078A8F9086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BB4BD15-124E-F7E2-9F53-E60FCA02F4BF}"/>
              </a:ext>
            </a:extLst>
          </p:cNvPr>
          <p:cNvSpPr>
            <a:spLocks noGrp="1"/>
          </p:cNvSpPr>
          <p:nvPr>
            <p:ph type="title"/>
          </p:nvPr>
        </p:nvSpPr>
        <p:spPr>
          <a:xfrm>
            <a:off x="284125" y="265794"/>
            <a:ext cx="3550077" cy="569140"/>
          </a:xfrm>
        </p:spPr>
        <p:txBody>
          <a:bodyPr>
            <a:normAutofit fontScale="90000"/>
          </a:bodyPr>
          <a:lstStyle/>
          <a:p>
            <a:r>
              <a:rPr lang="it-IT" sz="1600" dirty="0"/>
              <a:t>Performance dashboard</a:t>
            </a:r>
            <a:br>
              <a:rPr lang="it-IT" sz="1600" dirty="0"/>
            </a:br>
            <a:r>
              <a:rPr lang="it-IT" sz="1600" dirty="0"/>
              <a:t> – Consumi di tutte le utenze</a:t>
            </a:r>
          </a:p>
        </p:txBody>
      </p:sp>
      <p:sp>
        <p:nvSpPr>
          <p:cNvPr id="8" name="Text Placeholder 7">
            <a:extLst>
              <a:ext uri="{FF2B5EF4-FFF2-40B4-BE49-F238E27FC236}">
                <a16:creationId xmlns:a16="http://schemas.microsoft.com/office/drawing/2014/main" id="{F4AE8245-9035-0EBA-CFB8-552B7BD2D2CC}"/>
              </a:ext>
            </a:extLst>
          </p:cNvPr>
          <p:cNvSpPr>
            <a:spLocks noGrp="1"/>
          </p:cNvSpPr>
          <p:nvPr>
            <p:ph type="body" sz="quarter" idx="12"/>
          </p:nvPr>
        </p:nvSpPr>
        <p:spPr>
          <a:xfrm>
            <a:off x="287999" y="1837028"/>
            <a:ext cx="2191752" cy="4163387"/>
          </a:xfrm>
        </p:spPr>
        <p:txBody>
          <a:bodyPr>
            <a:normAutofit fontScale="92500" lnSpcReduction="20000"/>
          </a:bodyPr>
          <a:lstStyle/>
          <a:p>
            <a:pPr>
              <a:spcAft>
                <a:spcPts val="300"/>
              </a:spcAft>
            </a:pPr>
            <a:r>
              <a:rPr lang="it-IT" dirty="0"/>
              <a:t>Persona: Sustainability Analyst o Manager, Energy Manager.</a:t>
            </a:r>
          </a:p>
          <a:p>
            <a:pPr>
              <a:spcAft>
                <a:spcPts val="300"/>
              </a:spcAft>
            </a:pPr>
            <a:r>
              <a:rPr lang="it-IT" dirty="0"/>
              <a:t>Caso d'uso: analizzare l'andamento energetico per l'intera organizzazione, un gruppo di reporting o una sede.</a:t>
            </a:r>
          </a:p>
          <a:p>
            <a:pPr>
              <a:spcAft>
                <a:spcPts val="300"/>
              </a:spcAft>
            </a:pPr>
            <a:r>
              <a:rPr lang="it-IT" dirty="0"/>
              <a:t>Navigazione: menù Monitor → Performance dashboards, con consumi, costi ed emissioni.</a:t>
            </a:r>
          </a:p>
          <a:p>
            <a:pPr>
              <a:spcAft>
                <a:spcPts val="300"/>
              </a:spcAft>
            </a:pPr>
            <a:r>
              <a:rPr lang="it-IT" dirty="0"/>
              <a:t>Filtri su misure, gruppi e sedi; confronto con anno base, anno precedente o target.</a:t>
            </a:r>
          </a:p>
          <a:p>
            <a:pPr>
              <a:spcAft>
                <a:spcPts val="300"/>
              </a:spcAft>
            </a:pPr>
            <a:r>
              <a:rPr lang="it-IT" dirty="0"/>
              <a:t>Le viste possono essere salvate e condivise con gli stakeholder interni.</a:t>
            </a:r>
            <a:endParaRPr lang="it-IT"/>
          </a:p>
        </p:txBody>
      </p:sp>
      <p:sp>
        <p:nvSpPr>
          <p:cNvPr id="15" name="Footer Placeholder 4">
            <a:extLst>
              <a:ext uri="{FF2B5EF4-FFF2-40B4-BE49-F238E27FC236}">
                <a16:creationId xmlns:a16="http://schemas.microsoft.com/office/drawing/2014/main" id="{48ACAF7F-031F-7C54-0500-8726AAE5D7EA}"/>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7A9DAAA6-787E-6A08-392D-8B8B4532E344}"/>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a:t>
            </a:fld>
            <a:endParaRPr lang="en-US"/>
          </a:p>
        </p:txBody>
      </p:sp>
      <p:pic>
        <p:nvPicPr>
          <p:cNvPr id="5" name="Picture 4">
            <a:extLst>
              <a:ext uri="{FF2B5EF4-FFF2-40B4-BE49-F238E27FC236}">
                <a16:creationId xmlns:a16="http://schemas.microsoft.com/office/drawing/2014/main" id="{C09EEC46-27C1-A83A-F08C-CD053CAC63AB}"/>
              </a:ext>
            </a:extLst>
          </p:cNvPr>
          <p:cNvPicPr>
            <a:picLocks noChangeAspect="1"/>
          </p:cNvPicPr>
          <p:nvPr/>
        </p:nvPicPr>
        <p:blipFill>
          <a:blip r:embed="rId3"/>
          <a:stretch>
            <a:fillRect/>
          </a:stretch>
        </p:blipFill>
        <p:spPr>
          <a:xfrm>
            <a:off x="4355529" y="586524"/>
            <a:ext cx="6257362" cy="5988491"/>
          </a:xfrm>
          <a:prstGeom prst="rect">
            <a:avLst/>
          </a:prstGeom>
        </p:spPr>
      </p:pic>
    </p:spTree>
    <p:extLst>
      <p:ext uri="{BB962C8B-B14F-4D97-AF65-F5344CB8AC3E}">
        <p14:creationId xmlns:p14="http://schemas.microsoft.com/office/powerpoint/2010/main" val="193075662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A12BB-458B-018C-C864-BAD0164DE4F3}"/>
            </a:ext>
          </a:extLst>
        </p:cNvPr>
        <p:cNvGrpSpPr/>
        <p:nvPr/>
      </p:nvGrpSpPr>
      <p:grpSpPr>
        <a:xfrm>
          <a:off x="0" y="0"/>
          <a:ext cx="0" cy="0"/>
          <a:chOff x="0" y="0"/>
          <a:chExt cx="0" cy="0"/>
        </a:xfrm>
      </p:grpSpPr>
      <p:sp>
        <p:nvSpPr>
          <p:cNvPr id="15" name="Footer Placeholder 4">
            <a:extLst>
              <a:ext uri="{FF2B5EF4-FFF2-40B4-BE49-F238E27FC236}">
                <a16:creationId xmlns:a16="http://schemas.microsoft.com/office/drawing/2014/main" id="{3CBAF161-5F6F-FD62-9849-88260D5BCD05}"/>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65122F62-4FE0-7A8B-1ACC-FD5A5D9FE56A}"/>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a:t>
            </a:fld>
            <a:endParaRPr lang="en-US"/>
          </a:p>
        </p:txBody>
      </p:sp>
      <p:pic>
        <p:nvPicPr>
          <p:cNvPr id="10" name="Picture 9">
            <a:extLst>
              <a:ext uri="{FF2B5EF4-FFF2-40B4-BE49-F238E27FC236}">
                <a16:creationId xmlns:a16="http://schemas.microsoft.com/office/drawing/2014/main" id="{DE48B333-4637-705B-2FB0-2E59D4B7039D}"/>
              </a:ext>
            </a:extLst>
          </p:cNvPr>
          <p:cNvPicPr>
            <a:picLocks noChangeAspect="1"/>
          </p:cNvPicPr>
          <p:nvPr/>
        </p:nvPicPr>
        <p:blipFill>
          <a:blip r:embed="rId3"/>
          <a:stretch>
            <a:fillRect/>
          </a:stretch>
        </p:blipFill>
        <p:spPr>
          <a:xfrm>
            <a:off x="3347212" y="828047"/>
            <a:ext cx="6750786" cy="1507189"/>
          </a:xfrm>
          <a:prstGeom prst="rect">
            <a:avLst/>
          </a:prstGeom>
        </p:spPr>
      </p:pic>
      <p:pic>
        <p:nvPicPr>
          <p:cNvPr id="4" name="Picture 3">
            <a:extLst>
              <a:ext uri="{FF2B5EF4-FFF2-40B4-BE49-F238E27FC236}">
                <a16:creationId xmlns:a16="http://schemas.microsoft.com/office/drawing/2014/main" id="{2882B435-DAB6-0C9C-0F5B-575E6CA5F71B}"/>
              </a:ext>
            </a:extLst>
          </p:cNvPr>
          <p:cNvPicPr>
            <a:picLocks noChangeAspect="1"/>
          </p:cNvPicPr>
          <p:nvPr/>
        </p:nvPicPr>
        <p:blipFill>
          <a:blip r:embed="rId4"/>
          <a:stretch>
            <a:fillRect/>
          </a:stretch>
        </p:blipFill>
        <p:spPr>
          <a:xfrm>
            <a:off x="3347213" y="3074587"/>
            <a:ext cx="6750786" cy="2868349"/>
          </a:xfrm>
          <a:prstGeom prst="rect">
            <a:avLst/>
          </a:prstGeom>
        </p:spPr>
      </p:pic>
      <p:pic>
        <p:nvPicPr>
          <p:cNvPr id="9" name="Picture 8">
            <a:extLst>
              <a:ext uri="{FF2B5EF4-FFF2-40B4-BE49-F238E27FC236}">
                <a16:creationId xmlns:a16="http://schemas.microsoft.com/office/drawing/2014/main" id="{30916725-125F-58B6-B050-7BBAE23343A9}"/>
              </a:ext>
            </a:extLst>
          </p:cNvPr>
          <p:cNvPicPr>
            <a:picLocks noChangeAspect="1"/>
          </p:cNvPicPr>
          <p:nvPr/>
        </p:nvPicPr>
        <p:blipFill>
          <a:blip r:embed="rId5"/>
          <a:stretch>
            <a:fillRect/>
          </a:stretch>
        </p:blipFill>
        <p:spPr>
          <a:xfrm>
            <a:off x="10194917" y="2760220"/>
            <a:ext cx="1803562" cy="3444961"/>
          </a:xfrm>
          <a:prstGeom prst="rect">
            <a:avLst/>
          </a:prstGeom>
        </p:spPr>
      </p:pic>
      <p:sp>
        <p:nvSpPr>
          <p:cNvPr id="16" name="TextBox 15"/>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DATI DI MISURAZIONE</a:t>
            </a:r>
          </a:p>
        </p:txBody>
      </p:sp>
      <p:sp>
        <p:nvSpPr>
          <p:cNvPr id="17" name="TextBox 16"/>
          <p:cNvSpPr txBox="1"/>
          <p:nvPr/>
        </p:nvSpPr>
        <p:spPr>
          <a:xfrm>
            <a:off x="287999" y="571873"/>
            <a:ext cx="2879985" cy="307777"/>
          </a:xfrm>
          <a:prstGeom prst="rect">
            <a:avLst/>
          </a:prstGeom>
          <a:noFill/>
        </p:spPr>
        <p:txBody>
          <a:bodyPr wrap="square" lIns="0" tIns="0" rIns="0" bIns="0">
            <a:spAutoFit/>
          </a:bodyPr>
          <a:lstStyle/>
          <a:p>
            <a:r>
              <a:rPr sz="2000" b="1" dirty="0" err="1">
                <a:solidFill>
                  <a:srgbClr val="161616"/>
                </a:solidFill>
                <a:latin typeface="IBM Plex Sans Light"/>
              </a:rPr>
              <a:t>Sede</a:t>
            </a:r>
            <a:r>
              <a:rPr sz="2000" b="1" dirty="0">
                <a:solidFill>
                  <a:srgbClr val="161616"/>
                </a:solidFill>
                <a:latin typeface="IBM Plex Sans Light"/>
              </a:rPr>
              <a:t> → </a:t>
            </a:r>
            <a:r>
              <a:rPr sz="2000" b="1" dirty="0" err="1">
                <a:solidFill>
                  <a:srgbClr val="161616"/>
                </a:solidFill>
                <a:latin typeface="IBM Plex Sans Light"/>
              </a:rPr>
              <a:t>contatori</a:t>
            </a:r>
            <a:endParaRPr sz="2000" b="1" dirty="0">
              <a:solidFill>
                <a:srgbClr val="161616"/>
              </a:solidFill>
              <a:latin typeface="IBM Plex Sans Light"/>
            </a:endParaRPr>
          </a:p>
        </p:txBody>
      </p:sp>
      <p:sp>
        <p:nvSpPr>
          <p:cNvPr id="18" name="Rounded Rectangle 17"/>
          <p:cNvSpPr/>
          <p:nvPr/>
        </p:nvSpPr>
        <p:spPr>
          <a:xfrm>
            <a:off x="287999" y="1509010"/>
            <a:ext cx="2879985" cy="1508564"/>
          </a:xfrm>
          <a:prstGeom prst="roundRect">
            <a:avLst>
              <a:gd name="adj" fmla="val 6000"/>
            </a:avLst>
          </a:prstGeom>
          <a:solidFill>
            <a:srgbClr val="F4F6FA"/>
          </a:solidFill>
          <a:ln w="12700">
            <a:solidFill>
              <a:srgbClr val="D7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9" name="TextBox 18"/>
          <p:cNvSpPr txBox="1"/>
          <p:nvPr/>
        </p:nvSpPr>
        <p:spPr>
          <a:xfrm>
            <a:off x="479998" y="1691867"/>
            <a:ext cx="2514273" cy="1356782"/>
          </a:xfrm>
          <a:prstGeom prst="rect">
            <a:avLst/>
          </a:prstGeom>
          <a:noFill/>
        </p:spPr>
        <p:txBody>
          <a:bodyPr wrap="square" lIns="0" tIns="0" rIns="0" bIns="0">
            <a:spAutoFit/>
          </a:bodyPr>
          <a:lstStyle/>
          <a:p>
            <a:pPr>
              <a:spcAft>
                <a:spcPts val="500"/>
              </a:spcAft>
            </a:pPr>
            <a:r>
              <a:rPr lang="it-IT" sz="1400" b="1" dirty="0">
                <a:solidFill>
                  <a:srgbClr val="161616"/>
                </a:solidFill>
                <a:latin typeface="IBM Plex Sans Light"/>
              </a:rPr>
              <a:t>Contatori</a:t>
            </a:r>
            <a:r>
              <a:rPr lang="it-IT" sz="1400" dirty="0">
                <a:solidFill>
                  <a:srgbClr val="161616"/>
                </a:solidFill>
                <a:latin typeface="IBM Plex Sans Light"/>
              </a:rPr>
              <a:t> – la griglia mostra le serie temporali dello smart </a:t>
            </a:r>
            <a:r>
              <a:rPr lang="it-IT" sz="1400" dirty="0" err="1">
                <a:solidFill>
                  <a:srgbClr val="161616"/>
                </a:solidFill>
                <a:latin typeface="IBM Plex Sans Light"/>
              </a:rPr>
              <a:t>meter</a:t>
            </a:r>
            <a:r>
              <a:rPr lang="it-IT" sz="1400" dirty="0">
                <a:solidFill>
                  <a:srgbClr val="161616"/>
                </a:solidFill>
                <a:latin typeface="IBM Plex Sans Light"/>
              </a:rPr>
              <a:t> dell'intero edificio o dei sotto-contatori.</a:t>
            </a:r>
          </a:p>
          <a:p>
            <a:r>
              <a:rPr lang="it-IT" sz="1400" dirty="0">
                <a:solidFill>
                  <a:srgbClr val="161616"/>
                </a:solidFill>
                <a:latin typeface="IBM Plex Sans Light"/>
              </a:rPr>
              <a:t>Il riepilogo mostra i dati degli ultimi 30 giorni.</a:t>
            </a:r>
          </a:p>
        </p:txBody>
      </p:sp>
      <p:sp>
        <p:nvSpPr>
          <p:cNvPr id="20" name="Rounded Rectangle 19"/>
          <p:cNvSpPr/>
          <p:nvPr/>
        </p:nvSpPr>
        <p:spPr>
          <a:xfrm>
            <a:off x="287999" y="3200430"/>
            <a:ext cx="2879985" cy="2742843"/>
          </a:xfrm>
          <a:prstGeom prst="roundRect">
            <a:avLst>
              <a:gd name="adj" fmla="val 4000"/>
            </a:avLst>
          </a:prstGeom>
          <a:solidFill>
            <a:srgbClr val="0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1" name="TextBox 20"/>
          <p:cNvSpPr txBox="1"/>
          <p:nvPr/>
        </p:nvSpPr>
        <p:spPr>
          <a:xfrm>
            <a:off x="479998" y="3406143"/>
            <a:ext cx="2514273" cy="2159566"/>
          </a:xfrm>
          <a:prstGeom prst="rect">
            <a:avLst/>
          </a:prstGeom>
          <a:noFill/>
        </p:spPr>
        <p:txBody>
          <a:bodyPr wrap="square" lIns="0" tIns="0" rIns="0" bIns="0">
            <a:spAutoFit/>
          </a:bodyPr>
          <a:lstStyle/>
          <a:p>
            <a:pPr>
              <a:spcAft>
                <a:spcPts val="400"/>
              </a:spcAft>
            </a:pPr>
            <a:r>
              <a:rPr lang="it-IT" sz="1200" b="1" dirty="0">
                <a:solidFill>
                  <a:srgbClr val="78A9FF"/>
                </a:solidFill>
                <a:latin typeface="IBM Plex Sans Light"/>
              </a:rPr>
              <a:t>CONSIDERAZIONI</a:t>
            </a:r>
          </a:p>
          <a:p>
            <a:pPr>
              <a:spcAft>
                <a:spcPts val="200"/>
              </a:spcAft>
            </a:pPr>
            <a:r>
              <a:rPr lang="it-IT" sz="1200" dirty="0">
                <a:solidFill>
                  <a:srgbClr val="FFFFFF"/>
                </a:solidFill>
                <a:latin typeface="IBM Plex Sans Light"/>
              </a:rPr>
              <a:t>—  La vista collega ogni sede ai propri contatori e sotto-contatori.</a:t>
            </a:r>
          </a:p>
          <a:p>
            <a:pPr>
              <a:spcAft>
                <a:spcPts val="200"/>
              </a:spcAft>
            </a:pPr>
            <a:r>
              <a:rPr lang="it-IT" sz="1200" dirty="0">
                <a:solidFill>
                  <a:srgbClr val="FFFFFF"/>
                </a:solidFill>
                <a:latin typeface="IBM Plex Sans Light"/>
              </a:rPr>
              <a:t>—  Il riepilogo a 30 giorni evidenzia contatori inattivi, letture mancanti o valori anomali.</a:t>
            </a:r>
          </a:p>
          <a:p>
            <a:pPr>
              <a:spcAft>
                <a:spcPts val="200"/>
              </a:spcAft>
            </a:pPr>
            <a:r>
              <a:rPr lang="it-IT" sz="1200" dirty="0">
                <a:solidFill>
                  <a:srgbClr val="FFFFFF"/>
                </a:solidFill>
                <a:latin typeface="IBM Plex Sans Light"/>
              </a:rPr>
              <a:t>—  Le serie temporali sono la base per demand </a:t>
            </a:r>
            <a:r>
              <a:rPr lang="it-IT" sz="1200" dirty="0" err="1">
                <a:solidFill>
                  <a:srgbClr val="FFFFFF"/>
                </a:solidFill>
                <a:latin typeface="IBM Plex Sans Light"/>
              </a:rPr>
              <a:t>analysis</a:t>
            </a:r>
            <a:r>
              <a:rPr lang="it-IT" sz="1200" dirty="0">
                <a:solidFill>
                  <a:srgbClr val="FFFFFF"/>
                </a:solidFill>
                <a:latin typeface="IBM Plex Sans Light"/>
              </a:rPr>
              <a:t>, regressioni meteo-normalizzate e alert.</a:t>
            </a:r>
          </a:p>
          <a:p>
            <a:r>
              <a:rPr lang="it-IT" sz="1200" dirty="0">
                <a:solidFill>
                  <a:srgbClr val="FFFFFF"/>
                </a:solidFill>
                <a:latin typeface="IBM Plex Sans Light"/>
              </a:rPr>
              <a:t>—  Il sotto-contatore attribuisce i consumi a impianti e aree specifiche.</a:t>
            </a:r>
          </a:p>
        </p:txBody>
      </p:sp>
    </p:spTree>
    <p:extLst>
      <p:ext uri="{BB962C8B-B14F-4D97-AF65-F5344CB8AC3E}">
        <p14:creationId xmlns:p14="http://schemas.microsoft.com/office/powerpoint/2010/main" val="41591689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861BA462-BEE2-8C75-6D89-FAB1CFD8B43E}"/>
              </a:ext>
            </a:extLst>
          </p:cNvPr>
          <p:cNvSpPr txBox="1"/>
          <p:nvPr/>
        </p:nvSpPr>
        <p:spPr>
          <a:xfrm>
            <a:off x="287999" y="1269690"/>
            <a:ext cx="11339780" cy="590091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a:lnSpc>
                <a:spcPct val="115000"/>
              </a:lnSpc>
              <a:spcBef>
                <a:spcPts val="800"/>
              </a:spcBef>
              <a:spcAft>
                <a:spcPts val="400"/>
              </a:spcAft>
              <a:defRPr/>
            </a:pPr>
            <a:r>
              <a:rPr lang="en-US" sz="1400">
                <a:solidFill>
                  <a:srgbClr val="161616"/>
                </a:solidFill>
                <a:latin typeface="IBM Plex Sans Light" panose="020B0503050203000203" pitchFamily="34" charset="0"/>
              </a:rPr>
              <a:t>Il Meter Summary </a:t>
            </a:r>
            <a:r>
              <a:rPr lang="en-US" sz="1400" err="1">
                <a:solidFill>
                  <a:srgbClr val="161616"/>
                </a:solidFill>
                <a:latin typeface="IBM Plex Sans Light" panose="020B0503050203000203" pitchFamily="34" charset="0"/>
              </a:rPr>
              <a:t>mostra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a:t>
            </a:r>
            <a:r>
              <a:rPr lang="en-US" sz="1400">
                <a:solidFill>
                  <a:srgbClr val="161616"/>
                </a:solidFill>
                <a:latin typeface="IBM Plex Sans Light" panose="020B0503050203000203" pitchFamily="34" charset="0"/>
              </a:rPr>
              <a:t> pattern di </a:t>
            </a:r>
            <a:r>
              <a:rPr lang="en-US" sz="1400" err="1">
                <a:solidFill>
                  <a:srgbClr val="161616"/>
                </a:solidFill>
                <a:latin typeface="IBM Plex Sans Light" panose="020B0503050203000203" pitchFamily="34" charset="0"/>
              </a:rPr>
              <a:t>consumo</a:t>
            </a:r>
            <a:r>
              <a:rPr lang="en-US" sz="1400">
                <a:solidFill>
                  <a:srgbClr val="161616"/>
                </a:solidFill>
                <a:latin typeface="IBM Plex Sans Light" panose="020B0503050203000203" pitchFamily="34" charset="0"/>
              </a:rPr>
              <a:t> a 30 </a:t>
            </a:r>
            <a:r>
              <a:rPr lang="en-US" sz="1400" err="1">
                <a:solidFill>
                  <a:srgbClr val="161616"/>
                </a:solidFill>
                <a:latin typeface="IBM Plex Sans Light" panose="020B0503050203000203" pitchFamily="34" charset="0"/>
              </a:rPr>
              <a:t>giorni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metadati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principali</a:t>
            </a:r>
            <a:r>
              <a:rPr lang="en-US" sz="1400">
                <a:solidFill>
                  <a:srgbClr val="161616"/>
                </a:solidFill>
                <a:latin typeface="IBM Plex Sans Light" panose="020B0503050203000203" pitchFamily="34" charset="0"/>
              </a:rPr>
              <a:t> e lo </a:t>
            </a:r>
            <a:r>
              <a:rPr lang="en-US" sz="1400" err="1">
                <a:solidFill>
                  <a:srgbClr val="161616"/>
                </a:solidFill>
                <a:latin typeface="IBM Plex Sans Light" panose="020B0503050203000203" pitchFamily="34" charset="0"/>
              </a:rPr>
              <a:t>stato</a:t>
            </a:r>
            <a:r>
              <a:rPr lang="en-US" sz="1400">
                <a:solidFill>
                  <a:srgbClr val="161616"/>
                </a:solidFill>
                <a:latin typeface="IBM Plex Sans Light" panose="020B0503050203000203" pitchFamily="34" charset="0"/>
              </a:rPr>
              <a:t> di salute </a:t>
            </a:r>
            <a:r>
              <a:rPr lang="en-US" sz="1400" err="1">
                <a:solidFill>
                  <a:srgbClr val="161616"/>
                </a:solidFill>
                <a:latin typeface="IBM Plex Sans Light" panose="020B0503050203000203" pitchFamily="34" charset="0"/>
              </a:rPr>
              <a:t>dei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dati</a:t>
            </a:r>
            <a:r>
              <a:rPr lang="en-US" sz="1400">
                <a:solidFill>
                  <a:srgbClr val="161616"/>
                </a:solidFill>
                <a:latin typeface="IBM Plex Sans Light" panose="020B0503050203000203" pitchFamily="34" charset="0"/>
              </a:rPr>
              <a:t>. La </a:t>
            </a:r>
            <a:r>
              <a:rPr lang="en-US" sz="1400" err="1">
                <a:solidFill>
                  <a:srgbClr val="161616"/>
                </a:solidFill>
                <a:latin typeface="IBM Plex Sans Light" panose="020B0503050203000203" pitchFamily="34" charset="0"/>
              </a:rPr>
              <a:t>visualizzazione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è</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personalizzabile</a:t>
            </a:r>
            <a:r>
              <a:rPr lang="en-US" sz="1400">
                <a:solidFill>
                  <a:srgbClr val="161616"/>
                </a:solidFill>
                <a:latin typeface="IBM Plex Sans Light" panose="020B0503050203000203" pitchFamily="34" charset="0"/>
              </a:rPr>
              <a:t> dal menu Page Settings (es. time of use, percent completeness). Il Preview panel in alto a </a:t>
            </a:r>
            <a:r>
              <a:rPr lang="en-US" sz="1400" err="1">
                <a:solidFill>
                  <a:srgbClr val="161616"/>
                </a:solidFill>
                <a:latin typeface="IBM Plex Sans Light" panose="020B0503050203000203" pitchFamily="34" charset="0"/>
              </a:rPr>
              <a:t>destra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icona</a:t>
            </a:r>
            <a:r>
              <a:rPr lang="en-US" sz="1400">
                <a:solidFill>
                  <a:srgbClr val="161616"/>
                </a:solidFill>
                <a:latin typeface="IBM Plex Sans Light" panose="020B0503050203000203" pitchFamily="34" charset="0"/>
              </a:rPr>
              <a:t> monitor) </a:t>
            </a:r>
            <a:r>
              <a:rPr lang="en-US" sz="1400" err="1">
                <a:solidFill>
                  <a:srgbClr val="161616"/>
                </a:solidFill>
                <a:latin typeface="IBM Plex Sans Light" panose="020B0503050203000203" pitchFamily="34" charset="0"/>
              </a:rPr>
              <a:t>permette</a:t>
            </a:r>
            <a:r>
              <a:rPr lang="en-US" sz="1400">
                <a:solidFill>
                  <a:srgbClr val="161616"/>
                </a:solidFill>
                <a:latin typeface="IBM Plex Sans Light" panose="020B0503050203000203" pitchFamily="34" charset="0"/>
              </a:rPr>
              <a:t> di </a:t>
            </a:r>
            <a:r>
              <a:rPr lang="en-US" sz="1400" err="1">
                <a:solidFill>
                  <a:srgbClr val="161616"/>
                </a:solidFill>
                <a:latin typeface="IBM Plex Sans Light" panose="020B0503050203000203" pitchFamily="34" charset="0"/>
              </a:rPr>
              <a:t>attivare</a:t>
            </a:r>
            <a:r>
              <a:rPr lang="en-US" sz="1400">
                <a:solidFill>
                  <a:srgbClr val="161616"/>
                </a:solidFill>
                <a:latin typeface="IBM Plex Sans Light" panose="020B0503050203000203" pitchFamily="34" charset="0"/>
              </a:rPr>
              <a:t> meter settings, tags, building schedules, note e </a:t>
            </a:r>
            <a:r>
              <a:rPr lang="en-US" sz="1400" err="1">
                <a:solidFill>
                  <a:srgbClr val="161616"/>
                </a:solidFill>
                <a:latin typeface="IBM Plex Sans Light" panose="020B0503050203000203" pitchFamily="34" charset="0"/>
              </a:rPr>
              <a:t>allegati</a:t>
            </a:r>
            <a:r>
              <a:rPr lang="en-US" sz="1400">
                <a:solidFill>
                  <a:srgbClr val="161616"/>
                </a:solidFill>
                <a:latin typeface="IBM Plex Sans Light" panose="020B0503050203000203" pitchFamily="34" charset="0"/>
              </a:rPr>
              <a:t>.</a:t>
            </a:r>
          </a:p>
          <a:p>
            <a:pPr defTabSz="1219017">
              <a:lnSpc>
                <a:spcPct val="115000"/>
              </a:lnSpc>
              <a:spcBef>
                <a:spcPts val="800"/>
              </a:spcBef>
              <a:spcAft>
                <a:spcPts val="400"/>
              </a:spcAft>
              <a:defRP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defTabSz="1219017">
              <a:lnSpc>
                <a:spcPct val="115000"/>
              </a:lnSpc>
              <a:spcBef>
                <a:spcPts val="800"/>
              </a:spcBef>
              <a:spcAft>
                <a:spcPts val="400"/>
              </a:spcAft>
              <a:defRPr/>
            </a:pP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 Preview panel 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icona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monitor in alto 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sono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disponibili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dettagli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del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e settings/</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attributi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come max demand, expected profile, Tags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Utility Performance power report il meter load type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è</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usato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tipo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di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carico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e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è</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possibile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associare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uno schedule al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
            </a:r>
          </a:p>
          <a:p>
            <a:pPr defTabSz="1219017">
              <a:lnSpc>
                <a:spcPct val="115000"/>
              </a:lnSpc>
              <a:spcBef>
                <a:spcPts val="800"/>
              </a:spcBef>
              <a:spcAft>
                <a:spcPts val="400"/>
              </a:spcAft>
              <a:defRPr/>
            </a:pP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Cliccando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sulla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voce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apre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lo schedule,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che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l'edificio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occupato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dalle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6:00 alle 18:00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giorni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feriali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Questo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consente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di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usare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nel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power report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evidenziare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base load, operating load 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consumi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out of hours.</a:t>
            </a:r>
          </a:p>
          <a:p>
            <a:pPr defTabSz="1219017">
              <a:lnSpc>
                <a:spcPct val="115000"/>
              </a:lnSpc>
              <a:spcBef>
                <a:spcPts val="800"/>
              </a:spcBef>
              <a:spcAft>
                <a:spcPts val="400"/>
              </a:spcAft>
              <a:defRP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defTabSz="1219017">
              <a:lnSpc>
                <a:spcPct val="115000"/>
              </a:lnSpc>
              <a:spcBef>
                <a:spcPts val="800"/>
              </a:spcBef>
              <a:spcAft>
                <a:spcPts val="400"/>
              </a:spcAft>
              <a:defRPr/>
            </a:pPr>
            <a:r>
              <a:rPr lang="en-AU" sz="1400" b="1"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Come </a:t>
            </a:r>
            <a:r>
              <a:rPr lang="en-AU" sz="1400" b="1"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navigare</a:t>
            </a:r>
            <a:r>
              <a:rPr lang="en-AU" sz="1400" b="1"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t>
            </a:r>
          </a:p>
          <a:p>
            <a:pPr marL="142846" indent="-142846">
              <a:lnSpc>
                <a:spcPct val="115000"/>
              </a:lnSpc>
              <a:spcAft>
                <a:spcPts val="400"/>
              </a:spcAft>
              <a:buFontTx/>
              <a:buChar char="-"/>
            </a:pP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Tornare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indietro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dalla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pagina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Envizi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(in alto a sinistra, non con il tasto back del browser)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fino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alla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schermata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Accounts e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Meters. 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griglia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Meters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mostra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contatori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installati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quell'edificio</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/location, con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dati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in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serie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temporali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 5, 15, 30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minuti</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o 1 ora.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Cliccare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sul</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demo meter per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aprire</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la </a:t>
            </a:r>
            <a:r>
              <a:rPr lang="en-AU" sz="1400" kern="100" err="1">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schermata</a:t>
            </a:r>
            <a:r>
              <a:rPr lang="en-AU" sz="1400" kern="100">
                <a:solidFill>
                  <a:srgbClr val="161616"/>
                </a:solidFill>
                <a:latin typeface="IBM Plex Sans Light" panose="020B0503050203000203" pitchFamily="34" charset="0"/>
                <a:ea typeface="Yu Mincho" panose="02020400000000000000" pitchFamily="18" charset="-128"/>
                <a:cs typeface="Times New Roman" panose="02020603050405020304" pitchFamily="18" charset="0"/>
              </a:rPr>
              <a:t> Summary.</a:t>
            </a:r>
          </a:p>
          <a:p>
            <a:pPr marL="142846" indent="-142846">
              <a:lnSpc>
                <a:spcPct val="115000"/>
              </a:lnSpc>
              <a:spcAft>
                <a:spcPts val="400"/>
              </a:spcAft>
              <a:buFontTx/>
              <a:buChar char="-"/>
            </a:pPr>
            <a:r>
              <a:rPr lang="en-US" sz="1400">
                <a:solidFill>
                  <a:srgbClr val="161616"/>
                </a:solidFill>
                <a:latin typeface="IBM Plex Sans Light" panose="020B0503050203000203" pitchFamily="34" charset="0"/>
              </a:rPr>
              <a:t>In </a:t>
            </a:r>
            <a:r>
              <a:rPr lang="en-US" sz="1400" err="1">
                <a:solidFill>
                  <a:srgbClr val="161616"/>
                </a:solidFill>
                <a:latin typeface="IBM Plex Sans Light" panose="020B0503050203000203" pitchFamily="34" charset="0"/>
              </a:rPr>
              <a:t>alternativa</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si</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raggiunge</a:t>
            </a:r>
            <a:r>
              <a:rPr lang="en-US" sz="1400">
                <a:solidFill>
                  <a:srgbClr val="161616"/>
                </a:solidFill>
                <a:latin typeface="IBM Plex Sans Light" panose="020B0503050203000203" pitchFamily="34" charset="0"/>
              </a:rPr>
              <a:t> la summary page di un </a:t>
            </a:r>
            <a:r>
              <a:rPr lang="en-US" sz="1400" err="1">
                <a:solidFill>
                  <a:srgbClr val="161616"/>
                </a:solidFill>
                <a:latin typeface="IBM Plex Sans Light" panose="020B0503050203000203" pitchFamily="34" charset="0"/>
              </a:rPr>
              <a:t>contatore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dalla</a:t>
            </a:r>
            <a:r>
              <a:rPr lang="en-US" sz="1400">
                <a:solidFill>
                  <a:srgbClr val="161616"/>
                </a:solidFill>
                <a:latin typeface="IBM Plex Sans Light" panose="020B0503050203000203" pitchFamily="34" charset="0"/>
              </a:rPr>
              <a:t> global search bar in alto al </a:t>
            </a:r>
            <a:r>
              <a:rPr lang="en-US" sz="1400" err="1">
                <a:solidFill>
                  <a:srgbClr val="161616"/>
                </a:solidFill>
                <a:latin typeface="IBM Plex Sans Light" panose="020B0503050203000203" pitchFamily="34" charset="0"/>
              </a:rPr>
              <a:t>centro</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selezionare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l'opzione</a:t>
            </a:r>
            <a:r>
              <a:rPr lang="en-US" sz="1400">
                <a:solidFill>
                  <a:srgbClr val="161616"/>
                </a:solidFill>
                <a:latin typeface="IBM Plex Sans Light" panose="020B0503050203000203" pitchFamily="34" charset="0"/>
              </a:rPr>
              <a:t> Meter e </a:t>
            </a:r>
            <a:r>
              <a:rPr lang="en-US" sz="1400" err="1">
                <a:solidFill>
                  <a:srgbClr val="161616"/>
                </a:solidFill>
                <a:latin typeface="IBM Plex Sans Light" panose="020B0503050203000203" pitchFamily="34" charset="0"/>
              </a:rPr>
              <a:t>cercare</a:t>
            </a:r>
            <a:r>
              <a:rPr lang="en-US" sz="1400">
                <a:solidFill>
                  <a:srgbClr val="161616"/>
                </a:solidFill>
                <a:latin typeface="IBM Plex Sans Light" panose="020B0503050203000203" pitchFamily="34" charset="0"/>
              </a:rPr>
              <a:t> </a:t>
            </a:r>
            <a:r>
              <a:rPr lang="en-US" sz="1400" err="1">
                <a:solidFill>
                  <a:srgbClr val="161616"/>
                </a:solidFill>
                <a:latin typeface="IBM Plex Sans Light" panose="020B0503050203000203" pitchFamily="34" charset="0"/>
              </a:rPr>
              <a:t>demo_regression</a:t>
            </a:r>
            <a:r>
              <a:rPr lang="en-US" sz="1400">
                <a:solidFill>
                  <a:srgbClr val="161616"/>
                </a:solidFill>
                <a:latin typeface="IBM Plex Sans Light" panose="020B0503050203000203" pitchFamily="34" charset="0"/>
              </a:rPr>
              <a:t>), dal menu Manage o </a:t>
            </a:r>
            <a:r>
              <a:rPr lang="en-US" sz="1400" err="1">
                <a:solidFill>
                  <a:srgbClr val="161616"/>
                </a:solidFill>
                <a:latin typeface="IBM Plex Sans Light" panose="020B0503050203000203" pitchFamily="34" charset="0"/>
              </a:rPr>
              <a:t>dalla</a:t>
            </a:r>
            <a:r>
              <a:rPr lang="en-US" sz="1400">
                <a:solidFill>
                  <a:srgbClr val="161616"/>
                </a:solidFill>
                <a:latin typeface="IBM Plex Sans Light" panose="020B0503050203000203" pitchFamily="34" charset="0"/>
              </a:rPr>
              <a:t> org hierarchy.</a:t>
            </a:r>
          </a:p>
          <a:p>
            <a:pPr marL="142846" indent="-142846">
              <a:lnSpc>
                <a:spcPct val="115000"/>
              </a:lnSpc>
              <a:spcAft>
                <a:spcPts val="400"/>
              </a:spcAft>
              <a:buFontTx/>
              <a:buChar char="-"/>
            </a:pPr>
            <a:endParaRPr lang="en-AU" sz="1400" kern="100">
              <a:latin typeface="IBM Plex Sans" panose="020B0503050203000203" pitchFamily="34" charset="0"/>
              <a:ea typeface="Yu Mincho" panose="02020400000000000000" pitchFamily="18" charset="-128"/>
              <a:cs typeface="Times New Roman" panose="02020603050405020304" pitchFamily="18" charset="0"/>
            </a:endParaRPr>
          </a:p>
          <a:p>
            <a:pPr>
              <a:lnSpc>
                <a:spcPct val="115000"/>
              </a:lnSpc>
              <a:spcAft>
                <a:spcPts val="400"/>
              </a:spcAft>
            </a:pPr>
            <a:endParaRPr lang="en-US" sz="1400"/>
          </a:p>
          <a:p>
            <a:pPr defTabSz="1219017">
              <a:lnSpc>
                <a:spcPct val="115000"/>
              </a:lnSpc>
              <a:spcBef>
                <a:spcPts val="800"/>
              </a:spcBef>
              <a:spcAft>
                <a:spcPts val="400"/>
              </a:spcAft>
              <a:defRPr/>
            </a:pPr>
            <a:endParaRPr lang="en-AU" sz="1333">
              <a:solidFill>
                <a:schemeClr val="bg1"/>
              </a:solidFill>
              <a:latin typeface="IBM Plex Sans Light" panose="020B0503050203000203" pitchFamily="34" charset="0"/>
            </a:endParaRPr>
          </a:p>
        </p:txBody>
      </p:sp>
      <p:sp>
        <p:nvSpPr>
          <p:cNvPr id="2" name="TextBox 16">
            <a:extLst>
              <a:ext uri="{FF2B5EF4-FFF2-40B4-BE49-F238E27FC236}">
                <a16:creationId xmlns:a16="http://schemas.microsoft.com/office/drawing/2014/main" id="{34029FA0-D5BB-0D32-3943-01E7B63B44C6}"/>
              </a:ext>
            </a:extLst>
          </p:cNvPr>
          <p:cNvSpPr txBox="1"/>
          <p:nvPr/>
        </p:nvSpPr>
        <p:spPr>
          <a:xfrm>
            <a:off x="287999" y="571873"/>
            <a:ext cx="7002806" cy="307777"/>
          </a:xfrm>
          <a:prstGeom prst="rect">
            <a:avLst/>
          </a:prstGeom>
          <a:noFill/>
        </p:spPr>
        <p:txBody>
          <a:bodyPr wrap="square" lIns="0" tIns="0" rIns="0" bIns="0">
            <a:spAutoFit/>
          </a:bodyPr>
          <a:lstStyle/>
          <a:p>
            <a:r>
              <a:rPr lang="it-IT" sz="2000" b="1" dirty="0">
                <a:solidFill>
                  <a:srgbClr val="161616"/>
                </a:solidFill>
                <a:latin typeface="IBM Plex Sans Light"/>
              </a:rPr>
              <a:t>Guida demo Meter </a:t>
            </a:r>
            <a:r>
              <a:rPr lang="it-IT" sz="2000" b="1" dirty="0" err="1">
                <a:solidFill>
                  <a:srgbClr val="161616"/>
                </a:solidFill>
                <a:latin typeface="IBM Plex Sans Light"/>
              </a:rPr>
              <a:t>Summary</a:t>
            </a:r>
            <a:endParaRPr sz="2000" b="1" dirty="0">
              <a:solidFill>
                <a:srgbClr val="161616"/>
              </a:solidFill>
              <a:latin typeface="IBM Plex Sans Light"/>
            </a:endParaRPr>
          </a:p>
        </p:txBody>
      </p:sp>
    </p:spTree>
    <p:extLst>
      <p:ext uri="{BB962C8B-B14F-4D97-AF65-F5344CB8AC3E}">
        <p14:creationId xmlns:p14="http://schemas.microsoft.com/office/powerpoint/2010/main" val="136974329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61F35-979E-1336-CC63-A29C541DDE0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1B2A073-33B0-A6F6-B7A3-25AE7FEE8C78}"/>
              </a:ext>
            </a:extLst>
          </p:cNvPr>
          <p:cNvSpPr>
            <a:spLocks noGrp="1"/>
          </p:cNvSpPr>
          <p:nvPr>
            <p:ph type="title"/>
          </p:nvPr>
        </p:nvSpPr>
        <p:spPr>
          <a:xfrm>
            <a:off x="287999" y="288445"/>
            <a:ext cx="2477765" cy="381347"/>
          </a:xfrm>
        </p:spPr>
        <p:txBody>
          <a:bodyPr>
            <a:normAutofit/>
          </a:bodyPr>
          <a:lstStyle/>
          <a:p>
            <a:r>
              <a:rPr lang="en-US" dirty="0" err="1"/>
              <a:t>Revisione</a:t>
            </a:r>
            <a:r>
              <a:rPr lang="en-US" dirty="0"/>
              <a:t> </a:t>
            </a:r>
            <a:r>
              <a:rPr lang="en-US" dirty="0" err="1"/>
              <a:t>dati</a:t>
            </a:r>
            <a:r>
              <a:rPr lang="en-US" dirty="0"/>
              <a:t> -&gt; Dati </a:t>
            </a:r>
            <a:r>
              <a:rPr lang="en-US" dirty="0" err="1"/>
              <a:t>contatori</a:t>
            </a:r>
            <a:endParaRPr lang="en-US" dirty="0"/>
          </a:p>
        </p:txBody>
      </p:sp>
      <p:sp>
        <p:nvSpPr>
          <p:cNvPr id="8" name="Text Placeholder 7">
            <a:extLst>
              <a:ext uri="{FF2B5EF4-FFF2-40B4-BE49-F238E27FC236}">
                <a16:creationId xmlns:a16="http://schemas.microsoft.com/office/drawing/2014/main" id="{16CBCB3B-E261-871D-B407-CF9BA70643BB}"/>
              </a:ext>
            </a:extLst>
          </p:cNvPr>
          <p:cNvSpPr>
            <a:spLocks noGrp="1"/>
          </p:cNvSpPr>
          <p:nvPr>
            <p:ph type="body" sz="quarter" idx="12"/>
          </p:nvPr>
        </p:nvSpPr>
        <p:spPr>
          <a:xfrm>
            <a:off x="284125" y="847328"/>
            <a:ext cx="2477765" cy="5283489"/>
          </a:xfrm>
        </p:spPr>
        <p:txBody>
          <a:bodyPr>
            <a:normAutofit fontScale="85000" lnSpcReduction="20000"/>
          </a:bodyPr>
          <a:lstStyle/>
          <a:p>
            <a:pPr>
              <a:spcAft>
                <a:spcPts val="300"/>
              </a:spcAft>
            </a:pPr>
            <a:r>
              <a:rPr lang="en-US" sz="1650" dirty="0"/>
              <a:t>I </a:t>
            </a:r>
            <a:r>
              <a:rPr lang="en-US" sz="1650" dirty="0" err="1"/>
              <a:t>dati</a:t>
            </a:r>
            <a:r>
              <a:rPr lang="en-US" sz="1650" dirty="0"/>
              <a:t> degli smart meter </a:t>
            </a:r>
            <a:r>
              <a:rPr lang="en-US" sz="1650" dirty="0" err="1"/>
              <a:t>vengono</a:t>
            </a:r>
            <a:r>
              <a:rPr lang="en-US" sz="1650" dirty="0"/>
              <a:t> </a:t>
            </a:r>
            <a:r>
              <a:rPr lang="en-US" sz="1650" dirty="0" err="1"/>
              <a:t>ricevuti</a:t>
            </a:r>
            <a:r>
              <a:rPr lang="en-US" sz="1650" dirty="0"/>
              <a:t> </a:t>
            </a:r>
            <a:r>
              <a:rPr lang="en-US" sz="1650" dirty="0" err="1"/>
              <a:t>quotidianamente</a:t>
            </a:r>
            <a:r>
              <a:rPr lang="en-US" sz="1650" dirty="0"/>
              <a:t> da Meter Data Agent, </a:t>
            </a:r>
            <a:r>
              <a:rPr lang="en-US" sz="1650" dirty="0" err="1"/>
              <a:t>sistemi</a:t>
            </a:r>
            <a:r>
              <a:rPr lang="en-US" sz="1650" dirty="0"/>
              <a:t> BMS/EMS o </a:t>
            </a:r>
            <a:r>
              <a:rPr lang="en-US" sz="1650" dirty="0" err="1"/>
              <a:t>aggregatori</a:t>
            </a:r>
            <a:r>
              <a:rPr lang="en-US" sz="1650" dirty="0"/>
              <a:t> di </a:t>
            </a:r>
            <a:r>
              <a:rPr lang="en-US" sz="1650" dirty="0" err="1"/>
              <a:t>dati</a:t>
            </a:r>
            <a:r>
              <a:rPr lang="en-US" sz="1650" dirty="0"/>
              <a:t> </a:t>
            </a:r>
            <a:r>
              <a:rPr lang="en-US" sz="1650" dirty="0" err="1"/>
              <a:t>nei</a:t>
            </a:r>
            <a:r>
              <a:rPr lang="en-US" sz="1650" dirty="0"/>
              <a:t> </a:t>
            </a:r>
            <a:r>
              <a:rPr lang="en-US" sz="1650" dirty="0" err="1"/>
              <a:t>formati</a:t>
            </a:r>
            <a:r>
              <a:rPr lang="en-US" sz="1650" dirty="0"/>
              <a:t> CSV </a:t>
            </a:r>
            <a:r>
              <a:rPr lang="en-US" sz="1650" dirty="0" err="1"/>
              <a:t>concordati</a:t>
            </a:r>
            <a:r>
              <a:rPr lang="en-US" sz="1650" dirty="0"/>
              <a:t>. </a:t>
            </a:r>
          </a:p>
          <a:p>
            <a:pPr>
              <a:spcAft>
                <a:spcPts val="300"/>
              </a:spcAft>
            </a:pPr>
            <a:endParaRPr lang="en-US" sz="1650" dirty="0"/>
          </a:p>
          <a:p>
            <a:pPr>
              <a:lnSpc>
                <a:spcPct val="115000"/>
              </a:lnSpc>
              <a:spcAft>
                <a:spcPts val="400"/>
              </a:spcAft>
            </a:pPr>
            <a:r>
              <a:rPr lang="en-AU" sz="1650" kern="100" dirty="0">
                <a:ea typeface="Yu Mincho" panose="02020400000000000000" pitchFamily="18" charset="-128"/>
                <a:cs typeface="Times New Roman" panose="02020603050405020304" pitchFamily="18" charset="0"/>
              </a:rPr>
              <a:t>Dalla meter summary screen -&gt; sub menu in alto a </a:t>
            </a:r>
            <a:r>
              <a:rPr lang="en-AU" sz="1650" kern="100" dirty="0" err="1">
                <a:ea typeface="Yu Mincho" panose="02020400000000000000" pitchFamily="18" charset="-128"/>
                <a:cs typeface="Times New Roman" panose="02020603050405020304" pitchFamily="18" charset="0"/>
              </a:rPr>
              <a:t>destra</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selezionare</a:t>
            </a:r>
            <a:r>
              <a:rPr lang="en-AU" sz="1650" kern="100" dirty="0">
                <a:ea typeface="Yu Mincho" panose="02020400000000000000" pitchFamily="18" charset="-128"/>
                <a:cs typeface="Times New Roman" panose="02020603050405020304" pitchFamily="18" charset="0"/>
              </a:rPr>
              <a:t> Review -&gt; Daily Data</a:t>
            </a:r>
          </a:p>
          <a:p>
            <a:pPr>
              <a:lnSpc>
                <a:spcPct val="115000"/>
              </a:lnSpc>
              <a:spcAft>
                <a:spcPts val="400"/>
              </a:spcAft>
            </a:pPr>
            <a:endParaRPr lang="en-AU" sz="1650" kern="100" dirty="0">
              <a:ea typeface="Yu Mincho" panose="02020400000000000000" pitchFamily="18" charset="-128"/>
              <a:cs typeface="Times New Roman" panose="02020603050405020304" pitchFamily="18" charset="0"/>
            </a:endParaRPr>
          </a:p>
          <a:p>
            <a:pPr>
              <a:lnSpc>
                <a:spcPct val="115000"/>
              </a:lnSpc>
              <a:spcAft>
                <a:spcPts val="400"/>
              </a:spcAft>
            </a:pPr>
            <a:r>
              <a:rPr lang="en-AU" sz="1650" kern="100" dirty="0">
                <a:ea typeface="Yu Mincho" panose="02020400000000000000" pitchFamily="18" charset="-128"/>
                <a:cs typeface="Times New Roman" panose="02020603050405020304" pitchFamily="18" charset="0"/>
              </a:rPr>
              <a:t>I </a:t>
            </a:r>
            <a:r>
              <a:rPr lang="en-AU" sz="1650" kern="100" dirty="0" err="1">
                <a:ea typeface="Yu Mincho" panose="02020400000000000000" pitchFamily="18" charset="-128"/>
                <a:cs typeface="Times New Roman" panose="02020603050405020304" pitchFamily="18" charset="0"/>
              </a:rPr>
              <a:t>dati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dei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contatori</a:t>
            </a:r>
            <a:r>
              <a:rPr lang="en-AU" sz="1650" kern="100" dirty="0">
                <a:ea typeface="Yu Mincho" panose="02020400000000000000" pitchFamily="18" charset="-128"/>
                <a:cs typeface="Times New Roman" panose="02020603050405020304" pitchFamily="18" charset="0"/>
              </a:rPr>
              <a:t> non </a:t>
            </a:r>
            <a:r>
              <a:rPr lang="en-AU" sz="1650" kern="100" dirty="0" err="1">
                <a:ea typeface="Yu Mincho" panose="02020400000000000000" pitchFamily="18" charset="-128"/>
                <a:cs typeface="Times New Roman" panose="02020603050405020304" pitchFamily="18" charset="0"/>
              </a:rPr>
              <a:t>possono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essere</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caricati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manualmente</a:t>
            </a:r>
            <a:r>
              <a:rPr lang="en-AU" sz="1650" kern="100" dirty="0">
                <a:ea typeface="Yu Mincho" panose="02020400000000000000" pitchFamily="18" charset="-128"/>
                <a:cs typeface="Times New Roman" panose="02020603050405020304" pitchFamily="18" charset="0"/>
              </a:rPr>
              <a:t> e </a:t>
            </a:r>
            <a:r>
              <a:rPr lang="en-AU" sz="1650" kern="100" dirty="0" err="1">
                <a:ea typeface="Yu Mincho" panose="02020400000000000000" pitchFamily="18" charset="-128"/>
                <a:cs typeface="Times New Roman" panose="02020603050405020304" pitchFamily="18" charset="0"/>
              </a:rPr>
              <a:t>sono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disponibili</a:t>
            </a:r>
            <a:r>
              <a:rPr lang="en-AU" sz="1650" kern="100" dirty="0">
                <a:ea typeface="Yu Mincho" panose="02020400000000000000" pitchFamily="18" charset="-128"/>
                <a:cs typeface="Times New Roman" panose="02020603050405020304" pitchFamily="18" charset="0"/>
              </a:rPr>
              <a:t> solo per </a:t>
            </a:r>
            <a:r>
              <a:rPr lang="en-AU" sz="1650" kern="100" dirty="0" err="1">
                <a:ea typeface="Yu Mincho" panose="02020400000000000000" pitchFamily="18" charset="-128"/>
                <a:cs typeface="Times New Roman" panose="02020603050405020304" pitchFamily="18" charset="0"/>
              </a:rPr>
              <a:t>consultazione</a:t>
            </a:r>
            <a:r>
              <a:rPr lang="en-AU" sz="1650" kern="100" dirty="0">
                <a:ea typeface="Yu Mincho" panose="02020400000000000000" pitchFamily="18" charset="-128"/>
                <a:cs typeface="Times New Roman" panose="02020603050405020304" pitchFamily="18" charset="0"/>
              </a:rPr>
              <a:t>.</a:t>
            </a:r>
          </a:p>
          <a:p>
            <a:pPr>
              <a:lnSpc>
                <a:spcPct val="115000"/>
              </a:lnSpc>
              <a:spcAft>
                <a:spcPts val="400"/>
              </a:spcAft>
            </a:pPr>
            <a:endParaRPr lang="en-AU" sz="1650" kern="100" dirty="0">
              <a:ea typeface="Yu Mincho" panose="02020400000000000000" pitchFamily="18" charset="-128"/>
              <a:cs typeface="Times New Roman" panose="02020603050405020304" pitchFamily="18" charset="0"/>
            </a:endParaRPr>
          </a:p>
          <a:p>
            <a:pPr>
              <a:lnSpc>
                <a:spcPct val="115000"/>
              </a:lnSpc>
              <a:spcAft>
                <a:spcPts val="400"/>
              </a:spcAft>
            </a:pPr>
            <a:r>
              <a:rPr lang="en-AU" sz="1650" b="1" kern="100" dirty="0">
                <a:ea typeface="Yu Mincho" panose="02020400000000000000" pitchFamily="18" charset="-128"/>
                <a:cs typeface="Times New Roman" panose="02020603050405020304" pitchFamily="18" charset="0"/>
              </a:rPr>
              <a:t>Use case</a:t>
            </a:r>
            <a:r>
              <a:rPr lang="en-AU" sz="1650" kern="100" dirty="0">
                <a:ea typeface="Yu Mincho" panose="02020400000000000000" pitchFamily="18" charset="-128"/>
                <a:cs typeface="Times New Roman" panose="02020603050405020304" pitchFamily="18" charset="0"/>
              </a:rPr>
              <a:t>: come </a:t>
            </a:r>
            <a:r>
              <a:rPr lang="en-AU" sz="1650" kern="100" dirty="0" err="1">
                <a:ea typeface="Yu Mincho" panose="02020400000000000000" pitchFamily="18" charset="-128"/>
                <a:cs typeface="Times New Roman" panose="02020603050405020304" pitchFamily="18" charset="0"/>
              </a:rPr>
              <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dati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dei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contatori</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vengono</a:t>
            </a:r>
            <a:r>
              <a:rPr lang="en-AU" sz="1650" kern="100" dirty="0">
                <a:ea typeface="Yu Mincho" panose="02020400000000000000" pitchFamily="18" charset="-128"/>
                <a:cs typeface="Times New Roman" panose="02020603050405020304" pitchFamily="18" charset="0"/>
              </a:rPr>
              <a:t> </a:t>
            </a:r>
            <a:r>
              <a:rPr lang="en-AU" sz="1650" kern="100" dirty="0" err="1">
                <a:ea typeface="Yu Mincho" panose="02020400000000000000" pitchFamily="18" charset="-128"/>
                <a:cs typeface="Times New Roman" panose="02020603050405020304" pitchFamily="18" charset="0"/>
              </a:rPr>
              <a:t>memorizzati</a:t>
            </a:r>
            <a:r>
              <a:rPr lang="en-AU" sz="1650" kern="100" dirty="0">
                <a:ea typeface="Yu Mincho" panose="02020400000000000000" pitchFamily="18" charset="-128"/>
                <a:cs typeface="Times New Roman" panose="02020603050405020304" pitchFamily="18" charset="0"/>
              </a:rPr>
              <a:t> e </a:t>
            </a:r>
            <a:r>
              <a:rPr lang="en-AU" sz="1650" kern="100" dirty="0" err="1">
                <a:ea typeface="Yu Mincho" panose="02020400000000000000" pitchFamily="18" charset="-128"/>
                <a:cs typeface="Times New Roman" panose="02020603050405020304" pitchFamily="18" charset="0"/>
              </a:rPr>
              <a:t>normalizzati</a:t>
            </a:r>
            <a:r>
              <a:rPr lang="en-AU" sz="1650" kern="100" dirty="0">
                <a:ea typeface="Yu Mincho" panose="02020400000000000000" pitchFamily="18" charset="-128"/>
                <a:cs typeface="Times New Roman" panose="02020603050405020304" pitchFamily="18" charset="0"/>
              </a:rPr>
              <a:t> come daily dataset per il reporting.</a:t>
            </a:r>
          </a:p>
          <a:p>
            <a:pPr>
              <a:spcAft>
                <a:spcPts val="300"/>
              </a:spcAft>
            </a:pPr>
            <a:endParaRPr lang="en-US" sz="1600" dirty="0"/>
          </a:p>
        </p:txBody>
      </p:sp>
      <p:sp>
        <p:nvSpPr>
          <p:cNvPr id="15" name="Footer Placeholder 4">
            <a:extLst>
              <a:ext uri="{FF2B5EF4-FFF2-40B4-BE49-F238E27FC236}">
                <a16:creationId xmlns:a16="http://schemas.microsoft.com/office/drawing/2014/main" id="{580DA7B3-BC45-4DF5-0040-88370CFFBF97}"/>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FB56EA29-07C7-BCA0-6B80-1BB983BE235B}"/>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6</a:t>
            </a:fld>
            <a:endParaRPr lang="en-US"/>
          </a:p>
        </p:txBody>
      </p:sp>
      <p:pic>
        <p:nvPicPr>
          <p:cNvPr id="4" name="Picture 3">
            <a:extLst>
              <a:ext uri="{FF2B5EF4-FFF2-40B4-BE49-F238E27FC236}">
                <a16:creationId xmlns:a16="http://schemas.microsoft.com/office/drawing/2014/main" id="{E8ECD20C-5E16-273F-AD59-B9C1AAA63344}"/>
              </a:ext>
            </a:extLst>
          </p:cNvPr>
          <p:cNvPicPr>
            <a:picLocks noChangeAspect="1"/>
          </p:cNvPicPr>
          <p:nvPr/>
        </p:nvPicPr>
        <p:blipFill>
          <a:blip r:embed="rId3"/>
          <a:stretch>
            <a:fillRect/>
          </a:stretch>
        </p:blipFill>
        <p:spPr>
          <a:xfrm>
            <a:off x="2895224" y="446"/>
            <a:ext cx="9296777" cy="6761959"/>
          </a:xfrm>
          <a:prstGeom prst="rect">
            <a:avLst/>
          </a:prstGeom>
        </p:spPr>
      </p:pic>
    </p:spTree>
    <p:extLst>
      <p:ext uri="{BB962C8B-B14F-4D97-AF65-F5344CB8AC3E}">
        <p14:creationId xmlns:p14="http://schemas.microsoft.com/office/powerpoint/2010/main" val="140017874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5952A-46BB-8E40-08B8-30C4D732F44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87A8A85-2463-9407-D95B-C423D449E7DE}"/>
              </a:ext>
            </a:extLst>
          </p:cNvPr>
          <p:cNvSpPr>
            <a:spLocks noGrp="1"/>
          </p:cNvSpPr>
          <p:nvPr>
            <p:ph type="title"/>
          </p:nvPr>
        </p:nvSpPr>
        <p:spPr>
          <a:xfrm>
            <a:off x="284125" y="265794"/>
            <a:ext cx="9538535" cy="569140"/>
          </a:xfrm>
        </p:spPr>
        <p:txBody>
          <a:bodyPr>
            <a:normAutofit/>
          </a:bodyPr>
          <a:lstStyle/>
          <a:p>
            <a:r>
              <a:rPr lang="it-IT" sz="1600" dirty="0"/>
              <a:t>Report Billed vs Metered – Individuare le anomalie di fatturazione</a:t>
            </a:r>
          </a:p>
        </p:txBody>
      </p:sp>
      <p:sp>
        <p:nvSpPr>
          <p:cNvPr id="8" name="Text Placeholder 7">
            <a:extLst>
              <a:ext uri="{FF2B5EF4-FFF2-40B4-BE49-F238E27FC236}">
                <a16:creationId xmlns:a16="http://schemas.microsoft.com/office/drawing/2014/main" id="{5440C445-261F-13DE-43FC-B8E6D7E17530}"/>
              </a:ext>
            </a:extLst>
          </p:cNvPr>
          <p:cNvSpPr>
            <a:spLocks noGrp="1"/>
          </p:cNvSpPr>
          <p:nvPr>
            <p:ph type="body" sz="quarter" idx="12"/>
          </p:nvPr>
        </p:nvSpPr>
        <p:spPr>
          <a:xfrm>
            <a:off x="287999" y="772857"/>
            <a:ext cx="10812310" cy="882754"/>
          </a:xfrm>
        </p:spPr>
        <p:txBody>
          <a:bodyPr>
            <a:normAutofit/>
          </a:bodyPr>
          <a:lstStyle/>
          <a:p>
            <a:pPr>
              <a:spcAft>
                <a:spcPts val="300"/>
              </a:spcAft>
            </a:pPr>
            <a:r>
              <a:rPr lang="it-IT" dirty="0"/>
              <a:t>Scenario: l'Energy Manager verifica la presenza di anomalie di fatturazione.</a:t>
            </a:r>
          </a:p>
          <a:p>
            <a:pPr>
              <a:spcAft>
                <a:spcPts val="300"/>
              </a:spcAft>
            </a:pPr>
            <a:r>
              <a:rPr lang="it-IT" dirty="0"/>
              <a:t>Il report confronta i consumi fatturati con quelli misurati, sulla base del periodo di bolletta.</a:t>
            </a:r>
          </a:p>
          <a:p>
            <a:pPr>
              <a:spcAft>
                <a:spcPts val="300"/>
              </a:spcAft>
            </a:pPr>
            <a:r>
              <a:rPr lang="it-IT" dirty="0"/>
              <a:t>Una revisione mensile o trimestrale consente di intercettare tempestivamente gli scostamenti anomali.</a:t>
            </a:r>
          </a:p>
        </p:txBody>
      </p:sp>
      <p:sp>
        <p:nvSpPr>
          <p:cNvPr id="15" name="Footer Placeholder 4">
            <a:extLst>
              <a:ext uri="{FF2B5EF4-FFF2-40B4-BE49-F238E27FC236}">
                <a16:creationId xmlns:a16="http://schemas.microsoft.com/office/drawing/2014/main" id="{6D2370B7-502A-C5A6-BBC1-E08EB2ADF635}"/>
              </a:ext>
            </a:extLst>
          </p:cNvPr>
          <p:cNvSpPr>
            <a:spLocks noGrp="1"/>
          </p:cNvSpPr>
          <p:nvPr>
            <p:ph type="ftr" sz="quarter" idx="13"/>
          </p:nvPr>
        </p:nvSpPr>
        <p:spPr>
          <a:xfrm>
            <a:off x="284125" y="6401731"/>
            <a:ext cx="2477765" cy="190475"/>
          </a:xfrm>
        </p:spPr>
        <p:txBody>
          <a:bodyPr/>
          <a:lstStyle/>
          <a:p>
            <a:endParaRPr lang="en-US" dirty="0"/>
          </a:p>
        </p:txBody>
      </p:sp>
      <p:sp>
        <p:nvSpPr>
          <p:cNvPr id="6" name="Slide Number Placeholder 5" hidden="1">
            <a:extLst>
              <a:ext uri="{FF2B5EF4-FFF2-40B4-BE49-F238E27FC236}">
                <a16:creationId xmlns:a16="http://schemas.microsoft.com/office/drawing/2014/main" id="{C2B28F5A-9F7F-07DB-8124-7143356EB3B7}"/>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7</a:t>
            </a:fld>
            <a:endParaRPr lang="en-US"/>
          </a:p>
        </p:txBody>
      </p:sp>
      <p:pic>
        <p:nvPicPr>
          <p:cNvPr id="9" name="Picture 8">
            <a:extLst>
              <a:ext uri="{FF2B5EF4-FFF2-40B4-BE49-F238E27FC236}">
                <a16:creationId xmlns:a16="http://schemas.microsoft.com/office/drawing/2014/main" id="{CFBE086A-A00D-9D09-2340-346739978748}"/>
              </a:ext>
            </a:extLst>
          </p:cNvPr>
          <p:cNvPicPr>
            <a:picLocks noChangeAspect="1"/>
          </p:cNvPicPr>
          <p:nvPr/>
        </p:nvPicPr>
        <p:blipFill>
          <a:blip r:embed="rId3"/>
          <a:stretch>
            <a:fillRect/>
          </a:stretch>
        </p:blipFill>
        <p:spPr>
          <a:xfrm>
            <a:off x="670446" y="1966474"/>
            <a:ext cx="10577570" cy="3675979"/>
          </a:xfrm>
          <a:prstGeom prst="rect">
            <a:avLst/>
          </a:prstGeom>
        </p:spPr>
      </p:pic>
      <p:sp>
        <p:nvSpPr>
          <p:cNvPr id="3" name="CasellaDiTesto 2">
            <a:extLst>
              <a:ext uri="{FF2B5EF4-FFF2-40B4-BE49-F238E27FC236}">
                <a16:creationId xmlns:a16="http://schemas.microsoft.com/office/drawing/2014/main" id="{69BC3C9F-F823-080B-0A06-AC92FF9672F1}"/>
              </a:ext>
            </a:extLst>
          </p:cNvPr>
          <p:cNvSpPr txBox="1"/>
          <p:nvPr/>
        </p:nvSpPr>
        <p:spPr>
          <a:xfrm>
            <a:off x="3579705" y="6196170"/>
            <a:ext cx="6097664" cy="77963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sz="900"/>
          </a:p>
          <a:p>
            <a:pPr defTabSz="1219017" fontAlgn="base">
              <a:spcBef>
                <a:spcPts val="800"/>
              </a:spcBef>
              <a:defRPr/>
            </a:pPr>
            <a:endParaRPr sz="900"/>
          </a:p>
          <a:p>
            <a:pPr defTabSz="1219017" fontAlgn="base">
              <a:spcBef>
                <a:spcPts val="800"/>
              </a:spcBef>
              <a:defRPr/>
            </a:pPr>
            <a:endParaRPr lang="en-US" sz="1333">
              <a:latin typeface="IBM Plex Sans Light" panose="020B0503050203000203" pitchFamily="34" charset="0"/>
            </a:endParaRPr>
          </a:p>
        </p:txBody>
      </p:sp>
    </p:spTree>
    <p:extLst>
      <p:ext uri="{BB962C8B-B14F-4D97-AF65-F5344CB8AC3E}">
        <p14:creationId xmlns:p14="http://schemas.microsoft.com/office/powerpoint/2010/main" val="376907260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la 5">
            <a:extLst>
              <a:ext uri="{FF2B5EF4-FFF2-40B4-BE49-F238E27FC236}">
                <a16:creationId xmlns:a16="http://schemas.microsoft.com/office/drawing/2014/main" id="{63589A85-82F7-C467-918E-DE492C854F91}"/>
              </a:ext>
            </a:extLst>
          </p:cNvPr>
          <p:cNvGraphicFramePr>
            <a:graphicFrameLocks noGrp="1"/>
          </p:cNvGraphicFramePr>
          <p:nvPr/>
        </p:nvGraphicFramePr>
        <p:xfrm>
          <a:off x="8230116" y="2596794"/>
          <a:ext cx="3727454" cy="1295350"/>
        </p:xfrm>
        <a:graphic>
          <a:graphicData uri="http://schemas.openxmlformats.org/drawingml/2006/table">
            <a:tbl>
              <a:tblPr>
                <a:tableStyleId>{5C22544A-7EE6-4342-B048-85BDC9FD1C3A}</a:tableStyleId>
              </a:tblPr>
              <a:tblGrid>
                <a:gridCol w="2109880">
                  <a:extLst>
                    <a:ext uri="{9D8B030D-6E8A-4147-A177-3AD203B41FA5}">
                      <a16:colId xmlns:a16="http://schemas.microsoft.com/office/drawing/2014/main" val="2056022672"/>
                    </a:ext>
                  </a:extLst>
                </a:gridCol>
                <a:gridCol w="1617574">
                  <a:extLst>
                    <a:ext uri="{9D8B030D-6E8A-4147-A177-3AD203B41FA5}">
                      <a16:colId xmlns:a16="http://schemas.microsoft.com/office/drawing/2014/main" val="4185679715"/>
                    </a:ext>
                  </a:extLst>
                </a:gridCol>
              </a:tblGrid>
              <a:tr h="259046">
                <a:tc>
                  <a:txBody>
                    <a:bodyPr/>
                    <a:lstStyle/>
                    <a:p>
                      <a:pPr algn="l">
                        <a:buNone/>
                      </a:pPr>
                      <a:r>
                        <a:rPr lang="it-IT" sz="1200" b="1" dirty="0">
                          <a:solidFill>
                            <a:schemeClr val="tx1"/>
                          </a:solidFill>
                          <a:effectLst/>
                        </a:rPr>
                        <a:t>Indicatore</a:t>
                      </a:r>
                    </a:p>
                  </a:txBody>
                  <a:tcPr marL="57143" marR="57143" marT="38095" marB="38095" anchor="ctr"/>
                </a:tc>
                <a:tc>
                  <a:txBody>
                    <a:bodyPr/>
                    <a:lstStyle/>
                    <a:p>
                      <a:pPr algn="l">
                        <a:buNone/>
                      </a:pPr>
                      <a:r>
                        <a:rPr lang="it-IT" sz="1200" b="1" dirty="0">
                          <a:solidFill>
                            <a:schemeClr val="tx1"/>
                          </a:solidFill>
                          <a:effectLst/>
                        </a:rPr>
                        <a:t>Valore</a:t>
                      </a:r>
                    </a:p>
                  </a:txBody>
                  <a:tcPr marL="57143" marR="57143" marT="38095" marB="38095" anchor="ctr"/>
                </a:tc>
                <a:extLst>
                  <a:ext uri="{0D108BD9-81ED-4DB2-BD59-A6C34878D82A}">
                    <a16:rowId xmlns:a16="http://schemas.microsoft.com/office/drawing/2014/main" val="157801602"/>
                  </a:ext>
                </a:extLst>
              </a:tr>
              <a:tr h="259046">
                <a:tc>
                  <a:txBody>
                    <a:bodyPr/>
                    <a:lstStyle/>
                    <a:p>
                      <a:pPr algn="l">
                        <a:buNone/>
                      </a:pPr>
                      <a:r>
                        <a:rPr lang="it-IT" sz="1200" dirty="0">
                          <a:solidFill>
                            <a:schemeClr val="tx1"/>
                          </a:solidFill>
                          <a:effectLst/>
                        </a:rPr>
                        <a:t>Consumo fatturato (</a:t>
                      </a:r>
                      <a:r>
                        <a:rPr lang="it-IT" sz="1200" dirty="0" err="1">
                          <a:solidFill>
                            <a:schemeClr val="tx1"/>
                          </a:solidFill>
                          <a:effectLst/>
                        </a:rPr>
                        <a:t>Billed</a:t>
                      </a:r>
                      <a:r>
                        <a:rPr lang="it-IT" sz="1200" dirty="0">
                          <a:solidFill>
                            <a:schemeClr val="tx1"/>
                          </a:solidFill>
                          <a:effectLst/>
                        </a:rPr>
                        <a:t>)</a:t>
                      </a:r>
                    </a:p>
                  </a:txBody>
                  <a:tcPr marL="57143" marR="57143" marT="38095" marB="38095" anchor="ctr">
                    <a:solidFill>
                      <a:schemeClr val="bg1"/>
                    </a:solidFill>
                  </a:tcPr>
                </a:tc>
                <a:tc>
                  <a:txBody>
                    <a:bodyPr/>
                    <a:lstStyle/>
                    <a:p>
                      <a:pPr algn="l">
                        <a:buNone/>
                      </a:pPr>
                      <a:r>
                        <a:rPr lang="it-IT" sz="1200">
                          <a:solidFill>
                            <a:schemeClr val="tx1"/>
                          </a:solidFill>
                          <a:effectLst/>
                        </a:rPr>
                        <a:t>384.621 kWh</a:t>
                      </a:r>
                    </a:p>
                  </a:txBody>
                  <a:tcPr marL="57143" marR="57143" marT="38095" marB="38095" anchor="ctr">
                    <a:solidFill>
                      <a:schemeClr val="bg1"/>
                    </a:solidFill>
                  </a:tcPr>
                </a:tc>
                <a:extLst>
                  <a:ext uri="{0D108BD9-81ED-4DB2-BD59-A6C34878D82A}">
                    <a16:rowId xmlns:a16="http://schemas.microsoft.com/office/drawing/2014/main" val="40024221"/>
                  </a:ext>
                </a:extLst>
              </a:tr>
              <a:tr h="259046">
                <a:tc>
                  <a:txBody>
                    <a:bodyPr/>
                    <a:lstStyle/>
                    <a:p>
                      <a:pPr algn="l">
                        <a:buNone/>
                      </a:pPr>
                      <a:r>
                        <a:rPr lang="it-IT" sz="1200" dirty="0">
                          <a:solidFill>
                            <a:schemeClr val="tx1"/>
                          </a:solidFill>
                          <a:effectLst/>
                        </a:rPr>
                        <a:t>Consumo misurato (</a:t>
                      </a:r>
                      <a:r>
                        <a:rPr lang="it-IT" sz="1200" dirty="0" err="1">
                          <a:solidFill>
                            <a:schemeClr val="tx1"/>
                          </a:solidFill>
                          <a:effectLst/>
                        </a:rPr>
                        <a:t>Metered</a:t>
                      </a:r>
                      <a:r>
                        <a:rPr lang="it-IT" sz="1200" dirty="0">
                          <a:solidFill>
                            <a:schemeClr val="tx1"/>
                          </a:solidFill>
                          <a:effectLst/>
                        </a:rPr>
                        <a:t>)</a:t>
                      </a:r>
                    </a:p>
                  </a:txBody>
                  <a:tcPr marL="57143" marR="57143" marT="38095" marB="38095" anchor="ctr">
                    <a:solidFill>
                      <a:schemeClr val="bg1"/>
                    </a:solidFill>
                  </a:tcPr>
                </a:tc>
                <a:tc>
                  <a:txBody>
                    <a:bodyPr/>
                    <a:lstStyle/>
                    <a:p>
                      <a:pPr algn="l">
                        <a:buNone/>
                      </a:pPr>
                      <a:r>
                        <a:rPr lang="it-IT" sz="1200">
                          <a:solidFill>
                            <a:schemeClr val="tx1"/>
                          </a:solidFill>
                          <a:effectLst/>
                        </a:rPr>
                        <a:t>146.860 kWh</a:t>
                      </a:r>
                    </a:p>
                  </a:txBody>
                  <a:tcPr marL="57143" marR="57143" marT="38095" marB="38095" anchor="ctr">
                    <a:solidFill>
                      <a:schemeClr val="bg1"/>
                    </a:solidFill>
                  </a:tcPr>
                </a:tc>
                <a:extLst>
                  <a:ext uri="{0D108BD9-81ED-4DB2-BD59-A6C34878D82A}">
                    <a16:rowId xmlns:a16="http://schemas.microsoft.com/office/drawing/2014/main" val="781813267"/>
                  </a:ext>
                </a:extLst>
              </a:tr>
              <a:tr h="259046">
                <a:tc>
                  <a:txBody>
                    <a:bodyPr/>
                    <a:lstStyle/>
                    <a:p>
                      <a:pPr algn="l">
                        <a:buNone/>
                      </a:pPr>
                      <a:r>
                        <a:rPr lang="it-IT" sz="1200" dirty="0">
                          <a:solidFill>
                            <a:schemeClr val="tx1"/>
                          </a:solidFill>
                          <a:effectLst/>
                        </a:rPr>
                        <a:t>Differenza</a:t>
                      </a:r>
                    </a:p>
                  </a:txBody>
                  <a:tcPr marL="57143" marR="57143" marT="38095" marB="38095" anchor="ctr">
                    <a:solidFill>
                      <a:schemeClr val="bg1"/>
                    </a:solidFill>
                  </a:tcPr>
                </a:tc>
                <a:tc>
                  <a:txBody>
                    <a:bodyPr/>
                    <a:lstStyle/>
                    <a:p>
                      <a:pPr algn="l">
                        <a:buNone/>
                      </a:pPr>
                      <a:r>
                        <a:rPr lang="it-IT" sz="1200">
                          <a:solidFill>
                            <a:schemeClr val="tx1"/>
                          </a:solidFill>
                          <a:effectLst/>
                        </a:rPr>
                        <a:t>237.801 kWh</a:t>
                      </a:r>
                    </a:p>
                  </a:txBody>
                  <a:tcPr marL="57143" marR="57143" marT="38095" marB="38095" anchor="ctr">
                    <a:solidFill>
                      <a:schemeClr val="bg1"/>
                    </a:solidFill>
                  </a:tcPr>
                </a:tc>
                <a:extLst>
                  <a:ext uri="{0D108BD9-81ED-4DB2-BD59-A6C34878D82A}">
                    <a16:rowId xmlns:a16="http://schemas.microsoft.com/office/drawing/2014/main" val="4289076609"/>
                  </a:ext>
                </a:extLst>
              </a:tr>
              <a:tr h="259046">
                <a:tc>
                  <a:txBody>
                    <a:bodyPr/>
                    <a:lstStyle/>
                    <a:p>
                      <a:pPr algn="l">
                        <a:buNone/>
                      </a:pPr>
                      <a:r>
                        <a:rPr lang="it-IT" sz="1200" dirty="0">
                          <a:solidFill>
                            <a:schemeClr val="tx1"/>
                          </a:solidFill>
                          <a:effectLst/>
                        </a:rPr>
                        <a:t>Scostamento</a:t>
                      </a:r>
                    </a:p>
                  </a:txBody>
                  <a:tcPr marL="57143" marR="57143" marT="38095" marB="38095" anchor="ctr">
                    <a:solidFill>
                      <a:schemeClr val="bg1"/>
                    </a:solidFill>
                  </a:tcPr>
                </a:tc>
                <a:tc>
                  <a:txBody>
                    <a:bodyPr/>
                    <a:lstStyle/>
                    <a:p>
                      <a:pPr algn="l">
                        <a:buNone/>
                      </a:pPr>
                      <a:r>
                        <a:rPr lang="it-IT" sz="1200" dirty="0">
                          <a:solidFill>
                            <a:schemeClr val="tx1"/>
                          </a:solidFill>
                          <a:effectLst/>
                        </a:rPr>
                        <a:t>+61,82%</a:t>
                      </a:r>
                    </a:p>
                  </a:txBody>
                  <a:tcPr marL="57143" marR="57143" marT="38095" marB="38095" anchor="ctr">
                    <a:solidFill>
                      <a:schemeClr val="bg1"/>
                    </a:solidFill>
                  </a:tcPr>
                </a:tc>
                <a:extLst>
                  <a:ext uri="{0D108BD9-81ED-4DB2-BD59-A6C34878D82A}">
                    <a16:rowId xmlns:a16="http://schemas.microsoft.com/office/drawing/2014/main" val="3480251553"/>
                  </a:ext>
                </a:extLst>
              </a:tr>
            </a:tbl>
          </a:graphicData>
        </a:graphic>
      </p:graphicFrame>
      <p:sp>
        <p:nvSpPr>
          <p:cNvPr id="8" name="CasellaDiTesto 7">
            <a:extLst>
              <a:ext uri="{FF2B5EF4-FFF2-40B4-BE49-F238E27FC236}">
                <a16:creationId xmlns:a16="http://schemas.microsoft.com/office/drawing/2014/main" id="{D4CA5945-ABBF-7313-2634-50F2A5CD21C8}"/>
              </a:ext>
            </a:extLst>
          </p:cNvPr>
          <p:cNvSpPr txBox="1"/>
          <p:nvPr/>
        </p:nvSpPr>
        <p:spPr>
          <a:xfrm>
            <a:off x="429301" y="2036829"/>
            <a:ext cx="7065166" cy="415498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Scenario</a:t>
            </a:r>
          </a:p>
          <a:p>
            <a:r>
              <a:rPr lang="it-IT" sz="1200"/>
              <a:t>L’Energy Manager confronta, per ogni periodo di fatturazione, i consumi fatturati con quelli misurati per verificarne la coerenza</a:t>
            </a:r>
          </a:p>
          <a:p>
            <a:pPr>
              <a:buNone/>
            </a:pPr>
            <a:endParaRPr lang="it-IT" sz="1200" b="1"/>
          </a:p>
          <a:p>
            <a:pPr>
              <a:buNone/>
            </a:pPr>
            <a:r>
              <a:rPr lang="it-IT" sz="1200" b="1"/>
              <a:t>Interpretazione dei dati in report</a:t>
            </a:r>
          </a:p>
          <a:p>
            <a:r>
              <a:rPr lang="it-IT" sz="1200"/>
              <a:t>Per questa utenza il consumo fatturato risulta </a:t>
            </a:r>
            <a:r>
              <a:rPr lang="it-IT" sz="1200" b="1"/>
              <a:t>significativamente superiore</a:t>
            </a:r>
            <a:r>
              <a:rPr lang="it-IT" sz="1200"/>
              <a:t> a quello registrato dal contatore.</a:t>
            </a:r>
          </a:p>
          <a:p>
            <a:r>
              <a:rPr lang="it-IT" sz="1200"/>
              <a:t>L’analisi evidenzia una discrepanza </a:t>
            </a:r>
            <a:r>
              <a:rPr lang="it-IT" sz="1200" b="1"/>
              <a:t>persistente</a:t>
            </a:r>
            <a:r>
              <a:rPr lang="it-IT" sz="1200"/>
              <a:t> nel corso dell’anno, indicando la necessità di verificare l’origine dello scostamento.</a:t>
            </a:r>
          </a:p>
          <a:p>
            <a:pPr>
              <a:buNone/>
            </a:pPr>
            <a:endParaRPr lang="it-IT" sz="1200" b="1"/>
          </a:p>
          <a:p>
            <a:pPr>
              <a:buNone/>
            </a:pPr>
            <a:r>
              <a:rPr lang="it-IT" sz="1200" b="1"/>
              <a:t>Possibili cause da verificare</a:t>
            </a:r>
          </a:p>
          <a:p>
            <a:pPr marL="171416" indent="-171416">
              <a:buFont typeface="Arial" panose="020B0604020202020204" pitchFamily="34" charset="0"/>
              <a:buChar char="•"/>
            </a:pPr>
            <a:r>
              <a:rPr lang="it-IT" sz="1200"/>
              <a:t>disallineamento tra periodo di misura e periodo di fatturazione;</a:t>
            </a:r>
          </a:p>
          <a:p>
            <a:pPr marL="171416" indent="-171416">
              <a:buFont typeface="Arial" panose="020B0604020202020204" pitchFamily="34" charset="0"/>
              <a:buChar char="•"/>
            </a:pPr>
            <a:r>
              <a:rPr lang="it-IT" sz="1200"/>
              <a:t>letture stimate del fornitore;</a:t>
            </a:r>
          </a:p>
          <a:p>
            <a:pPr marL="171416" indent="-171416">
              <a:buFont typeface="Arial" panose="020B0604020202020204" pitchFamily="34" charset="0"/>
              <a:buChar char="•"/>
            </a:pPr>
            <a:r>
              <a:rPr lang="it-IT" sz="1200"/>
              <a:t>errata associazione tra bolletta e contatore;</a:t>
            </a:r>
          </a:p>
          <a:p>
            <a:pPr marL="171416" indent="-171416">
              <a:buFont typeface="Arial" panose="020B0604020202020204" pitchFamily="34" charset="0"/>
              <a:buChar char="•"/>
            </a:pPr>
            <a:r>
              <a:rPr lang="it-IT" sz="1200"/>
              <a:t>sostituzione o malfunzionamento del contatore;</a:t>
            </a:r>
          </a:p>
          <a:p>
            <a:pPr marL="171416" indent="-171416">
              <a:buFont typeface="Arial" panose="020B0604020202020204" pitchFamily="34" charset="0"/>
              <a:buChar char="•"/>
            </a:pPr>
            <a:r>
              <a:rPr lang="it-IT" sz="1200"/>
              <a:t>anomalie nella configurazione o nell’importazione dei dati.</a:t>
            </a:r>
          </a:p>
          <a:p>
            <a:pPr>
              <a:buNone/>
            </a:pPr>
            <a:endParaRPr lang="it-IT" sz="1200" b="1"/>
          </a:p>
          <a:p>
            <a:pPr>
              <a:buNone/>
            </a:pPr>
            <a:r>
              <a:rPr lang="it-IT" sz="1200" b="1"/>
              <a:t>Valore per l’Energy Manager</a:t>
            </a:r>
          </a:p>
          <a:p>
            <a:pPr marL="171416" indent="-171416">
              <a:buFont typeface="Arial" panose="020B0604020202020204" pitchFamily="34" charset="0"/>
              <a:buChar char="•"/>
            </a:pPr>
            <a:r>
              <a:rPr lang="it-IT" sz="1200"/>
              <a:t>Identifica automaticamente le utenze con le maggiori discrepanze tra consumi fatturati e misurati.</a:t>
            </a:r>
          </a:p>
          <a:p>
            <a:pPr marL="171416" indent="-171416">
              <a:buFont typeface="Arial" panose="020B0604020202020204" pitchFamily="34" charset="0"/>
              <a:buChar char="•"/>
            </a:pPr>
            <a:r>
              <a:rPr lang="it-IT" sz="1200"/>
              <a:t>Riduce il tempo dedicato al controllo di bollette e letture dei contatori.</a:t>
            </a:r>
          </a:p>
          <a:p>
            <a:pPr marL="171416" indent="-171416">
              <a:buFont typeface="Arial" panose="020B0604020202020204" pitchFamily="34" charset="0"/>
              <a:buChar char="•"/>
            </a:pPr>
            <a:r>
              <a:rPr lang="it-IT" sz="1200"/>
              <a:t>Permette di concentrare le verifiche solo sui casi realmente critici.</a:t>
            </a:r>
          </a:p>
          <a:p>
            <a:pPr marL="171416" indent="-171416">
              <a:buFont typeface="Arial" panose="020B0604020202020204" pitchFamily="34" charset="0"/>
              <a:buChar char="•"/>
            </a:pPr>
            <a:r>
              <a:rPr lang="it-IT" sz="1200"/>
              <a:t>Aumenta l’affidabilità dei dati utilizzati per analisi energetiche, KPI e reporting ESG.</a:t>
            </a:r>
          </a:p>
        </p:txBody>
      </p:sp>
      <p:sp>
        <p:nvSpPr>
          <p:cNvPr id="10" name="CasellaDiTesto 9">
            <a:extLst>
              <a:ext uri="{FF2B5EF4-FFF2-40B4-BE49-F238E27FC236}">
                <a16:creationId xmlns:a16="http://schemas.microsoft.com/office/drawing/2014/main" id="{9504F4EA-3BC1-73D0-045A-B3C338A89A98}"/>
              </a:ext>
            </a:extLst>
          </p:cNvPr>
          <p:cNvSpPr txBox="1"/>
          <p:nvPr/>
        </p:nvSpPr>
        <p:spPr>
          <a:xfrm>
            <a:off x="389741" y="1258244"/>
            <a:ext cx="10827783" cy="6463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l report </a:t>
            </a:r>
            <a:r>
              <a:rPr lang="it-IT" sz="1200" b="1" err="1"/>
              <a:t>Billed</a:t>
            </a:r>
            <a:r>
              <a:rPr lang="it-IT" sz="1200" b="1"/>
              <a:t> vs </a:t>
            </a:r>
            <a:r>
              <a:rPr lang="it-IT" sz="1200" b="1" err="1"/>
              <a:t>Metered</a:t>
            </a:r>
            <a:r>
              <a:rPr lang="it-IT" sz="1200"/>
              <a:t> confronta automaticamente i consumi registrati dal contatore con quelli riportati nelle bollette. Non determina la causa della discrepanza, ma evidenzia tempestivamente le utenze che richiedono un approfondimento. In questo caso, uno </a:t>
            </a:r>
            <a:r>
              <a:rPr lang="it-IT" sz="1200" b="1"/>
              <a:t>scostamento del +61,82%</a:t>
            </a:r>
            <a:r>
              <a:rPr lang="it-IT" sz="1200"/>
              <a:t> segnala un’anomalia significativa.</a:t>
            </a:r>
          </a:p>
        </p:txBody>
      </p:sp>
      <p:sp>
        <p:nvSpPr>
          <p:cNvPr id="12" name="CasellaDiTesto 11">
            <a:extLst>
              <a:ext uri="{FF2B5EF4-FFF2-40B4-BE49-F238E27FC236}">
                <a16:creationId xmlns:a16="http://schemas.microsoft.com/office/drawing/2014/main" id="{1A2B82FB-DE0E-E295-A7D3-92C3D23D83A7}"/>
              </a:ext>
            </a:extLst>
          </p:cNvPr>
          <p:cNvSpPr txBox="1"/>
          <p:nvPr/>
        </p:nvSpPr>
        <p:spPr>
          <a:xfrm>
            <a:off x="389741" y="533799"/>
            <a:ext cx="6095206" cy="58477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600" b="1"/>
              <a:t>Report </a:t>
            </a:r>
            <a:r>
              <a:rPr lang="it-IT" sz="1600" b="1" err="1"/>
              <a:t>Billed</a:t>
            </a:r>
            <a:r>
              <a:rPr lang="it-IT" sz="1600" b="1"/>
              <a:t> vs </a:t>
            </a:r>
            <a:r>
              <a:rPr lang="it-IT" sz="1600" b="1" err="1"/>
              <a:t>Metered</a:t>
            </a:r>
            <a:endParaRPr lang="it-IT" sz="1600" b="1"/>
          </a:p>
          <a:p>
            <a:pPr>
              <a:buNone/>
            </a:pPr>
            <a:r>
              <a:rPr lang="it-IT" sz="1600" b="1"/>
              <a:t>Caso di analisi – Location One Penn Plaza (Bill 4103290788)</a:t>
            </a:r>
          </a:p>
        </p:txBody>
      </p:sp>
      <p:sp>
        <p:nvSpPr>
          <p:cNvPr id="14" name="CasellaDiTesto 13">
            <a:extLst>
              <a:ext uri="{FF2B5EF4-FFF2-40B4-BE49-F238E27FC236}">
                <a16:creationId xmlns:a16="http://schemas.microsoft.com/office/drawing/2014/main" id="{6AC8B326-B7CA-B9F6-9D43-240B6424E995}"/>
              </a:ext>
            </a:extLst>
          </p:cNvPr>
          <p:cNvSpPr txBox="1"/>
          <p:nvPr/>
        </p:nvSpPr>
        <p:spPr>
          <a:xfrm>
            <a:off x="8206674" y="2157907"/>
            <a:ext cx="2543576"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Risultato annuale</a:t>
            </a:r>
          </a:p>
        </p:txBody>
      </p:sp>
      <p:sp>
        <p:nvSpPr>
          <p:cNvPr id="16" name="CasellaDiTesto 15">
            <a:extLst>
              <a:ext uri="{FF2B5EF4-FFF2-40B4-BE49-F238E27FC236}">
                <a16:creationId xmlns:a16="http://schemas.microsoft.com/office/drawing/2014/main" id="{42BA4382-70C6-96BD-050D-5CB4976D087E}"/>
              </a:ext>
            </a:extLst>
          </p:cNvPr>
          <p:cNvSpPr txBox="1"/>
          <p:nvPr/>
        </p:nvSpPr>
        <p:spPr>
          <a:xfrm>
            <a:off x="8230117" y="4196465"/>
            <a:ext cx="3270312" cy="1200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a:t>IBM </a:t>
            </a:r>
            <a:r>
              <a:rPr lang="it-IT" sz="1200" err="1"/>
              <a:t>Envizi</a:t>
            </a:r>
            <a:r>
              <a:rPr lang="it-IT" sz="1200"/>
              <a:t> Meter Analytics automatizza il confronto tra dati di misura e dati di fatturazione, consentendo di individuare rapidamente anomalie, migliorare la qualità dei dati e supportare decisioni energetiche basate su informazioni affidabili.</a:t>
            </a:r>
          </a:p>
        </p:txBody>
      </p:sp>
    </p:spTree>
    <p:extLst>
      <p:ext uri="{BB962C8B-B14F-4D97-AF65-F5344CB8AC3E}">
        <p14:creationId xmlns:p14="http://schemas.microsoft.com/office/powerpoint/2010/main" val="11104551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6FB9D5D5-9406-E388-6773-1AAE49945F20}"/>
              </a:ext>
            </a:extLst>
          </p:cNvPr>
          <p:cNvSpPr txBox="1"/>
          <p:nvPr/>
        </p:nvSpPr>
        <p:spPr>
          <a:xfrm>
            <a:off x="281318" y="256991"/>
            <a:ext cx="8079079" cy="60631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600" b="1"/>
              <a:t>Nel caso Grand Central, dove il consumo misurato è superiore a quello fatturato.</a:t>
            </a:r>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endParaRPr lang="it-IT" sz="1200"/>
          </a:p>
          <a:p>
            <a:pPr>
              <a:buNone/>
            </a:pPr>
            <a:r>
              <a:rPr lang="it-IT" sz="1200" b="1"/>
              <a:t>Scenario</a:t>
            </a:r>
          </a:p>
          <a:p>
            <a:pPr>
              <a:buNone/>
            </a:pPr>
            <a:r>
              <a:rPr lang="it-IT" sz="1200"/>
              <a:t>L’Energy Manager confronta, per ogni periodo di fatturazione, i consumi fatturati con quelli misurati per verificarne la coerenza.</a:t>
            </a:r>
          </a:p>
          <a:p>
            <a:pPr>
              <a:buNone/>
            </a:pPr>
            <a:endParaRPr lang="it-IT" sz="1200"/>
          </a:p>
          <a:p>
            <a:pPr>
              <a:buNone/>
            </a:pPr>
            <a:r>
              <a:rPr lang="it-IT" sz="1200" b="1"/>
              <a:t>Interpretazione dei risultati</a:t>
            </a:r>
          </a:p>
          <a:p>
            <a:pPr>
              <a:buNone/>
            </a:pPr>
            <a:r>
              <a:rPr lang="it-IT" sz="1200"/>
              <a:t>Per questa utenza il consumo </a:t>
            </a:r>
            <a:r>
              <a:rPr lang="it-IT" sz="1200" b="1"/>
              <a:t>registrato dal contatore risulta significativamente superiore</a:t>
            </a:r>
            <a:r>
              <a:rPr lang="it-IT" sz="1200"/>
              <a:t> a quello riportato nelle bollette. L’analisi evidenzia una discrepanza </a:t>
            </a:r>
            <a:r>
              <a:rPr lang="it-IT" sz="1200" b="1"/>
              <a:t>persistente</a:t>
            </a:r>
            <a:r>
              <a:rPr lang="it-IT" sz="1200"/>
              <a:t> nel corso dell’anno, indicando la necessità di verificare l’origine dello scostamento e la completezza dei dati di fatturazione.</a:t>
            </a:r>
            <a:br>
              <a:rPr lang="it-IT" sz="1200"/>
            </a:br>
            <a:endParaRPr lang="it-IT" sz="1200"/>
          </a:p>
          <a:p>
            <a:pPr>
              <a:buNone/>
            </a:pPr>
            <a:r>
              <a:rPr lang="it-IT" sz="1200" b="1"/>
              <a:t>Possibili cause da verificare</a:t>
            </a:r>
          </a:p>
          <a:p>
            <a:pPr marL="171416" indent="-171416">
              <a:buFont typeface="Arial" panose="020B0604020202020204" pitchFamily="34" charset="0"/>
              <a:buChar char="•"/>
            </a:pPr>
            <a:r>
              <a:rPr lang="it-IT" sz="1200"/>
              <a:t>fatture mancanti o non ancora registrate nel sistema;</a:t>
            </a:r>
          </a:p>
          <a:p>
            <a:pPr marL="171416" indent="-171416">
              <a:buFont typeface="Arial" panose="020B0604020202020204" pitchFamily="34" charset="0"/>
              <a:buChar char="•"/>
            </a:pPr>
            <a:r>
              <a:rPr lang="it-IT" sz="1200"/>
              <a:t>disallineamento tra periodo di misura e periodo di fatturazione;</a:t>
            </a:r>
          </a:p>
          <a:p>
            <a:pPr marL="171416" indent="-171416">
              <a:buFont typeface="Arial" panose="020B0604020202020204" pitchFamily="34" charset="0"/>
              <a:buChar char="•"/>
            </a:pPr>
            <a:r>
              <a:rPr lang="it-IT" sz="1200"/>
              <a:t>errata associazione tra bolletta e contatore;</a:t>
            </a:r>
          </a:p>
          <a:p>
            <a:pPr marL="171416" indent="-171416">
              <a:buFont typeface="Arial" panose="020B0604020202020204" pitchFamily="34" charset="0"/>
              <a:buChar char="•"/>
            </a:pPr>
            <a:r>
              <a:rPr lang="it-IT" sz="1200"/>
              <a:t>anomalie nella configurazione o nell’importazione dei dati;</a:t>
            </a:r>
          </a:p>
          <a:p>
            <a:pPr marL="171416" indent="-171416">
              <a:buFont typeface="Arial" panose="020B0604020202020204" pitchFamily="34" charset="0"/>
              <a:buChar char="•"/>
            </a:pPr>
            <a:r>
              <a:rPr lang="it-IT" sz="1200"/>
              <a:t>sostituzione o malfunzionamento del contatore.</a:t>
            </a:r>
          </a:p>
          <a:p>
            <a:pPr>
              <a:buNone/>
            </a:pPr>
            <a:br>
              <a:rPr lang="it-IT" sz="1200"/>
            </a:br>
            <a:endParaRPr lang="it-IT" sz="1200"/>
          </a:p>
          <a:p>
            <a:pPr>
              <a:buNone/>
            </a:pPr>
            <a:r>
              <a:rPr lang="it-IT" sz="1200" b="1"/>
              <a:t>Valore per l’Energy Manager</a:t>
            </a:r>
          </a:p>
          <a:p>
            <a:pPr marL="171416" indent="-171416">
              <a:buFont typeface="Arial" panose="020B0604020202020204" pitchFamily="34" charset="0"/>
              <a:buChar char="•"/>
            </a:pPr>
            <a:r>
              <a:rPr lang="it-IT" sz="1200"/>
              <a:t>Identifica automaticamente le utenze con le maggiori discrepanze tra consumi fatturati e misurati.</a:t>
            </a:r>
          </a:p>
          <a:p>
            <a:pPr marL="171416" indent="-171416">
              <a:buFont typeface="Arial" panose="020B0604020202020204" pitchFamily="34" charset="0"/>
              <a:buChar char="•"/>
            </a:pPr>
            <a:r>
              <a:rPr lang="it-IT" sz="1200"/>
              <a:t>Evidenzia possibili fatture mancanti o periodi di fatturazione non allineati.</a:t>
            </a:r>
          </a:p>
          <a:p>
            <a:pPr marL="171416" indent="-171416">
              <a:buFont typeface="Arial" panose="020B0604020202020204" pitchFamily="34" charset="0"/>
              <a:buChar char="•"/>
            </a:pPr>
            <a:r>
              <a:rPr lang="it-IT" sz="1200"/>
              <a:t>Riduce il tempo dedicato al controllo di bollette e letture dei contatori.</a:t>
            </a:r>
          </a:p>
          <a:p>
            <a:pPr marL="171416" indent="-171416">
              <a:buFont typeface="Arial" panose="020B0604020202020204" pitchFamily="34" charset="0"/>
              <a:buChar char="•"/>
            </a:pPr>
            <a:r>
              <a:rPr lang="it-IT" sz="1200"/>
              <a:t>Aumenta l’affidabilità dei dati utilizzati per analisi energetiche, KPI e reporting ESG.</a:t>
            </a:r>
          </a:p>
          <a:p>
            <a:pPr>
              <a:buNone/>
            </a:pPr>
            <a:endParaRPr lang="it-IT" sz="1200"/>
          </a:p>
        </p:txBody>
      </p:sp>
      <p:graphicFrame>
        <p:nvGraphicFramePr>
          <p:cNvPr id="9" name="Tabella 8">
            <a:extLst>
              <a:ext uri="{FF2B5EF4-FFF2-40B4-BE49-F238E27FC236}">
                <a16:creationId xmlns:a16="http://schemas.microsoft.com/office/drawing/2014/main" id="{5ABED1BB-F273-5DCC-1FE8-2DA3560BD0B4}"/>
              </a:ext>
            </a:extLst>
          </p:cNvPr>
          <p:cNvGraphicFramePr>
            <a:graphicFrameLocks noGrp="1"/>
          </p:cNvGraphicFramePr>
          <p:nvPr/>
        </p:nvGraphicFramePr>
        <p:xfrm>
          <a:off x="8360397" y="2702078"/>
          <a:ext cx="3704010" cy="1295350"/>
        </p:xfrm>
        <a:graphic>
          <a:graphicData uri="http://schemas.openxmlformats.org/drawingml/2006/table">
            <a:tbl>
              <a:tblPr>
                <a:tableStyleId>{5C22544A-7EE6-4342-B048-85BDC9FD1C3A}</a:tableStyleId>
              </a:tblPr>
              <a:tblGrid>
                <a:gridCol w="2460458">
                  <a:extLst>
                    <a:ext uri="{9D8B030D-6E8A-4147-A177-3AD203B41FA5}">
                      <a16:colId xmlns:a16="http://schemas.microsoft.com/office/drawing/2014/main" val="428401638"/>
                    </a:ext>
                  </a:extLst>
                </a:gridCol>
                <a:gridCol w="1243552">
                  <a:extLst>
                    <a:ext uri="{9D8B030D-6E8A-4147-A177-3AD203B41FA5}">
                      <a16:colId xmlns:a16="http://schemas.microsoft.com/office/drawing/2014/main" val="1821469315"/>
                    </a:ext>
                  </a:extLst>
                </a:gridCol>
              </a:tblGrid>
              <a:tr h="259046">
                <a:tc>
                  <a:txBody>
                    <a:bodyPr/>
                    <a:lstStyle/>
                    <a:p>
                      <a:pPr algn="l">
                        <a:buNone/>
                      </a:pPr>
                      <a:r>
                        <a:rPr lang="it-IT" sz="1200" dirty="0">
                          <a:solidFill>
                            <a:schemeClr val="tx1"/>
                          </a:solidFill>
                          <a:effectLst/>
                        </a:rPr>
                        <a:t>Indicatore</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it-IT" sz="1200">
                          <a:solidFill>
                            <a:schemeClr val="tx1"/>
                          </a:solidFill>
                          <a:effectLst/>
                        </a:rPr>
                        <a:t>Valore</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372382"/>
                  </a:ext>
                </a:extLst>
              </a:tr>
              <a:tr h="259046">
                <a:tc>
                  <a:txBody>
                    <a:bodyPr/>
                    <a:lstStyle/>
                    <a:p>
                      <a:pPr algn="l">
                        <a:buNone/>
                      </a:pPr>
                      <a:r>
                        <a:rPr lang="it-IT" sz="1200" dirty="0">
                          <a:solidFill>
                            <a:schemeClr val="tx1"/>
                          </a:solidFill>
                          <a:effectLst/>
                        </a:rPr>
                        <a:t>Consumo fatturato (</a:t>
                      </a:r>
                      <a:r>
                        <a:rPr lang="it-IT" sz="1200" dirty="0" err="1">
                          <a:solidFill>
                            <a:schemeClr val="tx1"/>
                          </a:solidFill>
                          <a:effectLst/>
                        </a:rPr>
                        <a:t>Billed</a:t>
                      </a:r>
                      <a:r>
                        <a:rPr lang="it-IT" sz="1200" dirty="0">
                          <a:solidFill>
                            <a:schemeClr val="tx1"/>
                          </a:solidFill>
                          <a:effectLst/>
                        </a:rPr>
                        <a:t>)</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231.349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509061"/>
                  </a:ext>
                </a:extLst>
              </a:tr>
              <a:tr h="259046">
                <a:tc>
                  <a:txBody>
                    <a:bodyPr/>
                    <a:lstStyle/>
                    <a:p>
                      <a:pPr algn="l">
                        <a:buNone/>
                      </a:pPr>
                      <a:r>
                        <a:rPr lang="it-IT" sz="1200" dirty="0">
                          <a:solidFill>
                            <a:schemeClr val="tx1"/>
                          </a:solidFill>
                          <a:effectLst/>
                        </a:rPr>
                        <a:t>Consumo misurato (</a:t>
                      </a:r>
                      <a:r>
                        <a:rPr lang="it-IT" sz="1200" dirty="0" err="1">
                          <a:solidFill>
                            <a:schemeClr val="tx1"/>
                          </a:solidFill>
                          <a:effectLst/>
                        </a:rPr>
                        <a:t>Metered</a:t>
                      </a:r>
                      <a:r>
                        <a:rPr lang="it-IT" sz="1200" dirty="0">
                          <a:solidFill>
                            <a:schemeClr val="tx1"/>
                          </a:solidFill>
                          <a:effectLst/>
                        </a:rPr>
                        <a:t>)</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374.543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8176211"/>
                  </a:ext>
                </a:extLst>
              </a:tr>
              <a:tr h="259046">
                <a:tc>
                  <a:txBody>
                    <a:bodyPr/>
                    <a:lstStyle/>
                    <a:p>
                      <a:pPr algn="l">
                        <a:buNone/>
                      </a:pPr>
                      <a:r>
                        <a:rPr lang="it-IT" sz="1200" dirty="0">
                          <a:solidFill>
                            <a:schemeClr val="tx1"/>
                          </a:solidFill>
                          <a:effectLst/>
                        </a:rPr>
                        <a:t>Differenza</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a:solidFill>
                            <a:schemeClr val="tx1"/>
                          </a:solidFill>
                          <a:effectLst/>
                        </a:rPr>
                        <a:t>-143.194 kWh</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06350914"/>
                  </a:ext>
                </a:extLst>
              </a:tr>
              <a:tr h="259046">
                <a:tc>
                  <a:txBody>
                    <a:bodyPr/>
                    <a:lstStyle/>
                    <a:p>
                      <a:pPr algn="l">
                        <a:buNone/>
                      </a:pPr>
                      <a:r>
                        <a:rPr lang="it-IT" sz="1200" dirty="0">
                          <a:solidFill>
                            <a:schemeClr val="tx1"/>
                          </a:solidFill>
                          <a:effectLst/>
                        </a:rPr>
                        <a:t>Scostamento</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buNone/>
                      </a:pPr>
                      <a:r>
                        <a:rPr lang="it-IT" sz="1200" dirty="0">
                          <a:solidFill>
                            <a:schemeClr val="tx1"/>
                          </a:solidFill>
                          <a:effectLst/>
                        </a:rPr>
                        <a:t>-61,89%</a:t>
                      </a:r>
                    </a:p>
                  </a:txBody>
                  <a:tcPr marL="57143" marR="57143" marT="38095" marB="380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293993"/>
                  </a:ext>
                </a:extLst>
              </a:tr>
            </a:tbl>
          </a:graphicData>
        </a:graphic>
      </p:graphicFrame>
      <p:sp>
        <p:nvSpPr>
          <p:cNvPr id="11" name="CasellaDiTesto 10">
            <a:extLst>
              <a:ext uri="{FF2B5EF4-FFF2-40B4-BE49-F238E27FC236}">
                <a16:creationId xmlns:a16="http://schemas.microsoft.com/office/drawing/2014/main" id="{48CB7B36-B974-7EBE-ED9F-DC70A2ACDE03}"/>
              </a:ext>
            </a:extLst>
          </p:cNvPr>
          <p:cNvSpPr txBox="1"/>
          <p:nvPr/>
        </p:nvSpPr>
        <p:spPr>
          <a:xfrm>
            <a:off x="8325232" y="2438856"/>
            <a:ext cx="6382384" cy="27699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Risultato annuale</a:t>
            </a:r>
          </a:p>
        </p:txBody>
      </p:sp>
      <p:sp>
        <p:nvSpPr>
          <p:cNvPr id="13" name="CasellaDiTesto 12">
            <a:extLst>
              <a:ext uri="{FF2B5EF4-FFF2-40B4-BE49-F238E27FC236}">
                <a16:creationId xmlns:a16="http://schemas.microsoft.com/office/drawing/2014/main" id="{B022D79C-3352-6573-4FAB-9A67102F0006}"/>
              </a:ext>
            </a:extLst>
          </p:cNvPr>
          <p:cNvSpPr txBox="1"/>
          <p:nvPr/>
        </p:nvSpPr>
        <p:spPr>
          <a:xfrm>
            <a:off x="8360397" y="4155922"/>
            <a:ext cx="3704010" cy="156966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a:t>Uno scostamento negativo non indica necessariamente un errore di fatturazione, ma evidenzia una discrepanza che richiede approfondimento. </a:t>
            </a:r>
            <a:r>
              <a:rPr lang="it-IT" sz="1200" b="1"/>
              <a:t>IBM </a:t>
            </a:r>
            <a:r>
              <a:rPr lang="it-IT" sz="1200" b="1" err="1"/>
              <a:t>Envizi</a:t>
            </a:r>
            <a:r>
              <a:rPr lang="it-IT" sz="1200" b="1"/>
              <a:t> Meter Analytics consente di individuare automaticamente queste situazioni, migliorando la qualità dei dati energetici e garantendo maggiore affidabilità </a:t>
            </a:r>
            <a:r>
              <a:rPr lang="it-IT" sz="1200"/>
              <a:t>alle analisi e alle decisioni del management.</a:t>
            </a:r>
          </a:p>
        </p:txBody>
      </p:sp>
      <p:sp>
        <p:nvSpPr>
          <p:cNvPr id="15" name="CasellaDiTesto 14">
            <a:extLst>
              <a:ext uri="{FF2B5EF4-FFF2-40B4-BE49-F238E27FC236}">
                <a16:creationId xmlns:a16="http://schemas.microsoft.com/office/drawing/2014/main" id="{2D624C0F-51F9-436C-2F7C-175CD089A073}"/>
              </a:ext>
            </a:extLst>
          </p:cNvPr>
          <p:cNvSpPr txBox="1"/>
          <p:nvPr/>
        </p:nvSpPr>
        <p:spPr>
          <a:xfrm>
            <a:off x="281318" y="513133"/>
            <a:ext cx="10484927" cy="13849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Report </a:t>
            </a:r>
            <a:r>
              <a:rPr lang="it-IT" sz="1200" b="1" err="1"/>
              <a:t>Billed</a:t>
            </a:r>
            <a:r>
              <a:rPr lang="it-IT" sz="1200" b="1"/>
              <a:t> vs </a:t>
            </a:r>
            <a:r>
              <a:rPr lang="it-IT" sz="1200" b="1" err="1"/>
              <a:t>Metered</a:t>
            </a:r>
            <a:endParaRPr lang="it-IT" sz="1200" b="1"/>
          </a:p>
          <a:p>
            <a:pPr>
              <a:buNone/>
            </a:pPr>
            <a:endParaRPr lang="it-IT" sz="1200" b="1"/>
          </a:p>
          <a:p>
            <a:pPr>
              <a:buNone/>
            </a:pPr>
            <a:r>
              <a:rPr lang="it-IT" sz="1200" b="1"/>
              <a:t>Caso di analisi – Location Grand Central (DCU_GCS_E0)</a:t>
            </a:r>
          </a:p>
          <a:p>
            <a:pPr>
              <a:buNone/>
            </a:pPr>
            <a:r>
              <a:rPr lang="it-IT" sz="1200"/>
              <a:t>Il report </a:t>
            </a:r>
            <a:r>
              <a:rPr lang="it-IT" sz="1200" b="1" err="1"/>
              <a:t>Billed</a:t>
            </a:r>
            <a:r>
              <a:rPr lang="it-IT" sz="1200" b="1"/>
              <a:t> vs </a:t>
            </a:r>
            <a:r>
              <a:rPr lang="it-IT" sz="1200" b="1" err="1"/>
              <a:t>Metered</a:t>
            </a:r>
            <a:r>
              <a:rPr lang="it-IT" sz="1200"/>
              <a:t> confronta automaticamente i consumi registrati dal contatore con quelli riportati nelle bollette. Non determina la causa della discrepanza, ma evidenzia tempestivamente le utenze che richiedono un approfondimento. In questo caso, uno </a:t>
            </a:r>
            <a:r>
              <a:rPr lang="it-IT" sz="1200" b="1"/>
              <a:t>scostamento del -61,89%</a:t>
            </a:r>
            <a:r>
              <a:rPr lang="it-IT" sz="1200"/>
              <a:t> segnala un’anomalia significativa.</a:t>
            </a:r>
          </a:p>
        </p:txBody>
      </p:sp>
    </p:spTree>
    <p:extLst>
      <p:ext uri="{BB962C8B-B14F-4D97-AF65-F5344CB8AC3E}">
        <p14:creationId xmlns:p14="http://schemas.microsoft.com/office/powerpoint/2010/main" val="380512529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yebrow"/>
          <p:cNvSpPr txBox="1"/>
          <p:nvPr/>
        </p:nvSpPr>
        <p:spPr>
          <a:xfrm>
            <a:off x="287999" y="320445"/>
            <a:ext cx="6399967" cy="184666"/>
          </a:xfrm>
          <a:prstGeom prst="rect">
            <a:avLst/>
          </a:prstGeom>
          <a:noFill/>
        </p:spPr>
        <p:txBody>
          <a:bodyPr wrap="square" lIns="0" tIns="0" rIns="0" bIns="0">
            <a:spAutoFit/>
          </a:bodyPr>
          <a:lstStyle/>
          <a:p>
            <a:r>
              <a:rPr lang="it-IT" sz="1200" b="1">
                <a:solidFill>
                  <a:srgbClr val="0F62FE"/>
                </a:solidFill>
                <a:latin typeface="IBM Plex Sans Light"/>
              </a:rPr>
              <a:t>REPORT BILLED VS METERED</a:t>
            </a:r>
          </a:p>
        </p:txBody>
      </p:sp>
      <p:sp>
        <p:nvSpPr>
          <p:cNvPr id="31" name="Title"/>
          <p:cNvSpPr txBox="1"/>
          <p:nvPr/>
        </p:nvSpPr>
        <p:spPr>
          <a:xfrm>
            <a:off x="287999" y="571872"/>
            <a:ext cx="10498633" cy="292388"/>
          </a:xfrm>
          <a:prstGeom prst="rect">
            <a:avLst/>
          </a:prstGeom>
          <a:noFill/>
        </p:spPr>
        <p:txBody>
          <a:bodyPr wrap="square" lIns="0" tIns="0" rIns="0" bIns="0">
            <a:spAutoFit/>
          </a:bodyPr>
          <a:lstStyle/>
          <a:p>
            <a:r>
              <a:rPr lang="it-IT" sz="1900" b="1">
                <a:solidFill>
                  <a:srgbClr val="000000"/>
                </a:solidFill>
                <a:latin typeface="IBM Plex Sans Light"/>
              </a:rPr>
              <a:t>Anomalie di fatturazione e qualità del dato</a:t>
            </a:r>
          </a:p>
        </p:txBody>
      </p:sp>
      <p:sp>
        <p:nvSpPr>
          <p:cNvPr id="32" name="CardL"/>
          <p:cNvSpPr/>
          <p:nvPr/>
        </p:nvSpPr>
        <p:spPr>
          <a:xfrm>
            <a:off x="287999" y="1295678"/>
            <a:ext cx="5638066" cy="1371421"/>
          </a:xfrm>
          <a:prstGeom prst="roundRect">
            <a:avLst>
              <a:gd name="adj" fmla="val 5000"/>
            </a:avLst>
          </a:prstGeom>
          <a:solidFill>
            <a:srgbClr val="F4F6FA"/>
          </a:solidFill>
          <a:ln w="12700">
            <a:solidFill>
              <a:srgbClr val="D7E0F0"/>
            </a:solidFill>
          </a:ln>
          <a:effectLst/>
        </p:spPr>
        <p:txBody>
          <a:bodyPr rtlCol="0" anchor="ctr"/>
          <a:lstStyle/>
          <a:p>
            <a:pPr algn="ctr"/>
            <a:endParaRPr sz="900"/>
          </a:p>
        </p:txBody>
      </p:sp>
      <p:sp>
        <p:nvSpPr>
          <p:cNvPr id="33" name="CardR"/>
          <p:cNvSpPr/>
          <p:nvPr/>
        </p:nvSpPr>
        <p:spPr>
          <a:xfrm>
            <a:off x="6264349" y="1295678"/>
            <a:ext cx="5638066" cy="1371421"/>
          </a:xfrm>
          <a:prstGeom prst="roundRect">
            <a:avLst>
              <a:gd name="adj" fmla="val 6000"/>
            </a:avLst>
          </a:prstGeom>
          <a:solidFill>
            <a:srgbClr val="001141"/>
          </a:solidFill>
          <a:ln>
            <a:noFill/>
          </a:ln>
          <a:effectLst/>
        </p:spPr>
        <p:txBody>
          <a:bodyPr rtlCol="0" anchor="ctr"/>
          <a:lstStyle/>
          <a:p>
            <a:pPr algn="ctr"/>
            <a:endParaRPr sz="900"/>
          </a:p>
        </p:txBody>
      </p:sp>
      <p:sp>
        <p:nvSpPr>
          <p:cNvPr id="34" name="CardL text"/>
          <p:cNvSpPr txBox="1"/>
          <p:nvPr/>
        </p:nvSpPr>
        <p:spPr>
          <a:xfrm>
            <a:off x="479998" y="1478534"/>
            <a:ext cx="5254068" cy="792525"/>
          </a:xfrm>
          <a:prstGeom prst="rect">
            <a:avLst/>
          </a:prstGeom>
          <a:noFill/>
        </p:spPr>
        <p:txBody>
          <a:bodyPr wrap="square" lIns="0" tIns="0" rIns="0" bIns="0">
            <a:spAutoFit/>
          </a:bodyPr>
          <a:lstStyle/>
          <a:p>
            <a:pPr>
              <a:spcAft>
                <a:spcPts val="250"/>
              </a:spcAft>
            </a:pPr>
            <a:r>
              <a:rPr lang="it-IT" sz="1300" b="1">
                <a:solidFill>
                  <a:srgbClr val="0F62FE"/>
                </a:solidFill>
                <a:latin typeface="IBM Plex Sans Light"/>
              </a:rPr>
              <a:t>Scenario</a:t>
            </a:r>
          </a:p>
          <a:p>
            <a:r>
              <a:rPr lang="it-IT" sz="1200">
                <a:solidFill>
                  <a:srgbClr val="000000"/>
                </a:solidFill>
                <a:latin typeface="IBM Plex Sans Light"/>
              </a:rPr>
              <a:t>Per ogni periodo di fatturazione l'Energy Manager confronta i consumi registrati dai contatori con quelli riportati in bolletta, per verificarne la coerenza.</a:t>
            </a:r>
          </a:p>
        </p:txBody>
      </p:sp>
      <p:sp>
        <p:nvSpPr>
          <p:cNvPr id="35" name="CardR text"/>
          <p:cNvSpPr txBox="1"/>
          <p:nvPr/>
        </p:nvSpPr>
        <p:spPr>
          <a:xfrm>
            <a:off x="6456348" y="1455677"/>
            <a:ext cx="5254068" cy="987450"/>
          </a:xfrm>
          <a:prstGeom prst="rect">
            <a:avLst/>
          </a:prstGeom>
          <a:noFill/>
        </p:spPr>
        <p:txBody>
          <a:bodyPr wrap="square" lIns="0" tIns="0" rIns="0" bIns="0">
            <a:spAutoFit/>
          </a:bodyPr>
          <a:lstStyle/>
          <a:p>
            <a:pPr>
              <a:spcAft>
                <a:spcPts val="200"/>
              </a:spcAft>
            </a:pPr>
            <a:r>
              <a:rPr lang="it-IT" sz="1200" b="1">
                <a:solidFill>
                  <a:srgbClr val="78A9FF"/>
                </a:solidFill>
                <a:latin typeface="IBM Plex Sans Light"/>
              </a:rPr>
              <a:t>VALORE PER L'ENERGY MANAGER</a:t>
            </a:r>
          </a:p>
          <a:p>
            <a:pPr>
              <a:spcAft>
                <a:spcPts val="75"/>
              </a:spcAft>
            </a:pPr>
            <a:r>
              <a:rPr lang="it-IT" sz="1200">
                <a:solidFill>
                  <a:srgbClr val="FFFFFF"/>
                </a:solidFill>
                <a:latin typeface="IBM Plex Sans Light"/>
              </a:rPr>
              <a:t>—  Individua discrepanze tra misurato e fatturato;</a:t>
            </a:r>
          </a:p>
          <a:p>
            <a:pPr>
              <a:spcAft>
                <a:spcPts val="75"/>
              </a:spcAft>
            </a:pPr>
            <a:r>
              <a:rPr lang="it-IT" sz="1200">
                <a:solidFill>
                  <a:srgbClr val="FFFFFF"/>
                </a:solidFill>
                <a:latin typeface="IBM Plex Sans Light"/>
              </a:rPr>
              <a:t>—  evidenzia problemi di qualità dei dati;</a:t>
            </a:r>
          </a:p>
          <a:p>
            <a:pPr>
              <a:spcAft>
                <a:spcPts val="75"/>
              </a:spcAft>
            </a:pPr>
            <a:r>
              <a:rPr lang="it-IT" sz="1200">
                <a:solidFill>
                  <a:srgbClr val="FFFFFF"/>
                </a:solidFill>
                <a:latin typeface="IBM Plex Sans Light"/>
              </a:rPr>
              <a:t>—  riduce le verifiche manuali;</a:t>
            </a:r>
          </a:p>
          <a:p>
            <a:r>
              <a:rPr lang="it-IT" sz="1200">
                <a:solidFill>
                  <a:srgbClr val="FFFFFF"/>
                </a:solidFill>
                <a:latin typeface="IBM Plex Sans Light"/>
              </a:rPr>
              <a:t>—  rende più affidabili KPI e reporting ESG.</a:t>
            </a:r>
          </a:p>
        </p:txBody>
      </p:sp>
      <p:sp>
        <p:nvSpPr>
          <p:cNvPr id="36" name="Cap1"/>
          <p:cNvSpPr txBox="1"/>
          <p:nvPr/>
        </p:nvSpPr>
        <p:spPr>
          <a:xfrm>
            <a:off x="287999" y="2933764"/>
            <a:ext cx="5638066" cy="184666"/>
          </a:xfrm>
          <a:prstGeom prst="rect">
            <a:avLst/>
          </a:prstGeom>
          <a:noFill/>
        </p:spPr>
        <p:txBody>
          <a:bodyPr wrap="square" lIns="0" tIns="0" rIns="0" bIns="0">
            <a:spAutoFit/>
          </a:bodyPr>
          <a:lstStyle/>
          <a:p>
            <a:r>
              <a:rPr lang="it-IT" sz="1200" b="1">
                <a:solidFill>
                  <a:srgbClr val="0F62FE"/>
                </a:solidFill>
                <a:latin typeface="IBM Plex Sans Light"/>
              </a:rPr>
              <a:t>Caso 1 — Grand Central (DCU_GCS_E0)</a:t>
            </a:r>
          </a:p>
        </p:txBody>
      </p:sp>
      <p:sp>
        <p:nvSpPr>
          <p:cNvPr id="37" name="Cap2"/>
          <p:cNvSpPr txBox="1"/>
          <p:nvPr/>
        </p:nvSpPr>
        <p:spPr>
          <a:xfrm>
            <a:off x="6264349" y="2933764"/>
            <a:ext cx="5638066" cy="184666"/>
          </a:xfrm>
          <a:prstGeom prst="rect">
            <a:avLst/>
          </a:prstGeom>
          <a:noFill/>
        </p:spPr>
        <p:txBody>
          <a:bodyPr wrap="square" lIns="0" tIns="0" rIns="0" bIns="0">
            <a:spAutoFit/>
          </a:bodyPr>
          <a:lstStyle/>
          <a:p>
            <a:r>
              <a:rPr lang="it-IT" sz="1200" b="1">
                <a:solidFill>
                  <a:srgbClr val="0F62FE"/>
                </a:solidFill>
                <a:latin typeface="IBM Plex Sans Light"/>
              </a:rPr>
              <a:t>Caso 2 — Grand Central (Green Power E5)</a:t>
            </a:r>
          </a:p>
        </p:txBody>
      </p:sp>
      <p:graphicFrame>
        <p:nvGraphicFramePr>
          <p:cNvPr id="38" name="Tabella Caso 1"/>
          <p:cNvGraphicFramePr>
            <a:graphicFrameLocks noGrp="1"/>
          </p:cNvGraphicFramePr>
          <p:nvPr/>
        </p:nvGraphicFramePr>
        <p:xfrm>
          <a:off x="287999" y="3200430"/>
          <a:ext cx="5638066" cy="1599990"/>
        </p:xfrm>
        <a:graphic>
          <a:graphicData uri="http://schemas.openxmlformats.org/drawingml/2006/table">
            <a:tbl>
              <a:tblPr firstRow="1"/>
              <a:tblGrid>
                <a:gridCol w="3100936">
                  <a:extLst>
                    <a:ext uri="{9D8B030D-6E8A-4147-A177-3AD203B41FA5}">
                      <a16:colId xmlns:a16="http://schemas.microsoft.com/office/drawing/2014/main" val="20000"/>
                    </a:ext>
                  </a:extLst>
                </a:gridCol>
                <a:gridCol w="2537130">
                  <a:extLst>
                    <a:ext uri="{9D8B030D-6E8A-4147-A177-3AD203B41FA5}">
                      <a16:colId xmlns:a16="http://schemas.microsoft.com/office/drawing/2014/main" val="20001"/>
                    </a:ext>
                  </a:extLst>
                </a:gridCol>
              </a:tblGrid>
              <a:tr h="319998">
                <a:tc>
                  <a:txBody>
                    <a:bodyPr/>
                    <a:lstStyle/>
                    <a:p>
                      <a:pPr algn="l"/>
                      <a:r>
                        <a:rPr lang="it-IT" sz="1200" b="1">
                          <a:solidFill>
                            <a:srgbClr val="FFFFFF"/>
                          </a:solidFill>
                          <a:latin typeface="IBM Plex Sans Light"/>
                        </a:rPr>
                        <a:t>Indicatore</a:t>
                      </a:r>
                    </a:p>
                  </a:txBody>
                  <a:tcPr marL="68571" marR="68571" marT="34286" marB="34286" anchor="ctr">
                    <a:lnB w="12700">
                      <a:solidFill>
                        <a:srgbClr val="D7E0F0"/>
                      </a:solidFill>
                    </a:lnB>
                    <a:solidFill>
                      <a:srgbClr val="001141"/>
                    </a:solidFill>
                  </a:tcPr>
                </a:tc>
                <a:tc>
                  <a:txBody>
                    <a:bodyPr/>
                    <a:lstStyle/>
                    <a:p>
                      <a:pPr algn="l"/>
                      <a:r>
                        <a:rPr lang="it-IT" sz="1200" b="1">
                          <a:solidFill>
                            <a:srgbClr val="FFFFFF"/>
                          </a:solidFill>
                          <a:latin typeface="IBM Plex Sans Light"/>
                        </a:rPr>
                        <a:t>Valore</a:t>
                      </a:r>
                    </a:p>
                  </a:txBody>
                  <a:tcPr marL="68571" marR="68571" marT="34286" marB="34286" anchor="ctr">
                    <a:lnB w="12700">
                      <a:solidFill>
                        <a:srgbClr val="D7E0F0"/>
                      </a:solidFill>
                    </a:lnB>
                    <a:solidFill>
                      <a:srgbClr val="001141"/>
                    </a:solidFill>
                  </a:tcPr>
                </a:tc>
                <a:extLst>
                  <a:ext uri="{0D108BD9-81ED-4DB2-BD59-A6C34878D82A}">
                    <a16:rowId xmlns:a16="http://schemas.microsoft.com/office/drawing/2014/main" val="10000"/>
                  </a:ext>
                </a:extLst>
              </a:tr>
              <a:tr h="319998">
                <a:tc>
                  <a:txBody>
                    <a:bodyPr/>
                    <a:lstStyle/>
                    <a:p>
                      <a:pPr algn="l"/>
                      <a:r>
                        <a:rPr lang="it-IT" sz="1200" b="0">
                          <a:solidFill>
                            <a:srgbClr val="000000"/>
                          </a:solidFill>
                          <a:latin typeface="IBM Plex Sans Light"/>
                        </a:rPr>
                        <a:t>Fatturato (Billed)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231.349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19998">
                <a:tc>
                  <a:txBody>
                    <a:bodyPr/>
                    <a:lstStyle/>
                    <a:p>
                      <a:pPr algn="l"/>
                      <a:r>
                        <a:rPr lang="it-IT" sz="1200" b="0">
                          <a:solidFill>
                            <a:srgbClr val="000000"/>
                          </a:solidFill>
                          <a:latin typeface="IBM Plex Sans Light"/>
                        </a:rPr>
                        <a:t>Misurato (Metered)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374.543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319998">
                <a:tc>
                  <a:txBody>
                    <a:bodyPr/>
                    <a:lstStyle/>
                    <a:p>
                      <a:pPr algn="l"/>
                      <a:r>
                        <a:rPr lang="it-IT" sz="1200" b="0">
                          <a:solidFill>
                            <a:srgbClr val="000000"/>
                          </a:solidFill>
                          <a:latin typeface="IBM Plex Sans Light"/>
                        </a:rPr>
                        <a:t>Differenza</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−143.194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r h="319998">
                <a:tc>
                  <a:txBody>
                    <a:bodyPr/>
                    <a:lstStyle/>
                    <a:p>
                      <a:pPr algn="l"/>
                      <a:r>
                        <a:rPr lang="it-IT" sz="1200" b="0">
                          <a:solidFill>
                            <a:srgbClr val="000000"/>
                          </a:solidFill>
                          <a:latin typeface="IBM Plex Sans Light"/>
                        </a:rPr>
                        <a:t>Scostamento</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−61,9%</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4"/>
                  </a:ext>
                </a:extLst>
              </a:tr>
            </a:tbl>
          </a:graphicData>
        </a:graphic>
      </p:graphicFrame>
      <p:graphicFrame>
        <p:nvGraphicFramePr>
          <p:cNvPr id="39" name="Tabella Caso 2"/>
          <p:cNvGraphicFramePr>
            <a:graphicFrameLocks noGrp="1"/>
          </p:cNvGraphicFramePr>
          <p:nvPr/>
        </p:nvGraphicFramePr>
        <p:xfrm>
          <a:off x="6264349" y="3200430"/>
          <a:ext cx="5638066" cy="1279992"/>
        </p:xfrm>
        <a:graphic>
          <a:graphicData uri="http://schemas.openxmlformats.org/drawingml/2006/table">
            <a:tbl>
              <a:tblPr firstRow="1"/>
              <a:tblGrid>
                <a:gridCol w="3100936">
                  <a:extLst>
                    <a:ext uri="{9D8B030D-6E8A-4147-A177-3AD203B41FA5}">
                      <a16:colId xmlns:a16="http://schemas.microsoft.com/office/drawing/2014/main" val="20000"/>
                    </a:ext>
                  </a:extLst>
                </a:gridCol>
                <a:gridCol w="2537130">
                  <a:extLst>
                    <a:ext uri="{9D8B030D-6E8A-4147-A177-3AD203B41FA5}">
                      <a16:colId xmlns:a16="http://schemas.microsoft.com/office/drawing/2014/main" val="20001"/>
                    </a:ext>
                  </a:extLst>
                </a:gridCol>
              </a:tblGrid>
              <a:tr h="319998">
                <a:tc>
                  <a:txBody>
                    <a:bodyPr/>
                    <a:lstStyle/>
                    <a:p>
                      <a:pPr algn="l"/>
                      <a:r>
                        <a:rPr lang="it-IT" sz="1200" b="1">
                          <a:solidFill>
                            <a:srgbClr val="FFFFFF"/>
                          </a:solidFill>
                          <a:latin typeface="IBM Plex Sans Light"/>
                        </a:rPr>
                        <a:t>Indicatore</a:t>
                      </a:r>
                    </a:p>
                  </a:txBody>
                  <a:tcPr marL="68571" marR="68571" marT="34286" marB="34286" anchor="ctr">
                    <a:lnB w="12700">
                      <a:solidFill>
                        <a:srgbClr val="D7E0F0"/>
                      </a:solidFill>
                    </a:lnB>
                    <a:solidFill>
                      <a:srgbClr val="001141"/>
                    </a:solidFill>
                  </a:tcPr>
                </a:tc>
                <a:tc>
                  <a:txBody>
                    <a:bodyPr/>
                    <a:lstStyle/>
                    <a:p>
                      <a:pPr algn="l"/>
                      <a:r>
                        <a:rPr lang="it-IT" sz="1200" b="1">
                          <a:solidFill>
                            <a:srgbClr val="FFFFFF"/>
                          </a:solidFill>
                          <a:latin typeface="IBM Plex Sans Light"/>
                        </a:rPr>
                        <a:t>Valore</a:t>
                      </a:r>
                    </a:p>
                  </a:txBody>
                  <a:tcPr marL="68571" marR="68571" marT="34286" marB="34286" anchor="ctr">
                    <a:lnB w="12700">
                      <a:solidFill>
                        <a:srgbClr val="D7E0F0"/>
                      </a:solidFill>
                    </a:lnB>
                    <a:solidFill>
                      <a:srgbClr val="001141"/>
                    </a:solidFill>
                  </a:tcPr>
                </a:tc>
                <a:extLst>
                  <a:ext uri="{0D108BD9-81ED-4DB2-BD59-A6C34878D82A}">
                    <a16:rowId xmlns:a16="http://schemas.microsoft.com/office/drawing/2014/main" val="10000"/>
                  </a:ext>
                </a:extLst>
              </a:tr>
              <a:tr h="319998">
                <a:tc>
                  <a:txBody>
                    <a:bodyPr/>
                    <a:lstStyle/>
                    <a:p>
                      <a:pPr algn="l"/>
                      <a:r>
                        <a:rPr lang="it-IT" sz="1200" b="0">
                          <a:solidFill>
                            <a:srgbClr val="000000"/>
                          </a:solidFill>
                          <a:latin typeface="IBM Plex Sans Light"/>
                        </a:rPr>
                        <a:t>Fatturato (Billed)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22.917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19998">
                <a:tc>
                  <a:txBody>
                    <a:bodyPr/>
                    <a:lstStyle/>
                    <a:p>
                      <a:pPr algn="l"/>
                      <a:r>
                        <a:rPr lang="it-IT" sz="1200" b="0">
                          <a:solidFill>
                            <a:srgbClr val="000000"/>
                          </a:solidFill>
                          <a:latin typeface="IBM Plex Sans Light"/>
                        </a:rPr>
                        <a:t>Misurato (Metered)</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0">
                          <a:solidFill>
                            <a:srgbClr val="000000"/>
                          </a:solidFill>
                          <a:latin typeface="IBM Plex Sans Light"/>
                        </a:rPr>
                        <a:t>34.316 kWh</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319998">
                <a:tc>
                  <a:txBody>
                    <a:bodyPr/>
                    <a:lstStyle/>
                    <a:p>
                      <a:pPr algn="l"/>
                      <a:r>
                        <a:rPr lang="it-IT" sz="1200" b="0">
                          <a:solidFill>
                            <a:srgbClr val="000000"/>
                          </a:solidFill>
                          <a:latin typeface="IBM Plex Sans Light"/>
                        </a:rPr>
                        <a:t>Scostamento</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200" b="1">
                          <a:solidFill>
                            <a:srgbClr val="C21E25"/>
                          </a:solidFill>
                          <a:latin typeface="IBM Plex Sans Light"/>
                        </a:rPr>
                        <a:t>−49,7%</a:t>
                      </a:r>
                    </a:p>
                  </a:txBody>
                  <a:tcPr marL="68571" marR="68571" marT="34286" marB="34286"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bl>
          </a:graphicData>
        </a:graphic>
      </p:graphicFrame>
      <p:sp>
        <p:nvSpPr>
          <p:cNvPr id="40" name="Bar"/>
          <p:cNvSpPr/>
          <p:nvPr/>
        </p:nvSpPr>
        <p:spPr>
          <a:xfrm>
            <a:off x="287999" y="4914706"/>
            <a:ext cx="11611368" cy="799996"/>
          </a:xfrm>
          <a:prstGeom prst="roundRect">
            <a:avLst>
              <a:gd name="adj" fmla="val 12000"/>
            </a:avLst>
          </a:prstGeom>
          <a:solidFill>
            <a:srgbClr val="E8EFFE"/>
          </a:solidFill>
          <a:ln>
            <a:noFill/>
          </a:ln>
          <a:effectLst/>
        </p:spPr>
        <p:txBody>
          <a:bodyPr rtlCol="0" anchor="ctr"/>
          <a:lstStyle/>
          <a:p>
            <a:pPr algn="ctr"/>
            <a:endParaRPr sz="900"/>
          </a:p>
        </p:txBody>
      </p:sp>
      <p:sp>
        <p:nvSpPr>
          <p:cNvPr id="41" name="Bar text"/>
          <p:cNvSpPr txBox="1"/>
          <p:nvPr/>
        </p:nvSpPr>
        <p:spPr>
          <a:xfrm>
            <a:off x="562283" y="5074706"/>
            <a:ext cx="11062800" cy="369332"/>
          </a:xfrm>
          <a:prstGeom prst="rect">
            <a:avLst/>
          </a:prstGeom>
          <a:noFill/>
        </p:spPr>
        <p:txBody>
          <a:bodyPr wrap="square" lIns="0" tIns="0" rIns="0" bIns="0">
            <a:spAutoFit/>
          </a:bodyPr>
          <a:lstStyle/>
          <a:p>
            <a:pPr algn="ctr"/>
            <a:r>
              <a:rPr lang="it-IT" sz="1200" b="1">
                <a:solidFill>
                  <a:srgbClr val="0F62FE"/>
                </a:solidFill>
                <a:latin typeface="IBM Plex Sans Light"/>
              </a:rPr>
              <a:t>Messaggio chiave:  </a:t>
            </a:r>
            <a:r>
              <a:rPr lang="it-IT" sz="1200">
                <a:solidFill>
                  <a:srgbClr val="000000"/>
                </a:solidFill>
                <a:latin typeface="IBM Plex Sans Light"/>
              </a:rPr>
              <a:t>il report confronta automaticamente contatori e bollette e segnala le discrepanze — fatture mancanti, periodi disallineati, errori di associazione — prima che influenzino analisi, costi e decisioni.</a:t>
            </a:r>
          </a:p>
        </p:txBody>
      </p:sp>
    </p:spTree>
    <p:extLst>
      <p:ext uri="{BB962C8B-B14F-4D97-AF65-F5344CB8AC3E}">
        <p14:creationId xmlns:p14="http://schemas.microsoft.com/office/powerpoint/2010/main" val="345626901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5BC0-79A4-6AA8-B507-7EF1FC91E92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AB59558-5146-95BD-29F7-A2861280F930}"/>
              </a:ext>
            </a:extLst>
          </p:cNvPr>
          <p:cNvSpPr>
            <a:spLocks noGrp="1"/>
          </p:cNvSpPr>
          <p:nvPr>
            <p:ph type="title"/>
          </p:nvPr>
        </p:nvSpPr>
        <p:spPr>
          <a:xfrm>
            <a:off x="284125" y="265794"/>
            <a:ext cx="3550077" cy="569140"/>
          </a:xfrm>
        </p:spPr>
        <p:txBody>
          <a:bodyPr>
            <a:normAutofit/>
          </a:bodyPr>
          <a:lstStyle/>
          <a:p>
            <a:r>
              <a:rPr lang="it-IT" dirty="0"/>
              <a:t>Meter Profile – Analisi del profilo di carico</a:t>
            </a:r>
            <a:endParaRPr lang="it-IT"/>
          </a:p>
        </p:txBody>
      </p:sp>
      <p:sp>
        <p:nvSpPr>
          <p:cNvPr id="8" name="Text Placeholder 7">
            <a:extLst>
              <a:ext uri="{FF2B5EF4-FFF2-40B4-BE49-F238E27FC236}">
                <a16:creationId xmlns:a16="http://schemas.microsoft.com/office/drawing/2014/main" id="{282D4531-E9F9-3F94-4878-FD8A0ABAA68A}"/>
              </a:ext>
            </a:extLst>
          </p:cNvPr>
          <p:cNvSpPr>
            <a:spLocks noGrp="1"/>
          </p:cNvSpPr>
          <p:nvPr>
            <p:ph type="body" sz="quarter" idx="12"/>
          </p:nvPr>
        </p:nvSpPr>
        <p:spPr>
          <a:xfrm>
            <a:off x="387164" y="834934"/>
            <a:ext cx="2477765" cy="4163387"/>
          </a:xfrm>
        </p:spPr>
        <p:txBody>
          <a:bodyPr>
            <a:normAutofit fontScale="92500"/>
          </a:bodyPr>
          <a:lstStyle/>
          <a:p>
            <a:pPr>
              <a:spcAft>
                <a:spcPts val="300"/>
              </a:spcAft>
            </a:pPr>
            <a:r>
              <a:rPr lang="it-IT" dirty="0"/>
              <a:t>Persona: Building Manager.</a:t>
            </a:r>
          </a:p>
          <a:p>
            <a:pPr>
              <a:spcAft>
                <a:spcPts val="300"/>
              </a:spcAft>
            </a:pPr>
            <a:r>
              <a:rPr lang="it-IT" dirty="0"/>
              <a:t>Scenario: approfondire un evento specifico di una giornata; il weekly profile dà la vista sull'intera settimana.</a:t>
            </a:r>
          </a:p>
          <a:p>
            <a:pPr>
              <a:spcAft>
                <a:spcPts val="300"/>
              </a:spcAft>
            </a:pPr>
            <a:r>
              <a:rPr lang="it-IT" dirty="0"/>
              <a:t>Navigazione: contatore Demo Regression (Melbourne Bay) → meter summary → sotto-menù Analyze.</a:t>
            </a:r>
          </a:p>
          <a:p>
            <a:pPr>
              <a:spcAft>
                <a:spcPts val="300"/>
              </a:spcAft>
            </a:pPr>
            <a:r>
              <a:rPr lang="it-IT" dirty="0"/>
              <a:t>Consente di analizzare domanda e altre misure e di verificare le performance recenti.</a:t>
            </a:r>
          </a:p>
          <a:p>
            <a:pPr>
              <a:spcAft>
                <a:spcPts val="300"/>
              </a:spcAft>
            </a:pPr>
            <a:r>
              <a:rPr lang="it-IT" dirty="0"/>
              <a:t>Individua impianti attivi fuori orario o picchi di carico anomali.</a:t>
            </a:r>
          </a:p>
        </p:txBody>
      </p:sp>
      <p:sp>
        <p:nvSpPr>
          <p:cNvPr id="15" name="Footer Placeholder 4">
            <a:extLst>
              <a:ext uri="{FF2B5EF4-FFF2-40B4-BE49-F238E27FC236}">
                <a16:creationId xmlns:a16="http://schemas.microsoft.com/office/drawing/2014/main" id="{B0A54E5C-BEA0-D333-9B32-C4CFFDBF555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EDEC797F-E130-7996-CE5E-AE013A9B29E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11</a:t>
            </a:fld>
            <a:endParaRPr lang="en-US"/>
          </a:p>
        </p:txBody>
      </p:sp>
      <p:pic>
        <p:nvPicPr>
          <p:cNvPr id="4" name="Picture 3">
            <a:extLst>
              <a:ext uri="{FF2B5EF4-FFF2-40B4-BE49-F238E27FC236}">
                <a16:creationId xmlns:a16="http://schemas.microsoft.com/office/drawing/2014/main" id="{B30D5198-B167-6095-4184-059FAAE14F94}"/>
              </a:ext>
            </a:extLst>
          </p:cNvPr>
          <p:cNvPicPr>
            <a:picLocks noChangeAspect="1"/>
          </p:cNvPicPr>
          <p:nvPr/>
        </p:nvPicPr>
        <p:blipFill>
          <a:blip r:embed="rId3"/>
          <a:stretch>
            <a:fillRect/>
          </a:stretch>
        </p:blipFill>
        <p:spPr>
          <a:xfrm>
            <a:off x="3834202" y="834935"/>
            <a:ext cx="7609535" cy="4755959"/>
          </a:xfrm>
          <a:prstGeom prst="rect">
            <a:avLst/>
          </a:prstGeom>
        </p:spPr>
      </p:pic>
      <p:sp>
        <p:nvSpPr>
          <p:cNvPr id="3" name="CasellaDiTesto 2">
            <a:extLst>
              <a:ext uri="{FF2B5EF4-FFF2-40B4-BE49-F238E27FC236}">
                <a16:creationId xmlns:a16="http://schemas.microsoft.com/office/drawing/2014/main" id="{46742AA1-A1B9-2838-11E6-260768CF3A06}"/>
              </a:ext>
            </a:extLst>
          </p:cNvPr>
          <p:cNvSpPr txBox="1"/>
          <p:nvPr/>
        </p:nvSpPr>
        <p:spPr>
          <a:xfrm>
            <a:off x="4700437" y="1837029"/>
            <a:ext cx="6097664" cy="316932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lang="en-AU" sz="1333" b="1" i="1">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00934547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1969CDBA-7E81-ED69-B07A-08B0CA5FE788}"/>
              </a:ext>
            </a:extLst>
          </p:cNvPr>
          <p:cNvSpPr txBox="1"/>
          <p:nvPr/>
        </p:nvSpPr>
        <p:spPr>
          <a:xfrm>
            <a:off x="386812" y="220848"/>
            <a:ext cx="5860775" cy="387798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900" b="1"/>
              <a:t>Meter </a:t>
            </a:r>
            <a:r>
              <a:rPr lang="it-IT" sz="900" b="1" err="1"/>
              <a:t>Profile</a:t>
            </a:r>
            <a:endParaRPr lang="it-IT" sz="900" b="1"/>
          </a:p>
          <a:p>
            <a:pPr>
              <a:buNone/>
            </a:pPr>
            <a:endParaRPr lang="it-IT" sz="900" b="1"/>
          </a:p>
          <a:p>
            <a:pPr>
              <a:buNone/>
            </a:pPr>
            <a:r>
              <a:rPr lang="it-IT" sz="1200" b="1"/>
              <a:t>Analisi del profilo di carico</a:t>
            </a:r>
          </a:p>
          <a:p>
            <a:pPr>
              <a:buNone/>
            </a:pPr>
            <a:r>
              <a:rPr lang="it-IT" sz="1200"/>
              <a:t>Il </a:t>
            </a:r>
            <a:r>
              <a:rPr lang="it-IT" sz="1200" b="1"/>
              <a:t>Meter </a:t>
            </a:r>
            <a:r>
              <a:rPr lang="it-IT" sz="1200" b="1" err="1"/>
              <a:t>Profile</a:t>
            </a:r>
            <a:r>
              <a:rPr lang="it-IT" sz="1200"/>
              <a:t> consente di analizzare l’andamento dei consumi elettrici di un singolo contatore lungo la giornata, la settimana o periodi più estesi, trasformando i dati di misura in informazioni utili per la gestione operativa degli impianti.</a:t>
            </a:r>
          </a:p>
          <a:p>
            <a:pPr>
              <a:buNone/>
            </a:pPr>
            <a:br>
              <a:rPr lang="it-IT" sz="1200"/>
            </a:br>
            <a:endParaRPr lang="it-IT" sz="1200"/>
          </a:p>
          <a:p>
            <a:pPr>
              <a:buNone/>
            </a:pPr>
            <a:r>
              <a:rPr lang="it-IT" sz="1200" b="1"/>
              <a:t>Scenario</a:t>
            </a:r>
          </a:p>
          <a:p>
            <a:pPr>
              <a:buNone/>
            </a:pPr>
            <a:r>
              <a:rPr lang="it-IT" sz="1200"/>
              <a:t>Il Building o Energy Manager desidera comprendere il comportamento di un impianto, verificare la presenza di consumi anomali e identificare opportunità di ottimizzazione energetica.</a:t>
            </a:r>
          </a:p>
          <a:p>
            <a:pPr>
              <a:buNone/>
            </a:pPr>
            <a:br>
              <a:rPr lang="it-IT" sz="1200"/>
            </a:br>
            <a:endParaRPr lang="it-IT" sz="1200"/>
          </a:p>
          <a:p>
            <a:pPr>
              <a:buNone/>
            </a:pPr>
            <a:r>
              <a:rPr lang="it-IT" sz="1200" b="1"/>
              <a:t>Interpretazione dei dati</a:t>
            </a:r>
          </a:p>
          <a:p>
            <a:pPr>
              <a:buNone/>
            </a:pPr>
            <a:endParaRPr lang="it-IT" sz="1200" b="1"/>
          </a:p>
          <a:p>
            <a:pPr>
              <a:buNone/>
            </a:pPr>
            <a:r>
              <a:rPr lang="it-IT" sz="1200"/>
              <a:t>Il grafico mostra il profilo di carico del contatore nel tempo confrontando:</a:t>
            </a:r>
          </a:p>
          <a:p>
            <a:pPr marL="171416" indent="-171416">
              <a:buFont typeface="Arial" panose="020B0604020202020204" pitchFamily="34" charset="0"/>
              <a:buChar char="•"/>
            </a:pPr>
            <a:r>
              <a:rPr lang="it-IT" sz="1200" b="1"/>
              <a:t>Potenza attiva (kW)</a:t>
            </a:r>
            <a:r>
              <a:rPr lang="it-IT" sz="1200"/>
              <a:t>;</a:t>
            </a:r>
          </a:p>
          <a:p>
            <a:pPr marL="171416" indent="-171416">
              <a:buFont typeface="Arial" panose="020B0604020202020204" pitchFamily="34" charset="0"/>
              <a:buChar char="•"/>
            </a:pPr>
            <a:r>
              <a:rPr lang="it-IT" sz="1200" b="1"/>
              <a:t>Potenza apparente (</a:t>
            </a:r>
            <a:r>
              <a:rPr lang="it-IT" sz="1200" b="1" err="1"/>
              <a:t>kVA</a:t>
            </a:r>
            <a:r>
              <a:rPr lang="it-IT" sz="1200" b="1"/>
              <a:t>)</a:t>
            </a:r>
            <a:r>
              <a:rPr lang="it-IT" sz="1200"/>
              <a:t>;</a:t>
            </a:r>
          </a:p>
          <a:p>
            <a:pPr marL="171416" indent="-171416">
              <a:buFont typeface="Arial" panose="020B0604020202020204" pitchFamily="34" charset="0"/>
              <a:buChar char="•"/>
            </a:pPr>
            <a:r>
              <a:rPr lang="it-IT" sz="1200" b="1"/>
              <a:t>Potenza reattiva (</a:t>
            </a:r>
            <a:r>
              <a:rPr lang="it-IT" sz="1200" b="1" err="1"/>
              <a:t>kVAR</a:t>
            </a:r>
            <a:r>
              <a:rPr lang="it-IT" sz="1200" b="1"/>
              <a:t>)</a:t>
            </a:r>
            <a:r>
              <a:rPr lang="it-IT" sz="1200"/>
              <a:t>;</a:t>
            </a:r>
          </a:p>
          <a:p>
            <a:pPr marL="171416" indent="-171416">
              <a:buFont typeface="Arial" panose="020B0604020202020204" pitchFamily="34" charset="0"/>
              <a:buChar char="•"/>
            </a:pPr>
            <a:r>
              <a:rPr lang="it-IT" sz="1200" b="1"/>
              <a:t>Power Factor</a:t>
            </a:r>
            <a:r>
              <a:rPr lang="it-IT" sz="1200"/>
              <a:t>.</a:t>
            </a:r>
          </a:p>
        </p:txBody>
      </p:sp>
      <p:pic>
        <p:nvPicPr>
          <p:cNvPr id="5" name="Immagine 4">
            <a:extLst>
              <a:ext uri="{FF2B5EF4-FFF2-40B4-BE49-F238E27FC236}">
                <a16:creationId xmlns:a16="http://schemas.microsoft.com/office/drawing/2014/main" id="{590534BE-1A11-8B13-136F-962BD3F6B63B}"/>
              </a:ext>
            </a:extLst>
          </p:cNvPr>
          <p:cNvPicPr>
            <a:picLocks noChangeAspect="1"/>
          </p:cNvPicPr>
          <p:nvPr/>
        </p:nvPicPr>
        <p:blipFill>
          <a:blip r:embed="rId2"/>
          <a:stretch>
            <a:fillRect/>
          </a:stretch>
        </p:blipFill>
        <p:spPr>
          <a:xfrm>
            <a:off x="6964189" y="436342"/>
            <a:ext cx="4570442" cy="2846138"/>
          </a:xfrm>
          <a:prstGeom prst="rect">
            <a:avLst/>
          </a:prstGeom>
        </p:spPr>
      </p:pic>
      <p:sp>
        <p:nvSpPr>
          <p:cNvPr id="7" name="CasellaDiTesto 6">
            <a:extLst>
              <a:ext uri="{FF2B5EF4-FFF2-40B4-BE49-F238E27FC236}">
                <a16:creationId xmlns:a16="http://schemas.microsoft.com/office/drawing/2014/main" id="{88D2D2BF-EBAA-48C6-EC6B-D33976120006}"/>
              </a:ext>
            </a:extLst>
          </p:cNvPr>
          <p:cNvSpPr txBox="1"/>
          <p:nvPr/>
        </p:nvSpPr>
        <p:spPr>
          <a:xfrm>
            <a:off x="386812" y="4202259"/>
            <a:ext cx="4841000" cy="249299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br>
              <a:rPr lang="it-IT" sz="1200"/>
            </a:br>
            <a:endParaRPr lang="it-IT" sz="1200"/>
          </a:p>
          <a:p>
            <a:pPr>
              <a:buNone/>
            </a:pPr>
            <a:r>
              <a:rPr lang="it-IT" sz="1200" b="1"/>
              <a:t>Informazioni che il manager può ottenere</a:t>
            </a:r>
          </a:p>
          <a:p>
            <a:pPr marL="171416" indent="-171416">
              <a:buFont typeface="Arial" panose="020B0604020202020204" pitchFamily="34" charset="0"/>
              <a:buChar char="•"/>
            </a:pPr>
            <a:r>
              <a:rPr lang="it-IT" sz="1200"/>
              <a:t>identificare impianti che rimangono attivi fuori dall’orario di esercizio;</a:t>
            </a:r>
          </a:p>
          <a:p>
            <a:pPr marL="171416" indent="-171416">
              <a:buFont typeface="Arial" panose="020B0604020202020204" pitchFamily="34" charset="0"/>
              <a:buChar char="•"/>
            </a:pPr>
            <a:r>
              <a:rPr lang="it-IT" sz="1200"/>
              <a:t>rilevare picchi di domanda che possono aumentare i costi energetici;</a:t>
            </a:r>
          </a:p>
          <a:p>
            <a:pPr marL="171416" indent="-171416">
              <a:buFont typeface="Arial" panose="020B0604020202020204" pitchFamily="34" charset="0"/>
              <a:buChar char="•"/>
            </a:pPr>
            <a:r>
              <a:rPr lang="it-IT" sz="1200"/>
              <a:t>verificare la regolarità dei cicli produttivi o degli impianti HVAC;</a:t>
            </a:r>
          </a:p>
          <a:p>
            <a:pPr marL="171416" indent="-171416">
              <a:buFont typeface="Arial" panose="020B0604020202020204" pitchFamily="34" charset="0"/>
              <a:buChar char="•"/>
            </a:pPr>
            <a:r>
              <a:rPr lang="it-IT" sz="1200"/>
              <a:t>individuare variazioni improvvise del profilo di consumo;</a:t>
            </a:r>
          </a:p>
          <a:p>
            <a:pPr marL="171416" indent="-171416">
              <a:buFont typeface="Arial" panose="020B0604020202020204" pitchFamily="34" charset="0"/>
              <a:buChar char="•"/>
            </a:pPr>
            <a:r>
              <a:rPr lang="it-IT" sz="1200"/>
              <a:t>confrontare il comportamento del contatore tra giorni lavorativi e weekend.</a:t>
            </a:r>
          </a:p>
          <a:p>
            <a:pPr>
              <a:buNone/>
            </a:pPr>
            <a:br>
              <a:rPr lang="it-IT" sz="1200"/>
            </a:br>
            <a:endParaRPr lang="it-IT" sz="1200"/>
          </a:p>
        </p:txBody>
      </p:sp>
      <p:sp>
        <p:nvSpPr>
          <p:cNvPr id="9" name="CasellaDiTesto 8">
            <a:extLst>
              <a:ext uri="{FF2B5EF4-FFF2-40B4-BE49-F238E27FC236}">
                <a16:creationId xmlns:a16="http://schemas.microsoft.com/office/drawing/2014/main" id="{C56D8C4F-BA09-43B4-2CDD-A0FFBC8EA699}"/>
              </a:ext>
            </a:extLst>
          </p:cNvPr>
          <p:cNvSpPr txBox="1"/>
          <p:nvPr/>
        </p:nvSpPr>
        <p:spPr>
          <a:xfrm>
            <a:off x="6964190" y="3695946"/>
            <a:ext cx="4990450" cy="212365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endParaRPr lang="it-IT" sz="1200"/>
          </a:p>
          <a:p>
            <a:pPr>
              <a:buNone/>
            </a:pPr>
            <a:r>
              <a:rPr lang="it-IT" sz="1200" b="1"/>
              <a:t>Valore per l’Energy Manager</a:t>
            </a:r>
          </a:p>
          <a:p>
            <a:pPr>
              <a:buNone/>
            </a:pPr>
            <a:endParaRPr lang="it-IT" sz="1200" b="1"/>
          </a:p>
          <a:p>
            <a:r>
              <a:rPr lang="it-IT" sz="1200"/>
              <a:t>L’analisi del profilo permette di individuare rapidamente variazioni del carico, picchi di domanda e comportamenti anomali degli impianti.</a:t>
            </a:r>
          </a:p>
          <a:p>
            <a:pPr>
              <a:buNone/>
            </a:pPr>
            <a:endParaRPr lang="it-IT" sz="1200" b="1"/>
          </a:p>
          <a:p>
            <a:pPr>
              <a:buNone/>
            </a:pPr>
            <a:endParaRPr lang="it-IT" sz="1200" b="1"/>
          </a:p>
          <a:p>
            <a:pPr marL="171416" indent="-171416">
              <a:buFont typeface="Arial" panose="020B0604020202020204" pitchFamily="34" charset="0"/>
              <a:buChar char="•"/>
            </a:pPr>
            <a:r>
              <a:rPr lang="it-IT" sz="1200"/>
              <a:t>Comprende </a:t>
            </a:r>
            <a:r>
              <a:rPr lang="it-IT" sz="1200" b="1"/>
              <a:t>quando</a:t>
            </a:r>
            <a:r>
              <a:rPr lang="it-IT" sz="1200"/>
              <a:t> e </a:t>
            </a:r>
            <a:r>
              <a:rPr lang="it-IT" sz="1200" b="1"/>
              <a:t>come</a:t>
            </a:r>
            <a:r>
              <a:rPr lang="it-IT" sz="1200"/>
              <a:t> viene utilizzata l’energia.</a:t>
            </a:r>
          </a:p>
          <a:p>
            <a:pPr marL="171416" indent="-171416">
              <a:buFont typeface="Arial" panose="020B0604020202020204" pitchFamily="34" charset="0"/>
              <a:buChar char="•"/>
            </a:pPr>
            <a:r>
              <a:rPr lang="it-IT" sz="1200"/>
              <a:t>Individua rapidamente sprechi e consumi fuori orario.</a:t>
            </a:r>
          </a:p>
          <a:p>
            <a:pPr marL="171416" indent="-171416">
              <a:buFont typeface="Arial" panose="020B0604020202020204" pitchFamily="34" charset="0"/>
              <a:buChar char="•"/>
            </a:pPr>
            <a:r>
              <a:rPr lang="it-IT" sz="1200"/>
              <a:t>Supporta la riduzione dei costi di domanda e dei consumi inutili.</a:t>
            </a:r>
          </a:p>
          <a:p>
            <a:pPr marL="171416" indent="-171416">
              <a:buFont typeface="Arial" panose="020B0604020202020204" pitchFamily="34" charset="0"/>
              <a:buChar char="•"/>
            </a:pPr>
            <a:r>
              <a:rPr lang="it-IT" sz="1200"/>
              <a:t>Verifica l’efficacia degli interventi di efficientamento energetico.</a:t>
            </a:r>
            <a:endParaRPr lang="it-IT" sz="900"/>
          </a:p>
        </p:txBody>
      </p:sp>
    </p:spTree>
    <p:extLst>
      <p:ext uri="{BB962C8B-B14F-4D97-AF65-F5344CB8AC3E}">
        <p14:creationId xmlns:p14="http://schemas.microsoft.com/office/powerpoint/2010/main" val="148843688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56440A3-CAC1-46CC-5F5F-556B7F9697BC}"/>
              </a:ext>
            </a:extLst>
          </p:cNvPr>
          <p:cNvSpPr txBox="1"/>
          <p:nvPr/>
        </p:nvSpPr>
        <p:spPr>
          <a:xfrm>
            <a:off x="527470" y="500317"/>
            <a:ext cx="10525952" cy="51676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a:buNone/>
            </a:pPr>
            <a:r>
              <a:rPr lang="it-IT" sz="900" b="1"/>
              <a:t>Il Meter </a:t>
            </a:r>
            <a:r>
              <a:rPr lang="it-IT" sz="900" b="1" err="1"/>
              <a:t>Profile</a:t>
            </a:r>
            <a:r>
              <a:rPr lang="it-IT" sz="900" b="1"/>
              <a:t> non si limita a mostrare i consumi: ne evidenzia il comportamento nel tempo. </a:t>
            </a:r>
            <a:endParaRPr lang="it-IT" sz="900"/>
          </a:p>
        </p:txBody>
      </p:sp>
      <p:sp>
        <p:nvSpPr>
          <p:cNvPr id="6" name="CasellaDiTesto 5">
            <a:extLst>
              <a:ext uri="{FF2B5EF4-FFF2-40B4-BE49-F238E27FC236}">
                <a16:creationId xmlns:a16="http://schemas.microsoft.com/office/drawing/2014/main" id="{52D8A2CD-8974-3970-E3AA-01CA7FD3588B}"/>
              </a:ext>
            </a:extLst>
          </p:cNvPr>
          <p:cNvSpPr txBox="1"/>
          <p:nvPr/>
        </p:nvSpPr>
        <p:spPr>
          <a:xfrm>
            <a:off x="527470" y="1030800"/>
            <a:ext cx="10162584"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Analizzando il profilo di carico è possibile individuare sprechi, anomalie operative e opportunità di ottimizzazione, trasformando i dati dei contatori in decisioni concrete per migliorare l’efficienza energetica.</a:t>
            </a:r>
            <a:endParaRPr lang="it-IT" sz="900"/>
          </a:p>
        </p:txBody>
      </p:sp>
      <p:sp>
        <p:nvSpPr>
          <p:cNvPr id="8" name="CasellaDiTesto 7">
            <a:extLst>
              <a:ext uri="{FF2B5EF4-FFF2-40B4-BE49-F238E27FC236}">
                <a16:creationId xmlns:a16="http://schemas.microsoft.com/office/drawing/2014/main" id="{6A05588E-741E-085C-E551-4D7B4B11629A}"/>
              </a:ext>
            </a:extLst>
          </p:cNvPr>
          <p:cNvSpPr txBox="1"/>
          <p:nvPr/>
        </p:nvSpPr>
        <p:spPr>
          <a:xfrm>
            <a:off x="527470" y="1653603"/>
            <a:ext cx="2695956" cy="535531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Interpretazione del profilo di carico</a:t>
            </a:r>
          </a:p>
          <a:p>
            <a:pPr>
              <a:buNone/>
            </a:pPr>
            <a:endParaRPr lang="it-IT" sz="1200" b="1"/>
          </a:p>
          <a:p>
            <a:pPr>
              <a:buNone/>
            </a:pPr>
            <a:r>
              <a:rPr lang="it-IT" sz="1200" b="1"/>
              <a:t>1. Il profilo segue chiaramente il ciclo operativo dell’edificio</a:t>
            </a:r>
          </a:p>
          <a:p>
            <a:pPr>
              <a:buNone/>
            </a:pPr>
            <a:endParaRPr lang="it-IT" sz="1200"/>
          </a:p>
          <a:p>
            <a:pPr>
              <a:buNone/>
            </a:pPr>
            <a:r>
              <a:rPr lang="it-IT" sz="1200"/>
              <a:t>Il grafico mostra un comportamento molto regolare.</a:t>
            </a:r>
          </a:p>
          <a:p>
            <a:pPr>
              <a:buNone/>
            </a:pPr>
            <a:r>
              <a:rPr lang="it-IT" sz="1200"/>
              <a:t>Dal </a:t>
            </a:r>
            <a:r>
              <a:rPr lang="it-IT" sz="1200" b="1"/>
              <a:t>9 all’11 luglio</a:t>
            </a:r>
            <a:r>
              <a:rPr lang="it-IT" sz="1200"/>
              <a:t> e dal </a:t>
            </a:r>
            <a:r>
              <a:rPr lang="it-IT" sz="1200" b="1"/>
              <a:t>14 al 15 luglio</a:t>
            </a:r>
            <a:r>
              <a:rPr lang="it-IT" sz="1200"/>
              <a:t> il carico aumenta rapidamente nelle ore di apertura e diminuisce progressivamente al termine della giornata.</a:t>
            </a:r>
          </a:p>
          <a:p>
            <a:pPr>
              <a:buNone/>
            </a:pPr>
            <a:r>
              <a:rPr lang="it-IT" sz="1200"/>
              <a:t>Durante il </a:t>
            </a:r>
            <a:r>
              <a:rPr lang="it-IT" sz="1200" b="1"/>
              <a:t>fine settimana (12-13 luglio)</a:t>
            </a:r>
            <a:r>
              <a:rPr lang="it-IT" sz="1200"/>
              <a:t> il consumo rimane invece su livelli molto bassi.</a:t>
            </a:r>
          </a:p>
          <a:p>
            <a:pPr>
              <a:buNone/>
            </a:pPr>
            <a:endParaRPr lang="it-IT" sz="1200" b="1"/>
          </a:p>
          <a:p>
            <a:pPr>
              <a:buNone/>
            </a:pPr>
            <a:r>
              <a:rPr lang="it-IT" sz="1200" b="1"/>
              <a:t>Cosa significa</a:t>
            </a:r>
          </a:p>
          <a:p>
            <a:pPr>
              <a:buNone/>
            </a:pPr>
            <a:r>
              <a:rPr lang="it-IT" sz="1200"/>
              <a:t>L’impianto segue il calendario operativo previsto.</a:t>
            </a:r>
          </a:p>
          <a:p>
            <a:pPr>
              <a:buNone/>
            </a:pPr>
            <a:r>
              <a:rPr lang="it-IT" sz="1200"/>
              <a:t>Non emergono evidenze di impianti lasciati permanentemente accesi durante il weekend.</a:t>
            </a:r>
          </a:p>
          <a:p>
            <a:pPr>
              <a:buNone/>
            </a:pPr>
            <a:endParaRPr lang="it-IT" sz="1200" b="1"/>
          </a:p>
          <a:p>
            <a:pPr>
              <a:buNone/>
            </a:pPr>
            <a:r>
              <a:rPr lang="it-IT" sz="1200" b="1"/>
              <a:t>Valore</a:t>
            </a:r>
            <a:endParaRPr lang="it-IT" sz="1200"/>
          </a:p>
          <a:p>
            <a:pPr>
              <a:buNone/>
            </a:pPr>
            <a:r>
              <a:rPr lang="it-IT" sz="1200"/>
              <a:t>Il Building Manager può verificare che la programmazione degli impianti stia funzionando correttamente.</a:t>
            </a:r>
          </a:p>
          <a:p>
            <a:pPr>
              <a:buNone/>
            </a:pPr>
            <a:br>
              <a:rPr lang="it-IT" sz="900"/>
            </a:br>
            <a:endParaRPr lang="it-IT" sz="900"/>
          </a:p>
        </p:txBody>
      </p:sp>
      <p:sp>
        <p:nvSpPr>
          <p:cNvPr id="10" name="CasellaDiTesto 9">
            <a:extLst>
              <a:ext uri="{FF2B5EF4-FFF2-40B4-BE49-F238E27FC236}">
                <a16:creationId xmlns:a16="http://schemas.microsoft.com/office/drawing/2014/main" id="{10333E09-96B5-4738-A042-FCFFE639C9BC}"/>
              </a:ext>
            </a:extLst>
          </p:cNvPr>
          <p:cNvSpPr txBox="1"/>
          <p:nvPr/>
        </p:nvSpPr>
        <p:spPr>
          <a:xfrm>
            <a:off x="3897415" y="2022886"/>
            <a:ext cx="3422692" cy="406265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2. Esistono carichi di base (Base Load)</a:t>
            </a:r>
          </a:p>
          <a:p>
            <a:pPr>
              <a:buNone/>
            </a:pPr>
            <a:endParaRPr lang="it-IT" sz="1200" b="1"/>
          </a:p>
          <a:p>
            <a:pPr>
              <a:buNone/>
            </a:pPr>
            <a:r>
              <a:rPr lang="it-IT" sz="1200"/>
              <a:t>Durante la notte il consumo non scende mai a zero.</a:t>
            </a:r>
          </a:p>
          <a:p>
            <a:pPr>
              <a:buNone/>
            </a:pPr>
            <a:r>
              <a:rPr lang="it-IT" sz="1200"/>
              <a:t>Rimane intorno ai </a:t>
            </a:r>
            <a:r>
              <a:rPr lang="it-IT" sz="1200" b="1"/>
              <a:t>15-20 kW</a:t>
            </a:r>
            <a:r>
              <a:rPr lang="it-IT" sz="1200"/>
              <a:t>.</a:t>
            </a:r>
          </a:p>
          <a:p>
            <a:pPr>
              <a:buNone/>
            </a:pPr>
            <a:endParaRPr lang="it-IT" sz="1200" b="1"/>
          </a:p>
          <a:p>
            <a:pPr>
              <a:buNone/>
            </a:pPr>
            <a:r>
              <a:rPr lang="it-IT" sz="1200" b="1"/>
              <a:t>Cosa significa</a:t>
            </a:r>
          </a:p>
          <a:p>
            <a:pPr>
              <a:buNone/>
            </a:pPr>
            <a:r>
              <a:rPr lang="it-IT" sz="1200"/>
              <a:t>Sono presenti utenze che devono rimanere alimentate:</a:t>
            </a:r>
          </a:p>
          <a:p>
            <a:pPr marL="171416" indent="-171416">
              <a:buFont typeface="Arial" panose="020B0604020202020204" pitchFamily="34" charset="0"/>
              <a:buChar char="•"/>
            </a:pPr>
            <a:r>
              <a:rPr lang="it-IT" sz="1200"/>
              <a:t>server</a:t>
            </a:r>
          </a:p>
          <a:p>
            <a:pPr marL="171416" indent="-171416">
              <a:buFont typeface="Arial" panose="020B0604020202020204" pitchFamily="34" charset="0"/>
              <a:buChar char="•"/>
            </a:pPr>
            <a:r>
              <a:rPr lang="it-IT" sz="1200"/>
              <a:t>sicurezza</a:t>
            </a:r>
          </a:p>
          <a:p>
            <a:pPr marL="171416" indent="-171416">
              <a:buFont typeface="Arial" panose="020B0604020202020204" pitchFamily="34" charset="0"/>
              <a:buChar char="•"/>
            </a:pPr>
            <a:r>
              <a:rPr lang="it-IT" sz="1200"/>
              <a:t>illuminazione minima</a:t>
            </a:r>
          </a:p>
          <a:p>
            <a:pPr marL="171416" indent="-171416">
              <a:buFont typeface="Arial" panose="020B0604020202020204" pitchFamily="34" charset="0"/>
              <a:buChar char="•"/>
            </a:pPr>
            <a:r>
              <a:rPr lang="it-IT" sz="1200"/>
              <a:t>UPS</a:t>
            </a:r>
          </a:p>
          <a:p>
            <a:pPr marL="171416" indent="-171416">
              <a:buFont typeface="Arial" panose="020B0604020202020204" pitchFamily="34" charset="0"/>
              <a:buChar char="•"/>
            </a:pPr>
            <a:r>
              <a:rPr lang="it-IT" sz="1200"/>
              <a:t>impianti essenziali</a:t>
            </a:r>
          </a:p>
          <a:p>
            <a:pPr>
              <a:buNone/>
            </a:pPr>
            <a:endParaRPr lang="it-IT" sz="1200" b="1"/>
          </a:p>
          <a:p>
            <a:pPr>
              <a:buNone/>
            </a:pPr>
            <a:r>
              <a:rPr lang="it-IT" sz="1200" b="1"/>
              <a:t>Cosa verificare</a:t>
            </a:r>
          </a:p>
          <a:p>
            <a:pPr>
              <a:buNone/>
            </a:pPr>
            <a:r>
              <a:rPr lang="it-IT" sz="1200"/>
              <a:t>Il </a:t>
            </a:r>
            <a:r>
              <a:rPr lang="it-IT" sz="1200" err="1"/>
              <a:t>baseload</a:t>
            </a:r>
            <a:r>
              <a:rPr lang="it-IT" sz="1200"/>
              <a:t> è coerente con il tipo di edificio?</a:t>
            </a:r>
          </a:p>
          <a:p>
            <a:pPr>
              <a:buNone/>
            </a:pPr>
            <a:r>
              <a:rPr lang="it-IT" sz="1200"/>
              <a:t>Potrebbe essere ridotto?</a:t>
            </a:r>
          </a:p>
          <a:p>
            <a:pPr>
              <a:buNone/>
            </a:pPr>
            <a:r>
              <a:rPr lang="it-IT" sz="1200"/>
              <a:t>Ridurre anche pochi kW continui produce un risparmio importante su base annuale.</a:t>
            </a:r>
          </a:p>
          <a:p>
            <a:pPr>
              <a:buNone/>
            </a:pPr>
            <a:br>
              <a:rPr lang="it-IT" sz="900"/>
            </a:br>
            <a:endParaRPr lang="it-IT" sz="900"/>
          </a:p>
        </p:txBody>
      </p:sp>
      <p:sp>
        <p:nvSpPr>
          <p:cNvPr id="12" name="CasellaDiTesto 11">
            <a:extLst>
              <a:ext uri="{FF2B5EF4-FFF2-40B4-BE49-F238E27FC236}">
                <a16:creationId xmlns:a16="http://schemas.microsoft.com/office/drawing/2014/main" id="{6246A85D-0935-81C8-4564-707AEE970BD4}"/>
              </a:ext>
            </a:extLst>
          </p:cNvPr>
          <p:cNvSpPr txBox="1"/>
          <p:nvPr/>
        </p:nvSpPr>
        <p:spPr>
          <a:xfrm>
            <a:off x="7630730" y="2022886"/>
            <a:ext cx="3422692" cy="3416320"/>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3. Sono presenti forti picchi di domanda</a:t>
            </a:r>
          </a:p>
          <a:p>
            <a:pPr>
              <a:buNone/>
            </a:pPr>
            <a:endParaRPr lang="it-IT" sz="1200" b="1"/>
          </a:p>
          <a:p>
            <a:pPr>
              <a:buNone/>
            </a:pPr>
            <a:r>
              <a:rPr lang="it-IT" sz="1200"/>
              <a:t>Ogni mattina il carico cresce molto rapidamente fino a oltre </a:t>
            </a:r>
            <a:r>
              <a:rPr lang="it-IT" sz="1200" b="1"/>
              <a:t>100 kW</a:t>
            </a:r>
            <a:r>
              <a:rPr lang="it-IT" sz="1200"/>
              <a:t>.</a:t>
            </a:r>
          </a:p>
          <a:p>
            <a:pPr>
              <a:buNone/>
            </a:pPr>
            <a:endParaRPr lang="it-IT" sz="1200"/>
          </a:p>
          <a:p>
            <a:pPr>
              <a:buNone/>
            </a:pPr>
            <a:r>
              <a:rPr lang="it-IT" sz="1200" b="1"/>
              <a:t>Possibili cause</a:t>
            </a:r>
          </a:p>
          <a:p>
            <a:pPr marL="171416" indent="-171416">
              <a:buFont typeface="Arial" panose="020B0604020202020204" pitchFamily="34" charset="0"/>
              <a:buChar char="•"/>
            </a:pPr>
            <a:r>
              <a:rPr lang="it-IT" sz="1200"/>
              <a:t>avvio contemporaneo degli impianti HVAC</a:t>
            </a:r>
          </a:p>
          <a:p>
            <a:pPr marL="171416" indent="-171416">
              <a:buFont typeface="Arial" panose="020B0604020202020204" pitchFamily="34" charset="0"/>
              <a:buChar char="•"/>
            </a:pPr>
            <a:r>
              <a:rPr lang="it-IT" sz="1200"/>
              <a:t>accensione simultanea delle linee</a:t>
            </a:r>
          </a:p>
          <a:p>
            <a:pPr marL="171416" indent="-171416">
              <a:buFont typeface="Arial" panose="020B0604020202020204" pitchFamily="34" charset="0"/>
              <a:buChar char="•"/>
            </a:pPr>
            <a:r>
              <a:rPr lang="it-IT" sz="1200"/>
              <a:t>pompe</a:t>
            </a:r>
          </a:p>
          <a:p>
            <a:pPr marL="171416" indent="-171416">
              <a:buFont typeface="Arial" panose="020B0604020202020204" pitchFamily="34" charset="0"/>
              <a:buChar char="•"/>
            </a:pPr>
            <a:r>
              <a:rPr lang="it-IT" sz="1200"/>
              <a:t>gruppi frigoriferi</a:t>
            </a:r>
          </a:p>
          <a:p>
            <a:pPr marL="171416" indent="-171416">
              <a:buFont typeface="Arial" panose="020B0604020202020204" pitchFamily="34" charset="0"/>
              <a:buChar char="•"/>
            </a:pPr>
            <a:endParaRPr lang="it-IT" sz="1200"/>
          </a:p>
          <a:p>
            <a:pPr>
              <a:buNone/>
            </a:pPr>
            <a:r>
              <a:rPr lang="it-IT" sz="1200" b="1"/>
              <a:t>Valore</a:t>
            </a:r>
          </a:p>
          <a:p>
            <a:pPr>
              <a:buNone/>
            </a:pPr>
            <a:r>
              <a:rPr lang="it-IT" sz="1200"/>
              <a:t>Questi picchi incidono spesso sui costi di domanda.</a:t>
            </a:r>
          </a:p>
          <a:p>
            <a:pPr>
              <a:buNone/>
            </a:pPr>
            <a:r>
              <a:rPr lang="it-IT" sz="1200"/>
              <a:t>L’Energy Manager potrebbe valutare uno </a:t>
            </a:r>
            <a:r>
              <a:rPr lang="it-IT" sz="1200" b="1"/>
              <a:t>start-up sequenziale</a:t>
            </a:r>
            <a:r>
              <a:rPr lang="it-IT" sz="1200"/>
              <a:t> degli impianti.</a:t>
            </a:r>
          </a:p>
          <a:p>
            <a:pPr>
              <a:buNone/>
            </a:pPr>
            <a:br>
              <a:rPr lang="it-IT" sz="1200"/>
            </a:br>
            <a:endParaRPr lang="it-IT" sz="1200"/>
          </a:p>
        </p:txBody>
      </p:sp>
    </p:spTree>
    <p:extLst>
      <p:ext uri="{BB962C8B-B14F-4D97-AF65-F5344CB8AC3E}">
        <p14:creationId xmlns:p14="http://schemas.microsoft.com/office/powerpoint/2010/main" val="317261531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E023-3634-FD0F-75DD-2498B6CDB52D}"/>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00E2F863-A6A9-479C-9AFC-664BE2E4EF0F}"/>
              </a:ext>
            </a:extLst>
          </p:cNvPr>
          <p:cNvSpPr txBox="1"/>
          <p:nvPr/>
        </p:nvSpPr>
        <p:spPr>
          <a:xfrm>
            <a:off x="527470" y="500317"/>
            <a:ext cx="10525952" cy="51676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a:buNone/>
            </a:pPr>
            <a:r>
              <a:rPr lang="it-IT" sz="900" b="1"/>
              <a:t>Il Meter </a:t>
            </a:r>
            <a:r>
              <a:rPr lang="it-IT" sz="900" b="1" err="1"/>
              <a:t>Profile</a:t>
            </a:r>
            <a:r>
              <a:rPr lang="it-IT" sz="900" b="1"/>
              <a:t> non si limita a mostrare i consumi: ne evidenzia il comportamento nel tempo. </a:t>
            </a:r>
            <a:endParaRPr lang="it-IT" sz="900"/>
          </a:p>
        </p:txBody>
      </p:sp>
      <p:sp>
        <p:nvSpPr>
          <p:cNvPr id="6" name="CasellaDiTesto 5">
            <a:extLst>
              <a:ext uri="{FF2B5EF4-FFF2-40B4-BE49-F238E27FC236}">
                <a16:creationId xmlns:a16="http://schemas.microsoft.com/office/drawing/2014/main" id="{DC900236-7F3F-B2FA-16CC-CDA0ED3D6014}"/>
              </a:ext>
            </a:extLst>
          </p:cNvPr>
          <p:cNvSpPr txBox="1"/>
          <p:nvPr/>
        </p:nvSpPr>
        <p:spPr>
          <a:xfrm>
            <a:off x="527470" y="1030800"/>
            <a:ext cx="10162584" cy="46166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200"/>
              <a:t>Analizzando il profilo di carico è possibile individuare sprechi, anomalie operative e opportunità di ottimizzazione, trasformando i dati dei contatori in decisioni concrete per migliorare l’efficienza energetica.</a:t>
            </a:r>
            <a:endParaRPr lang="it-IT" sz="900"/>
          </a:p>
        </p:txBody>
      </p:sp>
      <p:sp>
        <p:nvSpPr>
          <p:cNvPr id="8" name="CasellaDiTesto 7">
            <a:extLst>
              <a:ext uri="{FF2B5EF4-FFF2-40B4-BE49-F238E27FC236}">
                <a16:creationId xmlns:a16="http://schemas.microsoft.com/office/drawing/2014/main" id="{22EAD788-1C72-F823-BF7E-74B2B6C5D6FC}"/>
              </a:ext>
            </a:extLst>
          </p:cNvPr>
          <p:cNvSpPr txBox="1"/>
          <p:nvPr/>
        </p:nvSpPr>
        <p:spPr>
          <a:xfrm>
            <a:off x="527470" y="1653603"/>
            <a:ext cx="2695956" cy="6001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Interpretazione del profilo di carico</a:t>
            </a:r>
          </a:p>
          <a:p>
            <a:pPr>
              <a:buNone/>
            </a:pPr>
            <a:endParaRPr lang="it-IT" sz="1200" b="1"/>
          </a:p>
          <a:p>
            <a:pPr>
              <a:buNone/>
            </a:pPr>
            <a:endParaRPr lang="it-IT" sz="900"/>
          </a:p>
        </p:txBody>
      </p:sp>
      <p:sp>
        <p:nvSpPr>
          <p:cNvPr id="3" name="CasellaDiTesto 2">
            <a:extLst>
              <a:ext uri="{FF2B5EF4-FFF2-40B4-BE49-F238E27FC236}">
                <a16:creationId xmlns:a16="http://schemas.microsoft.com/office/drawing/2014/main" id="{FDBF0E63-317D-E8C3-6BEE-04787679902D}"/>
              </a:ext>
            </a:extLst>
          </p:cNvPr>
          <p:cNvSpPr txBox="1"/>
          <p:nvPr/>
        </p:nvSpPr>
        <p:spPr>
          <a:xfrm>
            <a:off x="644685" y="2299849"/>
            <a:ext cx="2215374" cy="267765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4. Il carico rimane elevato durante l’orario di lavoro</a:t>
            </a:r>
          </a:p>
          <a:p>
            <a:pPr>
              <a:buNone/>
            </a:pPr>
            <a:endParaRPr lang="it-IT" sz="1200" b="1"/>
          </a:p>
          <a:p>
            <a:pPr>
              <a:buNone/>
            </a:pPr>
            <a:r>
              <a:rPr lang="it-IT" sz="1200"/>
              <a:t>Dopo il picco iniziale il consumo rimane elevato e relativamente stabile.</a:t>
            </a:r>
          </a:p>
          <a:p>
            <a:pPr>
              <a:buNone/>
            </a:pPr>
            <a:r>
              <a:rPr lang="it-IT" sz="1200"/>
              <a:t>Questo indica un utilizzo costante dell’edificio.</a:t>
            </a:r>
          </a:p>
          <a:p>
            <a:pPr>
              <a:buNone/>
            </a:pPr>
            <a:endParaRPr lang="it-IT" sz="1200" b="1"/>
          </a:p>
          <a:p>
            <a:pPr>
              <a:buNone/>
            </a:pPr>
            <a:r>
              <a:rPr lang="it-IT" sz="1200" b="1"/>
              <a:t>Cosa significa</a:t>
            </a:r>
          </a:p>
          <a:p>
            <a:pPr>
              <a:buNone/>
            </a:pPr>
            <a:endParaRPr lang="it-IT" sz="1200"/>
          </a:p>
          <a:p>
            <a:pPr>
              <a:buNone/>
            </a:pPr>
            <a:r>
              <a:rPr lang="it-IT" sz="1200"/>
              <a:t>L’impianto non presenta oscillazioni casuali.</a:t>
            </a:r>
          </a:p>
          <a:p>
            <a:pPr>
              <a:buNone/>
            </a:pPr>
            <a:r>
              <a:rPr lang="it-IT" sz="1200"/>
              <a:t>Il processo è stabile.</a:t>
            </a:r>
          </a:p>
        </p:txBody>
      </p:sp>
      <p:sp>
        <p:nvSpPr>
          <p:cNvPr id="7" name="CasellaDiTesto 6">
            <a:extLst>
              <a:ext uri="{FF2B5EF4-FFF2-40B4-BE49-F238E27FC236}">
                <a16:creationId xmlns:a16="http://schemas.microsoft.com/office/drawing/2014/main" id="{C567E135-6E6F-DAE9-87D3-F247A882A17E}"/>
              </a:ext>
            </a:extLst>
          </p:cNvPr>
          <p:cNvSpPr txBox="1"/>
          <p:nvPr/>
        </p:nvSpPr>
        <p:spPr>
          <a:xfrm>
            <a:off x="2860059" y="2346010"/>
            <a:ext cx="2531855" cy="230832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5. Esistono brusche cadute del carico</a:t>
            </a:r>
          </a:p>
          <a:p>
            <a:pPr>
              <a:buNone/>
            </a:pPr>
            <a:endParaRPr lang="it-IT" sz="1200" b="1"/>
          </a:p>
          <a:p>
            <a:pPr>
              <a:buNone/>
            </a:pPr>
            <a:r>
              <a:rPr lang="it-IT" sz="1200"/>
              <a:t>In alcuni momenti il consumo scende rapidamente.</a:t>
            </a:r>
          </a:p>
          <a:p>
            <a:pPr>
              <a:buNone/>
            </a:pPr>
            <a:r>
              <a:rPr lang="it-IT" sz="1200"/>
              <a:t>Questo può rappresentare</a:t>
            </a:r>
          </a:p>
          <a:p>
            <a:pPr>
              <a:buNone/>
            </a:pPr>
            <a:endParaRPr lang="it-IT" sz="1200"/>
          </a:p>
          <a:p>
            <a:pPr marL="171416" indent="-171416">
              <a:buFont typeface="Arial" panose="020B0604020202020204" pitchFamily="34" charset="0"/>
              <a:buChar char="•"/>
            </a:pPr>
            <a:r>
              <a:rPr lang="it-IT" sz="1200"/>
              <a:t>pausa produttiva</a:t>
            </a:r>
          </a:p>
          <a:p>
            <a:pPr marL="171416" indent="-171416">
              <a:buFont typeface="Arial" panose="020B0604020202020204" pitchFamily="34" charset="0"/>
              <a:buChar char="•"/>
            </a:pPr>
            <a:r>
              <a:rPr lang="it-IT" sz="1200"/>
              <a:t>spegnimento di grandi utenze</a:t>
            </a:r>
          </a:p>
          <a:p>
            <a:pPr marL="171416" indent="-171416">
              <a:buFont typeface="Arial" panose="020B0604020202020204" pitchFamily="34" charset="0"/>
              <a:buChar char="•"/>
            </a:pPr>
            <a:r>
              <a:rPr lang="it-IT" sz="1200"/>
              <a:t>controllo automatico</a:t>
            </a:r>
          </a:p>
          <a:p>
            <a:pPr marL="171416" indent="-171416">
              <a:buFont typeface="Arial" panose="020B0604020202020204" pitchFamily="34" charset="0"/>
              <a:buChar char="•"/>
            </a:pPr>
            <a:r>
              <a:rPr lang="it-IT" sz="1200"/>
              <a:t>Demand </a:t>
            </a:r>
            <a:r>
              <a:rPr lang="it-IT" sz="1200" err="1"/>
              <a:t>Response</a:t>
            </a:r>
            <a:endParaRPr lang="it-IT" sz="1200"/>
          </a:p>
          <a:p>
            <a:pPr>
              <a:buNone/>
            </a:pPr>
            <a:r>
              <a:rPr lang="it-IT" sz="1200"/>
              <a:t>È un elemento da approfondire.</a:t>
            </a:r>
          </a:p>
        </p:txBody>
      </p:sp>
      <p:sp>
        <p:nvSpPr>
          <p:cNvPr id="11" name="CasellaDiTesto 10">
            <a:extLst>
              <a:ext uri="{FF2B5EF4-FFF2-40B4-BE49-F238E27FC236}">
                <a16:creationId xmlns:a16="http://schemas.microsoft.com/office/drawing/2014/main" id="{B5912020-3EA2-8086-2432-3E23A1B32947}"/>
              </a:ext>
            </a:extLst>
          </p:cNvPr>
          <p:cNvSpPr txBox="1"/>
          <p:nvPr/>
        </p:nvSpPr>
        <p:spPr>
          <a:xfrm>
            <a:off x="5391914" y="2299849"/>
            <a:ext cx="3176540" cy="429348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6. Il Power Factor è molto elevato</a:t>
            </a:r>
          </a:p>
          <a:p>
            <a:pPr>
              <a:buNone/>
            </a:pPr>
            <a:r>
              <a:rPr lang="it-IT" sz="1200"/>
              <a:t>La linea rossa rimane quasi sempre vicina a </a:t>
            </a:r>
            <a:r>
              <a:rPr lang="it-IT" sz="1200" b="1"/>
              <a:t>1</a:t>
            </a:r>
            <a:r>
              <a:rPr lang="it-IT" sz="1200"/>
              <a:t>.</a:t>
            </a:r>
          </a:p>
          <a:p>
            <a:pPr>
              <a:buNone/>
            </a:pPr>
            <a:r>
              <a:rPr lang="it-IT" sz="1200" b="1"/>
              <a:t>Cosa significa</a:t>
            </a:r>
          </a:p>
          <a:p>
            <a:pPr>
              <a:buNone/>
            </a:pPr>
            <a:r>
              <a:rPr lang="it-IT" sz="1200"/>
              <a:t>L’energia viene utilizzata in modo efficiente.</a:t>
            </a:r>
          </a:p>
          <a:p>
            <a:pPr>
              <a:buNone/>
            </a:pPr>
            <a:r>
              <a:rPr lang="it-IT" sz="1200"/>
              <a:t>Non sembrano esserci problemi importanti di energia reattiva.</a:t>
            </a:r>
          </a:p>
          <a:p>
            <a:pPr>
              <a:buNone/>
            </a:pPr>
            <a:r>
              <a:rPr lang="it-IT" sz="1200" b="1"/>
              <a:t>Valore</a:t>
            </a:r>
          </a:p>
          <a:p>
            <a:pPr marL="171416" indent="-171416">
              <a:buFont typeface="Arial" panose="020B0604020202020204" pitchFamily="34" charset="0"/>
              <a:buChar char="•"/>
            </a:pPr>
            <a:r>
              <a:rPr lang="it-IT" sz="1200"/>
              <a:t>minori penali</a:t>
            </a:r>
          </a:p>
          <a:p>
            <a:pPr marL="171416" indent="-171416">
              <a:buFont typeface="Arial" panose="020B0604020202020204" pitchFamily="34" charset="0"/>
              <a:buChar char="•"/>
            </a:pPr>
            <a:r>
              <a:rPr lang="it-IT" sz="1200"/>
              <a:t>migliore rendimento dell’impianto</a:t>
            </a:r>
          </a:p>
          <a:p>
            <a:pPr marL="171416" indent="-171416">
              <a:buFont typeface="Arial" panose="020B0604020202020204" pitchFamily="34" charset="0"/>
              <a:buChar char="•"/>
            </a:pPr>
            <a:r>
              <a:rPr lang="it-IT" sz="1200"/>
              <a:t>buona </a:t>
            </a:r>
            <a:r>
              <a:rPr lang="it-IT" sz="1200" err="1"/>
              <a:t>rifasatura</a:t>
            </a:r>
            <a:endParaRPr lang="it-IT" sz="1200"/>
          </a:p>
          <a:p>
            <a:pPr>
              <a:buNone/>
            </a:pPr>
            <a:br>
              <a:rPr lang="it-IT" sz="900"/>
            </a:br>
            <a:endParaRPr lang="it-IT" sz="1200"/>
          </a:p>
          <a:p>
            <a:pPr>
              <a:buNone/>
            </a:pPr>
            <a:r>
              <a:rPr lang="it-IT" sz="1200" b="1"/>
              <a:t>7. La potenza reattiva è limitata</a:t>
            </a:r>
          </a:p>
          <a:p>
            <a:pPr>
              <a:buNone/>
            </a:pPr>
            <a:r>
              <a:rPr lang="it-IT" sz="1200"/>
              <a:t>La curva azzurra (</a:t>
            </a:r>
            <a:r>
              <a:rPr lang="it-IT" sz="1200" err="1"/>
              <a:t>kVAR</a:t>
            </a:r>
            <a:r>
              <a:rPr lang="it-IT" sz="1200"/>
              <a:t>)</a:t>
            </a:r>
          </a:p>
          <a:p>
            <a:pPr>
              <a:buNone/>
            </a:pPr>
            <a:r>
              <a:rPr lang="it-IT" sz="1200"/>
              <a:t>rimane molto inferiore rispetto alla potenza attiva.</a:t>
            </a:r>
          </a:p>
          <a:p>
            <a:pPr>
              <a:buNone/>
            </a:pPr>
            <a:r>
              <a:rPr lang="it-IT" sz="1200" b="1"/>
              <a:t>Cosa significa</a:t>
            </a:r>
          </a:p>
          <a:p>
            <a:pPr>
              <a:buNone/>
            </a:pPr>
            <a:r>
              <a:rPr lang="it-IT" sz="1200"/>
              <a:t>Il sistema di rifasamento sembra funzionare correttamente.</a:t>
            </a:r>
          </a:p>
          <a:p>
            <a:pPr>
              <a:buNone/>
            </a:pPr>
            <a:r>
              <a:rPr lang="it-IT" sz="1200"/>
              <a:t>Non emergono anomalie evidenti.</a:t>
            </a:r>
          </a:p>
          <a:p>
            <a:pPr>
              <a:buNone/>
            </a:pPr>
            <a:br>
              <a:rPr lang="it-IT" sz="1200"/>
            </a:br>
            <a:endParaRPr lang="it-IT" sz="1200"/>
          </a:p>
        </p:txBody>
      </p:sp>
      <p:sp>
        <p:nvSpPr>
          <p:cNvPr id="14" name="CasellaDiTesto 13">
            <a:extLst>
              <a:ext uri="{FF2B5EF4-FFF2-40B4-BE49-F238E27FC236}">
                <a16:creationId xmlns:a16="http://schemas.microsoft.com/office/drawing/2014/main" id="{35E45391-41E5-FE21-C684-8DE52A65C9C4}"/>
              </a:ext>
            </a:extLst>
          </p:cNvPr>
          <p:cNvSpPr txBox="1"/>
          <p:nvPr/>
        </p:nvSpPr>
        <p:spPr>
          <a:xfrm>
            <a:off x="9002945" y="2346010"/>
            <a:ext cx="2544371" cy="360098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200" b="1"/>
              <a:t>8. Il comportamento è ripetitivo</a:t>
            </a:r>
          </a:p>
          <a:p>
            <a:pPr>
              <a:buNone/>
            </a:pPr>
            <a:endParaRPr lang="it-IT" sz="1200"/>
          </a:p>
          <a:p>
            <a:pPr>
              <a:buNone/>
            </a:pPr>
            <a:r>
              <a:rPr lang="it-IT" sz="1200"/>
              <a:t>Ogni giorno lavorativo presenta praticamente lo stesso profilo.</a:t>
            </a:r>
          </a:p>
          <a:p>
            <a:pPr>
              <a:buNone/>
            </a:pPr>
            <a:endParaRPr lang="it-IT" sz="1200"/>
          </a:p>
          <a:p>
            <a:pPr>
              <a:buNone/>
            </a:pPr>
            <a:r>
              <a:rPr lang="it-IT" sz="1200" b="1"/>
              <a:t>Cosa significa</a:t>
            </a:r>
          </a:p>
          <a:p>
            <a:pPr>
              <a:buNone/>
            </a:pPr>
            <a:endParaRPr lang="it-IT" sz="1200"/>
          </a:p>
          <a:p>
            <a:pPr>
              <a:buNone/>
            </a:pPr>
            <a:r>
              <a:rPr lang="it-IT" sz="1200"/>
              <a:t>Questo è molto utile.</a:t>
            </a:r>
          </a:p>
          <a:p>
            <a:pPr>
              <a:buNone/>
            </a:pPr>
            <a:r>
              <a:rPr lang="it-IT" sz="1200"/>
              <a:t>Se un giorno dovesse avere un andamento completamente diverso,</a:t>
            </a:r>
          </a:p>
          <a:p>
            <a:pPr>
              <a:buNone/>
            </a:pPr>
            <a:endParaRPr lang="it-IT" sz="1200"/>
          </a:p>
          <a:p>
            <a:pPr>
              <a:buNone/>
            </a:pPr>
            <a:r>
              <a:rPr lang="it-IT" sz="1200" err="1"/>
              <a:t>Envizi</a:t>
            </a:r>
            <a:r>
              <a:rPr lang="it-IT" sz="1200"/>
              <a:t> lo evidenzierebbe immediatamente.</a:t>
            </a:r>
          </a:p>
          <a:p>
            <a:pPr>
              <a:buNone/>
            </a:pPr>
            <a:r>
              <a:rPr lang="it-IT" sz="1200"/>
              <a:t>Diventa quindi semplice individuare</a:t>
            </a:r>
          </a:p>
          <a:p>
            <a:pPr marL="171416" indent="-171416">
              <a:buFont typeface="Arial" panose="020B0604020202020204" pitchFamily="34" charset="0"/>
              <a:buChar char="•"/>
            </a:pPr>
            <a:r>
              <a:rPr lang="it-IT" sz="1200"/>
              <a:t>guasti</a:t>
            </a:r>
          </a:p>
          <a:p>
            <a:pPr marL="171416" indent="-171416">
              <a:buFont typeface="Arial" panose="020B0604020202020204" pitchFamily="34" charset="0"/>
              <a:buChar char="•"/>
            </a:pPr>
            <a:r>
              <a:rPr lang="it-IT" sz="1200"/>
              <a:t>apparecchi lasciati accesi</a:t>
            </a:r>
          </a:p>
          <a:p>
            <a:pPr marL="171416" indent="-171416">
              <a:buFont typeface="Arial" panose="020B0604020202020204" pitchFamily="34" charset="0"/>
              <a:buChar char="•"/>
            </a:pPr>
            <a:r>
              <a:rPr lang="it-IT" sz="1200"/>
              <a:t>modifiche operative</a:t>
            </a:r>
          </a:p>
          <a:p>
            <a:pPr marL="171416" indent="-171416">
              <a:buFont typeface="Arial" panose="020B0604020202020204" pitchFamily="34" charset="0"/>
              <a:buChar char="•"/>
            </a:pPr>
            <a:r>
              <a:rPr lang="it-IT" sz="1200"/>
              <a:t>problemi sugli impianti</a:t>
            </a:r>
          </a:p>
        </p:txBody>
      </p:sp>
    </p:spTree>
    <p:extLst>
      <p:ext uri="{BB962C8B-B14F-4D97-AF65-F5344CB8AC3E}">
        <p14:creationId xmlns:p14="http://schemas.microsoft.com/office/powerpoint/2010/main" val="270550353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la 2">
            <a:extLst>
              <a:ext uri="{FF2B5EF4-FFF2-40B4-BE49-F238E27FC236}">
                <a16:creationId xmlns:a16="http://schemas.microsoft.com/office/drawing/2014/main" id="{EF94DE11-E248-731B-7398-E7F89BC7ACDE}"/>
              </a:ext>
            </a:extLst>
          </p:cNvPr>
          <p:cNvGraphicFramePr>
            <a:graphicFrameLocks noGrp="1"/>
          </p:cNvGraphicFramePr>
          <p:nvPr/>
        </p:nvGraphicFramePr>
        <p:xfrm>
          <a:off x="449204" y="4363207"/>
          <a:ext cx="11293593" cy="1737300"/>
        </p:xfrm>
        <a:graphic>
          <a:graphicData uri="http://schemas.openxmlformats.org/drawingml/2006/table">
            <a:tbl>
              <a:tblPr>
                <a:tableStyleId>{00A15C55-8517-42AA-B614-E9B94910E393}</a:tableStyleId>
              </a:tblPr>
              <a:tblGrid>
                <a:gridCol w="3764531">
                  <a:extLst>
                    <a:ext uri="{9D8B030D-6E8A-4147-A177-3AD203B41FA5}">
                      <a16:colId xmlns:a16="http://schemas.microsoft.com/office/drawing/2014/main" val="3232338745"/>
                    </a:ext>
                  </a:extLst>
                </a:gridCol>
                <a:gridCol w="3764531">
                  <a:extLst>
                    <a:ext uri="{9D8B030D-6E8A-4147-A177-3AD203B41FA5}">
                      <a16:colId xmlns:a16="http://schemas.microsoft.com/office/drawing/2014/main" val="8837368"/>
                    </a:ext>
                  </a:extLst>
                </a:gridCol>
                <a:gridCol w="3764531">
                  <a:extLst>
                    <a:ext uri="{9D8B030D-6E8A-4147-A177-3AD203B41FA5}">
                      <a16:colId xmlns:a16="http://schemas.microsoft.com/office/drawing/2014/main" val="3728763426"/>
                    </a:ext>
                  </a:extLst>
                </a:gridCol>
              </a:tblGrid>
              <a:tr h="259046">
                <a:tc>
                  <a:txBody>
                    <a:bodyPr/>
                    <a:lstStyle/>
                    <a:p>
                      <a:pPr algn="l">
                        <a:buNone/>
                      </a:pPr>
                      <a:r>
                        <a:rPr lang="it-IT" sz="1200" b="1" dirty="0">
                          <a:solidFill>
                            <a:schemeClr val="tx1"/>
                          </a:solidFill>
                          <a:effectLst/>
                        </a:rPr>
                        <a:t>Osservazione</a:t>
                      </a:r>
                    </a:p>
                  </a:txBody>
                  <a:tcPr marL="57143" marR="57143" marT="38095" marB="38095" anchor="ctr"/>
                </a:tc>
                <a:tc>
                  <a:txBody>
                    <a:bodyPr/>
                    <a:lstStyle/>
                    <a:p>
                      <a:pPr algn="l">
                        <a:buNone/>
                      </a:pPr>
                      <a:r>
                        <a:rPr lang="it-IT" sz="1200" b="1" dirty="0">
                          <a:solidFill>
                            <a:schemeClr val="tx1"/>
                          </a:solidFill>
                          <a:effectLst/>
                        </a:rPr>
                        <a:t>Cosa comprende</a:t>
                      </a:r>
                    </a:p>
                  </a:txBody>
                  <a:tcPr marL="57143" marR="57143" marT="38095" marB="38095" anchor="ctr"/>
                </a:tc>
                <a:tc>
                  <a:txBody>
                    <a:bodyPr/>
                    <a:lstStyle/>
                    <a:p>
                      <a:pPr algn="l">
                        <a:buNone/>
                      </a:pPr>
                      <a:r>
                        <a:rPr lang="it-IT" sz="1200" b="1" dirty="0">
                          <a:solidFill>
                            <a:schemeClr val="tx1"/>
                          </a:solidFill>
                          <a:effectLst/>
                        </a:rPr>
                        <a:t>Possibile azione</a:t>
                      </a:r>
                    </a:p>
                  </a:txBody>
                  <a:tcPr marL="57143" marR="57143" marT="38095" marB="38095" anchor="ctr"/>
                </a:tc>
                <a:extLst>
                  <a:ext uri="{0D108BD9-81ED-4DB2-BD59-A6C34878D82A}">
                    <a16:rowId xmlns:a16="http://schemas.microsoft.com/office/drawing/2014/main" val="212737285"/>
                  </a:ext>
                </a:extLst>
              </a:tr>
              <a:tr h="259046">
                <a:tc>
                  <a:txBody>
                    <a:bodyPr/>
                    <a:lstStyle/>
                    <a:p>
                      <a:pPr algn="l">
                        <a:buNone/>
                      </a:pPr>
                      <a:r>
                        <a:rPr lang="it-IT" sz="1200" dirty="0">
                          <a:solidFill>
                            <a:schemeClr val="tx1"/>
                          </a:solidFill>
                          <a:effectLst/>
                        </a:rPr>
                        <a:t>Picchi elevati al mattino</a:t>
                      </a:r>
                    </a:p>
                  </a:txBody>
                  <a:tcPr marL="57143" marR="57143" marT="38095" marB="38095" anchor="ctr">
                    <a:solidFill>
                      <a:schemeClr val="bg1"/>
                    </a:solidFill>
                  </a:tcPr>
                </a:tc>
                <a:tc>
                  <a:txBody>
                    <a:bodyPr/>
                    <a:lstStyle/>
                    <a:p>
                      <a:pPr algn="l">
                        <a:buNone/>
                      </a:pPr>
                      <a:r>
                        <a:rPr lang="it-IT" sz="1200">
                          <a:solidFill>
                            <a:schemeClr val="tx1"/>
                          </a:solidFill>
                          <a:effectLst/>
                        </a:rPr>
                        <a:t>Accensione simultanea degli impianti</a:t>
                      </a:r>
                    </a:p>
                  </a:txBody>
                  <a:tcPr marL="57143" marR="57143" marT="38095" marB="38095" anchor="ctr">
                    <a:solidFill>
                      <a:schemeClr val="bg1"/>
                    </a:solidFill>
                  </a:tcPr>
                </a:tc>
                <a:tc>
                  <a:txBody>
                    <a:bodyPr/>
                    <a:lstStyle/>
                    <a:p>
                      <a:pPr algn="l">
                        <a:buNone/>
                      </a:pPr>
                      <a:r>
                        <a:rPr lang="it-IT" sz="1200">
                          <a:solidFill>
                            <a:schemeClr val="tx1"/>
                          </a:solidFill>
                          <a:effectLst/>
                        </a:rPr>
                        <a:t>Sequenziare gli avvii per ridurre la domanda di picco</a:t>
                      </a:r>
                    </a:p>
                  </a:txBody>
                  <a:tcPr marL="57143" marR="57143" marT="38095" marB="38095" anchor="ctr">
                    <a:solidFill>
                      <a:schemeClr val="bg1"/>
                    </a:solidFill>
                  </a:tcPr>
                </a:tc>
                <a:extLst>
                  <a:ext uri="{0D108BD9-81ED-4DB2-BD59-A6C34878D82A}">
                    <a16:rowId xmlns:a16="http://schemas.microsoft.com/office/drawing/2014/main" val="1869238523"/>
                  </a:ext>
                </a:extLst>
              </a:tr>
              <a:tr h="259046">
                <a:tc>
                  <a:txBody>
                    <a:bodyPr/>
                    <a:lstStyle/>
                    <a:p>
                      <a:pPr algn="l">
                        <a:buNone/>
                      </a:pPr>
                      <a:r>
                        <a:rPr lang="it-IT" sz="1200" dirty="0" err="1">
                          <a:solidFill>
                            <a:schemeClr val="tx1"/>
                          </a:solidFill>
                          <a:effectLst/>
                        </a:rPr>
                        <a:t>Baseload</a:t>
                      </a:r>
                      <a:r>
                        <a:rPr lang="it-IT" sz="1200" dirty="0">
                          <a:solidFill>
                            <a:schemeClr val="tx1"/>
                          </a:solidFill>
                          <a:effectLst/>
                        </a:rPr>
                        <a:t> notturno costante</a:t>
                      </a:r>
                    </a:p>
                  </a:txBody>
                  <a:tcPr marL="57143" marR="57143" marT="38095" marB="38095" anchor="ctr">
                    <a:solidFill>
                      <a:schemeClr val="bg1"/>
                    </a:solidFill>
                  </a:tcPr>
                </a:tc>
                <a:tc>
                  <a:txBody>
                    <a:bodyPr/>
                    <a:lstStyle/>
                    <a:p>
                      <a:pPr algn="l">
                        <a:buNone/>
                      </a:pPr>
                      <a:r>
                        <a:rPr lang="it-IT" sz="1200">
                          <a:solidFill>
                            <a:schemeClr val="tx1"/>
                          </a:solidFill>
                          <a:effectLst/>
                        </a:rPr>
                        <a:t>Carichi permanenti</a:t>
                      </a:r>
                    </a:p>
                  </a:txBody>
                  <a:tcPr marL="57143" marR="57143" marT="38095" marB="38095" anchor="ctr">
                    <a:solidFill>
                      <a:schemeClr val="bg1"/>
                    </a:solidFill>
                  </a:tcPr>
                </a:tc>
                <a:tc>
                  <a:txBody>
                    <a:bodyPr/>
                    <a:lstStyle/>
                    <a:p>
                      <a:pPr algn="l">
                        <a:buNone/>
                      </a:pPr>
                      <a:r>
                        <a:rPr lang="it-IT" sz="1200">
                          <a:solidFill>
                            <a:schemeClr val="tx1"/>
                          </a:solidFill>
                          <a:effectLst/>
                        </a:rPr>
                        <a:t>Verificare se alcune utenze possono essere spente</a:t>
                      </a:r>
                    </a:p>
                  </a:txBody>
                  <a:tcPr marL="57143" marR="57143" marT="38095" marB="38095" anchor="ctr">
                    <a:solidFill>
                      <a:schemeClr val="bg1"/>
                    </a:solidFill>
                  </a:tcPr>
                </a:tc>
                <a:extLst>
                  <a:ext uri="{0D108BD9-81ED-4DB2-BD59-A6C34878D82A}">
                    <a16:rowId xmlns:a16="http://schemas.microsoft.com/office/drawing/2014/main" val="2979623694"/>
                  </a:ext>
                </a:extLst>
              </a:tr>
              <a:tr h="259046">
                <a:tc>
                  <a:txBody>
                    <a:bodyPr/>
                    <a:lstStyle/>
                    <a:p>
                      <a:pPr algn="l">
                        <a:buNone/>
                      </a:pPr>
                      <a:r>
                        <a:rPr lang="it-IT" sz="1200" dirty="0">
                          <a:solidFill>
                            <a:schemeClr val="tx1"/>
                          </a:solidFill>
                          <a:effectLst/>
                        </a:rPr>
                        <a:t>Weekend con consumi molto ridotti</a:t>
                      </a:r>
                    </a:p>
                  </a:txBody>
                  <a:tcPr marL="57143" marR="57143" marT="38095" marB="38095" anchor="ctr">
                    <a:solidFill>
                      <a:schemeClr val="bg1"/>
                    </a:solidFill>
                  </a:tcPr>
                </a:tc>
                <a:tc>
                  <a:txBody>
                    <a:bodyPr/>
                    <a:lstStyle/>
                    <a:p>
                      <a:pPr algn="l">
                        <a:buNone/>
                      </a:pPr>
                      <a:r>
                        <a:rPr lang="it-IT" sz="1200" dirty="0">
                          <a:solidFill>
                            <a:schemeClr val="tx1"/>
                          </a:solidFill>
                          <a:effectLst/>
                        </a:rPr>
                        <a:t>Programmazione corretta degli impianti</a:t>
                      </a:r>
                    </a:p>
                  </a:txBody>
                  <a:tcPr marL="57143" marR="57143" marT="38095" marB="38095" anchor="ctr">
                    <a:solidFill>
                      <a:schemeClr val="bg1"/>
                    </a:solidFill>
                  </a:tcPr>
                </a:tc>
                <a:tc>
                  <a:txBody>
                    <a:bodyPr/>
                    <a:lstStyle/>
                    <a:p>
                      <a:pPr algn="l">
                        <a:buNone/>
                      </a:pPr>
                      <a:r>
                        <a:rPr lang="it-IT" sz="1200">
                          <a:solidFill>
                            <a:schemeClr val="tx1"/>
                          </a:solidFill>
                          <a:effectLst/>
                        </a:rPr>
                        <a:t>Confermare la logica di spegnimento</a:t>
                      </a:r>
                    </a:p>
                  </a:txBody>
                  <a:tcPr marL="57143" marR="57143" marT="38095" marB="38095" anchor="ctr">
                    <a:solidFill>
                      <a:schemeClr val="bg1"/>
                    </a:solidFill>
                  </a:tcPr>
                </a:tc>
                <a:extLst>
                  <a:ext uri="{0D108BD9-81ED-4DB2-BD59-A6C34878D82A}">
                    <a16:rowId xmlns:a16="http://schemas.microsoft.com/office/drawing/2014/main" val="1541653368"/>
                  </a:ext>
                </a:extLst>
              </a:tr>
              <a:tr h="259046">
                <a:tc>
                  <a:txBody>
                    <a:bodyPr/>
                    <a:lstStyle/>
                    <a:p>
                      <a:pPr algn="l">
                        <a:buNone/>
                      </a:pPr>
                      <a:r>
                        <a:rPr lang="it-IT" sz="1200" dirty="0">
                          <a:solidFill>
                            <a:schemeClr val="tx1"/>
                          </a:solidFill>
                          <a:effectLst/>
                        </a:rPr>
                        <a:t>Power Factor vicino a 1</a:t>
                      </a:r>
                    </a:p>
                  </a:txBody>
                  <a:tcPr marL="57143" marR="57143" marT="38095" marB="38095" anchor="ctr">
                    <a:solidFill>
                      <a:schemeClr val="bg1"/>
                    </a:solidFill>
                  </a:tcPr>
                </a:tc>
                <a:tc>
                  <a:txBody>
                    <a:bodyPr/>
                    <a:lstStyle/>
                    <a:p>
                      <a:pPr algn="l">
                        <a:buNone/>
                      </a:pPr>
                      <a:r>
                        <a:rPr lang="it-IT" sz="1200">
                          <a:solidFill>
                            <a:schemeClr val="tx1"/>
                          </a:solidFill>
                          <a:effectLst/>
                        </a:rPr>
                        <a:t>Rifasamento efficace</a:t>
                      </a:r>
                    </a:p>
                  </a:txBody>
                  <a:tcPr marL="57143" marR="57143" marT="38095" marB="38095" anchor="ctr">
                    <a:solidFill>
                      <a:schemeClr val="bg1"/>
                    </a:solidFill>
                  </a:tcPr>
                </a:tc>
                <a:tc>
                  <a:txBody>
                    <a:bodyPr/>
                    <a:lstStyle/>
                    <a:p>
                      <a:pPr algn="l">
                        <a:buNone/>
                      </a:pPr>
                      <a:r>
                        <a:rPr lang="it-IT" sz="1200">
                          <a:solidFill>
                            <a:schemeClr val="tx1"/>
                          </a:solidFill>
                          <a:effectLst/>
                        </a:rPr>
                        <a:t>Nessun intervento immediato</a:t>
                      </a:r>
                    </a:p>
                  </a:txBody>
                  <a:tcPr marL="57143" marR="57143" marT="38095" marB="38095" anchor="ctr">
                    <a:solidFill>
                      <a:schemeClr val="bg1"/>
                    </a:solidFill>
                  </a:tcPr>
                </a:tc>
                <a:extLst>
                  <a:ext uri="{0D108BD9-81ED-4DB2-BD59-A6C34878D82A}">
                    <a16:rowId xmlns:a16="http://schemas.microsoft.com/office/drawing/2014/main" val="1306354593"/>
                  </a:ext>
                </a:extLst>
              </a:tr>
              <a:tr h="441902">
                <a:tc>
                  <a:txBody>
                    <a:bodyPr/>
                    <a:lstStyle/>
                    <a:p>
                      <a:pPr algn="l">
                        <a:buNone/>
                      </a:pPr>
                      <a:r>
                        <a:rPr lang="it-IT" sz="1200" dirty="0">
                          <a:solidFill>
                            <a:schemeClr val="tx1"/>
                          </a:solidFill>
                          <a:effectLst/>
                        </a:rPr>
                        <a:t>Profilo giornaliero stabile</a:t>
                      </a:r>
                    </a:p>
                  </a:txBody>
                  <a:tcPr marL="57143" marR="57143" marT="38095" marB="38095" anchor="ctr">
                    <a:solidFill>
                      <a:schemeClr val="bg1"/>
                    </a:solidFill>
                  </a:tcPr>
                </a:tc>
                <a:tc>
                  <a:txBody>
                    <a:bodyPr/>
                    <a:lstStyle/>
                    <a:p>
                      <a:pPr algn="l">
                        <a:buNone/>
                      </a:pPr>
                      <a:r>
                        <a:rPr lang="it-IT" sz="1200" dirty="0">
                          <a:solidFill>
                            <a:schemeClr val="tx1"/>
                          </a:solidFill>
                          <a:effectLst/>
                        </a:rPr>
                        <a:t>Processo sotto controllo</a:t>
                      </a:r>
                    </a:p>
                  </a:txBody>
                  <a:tcPr marL="57143" marR="57143" marT="38095" marB="38095" anchor="ctr">
                    <a:solidFill>
                      <a:schemeClr val="bg1"/>
                    </a:solidFill>
                  </a:tcPr>
                </a:tc>
                <a:tc>
                  <a:txBody>
                    <a:bodyPr/>
                    <a:lstStyle/>
                    <a:p>
                      <a:pPr algn="l">
                        <a:buNone/>
                      </a:pPr>
                      <a:r>
                        <a:rPr lang="it-IT" sz="1200" dirty="0">
                          <a:solidFill>
                            <a:schemeClr val="tx1"/>
                          </a:solidFill>
                          <a:effectLst/>
                        </a:rPr>
                        <a:t>Utilizzare il profilo come riferimento per individuare future anomalie</a:t>
                      </a:r>
                    </a:p>
                  </a:txBody>
                  <a:tcPr marL="57143" marR="57143" marT="38095" marB="38095" anchor="ctr">
                    <a:solidFill>
                      <a:schemeClr val="bg1"/>
                    </a:solidFill>
                  </a:tcPr>
                </a:tc>
                <a:extLst>
                  <a:ext uri="{0D108BD9-81ED-4DB2-BD59-A6C34878D82A}">
                    <a16:rowId xmlns:a16="http://schemas.microsoft.com/office/drawing/2014/main" val="361701436"/>
                  </a:ext>
                </a:extLst>
              </a:tr>
            </a:tbl>
          </a:graphicData>
        </a:graphic>
      </p:graphicFrame>
      <p:sp>
        <p:nvSpPr>
          <p:cNvPr id="5" name="CasellaDiTesto 4">
            <a:extLst>
              <a:ext uri="{FF2B5EF4-FFF2-40B4-BE49-F238E27FC236}">
                <a16:creationId xmlns:a16="http://schemas.microsoft.com/office/drawing/2014/main" id="{5B463522-6E65-85FB-326A-EB6468A56313}"/>
              </a:ext>
            </a:extLst>
          </p:cNvPr>
          <p:cNvSpPr txBox="1"/>
          <p:nvPr/>
        </p:nvSpPr>
        <p:spPr>
          <a:xfrm>
            <a:off x="449204" y="1513876"/>
            <a:ext cx="4471650" cy="116955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Analizzando il profilo di carico, l’Energy Manager può verificare se gli impianti operano secondo le attese, individuare consumi fuori orario, ridurre i picchi di domanda e identificare tempestivamente anomalie o opportunità di efficientamento.</a:t>
            </a:r>
          </a:p>
        </p:txBody>
      </p:sp>
      <p:sp>
        <p:nvSpPr>
          <p:cNvPr id="7" name="CasellaDiTesto 6">
            <a:extLst>
              <a:ext uri="{FF2B5EF4-FFF2-40B4-BE49-F238E27FC236}">
                <a16:creationId xmlns:a16="http://schemas.microsoft.com/office/drawing/2014/main" id="{5F0B5F61-6DE6-D14D-AC6A-A093E4A3E92A}"/>
              </a:ext>
            </a:extLst>
          </p:cNvPr>
          <p:cNvSpPr txBox="1"/>
          <p:nvPr/>
        </p:nvSpPr>
        <p:spPr>
          <a:xfrm>
            <a:off x="287300" y="310936"/>
            <a:ext cx="11141212"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900" b="1"/>
              <a:t>Il Meter </a:t>
            </a:r>
            <a:r>
              <a:rPr lang="it-IT" sz="900" b="1" err="1"/>
              <a:t>Profile</a:t>
            </a:r>
            <a:r>
              <a:rPr lang="it-IT" sz="900" b="1"/>
              <a:t> trasforma una semplice serie di misure elettriche in una rappresentazione del comportamento dell’impianto. </a:t>
            </a:r>
            <a:endParaRPr lang="it-IT" sz="900"/>
          </a:p>
        </p:txBody>
      </p:sp>
      <p:pic>
        <p:nvPicPr>
          <p:cNvPr id="8" name="Immagine 7">
            <a:extLst>
              <a:ext uri="{FF2B5EF4-FFF2-40B4-BE49-F238E27FC236}">
                <a16:creationId xmlns:a16="http://schemas.microsoft.com/office/drawing/2014/main" id="{F59C445D-5E27-509B-3962-7CEA3B29119C}"/>
              </a:ext>
            </a:extLst>
          </p:cNvPr>
          <p:cNvPicPr>
            <a:picLocks noChangeAspect="1"/>
          </p:cNvPicPr>
          <p:nvPr/>
        </p:nvPicPr>
        <p:blipFill>
          <a:blip r:embed="rId2"/>
          <a:stretch>
            <a:fillRect/>
          </a:stretch>
        </p:blipFill>
        <p:spPr>
          <a:xfrm>
            <a:off x="6542213" y="1071724"/>
            <a:ext cx="4570442" cy="2846138"/>
          </a:xfrm>
          <a:prstGeom prst="rect">
            <a:avLst/>
          </a:prstGeom>
        </p:spPr>
      </p:pic>
    </p:spTree>
    <p:extLst>
      <p:ext uri="{BB962C8B-B14F-4D97-AF65-F5344CB8AC3E}">
        <p14:creationId xmlns:p14="http://schemas.microsoft.com/office/powerpoint/2010/main" val="322506447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0DEA-5585-84A3-E3AD-A52D28907D2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88C0676-7214-00EB-9085-0D03D35173C2}"/>
              </a:ext>
            </a:extLst>
          </p:cNvPr>
          <p:cNvSpPr>
            <a:spLocks noGrp="1"/>
          </p:cNvSpPr>
          <p:nvPr>
            <p:ph type="title"/>
          </p:nvPr>
        </p:nvSpPr>
        <p:spPr>
          <a:xfrm>
            <a:off x="284125" y="265794"/>
            <a:ext cx="3550077" cy="569140"/>
          </a:xfrm>
        </p:spPr>
        <p:txBody>
          <a:bodyPr>
            <a:normAutofit/>
          </a:bodyPr>
          <a:lstStyle/>
          <a:p>
            <a:r>
              <a:rPr lang="it-IT" dirty="0"/>
              <a:t>Consumption Profile – I driver dell'andamento dei consumi</a:t>
            </a:r>
            <a:endParaRPr lang="it-IT"/>
          </a:p>
        </p:txBody>
      </p:sp>
      <p:sp>
        <p:nvSpPr>
          <p:cNvPr id="8" name="Text Placeholder 7">
            <a:extLst>
              <a:ext uri="{FF2B5EF4-FFF2-40B4-BE49-F238E27FC236}">
                <a16:creationId xmlns:a16="http://schemas.microsoft.com/office/drawing/2014/main" id="{0159495F-64E7-128B-5D9B-CAA56322728F}"/>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Rispetto alla dashboard Profile, questa vista aggiunge un riepilogo dei consumi e delle informazioni di profilo.</a:t>
            </a:r>
          </a:p>
          <a:p>
            <a:pPr>
              <a:spcAft>
                <a:spcPts val="300"/>
              </a:spcAft>
            </a:pPr>
            <a:r>
              <a:rPr lang="it-IT" dirty="0"/>
              <a:t>Il caso d'uso principale è l'analisi dei driver che spiegano l'andamento dei consumi.</a:t>
            </a:r>
            <a:endParaRPr lang="it-IT"/>
          </a:p>
          <a:p>
            <a:pPr>
              <a:spcAft>
                <a:spcPts val="300"/>
              </a:spcAft>
            </a:pPr>
            <a:r>
              <a:rPr lang="it-IT" dirty="0"/>
              <a:t>Il codice colore evidenzia le giornate di massima domanda, mettendo in relazione i picchi con gli eventi operativi.</a:t>
            </a:r>
          </a:p>
        </p:txBody>
      </p:sp>
      <p:sp>
        <p:nvSpPr>
          <p:cNvPr id="15" name="Footer Placeholder 4">
            <a:extLst>
              <a:ext uri="{FF2B5EF4-FFF2-40B4-BE49-F238E27FC236}">
                <a16:creationId xmlns:a16="http://schemas.microsoft.com/office/drawing/2014/main" id="{13237F9C-2C16-9D15-E54F-05AF5DBC1F7C}"/>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03263B54-4B35-4146-8DC1-861C01894058}"/>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16</a:t>
            </a:fld>
            <a:endParaRPr lang="en-US"/>
          </a:p>
        </p:txBody>
      </p:sp>
      <p:pic>
        <p:nvPicPr>
          <p:cNvPr id="3" name="Picture 2">
            <a:extLst>
              <a:ext uri="{FF2B5EF4-FFF2-40B4-BE49-F238E27FC236}">
                <a16:creationId xmlns:a16="http://schemas.microsoft.com/office/drawing/2014/main" id="{685985C6-924C-809B-1B12-4F9A191DFBA2}"/>
              </a:ext>
            </a:extLst>
          </p:cNvPr>
          <p:cNvPicPr>
            <a:picLocks noChangeAspect="1"/>
          </p:cNvPicPr>
          <p:nvPr/>
        </p:nvPicPr>
        <p:blipFill>
          <a:blip r:embed="rId3"/>
          <a:stretch>
            <a:fillRect/>
          </a:stretch>
        </p:blipFill>
        <p:spPr>
          <a:xfrm>
            <a:off x="3698390" y="977790"/>
            <a:ext cx="8293085" cy="4775007"/>
          </a:xfrm>
          <a:prstGeom prst="rect">
            <a:avLst/>
          </a:prstGeom>
        </p:spPr>
      </p:pic>
      <p:sp>
        <p:nvSpPr>
          <p:cNvPr id="4" name="CasellaDiTesto 3">
            <a:extLst>
              <a:ext uri="{FF2B5EF4-FFF2-40B4-BE49-F238E27FC236}">
                <a16:creationId xmlns:a16="http://schemas.microsoft.com/office/drawing/2014/main" id="{46C0F5F3-2B1B-DF78-3C80-332D0A2D63D0}"/>
              </a:ext>
            </a:extLst>
          </p:cNvPr>
          <p:cNvSpPr txBox="1"/>
          <p:nvPr/>
        </p:nvSpPr>
        <p:spPr>
          <a:xfrm>
            <a:off x="3834202" y="5740001"/>
            <a:ext cx="6097664"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p:txBody>
      </p:sp>
    </p:spTree>
    <p:extLst>
      <p:ext uri="{BB962C8B-B14F-4D97-AF65-F5344CB8AC3E}">
        <p14:creationId xmlns:p14="http://schemas.microsoft.com/office/powerpoint/2010/main" val="98094176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D95C3-8A83-3319-DB98-0A6D54682A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6F329CC-AC9E-3F5B-27B6-BF4B676DCB94}"/>
              </a:ext>
            </a:extLst>
          </p:cNvPr>
          <p:cNvSpPr>
            <a:spLocks noGrp="1"/>
          </p:cNvSpPr>
          <p:nvPr>
            <p:ph type="title"/>
          </p:nvPr>
        </p:nvSpPr>
        <p:spPr>
          <a:xfrm>
            <a:off x="284125" y="265794"/>
            <a:ext cx="3550077" cy="569140"/>
          </a:xfrm>
        </p:spPr>
        <p:txBody>
          <a:bodyPr>
            <a:normAutofit/>
          </a:bodyPr>
          <a:lstStyle/>
          <a:p>
            <a:r>
              <a:rPr lang="it-IT" dirty="0"/>
              <a:t>Profile Comparison – Giornate a confronto</a:t>
            </a:r>
            <a:endParaRPr lang="it-IT"/>
          </a:p>
        </p:txBody>
      </p:sp>
      <p:sp>
        <p:nvSpPr>
          <p:cNvPr id="8" name="Text Placeholder 7">
            <a:extLst>
              <a:ext uri="{FF2B5EF4-FFF2-40B4-BE49-F238E27FC236}">
                <a16:creationId xmlns:a16="http://schemas.microsoft.com/office/drawing/2014/main" id="{044E8B1D-4971-EDB4-081F-19F7179B55EB}"/>
              </a:ext>
            </a:extLst>
          </p:cNvPr>
          <p:cNvSpPr>
            <a:spLocks noGrp="1"/>
          </p:cNvSpPr>
          <p:nvPr>
            <p:ph type="body" sz="quarter" idx="12"/>
          </p:nvPr>
        </p:nvSpPr>
        <p:spPr>
          <a:xfrm>
            <a:off x="287999" y="1837028"/>
            <a:ext cx="2477765" cy="4163387"/>
          </a:xfrm>
        </p:spPr>
        <p:txBody>
          <a:bodyPr>
            <a:normAutofit lnSpcReduction="10000"/>
          </a:bodyPr>
          <a:lstStyle/>
          <a:p>
            <a:pPr>
              <a:spcAft>
                <a:spcPts val="300"/>
              </a:spcAft>
            </a:pPr>
            <a:r>
              <a:rPr lang="it-IT" dirty="0"/>
              <a:t>Determina se un consumo anomalo è un evento isolato o un pattern ricorrente.</a:t>
            </a:r>
          </a:p>
          <a:p>
            <a:pPr>
              <a:spcAft>
                <a:spcPts val="300"/>
              </a:spcAft>
            </a:pPr>
            <a:r>
              <a:rPr lang="it-IT" dirty="0"/>
              <a:t>Scenario: il Building Manager confronta il profilo di una giornata con quello di giornate simili.</a:t>
            </a:r>
          </a:p>
          <a:p>
            <a:pPr>
              <a:spcAft>
                <a:spcPts val="300"/>
              </a:spcAft>
            </a:pPr>
            <a:r>
              <a:rPr lang="it-IT" dirty="0"/>
              <a:t>Dal menù a tendina si scelgono i giorni della settimana da confrontare (ad es. i lunedì).</a:t>
            </a:r>
          </a:p>
          <a:p>
            <a:pPr>
              <a:spcAft>
                <a:spcPts val="300"/>
              </a:spcAft>
            </a:pPr>
            <a:r>
              <a:rPr lang="it-IT" dirty="0"/>
              <a:t>Si possono selezionare giornate con meteo simile, ad esempio sopra i 90 °F.</a:t>
            </a:r>
          </a:p>
          <a:p>
            <a:pPr>
              <a:spcAft>
                <a:spcPts val="300"/>
              </a:spcAft>
            </a:pPr>
            <a:r>
              <a:rPr lang="it-IT" dirty="0"/>
              <a:t>Selezionate le giornate, Generate Chart produce il confronto.</a:t>
            </a:r>
            <a:endParaRPr lang="it-IT"/>
          </a:p>
        </p:txBody>
      </p:sp>
      <p:sp>
        <p:nvSpPr>
          <p:cNvPr id="15" name="Footer Placeholder 4">
            <a:extLst>
              <a:ext uri="{FF2B5EF4-FFF2-40B4-BE49-F238E27FC236}">
                <a16:creationId xmlns:a16="http://schemas.microsoft.com/office/drawing/2014/main" id="{8068D465-E707-57F8-8CB7-863ED08FD0F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5C874515-147C-F451-CB72-6D1BC677BB5E}"/>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17</a:t>
            </a:fld>
            <a:endParaRPr lang="en-US"/>
          </a:p>
        </p:txBody>
      </p:sp>
      <p:pic>
        <p:nvPicPr>
          <p:cNvPr id="3" name="Picture 2">
            <a:extLst>
              <a:ext uri="{FF2B5EF4-FFF2-40B4-BE49-F238E27FC236}">
                <a16:creationId xmlns:a16="http://schemas.microsoft.com/office/drawing/2014/main" id="{5BA5BA15-D465-C764-F995-7460A6A0AA47}"/>
              </a:ext>
            </a:extLst>
          </p:cNvPr>
          <p:cNvPicPr>
            <a:picLocks noChangeAspect="1"/>
          </p:cNvPicPr>
          <p:nvPr/>
        </p:nvPicPr>
        <p:blipFill>
          <a:blip r:embed="rId3"/>
          <a:stretch>
            <a:fillRect/>
          </a:stretch>
        </p:blipFill>
        <p:spPr>
          <a:xfrm>
            <a:off x="3360567" y="265795"/>
            <a:ext cx="7363187" cy="6455875"/>
          </a:xfrm>
          <a:prstGeom prst="rect">
            <a:avLst/>
          </a:prstGeom>
        </p:spPr>
      </p:pic>
    </p:spTree>
    <p:extLst>
      <p:ext uri="{BB962C8B-B14F-4D97-AF65-F5344CB8AC3E}">
        <p14:creationId xmlns:p14="http://schemas.microsoft.com/office/powerpoint/2010/main" val="51405172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E9D8D-46BC-DE74-DA66-AAA1C08C04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2F6DD7D-ECD1-34EE-71E7-EF9309CC5E81}"/>
              </a:ext>
            </a:extLst>
          </p:cNvPr>
          <p:cNvSpPr>
            <a:spLocks noGrp="1"/>
          </p:cNvSpPr>
          <p:nvPr>
            <p:ph type="title"/>
          </p:nvPr>
        </p:nvSpPr>
        <p:spPr>
          <a:xfrm>
            <a:off x="284125" y="265794"/>
            <a:ext cx="3550077" cy="569140"/>
          </a:xfrm>
        </p:spPr>
        <p:txBody>
          <a:bodyPr>
            <a:normAutofit/>
          </a:bodyPr>
          <a:lstStyle/>
          <a:p>
            <a:r>
              <a:rPr lang="it-IT" dirty="0"/>
              <a:t>Maximum Demand – Controllo della potenza di picco</a:t>
            </a:r>
            <a:endParaRPr lang="it-IT"/>
          </a:p>
        </p:txBody>
      </p:sp>
      <p:sp>
        <p:nvSpPr>
          <p:cNvPr id="8" name="Text Placeholder 7">
            <a:extLst>
              <a:ext uri="{FF2B5EF4-FFF2-40B4-BE49-F238E27FC236}">
                <a16:creationId xmlns:a16="http://schemas.microsoft.com/office/drawing/2014/main" id="{4AE3075F-A220-C318-6C82-05A72B5D0624}"/>
              </a:ext>
            </a:extLst>
          </p:cNvPr>
          <p:cNvSpPr>
            <a:spLocks noGrp="1"/>
          </p:cNvSpPr>
          <p:nvPr>
            <p:ph type="body" sz="quarter" idx="12"/>
          </p:nvPr>
        </p:nvSpPr>
        <p:spPr>
          <a:xfrm>
            <a:off x="287999" y="1837028"/>
            <a:ext cx="2477765" cy="4163387"/>
          </a:xfrm>
        </p:spPr>
        <p:txBody>
          <a:bodyPr>
            <a:normAutofit fontScale="92500" lnSpcReduction="20000"/>
          </a:bodyPr>
          <a:lstStyle/>
          <a:p>
            <a:pPr>
              <a:spcAft>
                <a:spcPts val="300"/>
              </a:spcAft>
            </a:pPr>
            <a:r>
              <a:rPr lang="it-IT" dirty="0"/>
              <a:t>La dashboard è supportata solo per i contatori elettrici; la massima domanda si imposta nelle meter settings.</a:t>
            </a:r>
          </a:p>
          <a:p>
            <a:pPr>
              <a:spcAft>
                <a:spcPts val="300"/>
              </a:spcAft>
            </a:pPr>
            <a:r>
              <a:rPr lang="it-IT" dirty="0"/>
              <a:t>Mostra gli eventi di massima domanda insieme alla linea di capacità contrattuale, per monitorare i rischi di superamento.</a:t>
            </a:r>
          </a:p>
          <a:p>
            <a:pPr>
              <a:spcAft>
                <a:spcPts val="300"/>
              </a:spcAft>
            </a:pPr>
            <a:r>
              <a:rPr lang="it-IT" dirty="0"/>
              <a:t>Consente di ordinare gli eventi dal più alto al più basso e di ottimizzare i carichi nelle fasce a tariffa di picco.</a:t>
            </a:r>
          </a:p>
          <a:p>
            <a:pPr>
              <a:spcAft>
                <a:spcPts val="300"/>
              </a:spcAft>
            </a:pPr>
            <a:r>
              <a:rPr lang="it-IT" dirty="0"/>
              <a:t>Un evento di massima domanda è il valore massimo registrato (kVA) nella giornata; se il kVA non è rilevato viene mostrato il kW.</a:t>
            </a:r>
          </a:p>
        </p:txBody>
      </p:sp>
      <p:sp>
        <p:nvSpPr>
          <p:cNvPr id="15" name="Footer Placeholder 4">
            <a:extLst>
              <a:ext uri="{FF2B5EF4-FFF2-40B4-BE49-F238E27FC236}">
                <a16:creationId xmlns:a16="http://schemas.microsoft.com/office/drawing/2014/main" id="{D432B3F0-C8C9-D15E-AE50-2027D2411C36}"/>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C21E1264-5760-FB3A-384E-54605977347B}"/>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18</a:t>
            </a:fld>
            <a:endParaRPr lang="en-US"/>
          </a:p>
        </p:txBody>
      </p:sp>
      <p:pic>
        <p:nvPicPr>
          <p:cNvPr id="4" name="Picture 3">
            <a:extLst>
              <a:ext uri="{FF2B5EF4-FFF2-40B4-BE49-F238E27FC236}">
                <a16:creationId xmlns:a16="http://schemas.microsoft.com/office/drawing/2014/main" id="{58D9E7F1-4045-CFCD-E59B-3BC7AB29E8A4}"/>
              </a:ext>
            </a:extLst>
          </p:cNvPr>
          <p:cNvPicPr>
            <a:picLocks noChangeAspect="1"/>
          </p:cNvPicPr>
          <p:nvPr/>
        </p:nvPicPr>
        <p:blipFill>
          <a:blip r:embed="rId3"/>
          <a:stretch>
            <a:fillRect/>
          </a:stretch>
        </p:blipFill>
        <p:spPr>
          <a:xfrm>
            <a:off x="3912898" y="265795"/>
            <a:ext cx="6640623" cy="6294250"/>
          </a:xfrm>
          <a:prstGeom prst="rect">
            <a:avLst/>
          </a:prstGeom>
        </p:spPr>
      </p:pic>
    </p:spTree>
    <p:extLst>
      <p:ext uri="{BB962C8B-B14F-4D97-AF65-F5344CB8AC3E}">
        <p14:creationId xmlns:p14="http://schemas.microsoft.com/office/powerpoint/2010/main" val="110059639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12D7-57C2-272D-3368-CF25A9F1F2C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C565D66-1349-3DCC-F6B2-3A33FFAFB8FE}"/>
              </a:ext>
            </a:extLst>
          </p:cNvPr>
          <p:cNvSpPr>
            <a:spLocks noGrp="1"/>
          </p:cNvSpPr>
          <p:nvPr>
            <p:ph type="title"/>
          </p:nvPr>
        </p:nvSpPr>
        <p:spPr>
          <a:xfrm>
            <a:off x="284125" y="265794"/>
            <a:ext cx="3550077" cy="569140"/>
          </a:xfrm>
        </p:spPr>
        <p:txBody>
          <a:bodyPr>
            <a:normAutofit/>
          </a:bodyPr>
          <a:lstStyle/>
          <a:p>
            <a:r>
              <a:rPr lang="it-IT" dirty="0"/>
              <a:t>Daily Performance – Consumi giornalieri e condizioni meteo</a:t>
            </a:r>
            <a:endParaRPr lang="it-IT"/>
          </a:p>
        </p:txBody>
      </p:sp>
      <p:sp>
        <p:nvSpPr>
          <p:cNvPr id="8" name="Text Placeholder 7">
            <a:extLst>
              <a:ext uri="{FF2B5EF4-FFF2-40B4-BE49-F238E27FC236}">
                <a16:creationId xmlns:a16="http://schemas.microsoft.com/office/drawing/2014/main" id="{91256D1C-56B9-CB37-6EC3-A945F6AEBD0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Il consumo giornaliero è affiancato da temperatura media, minima e massima su asse secondario.</a:t>
            </a:r>
          </a:p>
          <a:p>
            <a:pPr>
              <a:spcAft>
                <a:spcPts val="300"/>
              </a:spcAft>
            </a:pPr>
            <a:r>
              <a:rPr lang="it-IT" dirty="0"/>
              <a:t>Questo permette di confrontare le performance in giornate con condizioni meteo simili.</a:t>
            </a:r>
          </a:p>
          <a:p>
            <a:pPr>
              <a:spcAft>
                <a:spcPts val="300"/>
              </a:spcAft>
            </a:pPr>
            <a:r>
              <a:rPr lang="it-IT" dirty="0"/>
              <a:t>Selezionando un singolo giorno nel time navigator la dashboard mostra i consumi ora per ora.</a:t>
            </a:r>
          </a:p>
          <a:p>
            <a:pPr>
              <a:spcAft>
                <a:spcPts val="300"/>
              </a:spcAft>
            </a:pPr>
            <a:r>
              <a:rPr lang="it-IT" dirty="0"/>
              <a:t>Sono supportati sia i dati elettrici sia quelli non elettrici.</a:t>
            </a:r>
            <a:endParaRPr lang="it-IT"/>
          </a:p>
        </p:txBody>
      </p:sp>
      <p:sp>
        <p:nvSpPr>
          <p:cNvPr id="15" name="Footer Placeholder 4">
            <a:extLst>
              <a:ext uri="{FF2B5EF4-FFF2-40B4-BE49-F238E27FC236}">
                <a16:creationId xmlns:a16="http://schemas.microsoft.com/office/drawing/2014/main" id="{6BB0FAB8-CD58-03E9-1DCE-D18C654303D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15F8ABFA-655A-1614-3A2F-9B5225920AB6}"/>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19</a:t>
            </a:fld>
            <a:endParaRPr lang="en-US"/>
          </a:p>
        </p:txBody>
      </p:sp>
      <p:pic>
        <p:nvPicPr>
          <p:cNvPr id="3" name="Picture 2">
            <a:extLst>
              <a:ext uri="{FF2B5EF4-FFF2-40B4-BE49-F238E27FC236}">
                <a16:creationId xmlns:a16="http://schemas.microsoft.com/office/drawing/2014/main" id="{AF0E9D2A-5492-BA15-4B0B-15EC09A49F68}"/>
              </a:ext>
            </a:extLst>
          </p:cNvPr>
          <p:cNvPicPr>
            <a:picLocks noChangeAspect="1"/>
          </p:cNvPicPr>
          <p:nvPr/>
        </p:nvPicPr>
        <p:blipFill>
          <a:blip r:embed="rId3"/>
          <a:stretch>
            <a:fillRect/>
          </a:stretch>
        </p:blipFill>
        <p:spPr>
          <a:xfrm>
            <a:off x="3771297" y="546844"/>
            <a:ext cx="8005150" cy="5120239"/>
          </a:xfrm>
          <a:prstGeom prst="rect">
            <a:avLst/>
          </a:prstGeom>
        </p:spPr>
      </p:pic>
      <p:sp>
        <p:nvSpPr>
          <p:cNvPr id="4" name="CasellaDiTesto 3">
            <a:extLst>
              <a:ext uri="{FF2B5EF4-FFF2-40B4-BE49-F238E27FC236}">
                <a16:creationId xmlns:a16="http://schemas.microsoft.com/office/drawing/2014/main" id="{C65F01F6-C347-9599-1E92-32021ADC7CD0}"/>
              </a:ext>
            </a:extLst>
          </p:cNvPr>
          <p:cNvSpPr txBox="1"/>
          <p:nvPr/>
        </p:nvSpPr>
        <p:spPr>
          <a:xfrm>
            <a:off x="3048832" y="2687756"/>
            <a:ext cx="6097664" cy="5078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it-IT" sz="900"/>
          </a:p>
        </p:txBody>
      </p:sp>
    </p:spTree>
    <p:extLst>
      <p:ext uri="{BB962C8B-B14F-4D97-AF65-F5344CB8AC3E}">
        <p14:creationId xmlns:p14="http://schemas.microsoft.com/office/powerpoint/2010/main" val="407139057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82DCB-ECD2-9DE4-0F27-6E2E8E76A64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3CD9D7-A0F5-E57D-33F5-E4B8F228E66E}"/>
              </a:ext>
            </a:extLst>
          </p:cNvPr>
          <p:cNvSpPr>
            <a:spLocks noGrp="1"/>
          </p:cNvSpPr>
          <p:nvPr>
            <p:ph type="title"/>
          </p:nvPr>
        </p:nvSpPr>
        <p:spPr>
          <a:xfrm>
            <a:off x="284125" y="265794"/>
            <a:ext cx="3550077" cy="569140"/>
          </a:xfrm>
        </p:spPr>
        <p:txBody>
          <a:bodyPr>
            <a:normAutofit/>
          </a:bodyPr>
          <a:lstStyle/>
          <a:p>
            <a:r>
              <a:rPr lang="en-US" dirty="0"/>
              <a:t>Meter Reporting – Heat Map</a:t>
            </a:r>
          </a:p>
        </p:txBody>
      </p:sp>
      <p:sp>
        <p:nvSpPr>
          <p:cNvPr id="8" name="Text Placeholder 7">
            <a:extLst>
              <a:ext uri="{FF2B5EF4-FFF2-40B4-BE49-F238E27FC236}">
                <a16:creationId xmlns:a16="http://schemas.microsoft.com/office/drawing/2014/main" id="{DC2270F1-FF88-FCD3-A404-61EF7DC06D61}"/>
              </a:ext>
            </a:extLst>
          </p:cNvPr>
          <p:cNvSpPr>
            <a:spLocks noGrp="1"/>
          </p:cNvSpPr>
          <p:nvPr>
            <p:ph type="body" sz="quarter" idx="12"/>
          </p:nvPr>
        </p:nvSpPr>
        <p:spPr>
          <a:xfrm>
            <a:off x="287999" y="1837028"/>
            <a:ext cx="2477765" cy="4163387"/>
          </a:xfrm>
        </p:spPr>
        <p:txBody>
          <a:bodyPr>
            <a:normAutofit lnSpcReduction="10000"/>
          </a:bodyPr>
          <a:lstStyle/>
          <a:p>
            <a:pPr>
              <a:spcAft>
                <a:spcPts val="300"/>
              </a:spcAft>
            </a:pPr>
            <a:r>
              <a:rPr lang="it-IT" dirty="0"/>
              <a:t>Persona: Building Engineer o Portfolio Analyst.</a:t>
            </a:r>
          </a:p>
          <a:p>
            <a:pPr>
              <a:spcAft>
                <a:spcPts val="300"/>
              </a:spcAft>
            </a:pPr>
            <a:r>
              <a:rPr lang="it-IT" dirty="0"/>
              <a:t>La Heat Map visualizza fino a 3 mesi di dati a intervalli in un'unica matrice ore/giorni.</a:t>
            </a:r>
          </a:p>
          <a:p>
            <a:pPr>
              <a:spcAft>
                <a:spcPts val="300"/>
              </a:spcAft>
            </a:pPr>
            <a:r>
              <a:rPr lang="it-IT" dirty="0"/>
              <a:t>Ogni cella rappresenta il consumo di una determinata ora in un dato giorno: più il colore è scuro, maggiore è il consumo.</a:t>
            </a:r>
          </a:p>
          <a:p>
            <a:pPr>
              <a:spcAft>
                <a:spcPts val="300"/>
              </a:spcAft>
            </a:pPr>
            <a:r>
              <a:rPr lang="it-IT" dirty="0"/>
              <a:t>Scorrendo la mappa si analizzano fino a tre mesi di consumi e si individuano pattern ricorrenti e carichi fuori orario.</a:t>
            </a:r>
            <a:endParaRPr lang="it-IT"/>
          </a:p>
        </p:txBody>
      </p:sp>
      <p:sp>
        <p:nvSpPr>
          <p:cNvPr id="15" name="Footer Placeholder 4">
            <a:extLst>
              <a:ext uri="{FF2B5EF4-FFF2-40B4-BE49-F238E27FC236}">
                <a16:creationId xmlns:a16="http://schemas.microsoft.com/office/drawing/2014/main" id="{719C2223-D792-EDF6-2143-00D3E801B75C}"/>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676C20D6-AF25-123B-3E0E-F58F2371DE2F}"/>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20</a:t>
            </a:fld>
            <a:endParaRPr lang="en-US"/>
          </a:p>
        </p:txBody>
      </p:sp>
      <p:pic>
        <p:nvPicPr>
          <p:cNvPr id="3" name="Picture 2">
            <a:extLst>
              <a:ext uri="{FF2B5EF4-FFF2-40B4-BE49-F238E27FC236}">
                <a16:creationId xmlns:a16="http://schemas.microsoft.com/office/drawing/2014/main" id="{2F33B455-E495-F5BC-4E84-72AB3DA2D2B7}"/>
              </a:ext>
            </a:extLst>
          </p:cNvPr>
          <p:cNvPicPr>
            <a:picLocks noChangeAspect="1"/>
          </p:cNvPicPr>
          <p:nvPr/>
        </p:nvPicPr>
        <p:blipFill>
          <a:blip r:embed="rId3"/>
          <a:stretch>
            <a:fillRect/>
          </a:stretch>
        </p:blipFill>
        <p:spPr>
          <a:xfrm>
            <a:off x="3960566" y="954660"/>
            <a:ext cx="7229852" cy="4651052"/>
          </a:xfrm>
          <a:prstGeom prst="rect">
            <a:avLst/>
          </a:prstGeom>
        </p:spPr>
      </p:pic>
      <p:sp>
        <p:nvSpPr>
          <p:cNvPr id="4" name="CasellaDiTesto 3">
            <a:extLst>
              <a:ext uri="{FF2B5EF4-FFF2-40B4-BE49-F238E27FC236}">
                <a16:creationId xmlns:a16="http://schemas.microsoft.com/office/drawing/2014/main" id="{680C7517-F39D-E57E-20E9-84331FD85CD7}"/>
              </a:ext>
            </a:extLst>
          </p:cNvPr>
          <p:cNvSpPr txBox="1"/>
          <p:nvPr/>
        </p:nvSpPr>
        <p:spPr>
          <a:xfrm>
            <a:off x="586172" y="3097307"/>
            <a:ext cx="6097664" cy="146161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endParaRPr sz="900"/>
          </a:p>
          <a:p>
            <a:pPr defTabSz="1219017" fontAlgn="base">
              <a:spcBef>
                <a:spcPts val="800"/>
              </a:spcBef>
              <a:defRPr/>
            </a:pPr>
            <a:endParaRPr lang="en-US" sz="1333"/>
          </a:p>
          <a:p>
            <a:pPr defTabSz="1219017" fontAlgn="base">
              <a:spcBef>
                <a:spcPts val="800"/>
              </a:spcBef>
              <a:defRPr/>
            </a:pPr>
            <a:endParaRPr lang="en-US" sz="1333"/>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70934520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2C62F-A21F-2D20-6E02-A424D1A990F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D964D4F-F956-8597-9655-958559154FBD}"/>
              </a:ext>
            </a:extLst>
          </p:cNvPr>
          <p:cNvSpPr>
            <a:spLocks noGrp="1"/>
          </p:cNvSpPr>
          <p:nvPr>
            <p:ph type="title"/>
          </p:nvPr>
        </p:nvSpPr>
        <p:spPr>
          <a:xfrm>
            <a:off x="284125" y="265794"/>
            <a:ext cx="3550077" cy="569140"/>
          </a:xfrm>
        </p:spPr>
        <p:txBody>
          <a:bodyPr>
            <a:normAutofit/>
          </a:bodyPr>
          <a:lstStyle/>
          <a:p>
            <a:r>
              <a:rPr lang="it-IT" dirty="0"/>
              <a:t>Regression Analysis – Baseline dei consumi</a:t>
            </a:r>
            <a:endParaRPr lang="it-IT"/>
          </a:p>
        </p:txBody>
      </p:sp>
      <p:sp>
        <p:nvSpPr>
          <p:cNvPr id="8" name="Text Placeholder 7">
            <a:extLst>
              <a:ext uri="{FF2B5EF4-FFF2-40B4-BE49-F238E27FC236}">
                <a16:creationId xmlns:a16="http://schemas.microsoft.com/office/drawing/2014/main" id="{9AD37039-16B2-590E-B221-2BDD9C82719B}"/>
              </a:ext>
            </a:extLst>
          </p:cNvPr>
          <p:cNvSpPr>
            <a:spLocks noGrp="1"/>
          </p:cNvSpPr>
          <p:nvPr>
            <p:ph type="body" sz="quarter" idx="12"/>
          </p:nvPr>
        </p:nvSpPr>
        <p:spPr>
          <a:xfrm>
            <a:off x="287999" y="1837028"/>
            <a:ext cx="2477765" cy="4163387"/>
          </a:xfrm>
        </p:spPr>
        <p:txBody>
          <a:bodyPr>
            <a:normAutofit fontScale="92500" lnSpcReduction="10000"/>
          </a:bodyPr>
          <a:lstStyle/>
          <a:p>
            <a:pPr>
              <a:spcAft>
                <a:spcPts val="300"/>
              </a:spcAft>
            </a:pPr>
            <a:r>
              <a:rPr lang="it-IT" dirty="0"/>
              <a:t>Persona: Energy o Facility Manager.</a:t>
            </a:r>
          </a:p>
          <a:p>
            <a:pPr>
              <a:spcAft>
                <a:spcPts val="300"/>
              </a:spcAft>
            </a:pPr>
            <a:r>
              <a:rPr lang="it-IT" dirty="0"/>
              <a:t>Caso d'uso: baseline dei consumi rispetto ai carichi di riscaldamento e raffrescamento o ad altre metriche predittive.</a:t>
            </a:r>
          </a:p>
          <a:p>
            <a:pPr>
              <a:spcAft>
                <a:spcPts val="300"/>
              </a:spcAft>
            </a:pPr>
            <a:r>
              <a:rPr lang="it-IT" dirty="0"/>
              <a:t>Navigazione: contatore Demo Regression → Analyze → Regression analysis, periodo base 12 mesi (gen–nov 2024).</a:t>
            </a:r>
          </a:p>
          <a:p>
            <a:pPr>
              <a:spcAft>
                <a:spcPts val="300"/>
              </a:spcAft>
            </a:pPr>
            <a:r>
              <a:rPr lang="it-IT" dirty="0"/>
              <a:t>Il modello attivo traccia i risparmi delle iniziative successive; vale anche per gli account.</a:t>
            </a:r>
          </a:p>
          <a:p>
            <a:pPr>
              <a:spcAft>
                <a:spcPts val="300"/>
              </a:spcAft>
            </a:pPr>
            <a:r>
              <a:rPr lang="it-IT" dirty="0"/>
              <a:t>Con Auto Fit lo strumento propone la temperatura base ottimale.</a:t>
            </a:r>
            <a:endParaRPr lang="it-IT"/>
          </a:p>
        </p:txBody>
      </p:sp>
      <p:sp>
        <p:nvSpPr>
          <p:cNvPr id="15" name="Footer Placeholder 4">
            <a:extLst>
              <a:ext uri="{FF2B5EF4-FFF2-40B4-BE49-F238E27FC236}">
                <a16:creationId xmlns:a16="http://schemas.microsoft.com/office/drawing/2014/main" id="{1CFB7FBB-ACC0-3AFB-2D8B-16764F24D684}"/>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D1219470-0A34-2BBA-ECB9-745A7728D52F}"/>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21</a:t>
            </a:fld>
            <a:endParaRPr lang="en-US"/>
          </a:p>
        </p:txBody>
      </p:sp>
      <p:pic>
        <p:nvPicPr>
          <p:cNvPr id="3" name="Picture 2">
            <a:extLst>
              <a:ext uri="{FF2B5EF4-FFF2-40B4-BE49-F238E27FC236}">
                <a16:creationId xmlns:a16="http://schemas.microsoft.com/office/drawing/2014/main" id="{4E163004-C8DF-463A-F535-B80CD3309094}"/>
              </a:ext>
            </a:extLst>
          </p:cNvPr>
          <p:cNvPicPr>
            <a:picLocks noChangeAspect="1"/>
          </p:cNvPicPr>
          <p:nvPr/>
        </p:nvPicPr>
        <p:blipFill>
          <a:blip r:embed="rId3"/>
          <a:stretch>
            <a:fillRect/>
          </a:stretch>
        </p:blipFill>
        <p:spPr>
          <a:xfrm>
            <a:off x="4411996" y="550364"/>
            <a:ext cx="6349853" cy="6039852"/>
          </a:xfrm>
          <a:prstGeom prst="rect">
            <a:avLst/>
          </a:prstGeom>
        </p:spPr>
      </p:pic>
    </p:spTree>
    <p:extLst>
      <p:ext uri="{BB962C8B-B14F-4D97-AF65-F5344CB8AC3E}">
        <p14:creationId xmlns:p14="http://schemas.microsoft.com/office/powerpoint/2010/main" val="75675955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4EEABD29-60DD-6EB6-7F6D-412F27A15C5C}"/>
              </a:ext>
            </a:extLst>
          </p:cNvPr>
          <p:cNvSpPr txBox="1"/>
          <p:nvPr/>
        </p:nvSpPr>
        <p:spPr>
          <a:xfrm>
            <a:off x="943774" y="531319"/>
            <a:ext cx="10573217" cy="221547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r>
              <a:rPr lang="en-US" sz="900">
                <a:latin typeface="IBM Plex Sans Light" panose="020B0503050203000203" pitchFamily="34" charset="0"/>
              </a:rPr>
              <a:t>Caso </a:t>
            </a:r>
            <a:r>
              <a:rPr lang="en-US" sz="900" err="1">
                <a:latin typeface="IBM Plex Sans Light" panose="020B0503050203000203" pitchFamily="34" charset="0"/>
              </a:rPr>
              <a:t>d'uso</a:t>
            </a:r>
            <a:r>
              <a:rPr lang="en-US" sz="900">
                <a:latin typeface="IBM Plex Sans Light" panose="020B0503050203000203" pitchFamily="34" charset="0"/>
              </a:rPr>
              <a:t>: </a:t>
            </a:r>
            <a:r>
              <a:rPr lang="en-US" sz="900" err="1">
                <a:latin typeface="IBM Plex Sans Light" panose="020B0503050203000203" pitchFamily="34" charset="0"/>
              </a:rPr>
              <a:t>utilizzare</a:t>
            </a:r>
            <a:r>
              <a:rPr lang="en-US" sz="900">
                <a:latin typeface="IBM Plex Sans Light" panose="020B0503050203000203" pitchFamily="34" charset="0"/>
              </a:rPr>
              <a:t> lo </a:t>
            </a:r>
            <a:r>
              <a:rPr lang="en-US" sz="900" err="1">
                <a:latin typeface="IBM Plex Sans Light" panose="020B0503050203000203" pitchFamily="34" charset="0"/>
              </a:rPr>
              <a:t>strumento</a:t>
            </a:r>
            <a:r>
              <a:rPr lang="en-US" sz="900">
                <a:latin typeface="IBM Plex Sans Light" panose="020B0503050203000203" pitchFamily="34" charset="0"/>
              </a:rPr>
              <a:t> di </a:t>
            </a:r>
            <a:r>
              <a:rPr lang="en-US" sz="900" err="1">
                <a:latin typeface="IBM Plex Sans Light" panose="020B0503050203000203" pitchFamily="34" charset="0"/>
              </a:rPr>
              <a:t>analisi</a:t>
            </a:r>
            <a:r>
              <a:rPr lang="en-US" sz="900">
                <a:latin typeface="IBM Plex Sans Light" panose="020B0503050203000203" pitchFamily="34" charset="0"/>
              </a:rPr>
              <a:t> di </a:t>
            </a:r>
            <a:r>
              <a:rPr lang="en-US" sz="900" err="1">
                <a:latin typeface="IBM Plex Sans Light" panose="020B0503050203000203" pitchFamily="34" charset="0"/>
              </a:rPr>
              <a:t>regressione</a:t>
            </a:r>
            <a:r>
              <a:rPr lang="en-US" sz="900">
                <a:latin typeface="IBM Plex Sans Light" panose="020B0503050203000203" pitchFamily="34" charset="0"/>
              </a:rPr>
              <a:t> di </a:t>
            </a:r>
            <a:r>
              <a:rPr lang="en-US" sz="900" err="1">
                <a:latin typeface="IBM Plex Sans Light" panose="020B0503050203000203" pitchFamily="34" charset="0"/>
              </a:rPr>
              <a:t>Envizi</a:t>
            </a:r>
            <a:r>
              <a:rPr lang="en-US" sz="900">
                <a:latin typeface="IBM Plex Sans Light" panose="020B0503050203000203" pitchFamily="34" charset="0"/>
              </a:rPr>
              <a:t> per </a:t>
            </a:r>
            <a:r>
              <a:rPr lang="en-US" sz="900" err="1">
                <a:latin typeface="IBM Plex Sans Light" panose="020B0503050203000203" pitchFamily="34" charset="0"/>
              </a:rPr>
              <a:t>costruire</a:t>
            </a:r>
            <a:r>
              <a:rPr lang="en-US" sz="900">
                <a:latin typeface="IBM Plex Sans Light" panose="020B0503050203000203" pitchFamily="34" charset="0"/>
              </a:rPr>
              <a:t> il </a:t>
            </a:r>
            <a:r>
              <a:rPr lang="en-US" sz="900" err="1">
                <a:latin typeface="IBM Plex Sans Light" panose="020B0503050203000203" pitchFamily="34" charset="0"/>
              </a:rPr>
              <a:t>modello</a:t>
            </a:r>
            <a:r>
              <a:rPr lang="en-US" sz="900">
                <a:latin typeface="IBM Plex Sans Light" panose="020B0503050203000203" pitchFamily="34" charset="0"/>
              </a:rPr>
              <a:t> di baseline </a:t>
            </a:r>
            <a:r>
              <a:rPr lang="en-US" sz="900" err="1">
                <a:latin typeface="IBM Plex Sans Light" panose="020B0503050203000203" pitchFamily="34" charset="0"/>
              </a:rPr>
              <a:t>dei</a:t>
            </a:r>
            <a:r>
              <a:rPr lang="en-US" sz="900">
                <a:latin typeface="IBM Plex Sans Light" panose="020B0503050203000203" pitchFamily="34" charset="0"/>
              </a:rPr>
              <a:t> </a:t>
            </a:r>
            <a:r>
              <a:rPr lang="en-US" sz="900" err="1">
                <a:latin typeface="IBM Plex Sans Light" panose="020B0503050203000203" pitchFamily="34" charset="0"/>
              </a:rPr>
              <a:t>consumi</a:t>
            </a:r>
            <a:r>
              <a:rPr lang="en-US" sz="900">
                <a:latin typeface="IBM Plex Sans Light" panose="020B0503050203000203" pitchFamily="34" charset="0"/>
              </a:rPr>
              <a:t> rispetto ai </a:t>
            </a:r>
            <a:r>
              <a:rPr lang="en-US" sz="900" err="1">
                <a:latin typeface="IBM Plex Sans Light" panose="020B0503050203000203" pitchFamily="34" charset="0"/>
              </a:rPr>
              <a:t>carichi</a:t>
            </a:r>
            <a:r>
              <a:rPr lang="en-US" sz="900">
                <a:latin typeface="IBM Plex Sans Light" panose="020B0503050203000203" pitchFamily="34" charset="0"/>
              </a:rPr>
              <a:t> di </a:t>
            </a:r>
            <a:r>
              <a:rPr lang="en-US" sz="900" err="1">
                <a:latin typeface="IBM Plex Sans Light" panose="020B0503050203000203" pitchFamily="34" charset="0"/>
              </a:rPr>
              <a:t>riscaldamento</a:t>
            </a:r>
            <a:r>
              <a:rPr lang="en-US" sz="900">
                <a:latin typeface="IBM Plex Sans Light" panose="020B0503050203000203" pitchFamily="34" charset="0"/>
              </a:rPr>
              <a:t> e </a:t>
            </a:r>
            <a:r>
              <a:rPr lang="en-US" sz="900" err="1">
                <a:latin typeface="IBM Plex Sans Light" panose="020B0503050203000203" pitchFamily="34" charset="0"/>
              </a:rPr>
              <a:t>raffrescamento</a:t>
            </a:r>
            <a:r>
              <a:rPr lang="en-US" sz="900">
                <a:latin typeface="IBM Plex Sans Light" panose="020B0503050203000203" pitchFamily="34" charset="0"/>
              </a:rPr>
              <a:t> o ad </a:t>
            </a:r>
            <a:r>
              <a:rPr lang="en-US" sz="900" err="1">
                <a:latin typeface="IBM Plex Sans Light" panose="020B0503050203000203" pitchFamily="34" charset="0"/>
              </a:rPr>
              <a:t>altre</a:t>
            </a:r>
            <a:r>
              <a:rPr lang="en-US" sz="900">
                <a:latin typeface="IBM Plex Sans Light" panose="020B0503050203000203" pitchFamily="34" charset="0"/>
              </a:rPr>
              <a:t> </a:t>
            </a:r>
            <a:r>
              <a:rPr lang="en-US" sz="900" err="1">
                <a:latin typeface="IBM Plex Sans Light" panose="020B0503050203000203" pitchFamily="34" charset="0"/>
              </a:rPr>
              <a:t>metriche</a:t>
            </a:r>
            <a:r>
              <a:rPr lang="en-US" sz="900">
                <a:latin typeface="IBM Plex Sans Light" panose="020B0503050203000203" pitchFamily="34" charset="0"/>
              </a:rPr>
              <a:t> di performance </a:t>
            </a:r>
            <a:r>
              <a:rPr lang="en-US" sz="900" err="1">
                <a:latin typeface="IBM Plex Sans Light" panose="020B0503050203000203" pitchFamily="34" charset="0"/>
              </a:rPr>
              <a:t>predittive</a:t>
            </a:r>
            <a:r>
              <a:rPr lang="en-US" sz="900">
                <a:latin typeface="IBM Plex Sans Light" panose="020B0503050203000203" pitchFamily="34" charset="0"/>
              </a:rPr>
              <a:t> del </a:t>
            </a:r>
            <a:r>
              <a:rPr lang="en-US" sz="900" err="1">
                <a:latin typeface="IBM Plex Sans Light" panose="020B0503050203000203" pitchFamily="34" charset="0"/>
              </a:rPr>
              <a:t>consumo</a:t>
            </a:r>
            <a:r>
              <a:rPr lang="en-US" sz="900">
                <a:latin typeface="IBM Plex Sans Light" panose="020B0503050203000203" pitchFamily="34" charset="0"/>
              </a:rPr>
              <a:t>.</a:t>
            </a:r>
          </a:p>
          <a:p>
            <a:pPr defTabSz="1219017" fontAlgn="base">
              <a:spcBef>
                <a:spcPts val="800"/>
              </a:spcBef>
              <a:defRPr/>
            </a:pPr>
            <a:endParaRPr lang="en-US" sz="1333">
              <a:latin typeface="IBM Plex Sans Light" panose="020B0503050203000203" pitchFamily="34" charset="0"/>
            </a:endParaRPr>
          </a:p>
          <a:p>
            <a:pPr defTabSz="1219017" fontAlgn="base">
              <a:spcBef>
                <a:spcPts val="800"/>
              </a:spcBef>
              <a:defRPr/>
            </a:pPr>
            <a:r>
              <a:rPr lang="en-US" sz="1333"/>
              <a:t>CDD base temperature: </a:t>
            </a:r>
            <a:r>
              <a:rPr lang="en-US" sz="1333" err="1"/>
              <a:t>è</a:t>
            </a:r>
            <a:r>
              <a:rPr lang="en-US" sz="1333"/>
              <a:t> la </a:t>
            </a:r>
            <a:r>
              <a:rPr lang="en-US" sz="1333" err="1"/>
              <a:t>temperatura</a:t>
            </a:r>
            <a:r>
              <a:rPr lang="en-US" sz="1333"/>
              <a:t> </a:t>
            </a:r>
            <a:r>
              <a:rPr lang="en-US" sz="1333" err="1"/>
              <a:t>oltre</a:t>
            </a:r>
            <a:r>
              <a:rPr lang="en-US" sz="1333"/>
              <a:t> la quale </a:t>
            </a:r>
            <a:r>
              <a:rPr lang="en-US" sz="1333" err="1"/>
              <a:t>l'edificio</a:t>
            </a:r>
            <a:r>
              <a:rPr lang="en-US" sz="1333"/>
              <a:t> </a:t>
            </a:r>
            <a:r>
              <a:rPr lang="en-US" sz="1333" err="1"/>
              <a:t>deve</a:t>
            </a:r>
            <a:r>
              <a:rPr lang="en-US" sz="1333"/>
              <a:t> </a:t>
            </a:r>
            <a:r>
              <a:rPr lang="en-US" sz="1333" err="1"/>
              <a:t>essere</a:t>
            </a:r>
            <a:r>
              <a:rPr lang="en-US" sz="1333"/>
              <a:t> </a:t>
            </a:r>
            <a:r>
              <a:rPr lang="en-US" sz="1333" err="1"/>
              <a:t>raffrescato</a:t>
            </a:r>
            <a:r>
              <a:rPr lang="en-US" sz="1333"/>
              <a:t>. La CDD base temperature </a:t>
            </a:r>
            <a:r>
              <a:rPr lang="en-US" sz="1333" err="1"/>
              <a:t>viene</a:t>
            </a:r>
            <a:r>
              <a:rPr lang="en-US" sz="1333"/>
              <a:t> </a:t>
            </a:r>
            <a:r>
              <a:rPr lang="en-US" sz="1333" err="1"/>
              <a:t>impostata</a:t>
            </a:r>
            <a:r>
              <a:rPr lang="en-US" sz="1333"/>
              <a:t> in modo </a:t>
            </a:r>
            <a:r>
              <a:rPr lang="en-US" sz="1333" err="1"/>
              <a:t>specifico</a:t>
            </a:r>
            <a:r>
              <a:rPr lang="en-US" sz="1333"/>
              <a:t> per ogni </a:t>
            </a:r>
            <a:r>
              <a:rPr lang="en-US" sz="1333" err="1"/>
              <a:t>edificio</a:t>
            </a:r>
            <a:r>
              <a:rPr lang="en-US" sz="1333"/>
              <a:t>, ma in </a:t>
            </a:r>
            <a:r>
              <a:rPr lang="en-US" sz="1333" err="1"/>
              <a:t>alcuni</a:t>
            </a:r>
            <a:r>
              <a:rPr lang="en-US" sz="1333"/>
              <a:t> </a:t>
            </a:r>
            <a:r>
              <a:rPr lang="en-US" sz="1333" err="1"/>
              <a:t>casi</a:t>
            </a:r>
            <a:r>
              <a:rPr lang="en-US" sz="1333"/>
              <a:t> </a:t>
            </a:r>
            <a:r>
              <a:rPr lang="en-US" sz="1333" err="1"/>
              <a:t>si</a:t>
            </a:r>
            <a:r>
              <a:rPr lang="en-US" sz="1333"/>
              <a:t> </a:t>
            </a:r>
            <a:r>
              <a:rPr lang="en-US" sz="1333" err="1"/>
              <a:t>possono</a:t>
            </a:r>
            <a:r>
              <a:rPr lang="en-US" sz="1333"/>
              <a:t> </a:t>
            </a:r>
            <a:r>
              <a:rPr lang="en-US" sz="1333" err="1"/>
              <a:t>usare</a:t>
            </a:r>
            <a:r>
              <a:rPr lang="en-US" sz="1333"/>
              <a:t> </a:t>
            </a:r>
            <a:r>
              <a:rPr lang="en-US" sz="1333" err="1"/>
              <a:t>valori</a:t>
            </a:r>
            <a:r>
              <a:rPr lang="en-US" sz="1333"/>
              <a:t> di default come 65 °F o 18 °C. Se la </a:t>
            </a:r>
            <a:r>
              <a:rPr lang="en-US" sz="1333" err="1"/>
              <a:t>temperatura</a:t>
            </a:r>
            <a:r>
              <a:rPr lang="en-US" sz="1333"/>
              <a:t> </a:t>
            </a:r>
            <a:r>
              <a:rPr lang="en-US" sz="1333" err="1"/>
              <a:t>supera</a:t>
            </a:r>
            <a:r>
              <a:rPr lang="en-US" sz="1333"/>
              <a:t> la base temperature, </a:t>
            </a:r>
            <a:r>
              <a:rPr lang="en-US" sz="1333" err="1"/>
              <a:t>l'edificio</a:t>
            </a:r>
            <a:r>
              <a:rPr lang="en-US" sz="1333"/>
              <a:t> </a:t>
            </a:r>
            <a:r>
              <a:rPr lang="en-US" sz="1333" err="1"/>
              <a:t>inizia</a:t>
            </a:r>
            <a:r>
              <a:rPr lang="en-US" sz="1333"/>
              <a:t> a </a:t>
            </a:r>
            <a:r>
              <a:rPr lang="en-US" sz="1333" err="1"/>
              <a:t>utilizzare</a:t>
            </a:r>
            <a:r>
              <a:rPr lang="en-US" sz="1333"/>
              <a:t> </a:t>
            </a:r>
            <a:r>
              <a:rPr lang="en-US" sz="1333" err="1"/>
              <a:t>gli</a:t>
            </a:r>
            <a:r>
              <a:rPr lang="en-US" sz="1333"/>
              <a:t> </a:t>
            </a:r>
            <a:r>
              <a:rPr lang="en-US" sz="1333" err="1"/>
              <a:t>impianti</a:t>
            </a:r>
            <a:r>
              <a:rPr lang="en-US" sz="1333"/>
              <a:t> HVAC per </a:t>
            </a:r>
            <a:r>
              <a:rPr lang="en-US" sz="1333" err="1"/>
              <a:t>raffrescarsi</a:t>
            </a:r>
            <a:r>
              <a:rPr lang="en-US" sz="1333"/>
              <a:t>. Per far </a:t>
            </a:r>
            <a:r>
              <a:rPr lang="en-US" sz="1333" err="1"/>
              <a:t>suggerire</a:t>
            </a:r>
            <a:r>
              <a:rPr lang="en-US" sz="1333"/>
              <a:t> </a:t>
            </a:r>
            <a:r>
              <a:rPr lang="en-US" sz="1333" err="1"/>
              <a:t>allo</a:t>
            </a:r>
            <a:r>
              <a:rPr lang="en-US" sz="1333"/>
              <a:t> </a:t>
            </a:r>
            <a:r>
              <a:rPr lang="en-US" sz="1333" err="1"/>
              <a:t>strumento</a:t>
            </a:r>
            <a:r>
              <a:rPr lang="en-US" sz="1333"/>
              <a:t> </a:t>
            </a:r>
            <a:r>
              <a:rPr lang="en-US" sz="1333" err="1"/>
              <a:t>una</a:t>
            </a:r>
            <a:r>
              <a:rPr lang="en-US" sz="1333"/>
              <a:t> base temperature </a:t>
            </a:r>
            <a:r>
              <a:rPr lang="en-US" sz="1333" err="1"/>
              <a:t>ottimale</a:t>
            </a:r>
            <a:r>
              <a:rPr lang="en-US" sz="1333"/>
              <a:t>, </a:t>
            </a:r>
            <a:r>
              <a:rPr lang="en-US" sz="1333" err="1"/>
              <a:t>nel</a:t>
            </a:r>
            <a:r>
              <a:rPr lang="en-US" sz="1333"/>
              <a:t> Proposed Model </a:t>
            </a:r>
            <a:r>
              <a:rPr lang="en-US" sz="1333" err="1"/>
              <a:t>selezionare</a:t>
            </a:r>
            <a:r>
              <a:rPr lang="en-US" sz="1333"/>
              <a:t> </a:t>
            </a:r>
            <a:r>
              <a:rPr lang="en-US" sz="1333" err="1"/>
              <a:t>l'opzione</a:t>
            </a:r>
            <a:r>
              <a:rPr lang="en-US" sz="1333"/>
              <a:t> Auto Fit.</a:t>
            </a:r>
          </a:p>
          <a:p>
            <a:pPr fontAlgn="base"/>
            <a:endParaRPr lang="en-US" sz="1333">
              <a:latin typeface="IBM Plex Sans Light" panose="020B0503050203000203" pitchFamily="34" charset="0"/>
            </a:endParaRPr>
          </a:p>
          <a:p>
            <a:pPr fontAlgn="base"/>
            <a:r>
              <a:rPr lang="en-US" sz="1333">
                <a:latin typeface="IBM Plex Sans Light" panose="020B0503050203000203" pitchFamily="34" charset="0"/>
                <a:hlinkClick r:id="rId2"/>
              </a:rPr>
              <a:t>https://www.ibm.com/docs/en/envizi-esg-suite?topic=monitoring-regression-analysis</a:t>
            </a:r>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412720450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3BB9C-B617-164D-46EC-0F13C96BA17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148689A-88CC-5CDF-2321-2D73783B12C4}"/>
              </a:ext>
            </a:extLst>
          </p:cNvPr>
          <p:cNvSpPr>
            <a:spLocks noGrp="1"/>
          </p:cNvSpPr>
          <p:nvPr>
            <p:ph type="title"/>
          </p:nvPr>
        </p:nvSpPr>
        <p:spPr>
          <a:xfrm>
            <a:off x="284125" y="265794"/>
            <a:ext cx="3550077" cy="569140"/>
          </a:xfrm>
        </p:spPr>
        <p:txBody>
          <a:bodyPr>
            <a:normAutofit/>
          </a:bodyPr>
          <a:lstStyle/>
          <a:p>
            <a:r>
              <a:rPr lang="it-IT" dirty="0"/>
              <a:t>Waste Report – Scostamento rispetto alla baseline</a:t>
            </a:r>
            <a:endParaRPr lang="it-IT"/>
          </a:p>
        </p:txBody>
      </p:sp>
      <p:sp>
        <p:nvSpPr>
          <p:cNvPr id="8" name="Text Placeholder 7">
            <a:extLst>
              <a:ext uri="{FF2B5EF4-FFF2-40B4-BE49-F238E27FC236}">
                <a16:creationId xmlns:a16="http://schemas.microsoft.com/office/drawing/2014/main" id="{48F1F8AE-10D5-4DFE-1C80-DAE20BB0AC75}"/>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Caso d'uso: verificare il modello di regressione creato per un contatore e monitorare l'andamento delle iniziative rispetto ai consumi reali.</a:t>
            </a:r>
          </a:p>
          <a:p>
            <a:pPr>
              <a:spcAft>
                <a:spcPts val="300"/>
              </a:spcAft>
            </a:pPr>
            <a:r>
              <a:rPr lang="it-IT" dirty="0"/>
              <a:t>Navigazione: meter summary → sotto-menù del contatore.</a:t>
            </a:r>
          </a:p>
          <a:p>
            <a:pPr>
              <a:spcAft>
                <a:spcPts val="300"/>
              </a:spcAft>
            </a:pPr>
            <a:r>
              <a:rPr lang="it-IT" dirty="0"/>
              <a:t>Il report richiede un modello di regressione valido sul contatore.</a:t>
            </a:r>
          </a:p>
          <a:p>
            <a:pPr>
              <a:spcAft>
                <a:spcPts val="300"/>
              </a:spcAft>
            </a:pPr>
            <a:r>
              <a:rPr lang="it-IT" dirty="0"/>
              <a:t>Evidenzia lo spreco energetico calcolato rispetto al modello di baseline.</a:t>
            </a:r>
            <a:endParaRPr lang="it-IT"/>
          </a:p>
        </p:txBody>
      </p:sp>
      <p:sp>
        <p:nvSpPr>
          <p:cNvPr id="15" name="Footer Placeholder 4">
            <a:extLst>
              <a:ext uri="{FF2B5EF4-FFF2-40B4-BE49-F238E27FC236}">
                <a16:creationId xmlns:a16="http://schemas.microsoft.com/office/drawing/2014/main" id="{6D16C386-0671-BC8B-BB51-6E6536C72330}"/>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18FF2A0C-069E-AD8B-BDD7-ECCB3C822994}"/>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23</a:t>
            </a:fld>
            <a:endParaRPr lang="en-US"/>
          </a:p>
        </p:txBody>
      </p:sp>
      <p:pic>
        <p:nvPicPr>
          <p:cNvPr id="5" name="Picture 4">
            <a:extLst>
              <a:ext uri="{FF2B5EF4-FFF2-40B4-BE49-F238E27FC236}">
                <a16:creationId xmlns:a16="http://schemas.microsoft.com/office/drawing/2014/main" id="{379EE58D-88CD-0E8B-86D0-E7A27E6729A3}"/>
              </a:ext>
            </a:extLst>
          </p:cNvPr>
          <p:cNvPicPr>
            <a:picLocks noChangeAspect="1"/>
          </p:cNvPicPr>
          <p:nvPr/>
        </p:nvPicPr>
        <p:blipFill>
          <a:blip r:embed="rId3"/>
          <a:stretch>
            <a:fillRect/>
          </a:stretch>
        </p:blipFill>
        <p:spPr>
          <a:xfrm>
            <a:off x="4160569" y="474537"/>
            <a:ext cx="6420329" cy="6081319"/>
          </a:xfrm>
          <a:prstGeom prst="rect">
            <a:avLst/>
          </a:prstGeom>
        </p:spPr>
      </p:pic>
      <p:sp>
        <p:nvSpPr>
          <p:cNvPr id="3" name="CasellaDiTesto 2">
            <a:extLst>
              <a:ext uri="{FF2B5EF4-FFF2-40B4-BE49-F238E27FC236}">
                <a16:creationId xmlns:a16="http://schemas.microsoft.com/office/drawing/2014/main" id="{6D18F3D6-D1A6-26A5-43F0-5C2E5AE9D2C3}"/>
              </a:ext>
            </a:extLst>
          </p:cNvPr>
          <p:cNvSpPr txBox="1"/>
          <p:nvPr/>
        </p:nvSpPr>
        <p:spPr>
          <a:xfrm>
            <a:off x="1111737" y="3515196"/>
            <a:ext cx="6097664" cy="507831"/>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p:txBody>
      </p:sp>
    </p:spTree>
    <p:extLst>
      <p:ext uri="{BB962C8B-B14F-4D97-AF65-F5344CB8AC3E}">
        <p14:creationId xmlns:p14="http://schemas.microsoft.com/office/powerpoint/2010/main" val="270959895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59D6E-A2F6-D1A6-6527-F833CCFA8B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864C95D-0C75-3101-60AA-BEA5770898EA}"/>
              </a:ext>
            </a:extLst>
          </p:cNvPr>
          <p:cNvSpPr>
            <a:spLocks noGrp="1"/>
          </p:cNvSpPr>
          <p:nvPr>
            <p:ph type="title"/>
          </p:nvPr>
        </p:nvSpPr>
        <p:spPr>
          <a:xfrm>
            <a:off x="284125" y="265794"/>
            <a:ext cx="3550077" cy="569140"/>
          </a:xfrm>
        </p:spPr>
        <p:txBody>
          <a:bodyPr>
            <a:normAutofit/>
          </a:bodyPr>
          <a:lstStyle/>
          <a:p>
            <a:r>
              <a:rPr lang="it-IT" dirty="0"/>
              <a:t>Performance attesa senza modello di regressione</a:t>
            </a:r>
            <a:endParaRPr lang="it-IT"/>
          </a:p>
        </p:txBody>
      </p:sp>
      <p:sp>
        <p:nvSpPr>
          <p:cNvPr id="8" name="Text Placeholder 7">
            <a:extLst>
              <a:ext uri="{FF2B5EF4-FFF2-40B4-BE49-F238E27FC236}">
                <a16:creationId xmlns:a16="http://schemas.microsoft.com/office/drawing/2014/main" id="{DF50F1D4-3BA8-926A-B8F8-8DE80745A261}"/>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Questa dashboard si utilizza quando non è disponibile un modello di regressione sul contatore…</a:t>
            </a:r>
            <a:endParaRPr lang="it-IT"/>
          </a:p>
          <a:p>
            <a:pPr>
              <a:spcAft>
                <a:spcPts val="300"/>
              </a:spcAft>
            </a:pPr>
            <a:r>
              <a:rPr lang="it-IT" dirty="0"/>
              <a:t>…oppure quando si preferisce basare il comportamento atteso sui dati storici o su giornate con condizioni meteo simili.</a:t>
            </a:r>
          </a:p>
        </p:txBody>
      </p:sp>
      <p:sp>
        <p:nvSpPr>
          <p:cNvPr id="15" name="Footer Placeholder 4">
            <a:extLst>
              <a:ext uri="{FF2B5EF4-FFF2-40B4-BE49-F238E27FC236}">
                <a16:creationId xmlns:a16="http://schemas.microsoft.com/office/drawing/2014/main" id="{A9BCDB9A-302A-4E14-6D48-9E4C7A05FA98}"/>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39E57A78-2158-B357-5127-15AA18525241}"/>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24</a:t>
            </a:fld>
            <a:endParaRPr lang="en-US"/>
          </a:p>
        </p:txBody>
      </p:sp>
      <p:pic>
        <p:nvPicPr>
          <p:cNvPr id="5" name="Picture 4">
            <a:extLst>
              <a:ext uri="{FF2B5EF4-FFF2-40B4-BE49-F238E27FC236}">
                <a16:creationId xmlns:a16="http://schemas.microsoft.com/office/drawing/2014/main" id="{1CA2C172-4CB7-5F3A-1D5B-FB932D5FE74A}"/>
              </a:ext>
            </a:extLst>
          </p:cNvPr>
          <p:cNvPicPr>
            <a:picLocks noChangeAspect="1"/>
          </p:cNvPicPr>
          <p:nvPr/>
        </p:nvPicPr>
        <p:blipFill>
          <a:blip r:embed="rId3"/>
          <a:stretch>
            <a:fillRect/>
          </a:stretch>
        </p:blipFill>
        <p:spPr>
          <a:xfrm>
            <a:off x="3234205" y="744958"/>
            <a:ext cx="8759095" cy="5255457"/>
          </a:xfrm>
          <a:prstGeom prst="rect">
            <a:avLst/>
          </a:prstGeom>
        </p:spPr>
      </p:pic>
      <p:sp>
        <p:nvSpPr>
          <p:cNvPr id="3" name="CasellaDiTesto 2">
            <a:extLst>
              <a:ext uri="{FF2B5EF4-FFF2-40B4-BE49-F238E27FC236}">
                <a16:creationId xmlns:a16="http://schemas.microsoft.com/office/drawing/2014/main" id="{CE5A59AD-8733-B6CC-EE5E-CD09D75EF594}"/>
              </a:ext>
            </a:extLst>
          </p:cNvPr>
          <p:cNvSpPr txBox="1"/>
          <p:nvPr/>
        </p:nvSpPr>
        <p:spPr>
          <a:xfrm>
            <a:off x="3834202" y="5884772"/>
            <a:ext cx="6097664"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endParaRPr lang="it-IT" sz="900"/>
          </a:p>
        </p:txBody>
      </p:sp>
    </p:spTree>
    <p:extLst>
      <p:ext uri="{BB962C8B-B14F-4D97-AF65-F5344CB8AC3E}">
        <p14:creationId xmlns:p14="http://schemas.microsoft.com/office/powerpoint/2010/main" val="162208198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99D829E6-3BFE-FC99-EE39-1046C4157E46}"/>
              </a:ext>
            </a:extLst>
          </p:cNvPr>
          <p:cNvSpPr txBox="1"/>
          <p:nvPr/>
        </p:nvSpPr>
        <p:spPr>
          <a:xfrm>
            <a:off x="328204" y="208835"/>
            <a:ext cx="6095206" cy="2308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900">
                <a:latin typeface="IBM Plex Sans Light" panose="020B0503050203000203" pitchFamily="34" charset="0"/>
              </a:rPr>
              <a:t>Funzionalità principali dell'</a:t>
            </a:r>
            <a:r>
              <a:rPr lang="it-IT" sz="900" err="1">
                <a:latin typeface="IBM Plex Sans Light" panose="020B0503050203000203" pitchFamily="34" charset="0"/>
              </a:rPr>
              <a:t>Interval</a:t>
            </a:r>
            <a:r>
              <a:rPr lang="it-IT" sz="900">
                <a:latin typeface="IBM Plex Sans Light" panose="020B0503050203000203" pitchFamily="34" charset="0"/>
              </a:rPr>
              <a:t> Chart Builder:</a:t>
            </a:r>
          </a:p>
        </p:txBody>
      </p:sp>
      <p:sp>
        <p:nvSpPr>
          <p:cNvPr id="8" name="CasellaDiTesto 7">
            <a:extLst>
              <a:ext uri="{FF2B5EF4-FFF2-40B4-BE49-F238E27FC236}">
                <a16:creationId xmlns:a16="http://schemas.microsoft.com/office/drawing/2014/main" id="{381F99D5-1738-A8F0-0D1F-480013978CD0}"/>
              </a:ext>
            </a:extLst>
          </p:cNvPr>
          <p:cNvSpPr txBox="1"/>
          <p:nvPr/>
        </p:nvSpPr>
        <p:spPr>
          <a:xfrm>
            <a:off x="328204" y="635962"/>
            <a:ext cx="7255640" cy="606319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br>
              <a:rPr lang="it-IT" sz="1200"/>
            </a:br>
            <a:endParaRPr lang="it-IT" sz="1200"/>
          </a:p>
          <a:p>
            <a:pPr>
              <a:buNone/>
            </a:pPr>
            <a:r>
              <a:rPr lang="it-IT" sz="1400"/>
              <a:t>L’</a:t>
            </a:r>
            <a:r>
              <a:rPr lang="it-IT" sz="1400" b="1" err="1"/>
              <a:t>Interval</a:t>
            </a:r>
            <a:r>
              <a:rPr lang="it-IT" sz="1400" b="1"/>
              <a:t> Chart Builder</a:t>
            </a:r>
            <a:r>
              <a:rPr lang="it-IT" sz="1400"/>
              <a:t> è lo strumento di IBM </a:t>
            </a:r>
            <a:r>
              <a:rPr lang="it-IT" sz="1400" err="1"/>
              <a:t>Envizi</a:t>
            </a:r>
            <a:r>
              <a:rPr lang="it-IT" sz="1400"/>
              <a:t> Meter Analytics dedicato alle analisi personalizzate. Mentre le dashboard standard rispondono alle esigenze più comuni, </a:t>
            </a:r>
            <a:r>
              <a:rPr lang="it-IT" sz="1400" b="1"/>
              <a:t>questa funzione permette all’Energy Manager di costruire rapidamente il grafico più adatto a rispondere a una specifica domanda di business</a:t>
            </a:r>
            <a:r>
              <a:rPr lang="it-IT" sz="1400"/>
              <a:t>, </a:t>
            </a:r>
            <a:r>
              <a:rPr lang="it-IT" sz="1400" b="1"/>
              <a:t>senza esportare i dati in Excel.</a:t>
            </a:r>
            <a:r>
              <a:rPr lang="it-IT" sz="1400"/>
              <a:t> </a:t>
            </a:r>
          </a:p>
          <a:p>
            <a:pPr>
              <a:buNone/>
            </a:pPr>
            <a:endParaRPr lang="it-IT" sz="1400"/>
          </a:p>
          <a:p>
            <a:pPr>
              <a:buNone/>
            </a:pPr>
            <a:r>
              <a:rPr lang="it-IT" sz="1400"/>
              <a:t>È possibile confrontare periodi diversi, sovrapporre misure elettriche come kW, </a:t>
            </a:r>
            <a:r>
              <a:rPr lang="it-IT" sz="1400" err="1"/>
              <a:t>kVA</a:t>
            </a:r>
            <a:r>
              <a:rPr lang="it-IT" sz="1400"/>
              <a:t>, </a:t>
            </a:r>
            <a:r>
              <a:rPr lang="it-IT" sz="1400" err="1"/>
              <a:t>kVAR</a:t>
            </a:r>
            <a:r>
              <a:rPr lang="it-IT" sz="1400"/>
              <a:t> e Power Factor, aggiungere dati meteo, orari di esercizio o altri attributi del contatore e salvare l’analisi per riutilizzarla o condividerla con il team.</a:t>
            </a:r>
          </a:p>
          <a:p>
            <a:pPr>
              <a:buNone/>
            </a:pPr>
            <a:endParaRPr lang="it-IT" sz="1400"/>
          </a:p>
          <a:p>
            <a:pPr>
              <a:buNone/>
            </a:pPr>
            <a:r>
              <a:rPr lang="it-IT" sz="1400" b="1"/>
              <a:t>Esempio pratico.</a:t>
            </a:r>
            <a:r>
              <a:rPr lang="it-IT" sz="1400"/>
              <a:t> </a:t>
            </a:r>
          </a:p>
          <a:p>
            <a:pPr>
              <a:buNone/>
            </a:pPr>
            <a:endParaRPr lang="it-IT" sz="1400"/>
          </a:p>
          <a:p>
            <a:pPr>
              <a:buNone/>
            </a:pPr>
            <a:r>
              <a:rPr lang="it-IT" sz="1400"/>
              <a:t>Un Building Manager osserva che, durante il mese di luglio, il costo dell’energia è aumentato del 15%. Con l’</a:t>
            </a:r>
            <a:r>
              <a:rPr lang="it-IT" sz="1400" err="1"/>
              <a:t>Interval</a:t>
            </a:r>
            <a:r>
              <a:rPr lang="it-IT" sz="1400"/>
              <a:t> Chart Builder crea un grafico che confronta il profilo di carico di luglio con quello dello stesso periodo dell’anno precedente, aggiungendo la temperatura esterna e gli orari di funzionamento dell’impianto HVAC. </a:t>
            </a:r>
          </a:p>
          <a:p>
            <a:pPr>
              <a:buNone/>
            </a:pPr>
            <a:endParaRPr lang="it-IT" sz="1400"/>
          </a:p>
          <a:p>
            <a:pPr>
              <a:buNone/>
            </a:pPr>
            <a:r>
              <a:rPr lang="it-IT" sz="1400"/>
              <a:t>L’analisi evidenzia che, nelle giornate più calde, il sistema di climatizzazione entra in funzione due ore prima dell’apertura dell’edificio e continua a lavorare oltre l’orario di chiusura. La causa dell’aumento dei consumi non è quindi un maggior utilizzo dell’edificio, ma una programmazione non ottimale degli impianti. </a:t>
            </a:r>
          </a:p>
          <a:p>
            <a:pPr>
              <a:buNone/>
            </a:pPr>
            <a:endParaRPr lang="it-IT" sz="1400"/>
          </a:p>
          <a:p>
            <a:pPr>
              <a:buNone/>
            </a:pPr>
            <a:r>
              <a:rPr lang="it-IT" sz="1400" b="1"/>
              <a:t>Grazie a questa evidenza il Facility Manager modifica gli orari di accensione, verifica nei giorni successivi il nuovo profilo di carico e conferma la riduzione dei consumi direttamente all’interno della piattaforma, senza ricorrere ad analisi esterne</a:t>
            </a:r>
            <a:r>
              <a:rPr lang="it-IT" sz="1400"/>
              <a:t>.</a:t>
            </a:r>
          </a:p>
          <a:p>
            <a:pPr>
              <a:buNone/>
            </a:pPr>
            <a:endParaRPr lang="it-IT" sz="1400"/>
          </a:p>
          <a:p>
            <a:pPr>
              <a:buNone/>
            </a:pPr>
            <a:r>
              <a:rPr lang="it-IT" sz="1400"/>
              <a:t> </a:t>
            </a:r>
          </a:p>
        </p:txBody>
      </p:sp>
      <p:sp>
        <p:nvSpPr>
          <p:cNvPr id="10" name="CasellaDiTesto 9">
            <a:extLst>
              <a:ext uri="{FF2B5EF4-FFF2-40B4-BE49-F238E27FC236}">
                <a16:creationId xmlns:a16="http://schemas.microsoft.com/office/drawing/2014/main" id="{424DBCC4-753B-60F9-3119-674F5EB9F082}"/>
              </a:ext>
            </a:extLst>
          </p:cNvPr>
          <p:cNvSpPr txBox="1"/>
          <p:nvPr/>
        </p:nvSpPr>
        <p:spPr>
          <a:xfrm>
            <a:off x="8310579" y="3558228"/>
            <a:ext cx="3329714" cy="181588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it-IT" sz="1600" i="1"/>
              <a:t>l’</a:t>
            </a:r>
            <a:r>
              <a:rPr lang="it-IT" sz="1600" i="1" err="1"/>
              <a:t>Interval</a:t>
            </a:r>
            <a:r>
              <a:rPr lang="it-IT" sz="1600" i="1"/>
              <a:t> Chart Builder trasforma i dati dei contatori in analisi mirate che aiutano a individuare le cause dei consumi, verificare l’efficacia degli interventi e supportare decisioni operative rapide e basate su evidenze.</a:t>
            </a:r>
            <a:r>
              <a:rPr lang="it-IT" sz="1600"/>
              <a:t> </a:t>
            </a:r>
            <a:endParaRPr lang="it-IT" sz="900"/>
          </a:p>
        </p:txBody>
      </p:sp>
      <p:pic>
        <p:nvPicPr>
          <p:cNvPr id="11" name="Picture 2">
            <a:extLst>
              <a:ext uri="{FF2B5EF4-FFF2-40B4-BE49-F238E27FC236}">
                <a16:creationId xmlns:a16="http://schemas.microsoft.com/office/drawing/2014/main" id="{AE449CA1-1675-B5C5-02CD-A2947EBDB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571" y="1026082"/>
            <a:ext cx="3040537" cy="1958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591686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C712F-EB91-F9A0-C42B-9AEED17BA23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D809CF4-87A0-7DD1-C342-780E08DDC0FF}"/>
              </a:ext>
            </a:extLst>
          </p:cNvPr>
          <p:cNvSpPr>
            <a:spLocks noGrp="1"/>
          </p:cNvSpPr>
          <p:nvPr>
            <p:ph type="title"/>
          </p:nvPr>
        </p:nvSpPr>
        <p:spPr>
          <a:xfrm>
            <a:off x="284125" y="265794"/>
            <a:ext cx="3550077" cy="569140"/>
          </a:xfrm>
        </p:spPr>
        <p:txBody>
          <a:bodyPr>
            <a:normAutofit/>
          </a:bodyPr>
          <a:lstStyle/>
          <a:p>
            <a:r>
              <a:rPr lang="en-US" dirty="0"/>
              <a:t>Meter Reporting – Interval Chart Builder</a:t>
            </a:r>
          </a:p>
        </p:txBody>
      </p:sp>
      <p:sp>
        <p:nvSpPr>
          <p:cNvPr id="8" name="Text Placeholder 7">
            <a:extLst>
              <a:ext uri="{FF2B5EF4-FFF2-40B4-BE49-F238E27FC236}">
                <a16:creationId xmlns:a16="http://schemas.microsoft.com/office/drawing/2014/main" id="{0A273B7A-603B-55BE-8C08-8161ACFEE0FB}"/>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L'Interval Chart Builder supporta tutte le opzioni già disponibili nei grafici Meter Comparison e Measure Comparison, con numerose funzionalità aggiuntive.</a:t>
            </a:r>
            <a:endParaRPr lang="it-IT"/>
          </a:p>
          <a:p>
            <a:pPr>
              <a:spcAft>
                <a:spcPts val="300"/>
              </a:spcAft>
            </a:pPr>
            <a:r>
              <a:rPr lang="it-IT" dirty="0"/>
              <a:t>Consente di salvare e condividere i grafici e di confrontare le performance con lo stesso periodo del mese o dell'anno precedente.</a:t>
            </a:r>
          </a:p>
          <a:p>
            <a:pPr>
              <a:spcAft>
                <a:spcPts val="300"/>
              </a:spcAft>
            </a:pPr>
            <a:r>
              <a:rPr lang="it-IT" dirty="0"/>
              <a:t>La dashboard è disponibile a livello di contatore, di sede e di gruppo.</a:t>
            </a:r>
          </a:p>
        </p:txBody>
      </p:sp>
      <p:sp>
        <p:nvSpPr>
          <p:cNvPr id="15" name="Footer Placeholder 4">
            <a:extLst>
              <a:ext uri="{FF2B5EF4-FFF2-40B4-BE49-F238E27FC236}">
                <a16:creationId xmlns:a16="http://schemas.microsoft.com/office/drawing/2014/main" id="{13D66D03-9E9C-3F1F-C94A-2E6A8F3857E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C9C60ECE-57D3-9539-04F5-23772650FFBD}"/>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26</a:t>
            </a:fld>
            <a:endParaRPr lang="en-US"/>
          </a:p>
        </p:txBody>
      </p:sp>
      <p:pic>
        <p:nvPicPr>
          <p:cNvPr id="1026" name="Picture 2">
            <a:extLst>
              <a:ext uri="{FF2B5EF4-FFF2-40B4-BE49-F238E27FC236}">
                <a16:creationId xmlns:a16="http://schemas.microsoft.com/office/drawing/2014/main" id="{F6904448-7512-D5F1-A4AA-37E4E26FE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9172" y="550364"/>
            <a:ext cx="7508494" cy="483760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9F45F80-BB96-B2AC-14C8-6DA28D47EC94}"/>
              </a:ext>
            </a:extLst>
          </p:cNvPr>
          <p:cNvPicPr>
            <a:picLocks noChangeAspect="1"/>
          </p:cNvPicPr>
          <p:nvPr/>
        </p:nvPicPr>
        <p:blipFill>
          <a:blip r:embed="rId4"/>
          <a:stretch>
            <a:fillRect/>
          </a:stretch>
        </p:blipFill>
        <p:spPr>
          <a:xfrm>
            <a:off x="9514564" y="2969168"/>
            <a:ext cx="2377336" cy="2853566"/>
          </a:xfrm>
          <a:prstGeom prst="rect">
            <a:avLst/>
          </a:prstGeom>
        </p:spPr>
      </p:pic>
    </p:spTree>
    <p:extLst>
      <p:ext uri="{BB962C8B-B14F-4D97-AF65-F5344CB8AC3E}">
        <p14:creationId xmlns:p14="http://schemas.microsoft.com/office/powerpoint/2010/main" val="3850283616"/>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45D26581-2272-57D7-8AA4-298EE9D17EFA}"/>
              </a:ext>
            </a:extLst>
          </p:cNvPr>
          <p:cNvSpPr txBox="1"/>
          <p:nvPr/>
        </p:nvSpPr>
        <p:spPr>
          <a:xfrm>
            <a:off x="386812" y="1442198"/>
            <a:ext cx="6364802" cy="504753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Le organizzazioni raramente dispongono di un contatore dedicato per ogni centro di costo, reparto o </a:t>
            </a:r>
            <a:r>
              <a:rPr lang="it-IT" sz="1400" err="1"/>
              <a:t>tenant</a:t>
            </a:r>
            <a:r>
              <a:rPr lang="it-IT" sz="1400"/>
              <a:t>. Meter </a:t>
            </a:r>
            <a:r>
              <a:rPr lang="it-IT" sz="1400" err="1"/>
              <a:t>Hierarchy</a:t>
            </a:r>
            <a:r>
              <a:rPr lang="it-IT" sz="1400"/>
              <a:t> e Virtual Meter permettono di costruire una rappresentazione logica dell’impianto, aggregando o ripartendo automaticamente i consumi dei contatori fisici. In questo modo è possibile analizzare edifici, piani, reparti o locatari anche quando la rete di misura non è stata progettata con questo obiettivo.</a:t>
            </a:r>
          </a:p>
          <a:p>
            <a:pPr>
              <a:buNone/>
            </a:pPr>
            <a:endParaRPr lang="it-IT" sz="1400"/>
          </a:p>
          <a:p>
            <a:pPr>
              <a:buNone/>
            </a:pPr>
            <a:r>
              <a:rPr lang="it-IT" sz="1400" b="1"/>
              <a:t>Esempio pratico. </a:t>
            </a:r>
          </a:p>
          <a:p>
            <a:pPr>
              <a:buNone/>
            </a:pPr>
            <a:endParaRPr lang="it-IT" sz="1400"/>
          </a:p>
          <a:p>
            <a:pPr>
              <a:buNone/>
            </a:pPr>
            <a:r>
              <a:rPr lang="it-IT" sz="1400"/>
              <a:t>Un edificio multi-</a:t>
            </a:r>
            <a:r>
              <a:rPr lang="it-IT" sz="1400" err="1"/>
              <a:t>tenant</a:t>
            </a:r>
            <a:r>
              <a:rPr lang="it-IT" sz="1400"/>
              <a:t> dispone di un contatore principale che misura il consumo complessivo del quadro elettrico e di alcuni contatori dedicati ai </a:t>
            </a:r>
            <a:r>
              <a:rPr lang="it-IT" sz="1400" err="1"/>
              <a:t>tenant</a:t>
            </a:r>
            <a:r>
              <a:rPr lang="it-IT" sz="1400"/>
              <a:t> A, B e C. Il </a:t>
            </a:r>
            <a:r>
              <a:rPr lang="it-IT" sz="1400" err="1"/>
              <a:t>tenant</a:t>
            </a:r>
            <a:r>
              <a:rPr lang="it-IT" sz="1400"/>
              <a:t> D non possiede invece un contatore dedicato. Con i Virtual Meter, IBM </a:t>
            </a:r>
            <a:r>
              <a:rPr lang="it-IT" sz="1400" err="1"/>
              <a:t>Envizi</a:t>
            </a:r>
            <a:r>
              <a:rPr lang="it-IT" sz="1400"/>
              <a:t> calcola automaticamente il consumo del </a:t>
            </a:r>
            <a:r>
              <a:rPr lang="it-IT" sz="1400" err="1"/>
              <a:t>tenant</a:t>
            </a:r>
            <a:r>
              <a:rPr lang="it-IT" sz="1400"/>
              <a:t> D come differenza tra il contatore principale e la somma dei consumi degli altri </a:t>
            </a:r>
            <a:r>
              <a:rPr lang="it-IT" sz="1400" err="1"/>
              <a:t>tenant</a:t>
            </a:r>
            <a:r>
              <a:rPr lang="it-IT" sz="1400"/>
              <a:t>. L’Energy Manager può così attribuire correttamente i consumi a ciascun locatario, produrre report di ripartizione dei costi e monitorare eventuali variazioni anomale senza installare nuovi strumenti di misura.</a:t>
            </a:r>
          </a:p>
          <a:p>
            <a:pPr>
              <a:buNone/>
            </a:pPr>
            <a:endParaRPr lang="it-IT" sz="1400"/>
          </a:p>
          <a:p>
            <a:pPr>
              <a:buNone/>
            </a:pPr>
            <a:r>
              <a:rPr lang="it-IT" sz="1400"/>
              <a:t>La Meter </a:t>
            </a:r>
            <a:r>
              <a:rPr lang="it-IT" sz="1400" err="1"/>
              <a:t>Hierarchy</a:t>
            </a:r>
            <a:r>
              <a:rPr lang="it-IT" sz="1400"/>
              <a:t> consente inoltre di rappresentare l’intera rete di distribuzione energetica dell’edificio, evidenziando la relazione tra contatori principali, sotto-contatori e misure virtuali. Questo facilita l’analisi dei flussi energetici, la ricerca delle perdite, la verifica della completezza dei dati e la comprensione di come l’energia venga distribuita tra edifici, impianti e utenze.</a:t>
            </a:r>
          </a:p>
        </p:txBody>
      </p:sp>
      <p:sp>
        <p:nvSpPr>
          <p:cNvPr id="6" name="CasellaDiTesto 5">
            <a:extLst>
              <a:ext uri="{FF2B5EF4-FFF2-40B4-BE49-F238E27FC236}">
                <a16:creationId xmlns:a16="http://schemas.microsoft.com/office/drawing/2014/main" id="{D8667967-D901-291C-6FCB-A66C113178D8}"/>
              </a:ext>
            </a:extLst>
          </p:cNvPr>
          <p:cNvSpPr txBox="1"/>
          <p:nvPr/>
        </p:nvSpPr>
        <p:spPr>
          <a:xfrm>
            <a:off x="386812" y="170238"/>
            <a:ext cx="6095206"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t>Meter </a:t>
            </a:r>
            <a:r>
              <a:rPr lang="it-IT" b="1" err="1"/>
              <a:t>Hierarchy</a:t>
            </a:r>
            <a:r>
              <a:rPr lang="it-IT" b="1"/>
              <a:t> e Virtual Meter</a:t>
            </a:r>
          </a:p>
        </p:txBody>
      </p:sp>
      <p:sp>
        <p:nvSpPr>
          <p:cNvPr id="8" name="CasellaDiTesto 7">
            <a:extLst>
              <a:ext uri="{FF2B5EF4-FFF2-40B4-BE49-F238E27FC236}">
                <a16:creationId xmlns:a16="http://schemas.microsoft.com/office/drawing/2014/main" id="{8250CC48-476F-8F87-459E-ABA82DFC9B80}"/>
              </a:ext>
            </a:extLst>
          </p:cNvPr>
          <p:cNvSpPr txBox="1"/>
          <p:nvPr/>
        </p:nvSpPr>
        <p:spPr>
          <a:xfrm>
            <a:off x="7126703" y="4799224"/>
            <a:ext cx="4547961" cy="1600438"/>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400"/>
              <a:t>Meter </a:t>
            </a:r>
            <a:r>
              <a:rPr lang="it-IT" sz="1400" err="1"/>
              <a:t>Hierarchy</a:t>
            </a:r>
            <a:r>
              <a:rPr lang="it-IT" sz="1400"/>
              <a:t> e Virtual Meter consentono di modellare digitalmente la rete di misura dell’organizzazione, trasformando i dati dei contatori in una struttura coerente con il business. Il risultato è una ripartizione più accurata dei consumi, una migliore allocazione dei costi energetici e analisi più affidabili senza la necessità di installare nuovi contatori fisici. </a:t>
            </a:r>
          </a:p>
        </p:txBody>
      </p:sp>
      <p:pic>
        <p:nvPicPr>
          <p:cNvPr id="9" name="Picture 2">
            <a:extLst>
              <a:ext uri="{FF2B5EF4-FFF2-40B4-BE49-F238E27FC236}">
                <a16:creationId xmlns:a16="http://schemas.microsoft.com/office/drawing/2014/main" id="{2442CA51-5B3B-D8A8-129B-087464E18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703" y="1733700"/>
            <a:ext cx="4793969" cy="1431572"/>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E7F3765F-0E4E-9D66-AA39-53CCD520921B}"/>
              </a:ext>
            </a:extLst>
          </p:cNvPr>
          <p:cNvSpPr txBox="1"/>
          <p:nvPr/>
        </p:nvSpPr>
        <p:spPr>
          <a:xfrm>
            <a:off x="386812" y="755163"/>
            <a:ext cx="8521567" cy="36933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b="1"/>
              <a:t>Organizzare i contatori per rappresentare il funzionamento reale dell’edificio</a:t>
            </a:r>
          </a:p>
        </p:txBody>
      </p:sp>
    </p:spTree>
    <p:extLst>
      <p:ext uri="{BB962C8B-B14F-4D97-AF65-F5344CB8AC3E}">
        <p14:creationId xmlns:p14="http://schemas.microsoft.com/office/powerpoint/2010/main" val="417358933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3BB4-775C-CFBB-C1F4-DD15BEF7F9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5608EC6-57CC-A793-9F6B-F4E42F9BE564}"/>
              </a:ext>
            </a:extLst>
          </p:cNvPr>
          <p:cNvSpPr>
            <a:spLocks noGrp="1"/>
          </p:cNvSpPr>
          <p:nvPr>
            <p:ph type="title"/>
          </p:nvPr>
        </p:nvSpPr>
        <p:spPr>
          <a:xfrm>
            <a:off x="284125" y="265794"/>
            <a:ext cx="4908522" cy="475535"/>
          </a:xfrm>
        </p:spPr>
        <p:txBody>
          <a:bodyPr>
            <a:normAutofit/>
          </a:bodyPr>
          <a:lstStyle/>
          <a:p>
            <a:r>
              <a:rPr lang="it-IT" dirty="0"/>
              <a:t>Meter Hierarchy e contatori virtuali</a:t>
            </a:r>
          </a:p>
        </p:txBody>
      </p:sp>
      <p:sp>
        <p:nvSpPr>
          <p:cNvPr id="8" name="Text Placeholder 7">
            <a:extLst>
              <a:ext uri="{FF2B5EF4-FFF2-40B4-BE49-F238E27FC236}">
                <a16:creationId xmlns:a16="http://schemas.microsoft.com/office/drawing/2014/main" id="{70C4FEC3-3AA5-62AA-FBC1-D3B9F37EF9AE}"/>
              </a:ext>
            </a:extLst>
          </p:cNvPr>
          <p:cNvSpPr>
            <a:spLocks noGrp="1"/>
          </p:cNvSpPr>
          <p:nvPr>
            <p:ph type="body" sz="quarter" idx="12"/>
          </p:nvPr>
        </p:nvSpPr>
        <p:spPr>
          <a:xfrm>
            <a:off x="284126" y="900281"/>
            <a:ext cx="5916575" cy="3420534"/>
          </a:xfrm>
        </p:spPr>
        <p:txBody>
          <a:bodyPr>
            <a:normAutofit/>
          </a:bodyPr>
          <a:lstStyle/>
          <a:p>
            <a:pPr>
              <a:spcAft>
                <a:spcPts val="300"/>
              </a:spcAft>
            </a:pPr>
            <a:r>
              <a:rPr lang="it-IT" dirty="0"/>
              <a:t>Persona: Energy Auditor.</a:t>
            </a:r>
          </a:p>
          <a:p>
            <a:pPr>
              <a:spcAft>
                <a:spcPts val="300"/>
              </a:spcAft>
            </a:pPr>
            <a:r>
              <a:rPr lang="it-IT" dirty="0"/>
              <a:t>Navigazione: ricerca globale → sede Grand Central → Summary, oppure Org hierarchy → MREF Locations → sede Grand Central → More → Meter Hierarchy.</a:t>
            </a:r>
          </a:p>
          <a:p>
            <a:pPr>
              <a:spcAft>
                <a:spcPts val="300"/>
              </a:spcAft>
            </a:pPr>
            <a:r>
              <a:rPr lang="it-IT" dirty="0"/>
              <a:t>I contatori virtuali si costruiscono sommando o sottraendo i valori dei contatori reali.</a:t>
            </a:r>
          </a:p>
          <a:p>
            <a:pPr>
              <a:spcAft>
                <a:spcPts val="300"/>
              </a:spcAft>
            </a:pPr>
            <a:r>
              <a:rPr lang="it-IT" dirty="0"/>
              <a:t>Utili per modellazioni retroattive o quando un tenant non dispone di un contatore dedicato.</a:t>
            </a:r>
          </a:p>
        </p:txBody>
      </p:sp>
      <p:sp>
        <p:nvSpPr>
          <p:cNvPr id="15" name="Footer Placeholder 4">
            <a:extLst>
              <a:ext uri="{FF2B5EF4-FFF2-40B4-BE49-F238E27FC236}">
                <a16:creationId xmlns:a16="http://schemas.microsoft.com/office/drawing/2014/main" id="{DF1421EC-5D64-2A91-7B0D-F2A7563AAADF}"/>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9D5ADEE6-FDEF-817E-BC6A-6D3B6E9FBA6A}"/>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28</a:t>
            </a:fld>
            <a:endParaRPr lang="en-US"/>
          </a:p>
        </p:txBody>
      </p:sp>
      <p:pic>
        <p:nvPicPr>
          <p:cNvPr id="2" name="Picture 2">
            <a:extLst>
              <a:ext uri="{FF2B5EF4-FFF2-40B4-BE49-F238E27FC236}">
                <a16:creationId xmlns:a16="http://schemas.microsoft.com/office/drawing/2014/main" id="{51CC6651-53B1-3AF7-7B06-3C0EE07449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9120" y="3254383"/>
            <a:ext cx="10692286" cy="31929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DDED23C-75EF-B20D-031D-FB7717AB71A4}"/>
              </a:ext>
            </a:extLst>
          </p:cNvPr>
          <p:cNvPicPr>
            <a:picLocks noChangeAspect="1"/>
          </p:cNvPicPr>
          <p:nvPr/>
        </p:nvPicPr>
        <p:blipFill>
          <a:blip r:embed="rId4"/>
          <a:stretch>
            <a:fillRect/>
          </a:stretch>
        </p:blipFill>
        <p:spPr>
          <a:xfrm>
            <a:off x="6595124" y="475162"/>
            <a:ext cx="3509257" cy="2574693"/>
          </a:xfrm>
          <a:prstGeom prst="rect">
            <a:avLst/>
          </a:prstGeom>
        </p:spPr>
      </p:pic>
      <p:sp>
        <p:nvSpPr>
          <p:cNvPr id="3" name="CasellaDiTesto 2">
            <a:extLst>
              <a:ext uri="{FF2B5EF4-FFF2-40B4-BE49-F238E27FC236}">
                <a16:creationId xmlns:a16="http://schemas.microsoft.com/office/drawing/2014/main" id="{A535D536-F712-34D6-E750-BDB9B9DE892F}"/>
              </a:ext>
            </a:extLst>
          </p:cNvPr>
          <p:cNvSpPr txBox="1"/>
          <p:nvPr/>
        </p:nvSpPr>
        <p:spPr>
          <a:xfrm>
            <a:off x="6094336" y="5112930"/>
            <a:ext cx="6097664" cy="152823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Nell'esempio della sede Grand Central sono presenti i contatori principali dei quadri di distribuzione 1 e 2, con i sotto-contatori dei </a:t>
            </a:r>
            <a:r>
              <a:rPr lang="it-IT" sz="1333" err="1">
                <a:latin typeface="IBM Plex Sans Light" panose="020B0503050203000203" pitchFamily="34" charset="0"/>
              </a:rPr>
              <a:t>tenant</a:t>
            </a:r>
            <a:r>
              <a:rPr lang="it-IT" sz="1333">
                <a:latin typeface="IBM Plex Sans Light" panose="020B0503050203000203" pitchFamily="34" charset="0"/>
              </a:rPr>
              <a:t> A, B e C.</a:t>
            </a:r>
          </a:p>
          <a:p>
            <a:pPr defTabSz="1219017" fontAlgn="base">
              <a:spcBef>
                <a:spcPts val="800"/>
              </a:spcBef>
              <a:defRPr/>
            </a:pPr>
            <a:r>
              <a:rPr lang="it-IT" sz="1333">
                <a:latin typeface="IBM Plex Sans Light" panose="020B0503050203000203" pitchFamily="34" charset="0"/>
              </a:rPr>
              <a:t>Per il </a:t>
            </a:r>
            <a:r>
              <a:rPr lang="it-IT" sz="1333" err="1">
                <a:latin typeface="IBM Plex Sans Light" panose="020B0503050203000203" pitchFamily="34" charset="0"/>
              </a:rPr>
              <a:t>tenant</a:t>
            </a:r>
            <a:r>
              <a:rPr lang="it-IT" sz="1333">
                <a:latin typeface="IBM Plex Sans Light" panose="020B0503050203000203" pitchFamily="34" charset="0"/>
              </a:rPr>
              <a:t> D, privo di contatore dedicato, si crea un contatore virtuale in </a:t>
            </a:r>
            <a:r>
              <a:rPr lang="it-IT" sz="1333" err="1">
                <a:latin typeface="IBM Plex Sans Light" panose="020B0503050203000203" pitchFamily="34" charset="0"/>
              </a:rPr>
              <a:t>Envizi</a:t>
            </a:r>
            <a:r>
              <a:rPr lang="it-IT" sz="1333">
                <a:latin typeface="IBM Plex Sans Light" panose="020B0503050203000203" pitchFamily="34" charset="0"/>
              </a:rPr>
              <a:t> con la regola: Tenant D = E1 – (A + B + C).</a:t>
            </a:r>
          </a:p>
          <a:p>
            <a:pPr defTabSz="1219017" fontAlgn="base">
              <a:spcBef>
                <a:spcPts val="800"/>
              </a:spcBef>
              <a:defRPr/>
            </a:pPr>
            <a:r>
              <a:rPr lang="it-IT" sz="1333">
                <a:latin typeface="IBM Plex Sans Light" panose="020B0503050203000203" pitchFamily="34" charset="0"/>
              </a:rPr>
              <a:t>Lo stesso approccio consente di ricostruire i consumi in modo retroattivo e di completare le gerarchie di misura incomplete.</a:t>
            </a:r>
          </a:p>
        </p:txBody>
      </p:sp>
    </p:spTree>
    <p:extLst>
      <p:ext uri="{BB962C8B-B14F-4D97-AF65-F5344CB8AC3E}">
        <p14:creationId xmlns:p14="http://schemas.microsoft.com/office/powerpoint/2010/main" val="142213631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60DC-7E08-2838-607A-7710BD487E9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E2E25FF-C3BE-E9EF-4760-631976B3A0AE}"/>
              </a:ext>
            </a:extLst>
          </p:cNvPr>
          <p:cNvSpPr>
            <a:spLocks noGrp="1"/>
          </p:cNvSpPr>
          <p:nvPr>
            <p:ph type="title"/>
          </p:nvPr>
        </p:nvSpPr>
        <p:spPr>
          <a:xfrm>
            <a:off x="287999" y="288445"/>
            <a:ext cx="2892937" cy="1548583"/>
          </a:xfrm>
        </p:spPr>
        <p:txBody>
          <a:bodyPr>
            <a:normAutofit/>
          </a:bodyPr>
          <a:lstStyle/>
          <a:p>
            <a:r>
              <a:rPr lang="it-IT" dirty="0"/>
              <a:t>Esempio</a:t>
            </a:r>
            <a:br>
              <a:rPr lang="it-IT" dirty="0"/>
            </a:br>
            <a:r>
              <a:rPr lang="it-IT" dirty="0"/>
              <a:t>Verifica dei risparmi dopo l'upgrade della caldaia</a:t>
            </a:r>
          </a:p>
        </p:txBody>
      </p:sp>
      <p:sp>
        <p:nvSpPr>
          <p:cNvPr id="8" name="Text Placeholder 7">
            <a:extLst>
              <a:ext uri="{FF2B5EF4-FFF2-40B4-BE49-F238E27FC236}">
                <a16:creationId xmlns:a16="http://schemas.microsoft.com/office/drawing/2014/main" id="{D0766E0B-54CD-DA45-02F7-FFB8BD38F6BA}"/>
              </a:ext>
            </a:extLst>
          </p:cNvPr>
          <p:cNvSpPr>
            <a:spLocks noGrp="1"/>
          </p:cNvSpPr>
          <p:nvPr>
            <p:ph type="body" sz="quarter" idx="12"/>
          </p:nvPr>
        </p:nvSpPr>
        <p:spPr>
          <a:xfrm>
            <a:off x="287999" y="1837028"/>
            <a:ext cx="2477765" cy="4163387"/>
          </a:xfrm>
        </p:spPr>
        <p:txBody>
          <a:bodyPr>
            <a:normAutofit fontScale="92500"/>
          </a:bodyPr>
          <a:lstStyle/>
          <a:p>
            <a:pPr>
              <a:spcAft>
                <a:spcPts val="300"/>
              </a:spcAft>
            </a:pPr>
            <a:r>
              <a:rPr lang="it-IT" dirty="0"/>
              <a:t>Navigazione: ricerca globale → sede Charlotte Watson Center → Quick links → Accounts → account gas BR400 – Main boiler.</a:t>
            </a:r>
          </a:p>
          <a:p>
            <a:pPr>
              <a:spcAft>
                <a:spcPts val="300"/>
              </a:spcAft>
            </a:pPr>
            <a:r>
              <a:rPr lang="it-IT" dirty="0"/>
              <a:t>Dal sotto-menù Track → Performance si seleziona il periodo da agosto 2024 a luglio 2025.</a:t>
            </a:r>
          </a:p>
          <a:p>
            <a:pPr>
              <a:spcAft>
                <a:spcPts val="300"/>
              </a:spcAft>
            </a:pPr>
            <a:r>
              <a:rPr lang="it-IT" dirty="0"/>
              <a:t>La dashboard evidenzia circa il 17% di riduzione dei consumi di gas dopo l'intervento sulla caldaia.</a:t>
            </a:r>
          </a:p>
          <a:p>
            <a:pPr>
              <a:spcAft>
                <a:spcPts val="300"/>
              </a:spcAft>
            </a:pPr>
            <a:r>
              <a:rPr lang="it-IT" dirty="0"/>
              <a:t>Per i progetti sensibili alle condizioni climatiche, la normalizzazione meteo resta il metodo di verifica più affidabile.</a:t>
            </a:r>
            <a:endParaRPr lang="it-IT"/>
          </a:p>
        </p:txBody>
      </p:sp>
      <p:sp>
        <p:nvSpPr>
          <p:cNvPr id="15" name="Footer Placeholder 4">
            <a:extLst>
              <a:ext uri="{FF2B5EF4-FFF2-40B4-BE49-F238E27FC236}">
                <a16:creationId xmlns:a16="http://schemas.microsoft.com/office/drawing/2014/main" id="{F8B79AFD-F150-4DB2-D4EF-91DCECA7EB5A}"/>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BFDEE67D-3522-E9D5-6823-DB6D4D7292D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29</a:t>
            </a:fld>
            <a:endParaRPr lang="en-US"/>
          </a:p>
        </p:txBody>
      </p:sp>
      <p:pic>
        <p:nvPicPr>
          <p:cNvPr id="1026" name="Picture 2">
            <a:extLst>
              <a:ext uri="{FF2B5EF4-FFF2-40B4-BE49-F238E27FC236}">
                <a16:creationId xmlns:a16="http://schemas.microsoft.com/office/drawing/2014/main" id="{8FB8E70A-DF9C-A997-9F24-B338AEDFC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0675" y="1170386"/>
            <a:ext cx="8396067" cy="3693735"/>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C2AB6309-C686-CDD6-2D77-19A79D5E038F}"/>
              </a:ext>
            </a:extLst>
          </p:cNvPr>
          <p:cNvSpPr txBox="1"/>
          <p:nvPr/>
        </p:nvSpPr>
        <p:spPr>
          <a:xfrm>
            <a:off x="3461734" y="5053981"/>
            <a:ext cx="7937285" cy="112319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19267599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E46ED-9367-7DD3-7D3D-5DBED69B86B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C8BD81C-D622-7D9B-FB77-09818F1BE7F8}"/>
              </a:ext>
            </a:extLst>
          </p:cNvPr>
          <p:cNvSpPr>
            <a:spLocks noGrp="1"/>
          </p:cNvSpPr>
          <p:nvPr>
            <p:ph type="title"/>
          </p:nvPr>
        </p:nvSpPr>
        <p:spPr>
          <a:xfrm>
            <a:off x="287999" y="288445"/>
            <a:ext cx="2474590" cy="762695"/>
          </a:xfrm>
        </p:spPr>
        <p:txBody>
          <a:bodyPr>
            <a:normAutofit/>
          </a:bodyPr>
          <a:lstStyle/>
          <a:p>
            <a:r>
              <a:rPr lang="it-IT" dirty="0"/>
              <a:t>Utility Performance Benchmarking</a:t>
            </a:r>
            <a:endParaRPr lang="it-IT"/>
          </a:p>
        </p:txBody>
      </p:sp>
      <p:sp>
        <p:nvSpPr>
          <p:cNvPr id="8" name="Text Placeholder 7">
            <a:extLst>
              <a:ext uri="{FF2B5EF4-FFF2-40B4-BE49-F238E27FC236}">
                <a16:creationId xmlns:a16="http://schemas.microsoft.com/office/drawing/2014/main" id="{8BD73752-7496-6AAA-A8A6-031581A39038}"/>
              </a:ext>
            </a:extLst>
          </p:cNvPr>
          <p:cNvSpPr>
            <a:spLocks noGrp="1"/>
          </p:cNvSpPr>
          <p:nvPr>
            <p:ph type="body" sz="quarter" idx="13"/>
          </p:nvPr>
        </p:nvSpPr>
        <p:spPr>
          <a:xfrm>
            <a:off x="287999" y="1714723"/>
            <a:ext cx="2477765" cy="4285692"/>
          </a:xfrm>
        </p:spPr>
        <p:txBody>
          <a:bodyPr>
            <a:normAutofit fontScale="92500"/>
          </a:bodyPr>
          <a:lstStyle/>
          <a:p>
            <a:pPr>
              <a:spcAft>
                <a:spcPts val="300"/>
              </a:spcAft>
            </a:pPr>
            <a:r>
              <a:rPr lang="it-IT" dirty="0"/>
              <a:t>Scenario: l'Energy Manager confronta gruppi omogenei di edifici del portafoglio.</a:t>
            </a:r>
          </a:p>
          <a:p>
            <a:pPr>
              <a:spcAft>
                <a:spcPts val="300"/>
              </a:spcAft>
            </a:pPr>
            <a:r>
              <a:rPr lang="it-IT" dirty="0"/>
              <a:t>Il benchmark normalizza i dati dei contatori per orari, superficie e meteo, con eventuali variabili aggiuntive.</a:t>
            </a:r>
          </a:p>
          <a:p>
            <a:pPr>
              <a:spcAft>
                <a:spcPts val="300"/>
              </a:spcAft>
            </a:pPr>
            <a:r>
              <a:rPr lang="it-IT" dirty="0"/>
              <a:t>Il report si basa sul dataset giornaliero ed è ancora in sviluppo: acqua e gas potrebbero non essere visibili.</a:t>
            </a:r>
          </a:p>
          <a:p>
            <a:pPr>
              <a:spcAft>
                <a:spcPts val="300"/>
              </a:spcAft>
            </a:pPr>
            <a:r>
              <a:rPr lang="it-IT" dirty="0"/>
              <a:t>Navigazione: ricerca globale → Reports → “Utility performance”.</a:t>
            </a:r>
          </a:p>
          <a:p>
            <a:pPr>
              <a:spcAft>
                <a:spcPts val="300"/>
              </a:spcAft>
            </a:pPr>
            <a:r>
              <a:rPr lang="it-IT" dirty="0"/>
              <a:t>La home mostra il potenziale di risparmio rispetto al benchmark.</a:t>
            </a:r>
          </a:p>
        </p:txBody>
      </p:sp>
      <p:pic>
        <p:nvPicPr>
          <p:cNvPr id="4" name="Picture 3">
            <a:extLst>
              <a:ext uri="{FF2B5EF4-FFF2-40B4-BE49-F238E27FC236}">
                <a16:creationId xmlns:a16="http://schemas.microsoft.com/office/drawing/2014/main" id="{1AC771A7-2F81-E9F7-1B9D-4F6AC54EA249}"/>
              </a:ext>
            </a:extLst>
          </p:cNvPr>
          <p:cNvPicPr>
            <a:picLocks noChangeAspect="1"/>
          </p:cNvPicPr>
          <p:nvPr/>
        </p:nvPicPr>
        <p:blipFill>
          <a:blip r:embed="rId3"/>
          <a:stretch>
            <a:fillRect/>
          </a:stretch>
        </p:blipFill>
        <p:spPr>
          <a:xfrm>
            <a:off x="2867277" y="669792"/>
            <a:ext cx="9016240" cy="4575740"/>
          </a:xfrm>
          <a:prstGeom prst="rect">
            <a:avLst/>
          </a:prstGeom>
          <a:noFill/>
        </p:spPr>
      </p:pic>
      <p:sp>
        <p:nvSpPr>
          <p:cNvPr id="22" name="Slide Number Placeholder 5">
            <a:extLst>
              <a:ext uri="{FF2B5EF4-FFF2-40B4-BE49-F238E27FC236}">
                <a16:creationId xmlns:a16="http://schemas.microsoft.com/office/drawing/2014/main" id="{538A96AF-0F3A-9B93-1D4D-E2D90872810F}"/>
              </a:ext>
            </a:extLst>
          </p:cNvPr>
          <p:cNvSpPr>
            <a:spLocks noGrp="1"/>
          </p:cNvSpPr>
          <p:nvPr>
            <p:ph type="sldNum" sz="quarter" idx="10"/>
          </p:nvPr>
        </p:nvSpPr>
        <p:spPr>
          <a:xfrm>
            <a:off x="11776447" y="6448031"/>
            <a:ext cx="128254" cy="126984"/>
          </a:xfrm>
        </p:spPr>
        <p:txBody>
          <a:bodyPr/>
          <a:lstStyle/>
          <a:p>
            <a:pPr>
              <a:spcAft>
                <a:spcPts val="300"/>
              </a:spcAft>
            </a:pPr>
            <a:fld id="{86CB4B4D-7CA3-9044-876B-883B54F8677D}" type="slidenum">
              <a:rPr lang="en-US" smtClean="0"/>
              <a:pPr>
                <a:spcAft>
                  <a:spcPts val="300"/>
                </a:spcAft>
              </a:pPr>
              <a:t>30</a:t>
            </a:fld>
            <a:endParaRPr lang="en-US"/>
          </a:p>
        </p:txBody>
      </p:sp>
      <p:sp>
        <p:nvSpPr>
          <p:cNvPr id="6" name="Slide Number Placeholder 5" hidden="1">
            <a:extLst>
              <a:ext uri="{FF2B5EF4-FFF2-40B4-BE49-F238E27FC236}">
                <a16:creationId xmlns:a16="http://schemas.microsoft.com/office/drawing/2014/main" id="{BC9EAB48-C288-97DE-DD1A-B488F97737B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30</a:t>
            </a:fld>
            <a:endParaRPr lang="en-US"/>
          </a:p>
        </p:txBody>
      </p:sp>
      <p:sp>
        <p:nvSpPr>
          <p:cNvPr id="3" name="CasellaDiTesto 2">
            <a:extLst>
              <a:ext uri="{FF2B5EF4-FFF2-40B4-BE49-F238E27FC236}">
                <a16:creationId xmlns:a16="http://schemas.microsoft.com/office/drawing/2014/main" id="{C279A2E7-630A-C832-5F3F-107ABA0DDC95}"/>
              </a:ext>
            </a:extLst>
          </p:cNvPr>
          <p:cNvSpPr txBox="1"/>
          <p:nvPr/>
        </p:nvSpPr>
        <p:spPr>
          <a:xfrm>
            <a:off x="2867277" y="5361766"/>
            <a:ext cx="8556732" cy="132305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Il benchmark si ottiene normalizzando i dati dei contatori per orari di esercizio, superficie dell'edificio e condizioni meteo, per poi confrontare gli edifici su base di </a:t>
            </a:r>
            <a:r>
              <a:rPr lang="it-IT" sz="1333" err="1">
                <a:latin typeface="IBM Plex Sans Light" panose="020B0503050203000203" pitchFamily="34" charset="0"/>
              </a:rPr>
              <a:t>intensità.Questo</a:t>
            </a:r>
            <a:r>
              <a:rPr lang="it-IT" sz="1333">
                <a:latin typeface="IBM Plex Sans Light" panose="020B0503050203000203" pitchFamily="34" charset="0"/>
              </a:rPr>
              <a:t> consente di identificare gli </a:t>
            </a:r>
            <a:r>
              <a:rPr lang="it-IT" sz="1333" err="1">
                <a:latin typeface="IBM Plex Sans Light" panose="020B0503050203000203" pitchFamily="34" charset="0"/>
              </a:rPr>
              <a:t>outlier</a:t>
            </a:r>
            <a:r>
              <a:rPr lang="it-IT" sz="1333">
                <a:latin typeface="IBM Plex Sans Light" panose="020B0503050203000203" pitchFamily="34" charset="0"/>
              </a:rPr>
              <a:t> del portafoglio che richiedono un audit energetico o un approfondimento. Con “View </a:t>
            </a:r>
            <a:r>
              <a:rPr lang="it-IT" sz="1333" err="1">
                <a:latin typeface="IBM Plex Sans Light" panose="020B0503050203000203" pitchFamily="34" charset="0"/>
              </a:rPr>
              <a:t>Details</a:t>
            </a:r>
            <a:r>
              <a:rPr lang="it-IT" sz="1333">
                <a:latin typeface="IBM Plex Sans Light" panose="020B0503050203000203" pitchFamily="34" charset="0"/>
              </a:rPr>
              <a:t>” si analizza il potenziale di risparmio a livello di singola sede. Il pannello Filter limita il gruppo di sedi confrontate a un ramo della gerarchia o a una tipologia di edificio; il reporting </a:t>
            </a:r>
            <a:r>
              <a:rPr lang="it-IT" sz="1333" err="1">
                <a:latin typeface="IBM Plex Sans Light" panose="020B0503050203000203" pitchFamily="34" charset="0"/>
              </a:rPr>
              <a:t>period</a:t>
            </a:r>
            <a:r>
              <a:rPr lang="it-IT" sz="1333">
                <a:latin typeface="IBM Plex Sans Light" panose="020B0503050203000203" pitchFamily="34" charset="0"/>
              </a:rPr>
              <a:t> definisce l'intervallo del benchmarking. Nel sito dimostrativo non sono al momento presenti contatori di gas e acqua inclusi in un gruppo di benchmarking.</a:t>
            </a:r>
          </a:p>
        </p:txBody>
      </p:sp>
    </p:spTree>
    <p:extLst>
      <p:ext uri="{BB962C8B-B14F-4D97-AF65-F5344CB8AC3E}">
        <p14:creationId xmlns:p14="http://schemas.microsoft.com/office/powerpoint/2010/main" val="84588654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D5DA8-8BFF-DA7A-A06B-8B79D784F1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C6EE27F-C466-DA39-8F5F-D8FBFA57A507}"/>
              </a:ext>
            </a:extLst>
          </p:cNvPr>
          <p:cNvSpPr>
            <a:spLocks noGrp="1"/>
          </p:cNvSpPr>
          <p:nvPr>
            <p:ph type="title"/>
          </p:nvPr>
        </p:nvSpPr>
        <p:spPr>
          <a:xfrm>
            <a:off x="287999" y="288445"/>
            <a:ext cx="2474590" cy="762695"/>
          </a:xfrm>
        </p:spPr>
        <p:txBody>
          <a:bodyPr>
            <a:normAutofit/>
          </a:bodyPr>
          <a:lstStyle/>
          <a:p>
            <a:r>
              <a:rPr lang="it-IT" dirty="0"/>
              <a:t>Meter Utility Performance – Risparmi per fascia</a:t>
            </a:r>
            <a:endParaRPr lang="it-IT"/>
          </a:p>
        </p:txBody>
      </p:sp>
      <p:sp>
        <p:nvSpPr>
          <p:cNvPr id="8" name="Text Placeholder 7">
            <a:extLst>
              <a:ext uri="{FF2B5EF4-FFF2-40B4-BE49-F238E27FC236}">
                <a16:creationId xmlns:a16="http://schemas.microsoft.com/office/drawing/2014/main" id="{C46CD499-F030-4CA6-C1F3-BC4B9E894EB1}"/>
              </a:ext>
            </a:extLst>
          </p:cNvPr>
          <p:cNvSpPr>
            <a:spLocks noGrp="1"/>
          </p:cNvSpPr>
          <p:nvPr>
            <p:ph type="body" sz="quarter" idx="13"/>
          </p:nvPr>
        </p:nvSpPr>
        <p:spPr>
          <a:xfrm>
            <a:off x="287999" y="1714723"/>
            <a:ext cx="2477765" cy="4285692"/>
          </a:xfrm>
        </p:spPr>
        <p:txBody>
          <a:bodyPr>
            <a:normAutofit fontScale="92500" lnSpcReduction="20000"/>
          </a:bodyPr>
          <a:lstStyle/>
          <a:p>
            <a:pPr>
              <a:spcAft>
                <a:spcPts val="300"/>
              </a:spcAft>
            </a:pPr>
            <a:r>
              <a:rPr lang="it-IT" dirty="0"/>
              <a:t>Il power report è in evoluzione e sarà rinominato Meter Utility Performance Power Report.</a:t>
            </a:r>
          </a:p>
          <a:p>
            <a:pPr>
              <a:spcAft>
                <a:spcPts val="300"/>
              </a:spcAft>
            </a:pPr>
            <a:r>
              <a:rPr lang="it-IT" dirty="0"/>
              <a:t>Centralizza i dati dei contatori categorizzati per load type e suddivide i consumi tra base load, ore operative e ore non operative, con i risparmi derivanti dalla regressione.</a:t>
            </a:r>
          </a:p>
          <a:p>
            <a:pPr>
              <a:spcAft>
                <a:spcPts val="300"/>
              </a:spcAft>
            </a:pPr>
            <a:r>
              <a:rPr lang="it-IT" dirty="0"/>
              <a:t>La vista può essere letta in chiave di costo oppure di consumo, con l'opportunità di risparmio per sede e per fascia operativa.</a:t>
            </a:r>
          </a:p>
          <a:p>
            <a:pPr>
              <a:spcAft>
                <a:spcPts val="300"/>
              </a:spcAft>
            </a:pPr>
            <a:r>
              <a:rPr lang="it-IT" dirty="0"/>
              <a:t>Cliccando sull'etichetta dati di una sede si accede al suo dettaglio; “View Intensity Analysis” mostra l'analisi di intensità alla base del benchmarking.</a:t>
            </a:r>
          </a:p>
        </p:txBody>
      </p:sp>
      <p:sp>
        <p:nvSpPr>
          <p:cNvPr id="20" name="Footer Placeholder 4">
            <a:extLst>
              <a:ext uri="{FF2B5EF4-FFF2-40B4-BE49-F238E27FC236}">
                <a16:creationId xmlns:a16="http://schemas.microsoft.com/office/drawing/2014/main" id="{50AFCF67-06B0-1EE8-971A-02D2E1CD2056}"/>
              </a:ext>
            </a:extLst>
          </p:cNvPr>
          <p:cNvSpPr>
            <a:spLocks noGrp="1"/>
          </p:cNvSpPr>
          <p:nvPr>
            <p:ph type="ftr" sz="quarter" idx="12"/>
          </p:nvPr>
        </p:nvSpPr>
        <p:spPr>
          <a:xfrm>
            <a:off x="284125" y="6401731"/>
            <a:ext cx="2477765" cy="190475"/>
          </a:xfrm>
        </p:spPr>
        <p:txBody>
          <a:bodyPr/>
          <a:lstStyle/>
          <a:p>
            <a:endParaRPr lang="en-US"/>
          </a:p>
        </p:txBody>
      </p:sp>
      <p:sp>
        <p:nvSpPr>
          <p:cNvPr id="22" name="Slide Number Placeholder 5">
            <a:extLst>
              <a:ext uri="{FF2B5EF4-FFF2-40B4-BE49-F238E27FC236}">
                <a16:creationId xmlns:a16="http://schemas.microsoft.com/office/drawing/2014/main" id="{DC26EB24-F5A0-760A-6BBF-1647E0E5457E}"/>
              </a:ext>
            </a:extLst>
          </p:cNvPr>
          <p:cNvSpPr>
            <a:spLocks noGrp="1"/>
          </p:cNvSpPr>
          <p:nvPr>
            <p:ph type="sldNum" sz="quarter" idx="10"/>
          </p:nvPr>
        </p:nvSpPr>
        <p:spPr>
          <a:xfrm>
            <a:off x="11776447" y="6448031"/>
            <a:ext cx="128254" cy="126984"/>
          </a:xfrm>
        </p:spPr>
        <p:txBody>
          <a:bodyPr/>
          <a:lstStyle/>
          <a:p>
            <a:pPr>
              <a:spcAft>
                <a:spcPts val="300"/>
              </a:spcAft>
            </a:pPr>
            <a:fld id="{86CB4B4D-7CA3-9044-876B-883B54F8677D}" type="slidenum">
              <a:rPr lang="en-US" smtClean="0"/>
              <a:pPr>
                <a:spcAft>
                  <a:spcPts val="300"/>
                </a:spcAft>
              </a:pPr>
              <a:t>31</a:t>
            </a:fld>
            <a:endParaRPr lang="en-US"/>
          </a:p>
        </p:txBody>
      </p:sp>
      <p:sp>
        <p:nvSpPr>
          <p:cNvPr id="6" name="Slide Number Placeholder 5" hidden="1">
            <a:extLst>
              <a:ext uri="{FF2B5EF4-FFF2-40B4-BE49-F238E27FC236}">
                <a16:creationId xmlns:a16="http://schemas.microsoft.com/office/drawing/2014/main" id="{52A9E986-D804-44B9-179B-AF44B73BC703}"/>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31</a:t>
            </a:fld>
            <a:endParaRPr lang="en-US"/>
          </a:p>
        </p:txBody>
      </p:sp>
      <p:pic>
        <p:nvPicPr>
          <p:cNvPr id="9" name="Picture 8">
            <a:extLst>
              <a:ext uri="{FF2B5EF4-FFF2-40B4-BE49-F238E27FC236}">
                <a16:creationId xmlns:a16="http://schemas.microsoft.com/office/drawing/2014/main" id="{453C74CC-625D-075C-D6A8-F24CB1A77A40}"/>
              </a:ext>
            </a:extLst>
          </p:cNvPr>
          <p:cNvPicPr>
            <a:picLocks noChangeAspect="1"/>
          </p:cNvPicPr>
          <p:nvPr/>
        </p:nvPicPr>
        <p:blipFill>
          <a:blip r:embed="rId3"/>
          <a:stretch>
            <a:fillRect/>
          </a:stretch>
        </p:blipFill>
        <p:spPr>
          <a:xfrm>
            <a:off x="3443001" y="1051140"/>
            <a:ext cx="8591410" cy="4400913"/>
          </a:xfrm>
          <a:prstGeom prst="rect">
            <a:avLst/>
          </a:prstGeom>
        </p:spPr>
      </p:pic>
      <p:sp>
        <p:nvSpPr>
          <p:cNvPr id="3" name="CasellaDiTesto 2">
            <a:extLst>
              <a:ext uri="{FF2B5EF4-FFF2-40B4-BE49-F238E27FC236}">
                <a16:creationId xmlns:a16="http://schemas.microsoft.com/office/drawing/2014/main" id="{2002BAE3-13B8-ACBE-3AF3-9D0C9BDDD1EA}"/>
              </a:ext>
            </a:extLst>
          </p:cNvPr>
          <p:cNvSpPr txBox="1"/>
          <p:nvPr/>
        </p:nvSpPr>
        <p:spPr>
          <a:xfrm>
            <a:off x="397344" y="2888044"/>
            <a:ext cx="6097664" cy="139493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endParaRPr sz="900"/>
          </a:p>
          <a:p>
            <a:endParaRPr sz="900"/>
          </a:p>
          <a:p>
            <a:endParaRPr lang="en-US" sz="1333"/>
          </a:p>
          <a:p>
            <a:pPr marL="123819" indent="-123819">
              <a:buAutoNum type="arabicPeriod"/>
            </a:pPr>
            <a:endParaRPr lang="en-US" sz="1333"/>
          </a:p>
          <a:p>
            <a:pPr marL="123819" indent="-123819">
              <a:buAutoNum type="arabicPeriod"/>
            </a:pPr>
            <a:endParaRPr lang="en-US" sz="1333"/>
          </a:p>
          <a:p>
            <a:pPr marL="123819" indent="-123819">
              <a:buAutoNum type="arabicPeriod"/>
            </a:pPr>
            <a:endParaRPr lang="en-US" sz="1333"/>
          </a:p>
          <a:p>
            <a:pPr marL="123819" indent="-123819">
              <a:buAutoNum type="arabicPeriod"/>
            </a:pPr>
            <a:endParaRPr lang="en-US" sz="1333"/>
          </a:p>
        </p:txBody>
      </p:sp>
    </p:spTree>
    <p:extLst>
      <p:ext uri="{BB962C8B-B14F-4D97-AF65-F5344CB8AC3E}">
        <p14:creationId xmlns:p14="http://schemas.microsoft.com/office/powerpoint/2010/main" val="424334308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6DBB-241A-1D53-094E-C3576B800E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E7D038F-3BF8-3D47-EA8C-1D65ED02F131}"/>
              </a:ext>
            </a:extLst>
          </p:cNvPr>
          <p:cNvSpPr>
            <a:spLocks noGrp="1"/>
          </p:cNvSpPr>
          <p:nvPr>
            <p:ph type="title"/>
          </p:nvPr>
        </p:nvSpPr>
        <p:spPr>
          <a:xfrm>
            <a:off x="284125" y="265794"/>
            <a:ext cx="3550077" cy="569140"/>
          </a:xfrm>
        </p:spPr>
        <p:txBody>
          <a:bodyPr>
            <a:normAutofit/>
          </a:bodyPr>
          <a:lstStyle/>
          <a:p>
            <a:r>
              <a:rPr lang="it-IT" dirty="0"/>
              <a:t>Regole di inattività – Allarmi sui dati mancanti</a:t>
            </a:r>
            <a:endParaRPr lang="it-IT"/>
          </a:p>
        </p:txBody>
      </p:sp>
      <p:sp>
        <p:nvSpPr>
          <p:cNvPr id="8" name="Text Placeholder 7">
            <a:extLst>
              <a:ext uri="{FF2B5EF4-FFF2-40B4-BE49-F238E27FC236}">
                <a16:creationId xmlns:a16="http://schemas.microsoft.com/office/drawing/2014/main" id="{71929A75-3CCF-F5ED-5BF1-8020A88FBEA5}"/>
              </a:ext>
            </a:extLst>
          </p:cNvPr>
          <p:cNvSpPr>
            <a:spLocks noGrp="1"/>
          </p:cNvSpPr>
          <p:nvPr>
            <p:ph type="body" sz="quarter" idx="12"/>
          </p:nvPr>
        </p:nvSpPr>
        <p:spPr>
          <a:xfrm>
            <a:off x="284125" y="1255786"/>
            <a:ext cx="2477765" cy="4163387"/>
          </a:xfrm>
        </p:spPr>
        <p:txBody>
          <a:bodyPr>
            <a:normAutofit/>
          </a:bodyPr>
          <a:lstStyle/>
          <a:p>
            <a:pPr>
              <a:spcAft>
                <a:spcPts val="300"/>
              </a:spcAft>
            </a:pPr>
            <a:r>
              <a:rPr lang="it-IT" dirty="0"/>
              <a:t>Le regole di inattività notificano gli utenti quando i dati di un contatore non vengono ricevuti.</a:t>
            </a:r>
          </a:p>
          <a:p>
            <a:pPr>
              <a:spcAft>
                <a:spcPts val="300"/>
              </a:spcAft>
            </a:pPr>
            <a:r>
              <a:rPr lang="it-IT" dirty="0"/>
              <a:t>Configurazione: Manage → Meter → ricerca del contatore → tasto destro o Actions → Set inactivity alert.</a:t>
            </a:r>
          </a:p>
          <a:p>
            <a:pPr>
              <a:spcAft>
                <a:spcPts val="300"/>
              </a:spcAft>
            </a:pPr>
            <a:r>
              <a:rPr lang="it-IT" dirty="0"/>
              <a:t>È possibile creare più alert sullo stesso contatore, ciascuno con un proprio livello di criticità.</a:t>
            </a:r>
          </a:p>
        </p:txBody>
      </p:sp>
      <p:sp>
        <p:nvSpPr>
          <p:cNvPr id="6" name="Slide Number Placeholder 5" hidden="1">
            <a:extLst>
              <a:ext uri="{FF2B5EF4-FFF2-40B4-BE49-F238E27FC236}">
                <a16:creationId xmlns:a16="http://schemas.microsoft.com/office/drawing/2014/main" id="{79E97976-C85B-9111-2D5F-B93411E645F7}"/>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32</a:t>
            </a:fld>
            <a:endParaRPr lang="en-US"/>
          </a:p>
        </p:txBody>
      </p:sp>
      <p:pic>
        <p:nvPicPr>
          <p:cNvPr id="11" name="Picture 10">
            <a:extLst>
              <a:ext uri="{FF2B5EF4-FFF2-40B4-BE49-F238E27FC236}">
                <a16:creationId xmlns:a16="http://schemas.microsoft.com/office/drawing/2014/main" id="{884A5E8E-5067-4E9E-FE85-629DF9548625}"/>
              </a:ext>
            </a:extLst>
          </p:cNvPr>
          <p:cNvPicPr>
            <a:picLocks noChangeAspect="1"/>
          </p:cNvPicPr>
          <p:nvPr/>
        </p:nvPicPr>
        <p:blipFill>
          <a:blip r:embed="rId3"/>
          <a:stretch>
            <a:fillRect/>
          </a:stretch>
        </p:blipFill>
        <p:spPr>
          <a:xfrm>
            <a:off x="3375974" y="2505821"/>
            <a:ext cx="8449629" cy="3531681"/>
          </a:xfrm>
          <a:prstGeom prst="rect">
            <a:avLst/>
          </a:prstGeom>
        </p:spPr>
      </p:pic>
      <p:pic>
        <p:nvPicPr>
          <p:cNvPr id="13" name="Picture 12">
            <a:extLst>
              <a:ext uri="{FF2B5EF4-FFF2-40B4-BE49-F238E27FC236}">
                <a16:creationId xmlns:a16="http://schemas.microsoft.com/office/drawing/2014/main" id="{4ABA4BFC-77F8-D3AB-2A3A-039A42DE891B}"/>
              </a:ext>
            </a:extLst>
          </p:cNvPr>
          <p:cNvPicPr>
            <a:picLocks noChangeAspect="1"/>
          </p:cNvPicPr>
          <p:nvPr/>
        </p:nvPicPr>
        <p:blipFill>
          <a:blip r:embed="rId4"/>
          <a:stretch>
            <a:fillRect/>
          </a:stretch>
        </p:blipFill>
        <p:spPr>
          <a:xfrm>
            <a:off x="6284491" y="90386"/>
            <a:ext cx="2632595" cy="2415435"/>
          </a:xfrm>
          <a:prstGeom prst="rect">
            <a:avLst/>
          </a:prstGeom>
        </p:spPr>
      </p:pic>
      <p:sp>
        <p:nvSpPr>
          <p:cNvPr id="2" name="CasellaDiTesto 1">
            <a:extLst>
              <a:ext uri="{FF2B5EF4-FFF2-40B4-BE49-F238E27FC236}">
                <a16:creationId xmlns:a16="http://schemas.microsoft.com/office/drawing/2014/main" id="{FB2858EC-AAD7-0A47-755E-396F8DD15B9B}"/>
              </a:ext>
            </a:extLst>
          </p:cNvPr>
          <p:cNvSpPr txBox="1"/>
          <p:nvPr/>
        </p:nvSpPr>
        <p:spPr>
          <a:xfrm>
            <a:off x="186826" y="4144633"/>
            <a:ext cx="3189147" cy="193847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È possibile creare più alert con stati differenti: Normal, High e Critical.</a:t>
            </a:r>
          </a:p>
          <a:p>
            <a:pPr defTabSz="1219017" fontAlgn="base">
              <a:spcBef>
                <a:spcPts val="800"/>
              </a:spcBef>
              <a:defRPr/>
            </a:pPr>
            <a:r>
              <a:rPr lang="it-IT" sz="1333">
                <a:latin typeface="IBM Plex Sans Light" panose="020B0503050203000203" pitchFamily="34" charset="0"/>
              </a:rPr>
              <a:t>Per ciascuno stato si assegna un utente in </a:t>
            </a:r>
            <a:r>
              <a:rPr lang="it-IT" sz="1333" err="1">
                <a:latin typeface="IBM Plex Sans Light" panose="020B0503050203000203" pitchFamily="34" charset="0"/>
              </a:rPr>
              <a:t>Manage</a:t>
            </a:r>
            <a:r>
              <a:rPr lang="it-IT" sz="1333">
                <a:latin typeface="IBM Plex Sans Light" panose="020B0503050203000203" pitchFamily="34" charset="0"/>
              </a:rPr>
              <a:t> → Notification </a:t>
            </a:r>
            <a:r>
              <a:rPr lang="it-IT" sz="1333" err="1">
                <a:latin typeface="IBM Plex Sans Light" panose="020B0503050203000203" pitchFamily="34" charset="0"/>
              </a:rPr>
              <a:t>contacts</a:t>
            </a:r>
            <a:r>
              <a:rPr lang="it-IT" sz="1333">
                <a:latin typeface="IBM Plex Sans Light" panose="020B0503050203000203" pitchFamily="34" charset="0"/>
              </a:rPr>
              <a:t>.</a:t>
            </a:r>
          </a:p>
          <a:p>
            <a:pPr defTabSz="1219017" fontAlgn="base">
              <a:spcBef>
                <a:spcPts val="800"/>
              </a:spcBef>
              <a:defRPr/>
            </a:pPr>
            <a:r>
              <a:rPr lang="it-IT" sz="1333">
                <a:latin typeface="IBM Plex Sans Light" panose="020B0503050203000203" pitchFamily="34" charset="0"/>
              </a:rPr>
              <a:t>Se non è definito alcun contatto di notifica viene comunque creata una </a:t>
            </a:r>
            <a:r>
              <a:rPr lang="it-IT" sz="1333" err="1">
                <a:latin typeface="IBM Plex Sans Light" panose="020B0503050203000203" pitchFamily="34" charset="0"/>
              </a:rPr>
              <a:t>issue</a:t>
            </a:r>
            <a:r>
              <a:rPr lang="it-IT" sz="1333">
                <a:latin typeface="IBM Plex Sans Light" panose="020B0503050203000203" pitchFamily="34" charset="0"/>
              </a:rPr>
              <a:t>, che può essere assegnata e gestita.</a:t>
            </a:r>
          </a:p>
        </p:txBody>
      </p:sp>
    </p:spTree>
    <p:extLst>
      <p:ext uri="{BB962C8B-B14F-4D97-AF65-F5344CB8AC3E}">
        <p14:creationId xmlns:p14="http://schemas.microsoft.com/office/powerpoint/2010/main" val="321535591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822B7-8074-E718-4FB2-D00F761D3B2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BFBA1C3-BBC0-61A7-C6D7-4EF78B231F04}"/>
              </a:ext>
            </a:extLst>
          </p:cNvPr>
          <p:cNvSpPr>
            <a:spLocks noGrp="1"/>
          </p:cNvSpPr>
          <p:nvPr>
            <p:ph type="title"/>
          </p:nvPr>
        </p:nvSpPr>
        <p:spPr>
          <a:xfrm>
            <a:off x="284125" y="265794"/>
            <a:ext cx="3550077" cy="569140"/>
          </a:xfrm>
        </p:spPr>
        <p:txBody>
          <a:bodyPr>
            <a:normAutofit/>
          </a:bodyPr>
          <a:lstStyle/>
          <a:p>
            <a:r>
              <a:rPr lang="it-IT" dirty="0"/>
              <a:t>Gestione di alert e issue</a:t>
            </a:r>
            <a:endParaRPr lang="it-IT"/>
          </a:p>
        </p:txBody>
      </p:sp>
      <p:sp>
        <p:nvSpPr>
          <p:cNvPr id="8" name="Text Placeholder 7">
            <a:extLst>
              <a:ext uri="{FF2B5EF4-FFF2-40B4-BE49-F238E27FC236}">
                <a16:creationId xmlns:a16="http://schemas.microsoft.com/office/drawing/2014/main" id="{CDC68AD8-D3C0-A05D-AAFC-F3401A25CDE7}"/>
              </a:ext>
            </a:extLst>
          </p:cNvPr>
          <p:cNvSpPr>
            <a:spLocks noGrp="1"/>
          </p:cNvSpPr>
          <p:nvPr>
            <p:ph type="body" sz="quarter" idx="12"/>
          </p:nvPr>
        </p:nvSpPr>
        <p:spPr>
          <a:xfrm>
            <a:off x="404431" y="888375"/>
            <a:ext cx="2477765" cy="5183835"/>
          </a:xfrm>
        </p:spPr>
        <p:txBody>
          <a:bodyPr>
            <a:normAutofit fontScale="70000" lnSpcReduction="20000"/>
          </a:bodyPr>
          <a:lstStyle/>
          <a:p>
            <a:pPr>
              <a:lnSpc>
                <a:spcPct val="120000"/>
              </a:lnSpc>
              <a:spcAft>
                <a:spcPts val="300"/>
              </a:spcAft>
            </a:pPr>
            <a:r>
              <a:rPr lang="it-IT" sz="1550" dirty="0"/>
              <a:t>Gli alert generati sono consultabili tra le issue: home page → Quick links → Issues.</a:t>
            </a:r>
          </a:p>
          <a:p>
            <a:pPr>
              <a:lnSpc>
                <a:spcPct val="120000"/>
              </a:lnSpc>
              <a:spcAft>
                <a:spcPts val="300"/>
              </a:spcAft>
            </a:pPr>
            <a:r>
              <a:rPr lang="it-IT" sz="1550" dirty="0"/>
              <a:t>Le issue vengono assegnate ai contatti di riferimento e gestite tramite board Kanban, email, griglie o dashboard del contatore.</a:t>
            </a:r>
          </a:p>
          <a:p>
            <a:pPr>
              <a:lnSpc>
                <a:spcPct val="120000"/>
              </a:lnSpc>
              <a:spcAft>
                <a:spcPts val="300"/>
              </a:spcAft>
            </a:pPr>
            <a:r>
              <a:rPr lang="it-IT" sz="1550" dirty="0"/>
              <a:t>Il flusso garantisce tracciabilità, responsabilità e collaborazione nella risoluzione delle anomalie.</a:t>
            </a:r>
          </a:p>
          <a:p>
            <a:pPr defTabSz="1219017" fontAlgn="base">
              <a:lnSpc>
                <a:spcPct val="120000"/>
              </a:lnSpc>
              <a:spcBef>
                <a:spcPts val="800"/>
              </a:spcBef>
              <a:defRPr/>
            </a:pPr>
            <a:r>
              <a:rPr lang="it-IT" sz="1550" dirty="0">
                <a:latin typeface="IBM Plex Sans Light" panose="020B0503050203000203" pitchFamily="34" charset="0"/>
              </a:rPr>
              <a:t>Configurazione: </a:t>
            </a:r>
            <a:r>
              <a:rPr lang="it-IT" sz="1550" dirty="0" err="1">
                <a:latin typeface="IBM Plex Sans Light" panose="020B0503050203000203" pitchFamily="34" charset="0"/>
              </a:rPr>
              <a:t>Manage</a:t>
            </a:r>
            <a:r>
              <a:rPr lang="it-IT" sz="1550" dirty="0">
                <a:latin typeface="IBM Plex Sans Light" panose="020B0503050203000203" pitchFamily="34" charset="0"/>
              </a:rPr>
              <a:t> → Meter → ricerca del contatore → tasto destro o Actions → Set </a:t>
            </a:r>
            <a:r>
              <a:rPr lang="it-IT" sz="1550" dirty="0" err="1">
                <a:latin typeface="IBM Plex Sans Light" panose="020B0503050203000203" pitchFamily="34" charset="0"/>
              </a:rPr>
              <a:t>inactivity</a:t>
            </a:r>
            <a:r>
              <a:rPr lang="it-IT" sz="1550" dirty="0">
                <a:latin typeface="IBM Plex Sans Light" panose="020B0503050203000203" pitchFamily="34" charset="0"/>
              </a:rPr>
              <a:t> alert.</a:t>
            </a:r>
          </a:p>
          <a:p>
            <a:pPr defTabSz="1219017" fontAlgn="base">
              <a:lnSpc>
                <a:spcPct val="120000"/>
              </a:lnSpc>
              <a:spcBef>
                <a:spcPts val="800"/>
              </a:spcBef>
              <a:defRPr/>
            </a:pPr>
            <a:r>
              <a:rPr lang="it-IT" sz="1550" dirty="0">
                <a:latin typeface="IBM Plex Sans Light" panose="020B0503050203000203" pitchFamily="34" charset="0"/>
              </a:rPr>
              <a:t>Gli alert possono avere stati diversi – Normal, High e Critical – con un contatto di notifica dedicato per ciascuno stato.</a:t>
            </a:r>
          </a:p>
          <a:p>
            <a:pPr defTabSz="1219017" fontAlgn="base">
              <a:lnSpc>
                <a:spcPct val="120000"/>
              </a:lnSpc>
              <a:spcBef>
                <a:spcPts val="800"/>
              </a:spcBef>
              <a:defRPr/>
            </a:pPr>
            <a:r>
              <a:rPr lang="it-IT" sz="1550" dirty="0">
                <a:latin typeface="IBM Plex Sans Light" panose="020B0503050203000203" pitchFamily="34" charset="0"/>
              </a:rPr>
              <a:t>In assenza di contatti di notifica viene comunque generata una </a:t>
            </a:r>
            <a:r>
              <a:rPr lang="it-IT" sz="1550" dirty="0" err="1">
                <a:latin typeface="IBM Plex Sans Light" panose="020B0503050203000203" pitchFamily="34" charset="0"/>
              </a:rPr>
              <a:t>issue</a:t>
            </a:r>
            <a:r>
              <a:rPr lang="it-IT" sz="1550" dirty="0">
                <a:latin typeface="IBM Plex Sans Light" panose="020B0503050203000203" pitchFamily="34" charset="0"/>
              </a:rPr>
              <a:t>, assegnabile e tracciabile fino alla chiusura.</a:t>
            </a:r>
          </a:p>
          <a:p>
            <a:pPr>
              <a:spcAft>
                <a:spcPts val="300"/>
              </a:spcAft>
            </a:pPr>
            <a:endParaRPr lang="it-IT" dirty="0"/>
          </a:p>
        </p:txBody>
      </p:sp>
      <p:sp>
        <p:nvSpPr>
          <p:cNvPr id="15" name="Footer Placeholder 4">
            <a:extLst>
              <a:ext uri="{FF2B5EF4-FFF2-40B4-BE49-F238E27FC236}">
                <a16:creationId xmlns:a16="http://schemas.microsoft.com/office/drawing/2014/main" id="{923F7BA3-3633-7F36-7566-34CC9DE84EFD}"/>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AB36936D-68AA-F042-B4CE-557B147F047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33</a:t>
            </a:fld>
            <a:endParaRPr lang="en-US"/>
          </a:p>
        </p:txBody>
      </p:sp>
      <p:pic>
        <p:nvPicPr>
          <p:cNvPr id="3" name="Picture 2">
            <a:extLst>
              <a:ext uri="{FF2B5EF4-FFF2-40B4-BE49-F238E27FC236}">
                <a16:creationId xmlns:a16="http://schemas.microsoft.com/office/drawing/2014/main" id="{1D339ED8-94BE-BCD6-3390-E9DC2C6CA58C}"/>
              </a:ext>
            </a:extLst>
          </p:cNvPr>
          <p:cNvPicPr>
            <a:picLocks noChangeAspect="1"/>
          </p:cNvPicPr>
          <p:nvPr/>
        </p:nvPicPr>
        <p:blipFill>
          <a:blip r:embed="rId3"/>
          <a:stretch>
            <a:fillRect/>
          </a:stretch>
        </p:blipFill>
        <p:spPr>
          <a:xfrm>
            <a:off x="3348544" y="89412"/>
            <a:ext cx="3320560" cy="3609517"/>
          </a:xfrm>
          <a:prstGeom prst="rect">
            <a:avLst/>
          </a:prstGeom>
        </p:spPr>
      </p:pic>
      <p:pic>
        <p:nvPicPr>
          <p:cNvPr id="10" name="Picture 9">
            <a:extLst>
              <a:ext uri="{FF2B5EF4-FFF2-40B4-BE49-F238E27FC236}">
                <a16:creationId xmlns:a16="http://schemas.microsoft.com/office/drawing/2014/main" id="{2BB978FC-F1ED-27A3-A6E9-10EFC9C27CDD}"/>
              </a:ext>
            </a:extLst>
          </p:cNvPr>
          <p:cNvPicPr>
            <a:picLocks noChangeAspect="1"/>
          </p:cNvPicPr>
          <p:nvPr/>
        </p:nvPicPr>
        <p:blipFill>
          <a:blip r:embed="rId4"/>
          <a:stretch>
            <a:fillRect/>
          </a:stretch>
        </p:blipFill>
        <p:spPr>
          <a:xfrm>
            <a:off x="5965264" y="2260433"/>
            <a:ext cx="6004299" cy="4236535"/>
          </a:xfrm>
          <a:prstGeom prst="rect">
            <a:avLst/>
          </a:prstGeom>
        </p:spPr>
      </p:pic>
      <p:pic>
        <p:nvPicPr>
          <p:cNvPr id="14" name="Picture 13">
            <a:extLst>
              <a:ext uri="{FF2B5EF4-FFF2-40B4-BE49-F238E27FC236}">
                <a16:creationId xmlns:a16="http://schemas.microsoft.com/office/drawing/2014/main" id="{C98D03A2-E0C8-AF90-00F7-B790488C7789}"/>
              </a:ext>
            </a:extLst>
          </p:cNvPr>
          <p:cNvPicPr>
            <a:picLocks noChangeAspect="1"/>
          </p:cNvPicPr>
          <p:nvPr/>
        </p:nvPicPr>
        <p:blipFill>
          <a:blip r:embed="rId5"/>
          <a:stretch>
            <a:fillRect/>
          </a:stretch>
        </p:blipFill>
        <p:spPr>
          <a:xfrm>
            <a:off x="6040026" y="550364"/>
            <a:ext cx="6011918" cy="979128"/>
          </a:xfrm>
          <a:prstGeom prst="rect">
            <a:avLst/>
          </a:prstGeom>
        </p:spPr>
      </p:pic>
      <p:sp>
        <p:nvSpPr>
          <p:cNvPr id="16" name="Rectangle 15">
            <a:extLst>
              <a:ext uri="{FF2B5EF4-FFF2-40B4-BE49-F238E27FC236}">
                <a16:creationId xmlns:a16="http://schemas.microsoft.com/office/drawing/2014/main" id="{796C1904-3B95-C9B2-6171-7E9B36903C71}"/>
              </a:ext>
            </a:extLst>
          </p:cNvPr>
          <p:cNvSpPr/>
          <p:nvPr/>
        </p:nvSpPr>
        <p:spPr>
          <a:xfrm>
            <a:off x="8293852" y="67331"/>
            <a:ext cx="2585182" cy="184660"/>
          </a:xfrm>
          <a:prstGeom prst="rect">
            <a:avLst/>
          </a:prstGeom>
          <a:noFill/>
        </p:spPr>
        <p:txBody>
          <a:bodyPr wrap="square" lIns="45714" tIns="22857" rIns="45714" bIns="22857">
            <a:spAutoFit/>
          </a:bodyPr>
          <a:lstStyle/>
          <a:p>
            <a:pPr algn="ctr"/>
            <a:endParaRPr lang="it-IT" sz="900"/>
          </a:p>
        </p:txBody>
      </p:sp>
      <p:sp>
        <p:nvSpPr>
          <p:cNvPr id="17" name="Rectangle 16">
            <a:extLst>
              <a:ext uri="{FF2B5EF4-FFF2-40B4-BE49-F238E27FC236}">
                <a16:creationId xmlns:a16="http://schemas.microsoft.com/office/drawing/2014/main" id="{C0E43993-3331-FA5F-7EE8-8F726EEDFA82}"/>
              </a:ext>
            </a:extLst>
          </p:cNvPr>
          <p:cNvSpPr/>
          <p:nvPr/>
        </p:nvSpPr>
        <p:spPr>
          <a:xfrm>
            <a:off x="3245000" y="3644509"/>
            <a:ext cx="2585182" cy="184660"/>
          </a:xfrm>
          <a:prstGeom prst="rect">
            <a:avLst/>
          </a:prstGeom>
          <a:noFill/>
        </p:spPr>
        <p:txBody>
          <a:bodyPr wrap="square" lIns="45714" tIns="22857" rIns="45714" bIns="22857">
            <a:spAutoFit/>
          </a:bodyPr>
          <a:lstStyle/>
          <a:p>
            <a:pPr algn="ctr"/>
            <a:endParaRPr lang="it-IT" sz="900"/>
          </a:p>
        </p:txBody>
      </p:sp>
      <p:sp>
        <p:nvSpPr>
          <p:cNvPr id="18" name="Rectangle 17">
            <a:extLst>
              <a:ext uri="{FF2B5EF4-FFF2-40B4-BE49-F238E27FC236}">
                <a16:creationId xmlns:a16="http://schemas.microsoft.com/office/drawing/2014/main" id="{8FE5C70B-C6A7-68F4-719B-9E914600D3E8}"/>
              </a:ext>
            </a:extLst>
          </p:cNvPr>
          <p:cNvSpPr/>
          <p:nvPr/>
        </p:nvSpPr>
        <p:spPr>
          <a:xfrm>
            <a:off x="8576013" y="1894171"/>
            <a:ext cx="2585182" cy="184660"/>
          </a:xfrm>
          <a:prstGeom prst="rect">
            <a:avLst/>
          </a:prstGeom>
          <a:noFill/>
        </p:spPr>
        <p:txBody>
          <a:bodyPr wrap="square" lIns="45714" tIns="22857" rIns="45714" bIns="22857">
            <a:spAutoFit/>
          </a:bodyPr>
          <a:lstStyle/>
          <a:p>
            <a:pPr algn="ctr"/>
            <a:endParaRPr lang="it-IT" sz="900"/>
          </a:p>
        </p:txBody>
      </p:sp>
    </p:spTree>
    <p:extLst>
      <p:ext uri="{BB962C8B-B14F-4D97-AF65-F5344CB8AC3E}">
        <p14:creationId xmlns:p14="http://schemas.microsoft.com/office/powerpoint/2010/main" val="15987556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C778B-B3E0-EDE7-075E-CDB8BB2BB90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3DC7A55-8A0B-B936-F857-2D003FF50B2D}"/>
              </a:ext>
            </a:extLst>
          </p:cNvPr>
          <p:cNvSpPr>
            <a:spLocks noGrp="1"/>
          </p:cNvSpPr>
          <p:nvPr>
            <p:ph type="title"/>
          </p:nvPr>
        </p:nvSpPr>
        <p:spPr>
          <a:xfrm>
            <a:off x="284125" y="265794"/>
            <a:ext cx="3550077" cy="569140"/>
          </a:xfrm>
        </p:spPr>
        <p:txBody>
          <a:bodyPr>
            <a:normAutofit/>
          </a:bodyPr>
          <a:lstStyle/>
          <a:p>
            <a:r>
              <a:rPr lang="it-IT" dirty="0"/>
              <a:t>Regole assolute – Soglie definite dall'utente</a:t>
            </a:r>
            <a:endParaRPr lang="it-IT"/>
          </a:p>
        </p:txBody>
      </p:sp>
      <p:sp>
        <p:nvSpPr>
          <p:cNvPr id="8" name="Text Placeholder 7">
            <a:extLst>
              <a:ext uri="{FF2B5EF4-FFF2-40B4-BE49-F238E27FC236}">
                <a16:creationId xmlns:a16="http://schemas.microsoft.com/office/drawing/2014/main" id="{C4857E19-10C0-CBE4-716D-8AC4E2DFCF08}"/>
              </a:ext>
            </a:extLst>
          </p:cNvPr>
          <p:cNvSpPr>
            <a:spLocks noGrp="1"/>
          </p:cNvSpPr>
          <p:nvPr>
            <p:ph type="body" sz="quarter" idx="12"/>
          </p:nvPr>
        </p:nvSpPr>
        <p:spPr>
          <a:xfrm>
            <a:off x="287999" y="787336"/>
            <a:ext cx="2477765" cy="5213080"/>
          </a:xfrm>
        </p:spPr>
        <p:txBody>
          <a:bodyPr>
            <a:normAutofit fontScale="77500" lnSpcReduction="20000"/>
          </a:bodyPr>
          <a:lstStyle/>
          <a:p>
            <a:pPr>
              <a:spcAft>
                <a:spcPts val="300"/>
              </a:spcAft>
            </a:pPr>
            <a:r>
              <a:rPr lang="it-IT" dirty="0"/>
              <a:t>Una regola assoluta si basa su una soglia definita dall'utente, ad esempio una domanda superiore a 20 kW in un dato intervallo.</a:t>
            </a:r>
          </a:p>
          <a:p>
            <a:pPr>
              <a:spcAft>
                <a:spcPts val="300"/>
              </a:spcAft>
            </a:pPr>
            <a:r>
              <a:rPr lang="it-IT" dirty="0"/>
              <a:t>Le regole assolute si configurano dalla pagina Meter Summary o da qualsiasi griglia dei contatori.</a:t>
            </a:r>
          </a:p>
          <a:p>
            <a:pPr>
              <a:spcAft>
                <a:spcPts val="300"/>
              </a:spcAft>
            </a:pPr>
            <a:r>
              <a:rPr lang="it-IT" dirty="0"/>
              <a:t>Nella pagina Set Alerts si seleziona il periodo tramite il time navigator.</a:t>
            </a:r>
          </a:p>
          <a:p>
            <a:pPr defTabSz="1219017" fontAlgn="base">
              <a:lnSpc>
                <a:spcPct val="100000"/>
              </a:lnSpc>
              <a:spcBef>
                <a:spcPts val="800"/>
              </a:spcBef>
              <a:defRPr/>
            </a:pPr>
            <a:r>
              <a:rPr lang="en-US" kern="1200" dirty="0">
                <a:latin typeface="IBM Plex Sans Light" panose="020B0503050203000203" pitchFamily="34" charset="0"/>
              </a:rPr>
              <a:t>Per </a:t>
            </a:r>
            <a:r>
              <a:rPr lang="en-US" kern="1200" dirty="0" err="1">
                <a:latin typeface="IBM Plex Sans Light" panose="020B0503050203000203" pitchFamily="34" charset="0"/>
              </a:rPr>
              <a:t>visualizzare</a:t>
            </a:r>
            <a:r>
              <a:rPr lang="en-US" kern="1200" dirty="0">
                <a:latin typeface="IBM Plex Sans Light" panose="020B0503050203000203" pitchFamily="34" charset="0"/>
              </a:rPr>
              <a:t> </a:t>
            </a:r>
            <a:r>
              <a:rPr lang="en-US" kern="1200" dirty="0" err="1">
                <a:latin typeface="IBM Plex Sans Light" panose="020B0503050203000203" pitchFamily="34" charset="0"/>
              </a:rPr>
              <a:t>una</a:t>
            </a:r>
            <a:r>
              <a:rPr lang="en-US" kern="1200" dirty="0">
                <a:latin typeface="IBM Plex Sans Light" panose="020B0503050203000203" pitchFamily="34" charset="0"/>
              </a:rPr>
              <a:t> </a:t>
            </a:r>
            <a:r>
              <a:rPr lang="en-US" kern="1200" dirty="0" err="1">
                <a:latin typeface="IBM Plex Sans Light" panose="020B0503050203000203" pitchFamily="34" charset="0"/>
              </a:rPr>
              <a:t>regola</a:t>
            </a:r>
            <a:r>
              <a:rPr lang="en-US" kern="1200" dirty="0">
                <a:latin typeface="IBM Plex Sans Light" panose="020B0503050203000203" pitchFamily="34" charset="0"/>
              </a:rPr>
              <a:t> assoluta, fare </a:t>
            </a:r>
            <a:r>
              <a:rPr lang="en-US" kern="1200" dirty="0" err="1">
                <a:latin typeface="IBM Plex Sans Light" panose="020B0503050203000203" pitchFamily="34" charset="0"/>
              </a:rPr>
              <a:t>clic</a:t>
            </a:r>
            <a:r>
              <a:rPr lang="en-US" kern="1200" dirty="0">
                <a:latin typeface="IBM Plex Sans Light" panose="020B0503050203000203" pitchFamily="34" charset="0"/>
              </a:rPr>
              <a:t> </a:t>
            </a:r>
            <a:r>
              <a:rPr lang="en-US" kern="1200" dirty="0" err="1">
                <a:latin typeface="IBM Plex Sans Light" panose="020B0503050203000203" pitchFamily="34" charset="0"/>
              </a:rPr>
              <a:t>destro</a:t>
            </a:r>
            <a:r>
              <a:rPr lang="en-US" kern="1200" dirty="0">
                <a:latin typeface="IBM Plex Sans Light" panose="020B0503050203000203" pitchFamily="34" charset="0"/>
              </a:rPr>
              <a:t> </a:t>
            </a:r>
            <a:r>
              <a:rPr lang="en-US" kern="1200" dirty="0" err="1">
                <a:latin typeface="IBM Plex Sans Light" panose="020B0503050203000203" pitchFamily="34" charset="0"/>
              </a:rPr>
              <a:t>su</a:t>
            </a:r>
            <a:r>
              <a:rPr lang="en-US" kern="1200" dirty="0">
                <a:latin typeface="IBM Plex Sans Light" panose="020B0503050203000203" pitchFamily="34" charset="0"/>
              </a:rPr>
              <a:t> un </a:t>
            </a:r>
            <a:r>
              <a:rPr lang="en-US" kern="1200" dirty="0" err="1">
                <a:latin typeface="IBM Plex Sans Light" panose="020B0503050203000203" pitchFamily="34" charset="0"/>
              </a:rPr>
              <a:t>contatore</a:t>
            </a:r>
            <a:r>
              <a:rPr lang="en-US" kern="1200" dirty="0">
                <a:latin typeface="IBM Plex Sans Light" panose="020B0503050203000203" pitchFamily="34" charset="0"/>
              </a:rPr>
              <a:t> </a:t>
            </a:r>
            <a:r>
              <a:rPr lang="en-US" kern="1200" dirty="0" err="1">
                <a:latin typeface="IBM Plex Sans Light" panose="020B0503050203000203" pitchFamily="34" charset="0"/>
              </a:rPr>
              <a:t>nella</a:t>
            </a:r>
            <a:r>
              <a:rPr lang="en-US" kern="1200" dirty="0">
                <a:latin typeface="IBM Plex Sans Light" panose="020B0503050203000203" pitchFamily="34" charset="0"/>
              </a:rPr>
              <a:t> </a:t>
            </a:r>
            <a:r>
              <a:rPr lang="en-US" kern="1200" dirty="0" err="1">
                <a:latin typeface="IBM Plex Sans Light" panose="020B0503050203000203" pitchFamily="34" charset="0"/>
              </a:rPr>
              <a:t>griglia</a:t>
            </a:r>
            <a:r>
              <a:rPr lang="en-US" kern="1200" dirty="0">
                <a:latin typeface="IBM Plex Sans Light" panose="020B0503050203000203" pitchFamily="34" charset="0"/>
              </a:rPr>
              <a:t> Meters </a:t>
            </a:r>
            <a:r>
              <a:rPr lang="en-US" kern="1200" dirty="0" err="1">
                <a:latin typeface="IBM Plex Sans Light" panose="020B0503050203000203" pitchFamily="34" charset="0"/>
              </a:rPr>
              <a:t>oppure</a:t>
            </a:r>
            <a:r>
              <a:rPr lang="en-US" kern="1200" dirty="0">
                <a:latin typeface="IBM Plex Sans Light" panose="020B0503050203000203" pitchFamily="34" charset="0"/>
              </a:rPr>
              <a:t>, da </a:t>
            </a:r>
            <a:r>
              <a:rPr lang="en-US" kern="1200" dirty="0" err="1">
                <a:latin typeface="IBM Plex Sans Light" panose="020B0503050203000203" pitchFamily="34" charset="0"/>
              </a:rPr>
              <a:t>qualsiasi</a:t>
            </a:r>
            <a:r>
              <a:rPr lang="en-US" kern="1200" dirty="0">
                <a:latin typeface="IBM Plex Sans Light" panose="020B0503050203000203" pitchFamily="34" charset="0"/>
              </a:rPr>
              <a:t> dashboard </a:t>
            </a:r>
            <a:r>
              <a:rPr lang="en-US" kern="1200" dirty="0" err="1">
                <a:latin typeface="IBM Plex Sans Light" panose="020B0503050203000203" pitchFamily="34" charset="0"/>
              </a:rPr>
              <a:t>dei</a:t>
            </a:r>
            <a:r>
              <a:rPr lang="en-US" kern="1200" dirty="0">
                <a:latin typeface="IBM Plex Sans Light" panose="020B0503050203000203" pitchFamily="34" charset="0"/>
              </a:rPr>
              <a:t> </a:t>
            </a:r>
            <a:r>
              <a:rPr lang="en-US" kern="1200" dirty="0" err="1">
                <a:latin typeface="IBM Plex Sans Light" panose="020B0503050203000203" pitchFamily="34" charset="0"/>
              </a:rPr>
              <a:t>contatori</a:t>
            </a:r>
            <a:r>
              <a:rPr lang="en-US" kern="1200" dirty="0">
                <a:latin typeface="IBM Plex Sans Light" panose="020B0503050203000203" pitchFamily="34" charset="0"/>
              </a:rPr>
              <a:t>, </a:t>
            </a:r>
            <a:r>
              <a:rPr lang="en-US" kern="1200" dirty="0" err="1">
                <a:latin typeface="IBM Plex Sans Light" panose="020B0503050203000203" pitchFamily="34" charset="0"/>
              </a:rPr>
              <a:t>cliccare</a:t>
            </a:r>
            <a:r>
              <a:rPr lang="en-US" kern="1200" dirty="0">
                <a:latin typeface="IBM Plex Sans Light" panose="020B0503050203000203" pitchFamily="34" charset="0"/>
              </a:rPr>
              <a:t> More &gt; Absolute Rules.</a:t>
            </a:r>
          </a:p>
          <a:p>
            <a:pPr fontAlgn="base"/>
            <a:endParaRPr lang="en-US" kern="1200" dirty="0">
              <a:latin typeface="IBM Plex Sans Light" panose="020B0503050203000203" pitchFamily="34" charset="0"/>
            </a:endParaRPr>
          </a:p>
          <a:p>
            <a:pPr fontAlgn="base"/>
            <a:endParaRPr lang="en-US" kern="1200" dirty="0">
              <a:latin typeface="IBM Plex Sans Light" panose="020B0503050203000203" pitchFamily="34" charset="0"/>
            </a:endParaRPr>
          </a:p>
          <a:p>
            <a:pPr fontAlgn="base"/>
            <a:r>
              <a:rPr lang="en-US" kern="1200" dirty="0">
                <a:latin typeface="IBM Plex Sans Light" panose="020B0503050203000203" pitchFamily="34" charset="0"/>
              </a:rPr>
              <a:t>Nella </a:t>
            </a:r>
            <a:r>
              <a:rPr lang="en-US" kern="1200" dirty="0" err="1">
                <a:latin typeface="IBM Plex Sans Light" panose="020B0503050203000203" pitchFamily="34" charset="0"/>
              </a:rPr>
              <a:t>griglia</a:t>
            </a:r>
            <a:r>
              <a:rPr lang="en-US" kern="1200" dirty="0">
                <a:latin typeface="IBM Plex Sans Light" panose="020B0503050203000203" pitchFamily="34" charset="0"/>
              </a:rPr>
              <a:t> Select Measure </a:t>
            </a:r>
            <a:r>
              <a:rPr lang="en-US" kern="1200" dirty="0" err="1">
                <a:latin typeface="IBM Plex Sans Light" panose="020B0503050203000203" pitchFamily="34" charset="0"/>
              </a:rPr>
              <a:t>scegliere</a:t>
            </a:r>
            <a:r>
              <a:rPr lang="en-US" kern="1200" dirty="0">
                <a:latin typeface="IBM Plex Sans Light" panose="020B0503050203000203" pitchFamily="34" charset="0"/>
              </a:rPr>
              <a:t> </a:t>
            </a:r>
            <a:r>
              <a:rPr lang="en-US" kern="1200" dirty="0" err="1">
                <a:latin typeface="IBM Plex Sans Light" panose="020B0503050203000203" pitchFamily="34" charset="0"/>
              </a:rPr>
              <a:t>un'unità</a:t>
            </a:r>
            <a:r>
              <a:rPr lang="en-US" kern="1200" dirty="0">
                <a:latin typeface="IBM Plex Sans Light" panose="020B0503050203000203" pitchFamily="34" charset="0"/>
              </a:rPr>
              <a:t> di </a:t>
            </a:r>
            <a:r>
              <a:rPr lang="en-US" kern="1200" dirty="0" err="1">
                <a:latin typeface="IBM Plex Sans Light" panose="020B0503050203000203" pitchFamily="34" charset="0"/>
              </a:rPr>
              <a:t>misura</a:t>
            </a:r>
            <a:r>
              <a:rPr lang="en-US" kern="1200" dirty="0">
                <a:latin typeface="IBM Plex Sans Light" panose="020B0503050203000203" pitchFamily="34" charset="0"/>
              </a:rPr>
              <a:t> e </a:t>
            </a:r>
            <a:r>
              <a:rPr lang="en-US" kern="1200" dirty="0" err="1">
                <a:latin typeface="IBM Plex Sans Light" panose="020B0503050203000203" pitchFamily="34" charset="0"/>
              </a:rPr>
              <a:t>cliccare</a:t>
            </a:r>
            <a:r>
              <a:rPr lang="en-US" kern="1200" dirty="0">
                <a:latin typeface="IBM Plex Sans Light" panose="020B0503050203000203" pitchFamily="34" charset="0"/>
              </a:rPr>
              <a:t> Generate Chart. </a:t>
            </a:r>
            <a:r>
              <a:rPr lang="en-US" kern="1200" dirty="0" err="1">
                <a:latin typeface="IBM Plex Sans Light" panose="020B0503050203000203" pitchFamily="34" charset="0"/>
              </a:rPr>
              <a:t>Viene</a:t>
            </a:r>
            <a:r>
              <a:rPr lang="en-US" kern="1200" dirty="0">
                <a:latin typeface="IBM Plex Sans Light" panose="020B0503050203000203" pitchFamily="34" charset="0"/>
              </a:rPr>
              <a:t> </a:t>
            </a:r>
            <a:r>
              <a:rPr lang="en-US" kern="1200" dirty="0" err="1">
                <a:latin typeface="IBM Plex Sans Light" panose="020B0503050203000203" pitchFamily="34" charset="0"/>
              </a:rPr>
              <a:t>mostrato</a:t>
            </a:r>
            <a:r>
              <a:rPr lang="en-US" kern="1200" dirty="0">
                <a:latin typeface="IBM Plex Sans Light" panose="020B0503050203000203" pitchFamily="34" charset="0"/>
              </a:rPr>
              <a:t> un </a:t>
            </a:r>
            <a:r>
              <a:rPr lang="en-US" kern="1200" dirty="0" err="1">
                <a:latin typeface="IBM Plex Sans Light" panose="020B0503050203000203" pitchFamily="34" charset="0"/>
              </a:rPr>
              <a:t>grafico</a:t>
            </a:r>
            <a:r>
              <a:rPr lang="en-US" kern="1200" dirty="0">
                <a:latin typeface="IBM Plex Sans Light" panose="020B0503050203000203" pitchFamily="34" charset="0"/>
              </a:rPr>
              <a:t> di </a:t>
            </a:r>
            <a:r>
              <a:rPr lang="en-US" kern="1200" dirty="0" err="1">
                <a:latin typeface="IBM Plex Sans Light" panose="020B0503050203000203" pitchFamily="34" charset="0"/>
              </a:rPr>
              <a:t>consumo</a:t>
            </a:r>
            <a:r>
              <a:rPr lang="en-US" kern="1200" dirty="0">
                <a:latin typeface="IBM Plex Sans Light" panose="020B0503050203000203" pitchFamily="34" charset="0"/>
              </a:rPr>
              <a:t> </a:t>
            </a:r>
            <a:r>
              <a:rPr lang="en-US" kern="1200" dirty="0" err="1">
                <a:latin typeface="IBM Plex Sans Light" panose="020B0503050203000203" pitchFamily="34" charset="0"/>
              </a:rPr>
              <a:t>cumulato</a:t>
            </a:r>
            <a:r>
              <a:rPr lang="en-US" kern="1200" dirty="0">
                <a:latin typeface="IBM Plex Sans Light" panose="020B0503050203000203" pitchFamily="34" charset="0"/>
              </a:rPr>
              <a:t> con media, </a:t>
            </a:r>
            <a:r>
              <a:rPr lang="en-US" kern="1200" dirty="0" err="1">
                <a:latin typeface="IBM Plex Sans Light" panose="020B0503050203000203" pitchFamily="34" charset="0"/>
              </a:rPr>
              <a:t>minimo</a:t>
            </a:r>
            <a:r>
              <a:rPr lang="en-US" kern="1200" dirty="0">
                <a:latin typeface="IBM Plex Sans Light" panose="020B0503050203000203" pitchFamily="34" charset="0"/>
              </a:rPr>
              <a:t>, </a:t>
            </a:r>
            <a:r>
              <a:rPr lang="en-US" kern="1200" dirty="0" err="1">
                <a:latin typeface="IBM Plex Sans Light" panose="020B0503050203000203" pitchFamily="34" charset="0"/>
              </a:rPr>
              <a:t>massimo</a:t>
            </a:r>
            <a:r>
              <a:rPr lang="en-US" kern="1200" dirty="0">
                <a:latin typeface="IBM Plex Sans Light" panose="020B0503050203000203" pitchFamily="34" charset="0"/>
              </a:rPr>
              <a:t>, intervallo di </a:t>
            </a:r>
            <a:r>
              <a:rPr lang="en-US" kern="1200" dirty="0" err="1">
                <a:latin typeface="IBM Plex Sans Light" panose="020B0503050203000203" pitchFamily="34" charset="0"/>
              </a:rPr>
              <a:t>confidenza</a:t>
            </a:r>
            <a:r>
              <a:rPr lang="en-US" kern="1200" dirty="0">
                <a:latin typeface="IBM Plex Sans Light" panose="020B0503050203000203" pitchFamily="34" charset="0"/>
              </a:rPr>
              <a:t> al 68% (1 </a:t>
            </a:r>
            <a:r>
              <a:rPr lang="en-US" kern="1200" dirty="0" err="1">
                <a:latin typeface="IBM Plex Sans Light" panose="020B0503050203000203" pitchFamily="34" charset="0"/>
              </a:rPr>
              <a:t>deviazione</a:t>
            </a:r>
            <a:r>
              <a:rPr lang="en-US" kern="1200" dirty="0">
                <a:latin typeface="IBM Plex Sans Light" panose="020B0503050203000203" pitchFamily="34" charset="0"/>
              </a:rPr>
              <a:t> standard </a:t>
            </a:r>
            <a:r>
              <a:rPr lang="en-US" kern="1200" dirty="0" err="1">
                <a:latin typeface="IBM Plex Sans Light" panose="020B0503050203000203" pitchFamily="34" charset="0"/>
              </a:rPr>
              <a:t>dalla</a:t>
            </a:r>
            <a:r>
              <a:rPr lang="en-US" kern="1200" dirty="0">
                <a:latin typeface="IBM Plex Sans Light" panose="020B0503050203000203" pitchFamily="34" charset="0"/>
              </a:rPr>
              <a:t> media) e al 95% (~2 </a:t>
            </a:r>
            <a:r>
              <a:rPr lang="en-US" kern="1200" dirty="0" err="1">
                <a:latin typeface="IBM Plex Sans Light" panose="020B0503050203000203" pitchFamily="34" charset="0"/>
              </a:rPr>
              <a:t>deviazioni</a:t>
            </a:r>
            <a:r>
              <a:rPr lang="en-US" kern="1200" dirty="0">
                <a:latin typeface="IBM Plex Sans Light" panose="020B0503050203000203" pitchFamily="34" charset="0"/>
              </a:rPr>
              <a:t> standard). </a:t>
            </a:r>
            <a:r>
              <a:rPr lang="en-US" kern="1200" dirty="0" err="1">
                <a:latin typeface="IBM Plex Sans Light" panose="020B0503050203000203" pitchFamily="34" charset="0"/>
              </a:rPr>
              <a:t>Questi</a:t>
            </a:r>
            <a:r>
              <a:rPr lang="en-US" kern="1200" dirty="0">
                <a:latin typeface="IBM Plex Sans Light" panose="020B0503050203000203" pitchFamily="34" charset="0"/>
              </a:rPr>
              <a:t> </a:t>
            </a:r>
            <a:r>
              <a:rPr lang="en-US" kern="1200" dirty="0" err="1">
                <a:latin typeface="IBM Plex Sans Light" panose="020B0503050203000203" pitchFamily="34" charset="0"/>
              </a:rPr>
              <a:t>grafici</a:t>
            </a:r>
            <a:r>
              <a:rPr lang="en-US" kern="1200" dirty="0">
                <a:latin typeface="IBM Plex Sans Light" panose="020B0503050203000203" pitchFamily="34" charset="0"/>
              </a:rPr>
              <a:t> </a:t>
            </a:r>
            <a:r>
              <a:rPr lang="en-US" kern="1200" dirty="0" err="1">
                <a:latin typeface="IBM Plex Sans Light" panose="020B0503050203000203" pitchFamily="34" charset="0"/>
              </a:rPr>
              <a:t>aiutano</a:t>
            </a:r>
            <a:r>
              <a:rPr lang="en-US" kern="1200" dirty="0">
                <a:latin typeface="IBM Plex Sans Light" panose="020B0503050203000203" pitchFamily="34" charset="0"/>
              </a:rPr>
              <a:t> a </a:t>
            </a:r>
            <a:r>
              <a:rPr lang="en-US" kern="1200" dirty="0" err="1">
                <a:latin typeface="IBM Plex Sans Light" panose="020B0503050203000203" pitchFamily="34" charset="0"/>
              </a:rPr>
              <a:t>definire</a:t>
            </a:r>
            <a:r>
              <a:rPr lang="en-US" kern="1200" dirty="0">
                <a:latin typeface="IBM Plex Sans Light" panose="020B0503050203000203" pitchFamily="34" charset="0"/>
              </a:rPr>
              <a:t> la </a:t>
            </a:r>
            <a:r>
              <a:rPr lang="en-US" kern="1200" dirty="0" err="1">
                <a:latin typeface="IBM Plex Sans Light" panose="020B0503050203000203" pitchFamily="34" charset="0"/>
              </a:rPr>
              <a:t>soglia</a:t>
            </a:r>
            <a:r>
              <a:rPr lang="en-US" kern="1200" dirty="0">
                <a:latin typeface="IBM Plex Sans Light" panose="020B0503050203000203" pitchFamily="34" charset="0"/>
              </a:rPr>
              <a:t> </a:t>
            </a:r>
            <a:r>
              <a:rPr lang="en-US" kern="1200" dirty="0" err="1">
                <a:latin typeface="IBM Plex Sans Light" panose="020B0503050203000203" pitchFamily="34" charset="0"/>
              </a:rPr>
              <a:t>più</a:t>
            </a:r>
            <a:r>
              <a:rPr lang="en-US" kern="1200" dirty="0">
                <a:latin typeface="IBM Plex Sans Light" panose="020B0503050203000203" pitchFamily="34" charset="0"/>
              </a:rPr>
              <a:t> </a:t>
            </a:r>
            <a:r>
              <a:rPr lang="en-US" kern="1200" dirty="0" err="1">
                <a:latin typeface="IBM Plex Sans Light" panose="020B0503050203000203" pitchFamily="34" charset="0"/>
              </a:rPr>
              <a:t>adatta</a:t>
            </a:r>
            <a:r>
              <a:rPr lang="en-US" kern="1200" dirty="0">
                <a:latin typeface="IBM Plex Sans Light" panose="020B0503050203000203" pitchFamily="34" charset="0"/>
              </a:rPr>
              <a:t> per la </a:t>
            </a:r>
            <a:r>
              <a:rPr lang="en-US" kern="1200" dirty="0" err="1">
                <a:latin typeface="IBM Plex Sans Light" panose="020B0503050203000203" pitchFamily="34" charset="0"/>
              </a:rPr>
              <a:t>regola</a:t>
            </a:r>
            <a:r>
              <a:rPr lang="en-US" kern="1200" dirty="0">
                <a:latin typeface="IBM Plex Sans Light" panose="020B0503050203000203" pitchFamily="34" charset="0"/>
              </a:rPr>
              <a:t>.</a:t>
            </a:r>
          </a:p>
          <a:p>
            <a:pPr>
              <a:spcAft>
                <a:spcPts val="300"/>
              </a:spcAft>
            </a:pPr>
            <a:endParaRPr lang="it-IT" dirty="0"/>
          </a:p>
        </p:txBody>
      </p:sp>
      <p:sp>
        <p:nvSpPr>
          <p:cNvPr id="15" name="Footer Placeholder 4">
            <a:extLst>
              <a:ext uri="{FF2B5EF4-FFF2-40B4-BE49-F238E27FC236}">
                <a16:creationId xmlns:a16="http://schemas.microsoft.com/office/drawing/2014/main" id="{7A257C3D-0771-B472-8999-58792E3B82B9}"/>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FA8BB301-2183-3E53-3846-ED7A0E863FB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34</a:t>
            </a:fld>
            <a:endParaRPr lang="en-US"/>
          </a:p>
        </p:txBody>
      </p:sp>
      <p:pic>
        <p:nvPicPr>
          <p:cNvPr id="3" name="Picture 2">
            <a:extLst>
              <a:ext uri="{FF2B5EF4-FFF2-40B4-BE49-F238E27FC236}">
                <a16:creationId xmlns:a16="http://schemas.microsoft.com/office/drawing/2014/main" id="{9DB65450-2DA0-0322-48FC-3B96DF9E6030}"/>
              </a:ext>
            </a:extLst>
          </p:cNvPr>
          <p:cNvPicPr>
            <a:picLocks noChangeAspect="1"/>
          </p:cNvPicPr>
          <p:nvPr/>
        </p:nvPicPr>
        <p:blipFill>
          <a:blip r:embed="rId3"/>
          <a:stretch>
            <a:fillRect/>
          </a:stretch>
        </p:blipFill>
        <p:spPr>
          <a:xfrm>
            <a:off x="5493667" y="1148353"/>
            <a:ext cx="6448840" cy="4852063"/>
          </a:xfrm>
          <a:prstGeom prst="rect">
            <a:avLst/>
          </a:prstGeom>
        </p:spPr>
      </p:pic>
      <p:pic>
        <p:nvPicPr>
          <p:cNvPr id="5" name="Picture 4">
            <a:extLst>
              <a:ext uri="{FF2B5EF4-FFF2-40B4-BE49-F238E27FC236}">
                <a16:creationId xmlns:a16="http://schemas.microsoft.com/office/drawing/2014/main" id="{336371FF-8420-29D7-50D7-A3557F0AD27D}"/>
              </a:ext>
            </a:extLst>
          </p:cNvPr>
          <p:cNvPicPr>
            <a:picLocks noChangeAspect="1"/>
          </p:cNvPicPr>
          <p:nvPr/>
        </p:nvPicPr>
        <p:blipFill>
          <a:blip r:embed="rId4"/>
          <a:stretch>
            <a:fillRect/>
          </a:stretch>
        </p:blipFill>
        <p:spPr>
          <a:xfrm>
            <a:off x="3744772" y="787336"/>
            <a:ext cx="1748895" cy="1217838"/>
          </a:xfrm>
          <a:prstGeom prst="rect">
            <a:avLst/>
          </a:prstGeom>
        </p:spPr>
      </p:pic>
      <p:pic>
        <p:nvPicPr>
          <p:cNvPr id="4" name="Picture 3">
            <a:extLst>
              <a:ext uri="{FF2B5EF4-FFF2-40B4-BE49-F238E27FC236}">
                <a16:creationId xmlns:a16="http://schemas.microsoft.com/office/drawing/2014/main" id="{955E8123-FA68-66C6-A9E7-AA254C1E0710}"/>
              </a:ext>
            </a:extLst>
          </p:cNvPr>
          <p:cNvPicPr>
            <a:picLocks noChangeAspect="1"/>
          </p:cNvPicPr>
          <p:nvPr/>
        </p:nvPicPr>
        <p:blipFill>
          <a:blip r:embed="rId5"/>
          <a:stretch>
            <a:fillRect/>
          </a:stretch>
        </p:blipFill>
        <p:spPr>
          <a:xfrm>
            <a:off x="3512918" y="3036364"/>
            <a:ext cx="1836340" cy="2964051"/>
          </a:xfrm>
          <a:prstGeom prst="rect">
            <a:avLst/>
          </a:prstGeom>
        </p:spPr>
      </p:pic>
    </p:spTree>
    <p:extLst>
      <p:ext uri="{BB962C8B-B14F-4D97-AF65-F5344CB8AC3E}">
        <p14:creationId xmlns:p14="http://schemas.microsoft.com/office/powerpoint/2010/main" val="307794541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30F4-75D8-946C-78CA-96D17519D93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F8CF7AC-59EE-2168-2745-7F659F085AB0}"/>
              </a:ext>
            </a:extLst>
          </p:cNvPr>
          <p:cNvSpPr>
            <a:spLocks noGrp="1"/>
          </p:cNvSpPr>
          <p:nvPr>
            <p:ph type="title"/>
          </p:nvPr>
        </p:nvSpPr>
        <p:spPr>
          <a:xfrm>
            <a:off x="284125" y="265794"/>
            <a:ext cx="3550077" cy="569140"/>
          </a:xfrm>
        </p:spPr>
        <p:txBody>
          <a:bodyPr>
            <a:normAutofit/>
          </a:bodyPr>
          <a:lstStyle/>
          <a:p>
            <a:r>
              <a:rPr lang="it-IT" dirty="0"/>
              <a:t>Regole di scostamento (variance)</a:t>
            </a:r>
            <a:endParaRPr lang="it-IT"/>
          </a:p>
        </p:txBody>
      </p:sp>
      <p:sp>
        <p:nvSpPr>
          <p:cNvPr id="8" name="Text Placeholder 7">
            <a:extLst>
              <a:ext uri="{FF2B5EF4-FFF2-40B4-BE49-F238E27FC236}">
                <a16:creationId xmlns:a16="http://schemas.microsoft.com/office/drawing/2014/main" id="{4DE682B4-45BC-E76B-618F-CA73206356DA}"/>
              </a:ext>
            </a:extLst>
          </p:cNvPr>
          <p:cNvSpPr>
            <a:spLocks noGrp="1"/>
          </p:cNvSpPr>
          <p:nvPr>
            <p:ph type="body" sz="quarter" idx="12"/>
          </p:nvPr>
        </p:nvSpPr>
        <p:spPr>
          <a:xfrm>
            <a:off x="287999" y="1837028"/>
            <a:ext cx="2477765" cy="4163387"/>
          </a:xfrm>
        </p:spPr>
        <p:txBody>
          <a:bodyPr>
            <a:normAutofit fontScale="92500"/>
          </a:bodyPr>
          <a:lstStyle/>
          <a:p>
            <a:pPr>
              <a:spcAft>
                <a:spcPts val="300"/>
              </a:spcAft>
            </a:pPr>
            <a:r>
              <a:rPr lang="it-IT" dirty="0"/>
              <a:t>Le regole BEPA di variance generano un alert quando lo scostamento tra dati attesi e dati reali supera una percentuale definita.</a:t>
            </a:r>
          </a:p>
          <a:p>
            <a:pPr>
              <a:spcAft>
                <a:spcPts val="300"/>
              </a:spcAft>
            </a:pPr>
            <a:r>
              <a:rPr lang="it-IT" dirty="0"/>
              <a:t>Navigazione: meter summary → sotto-menù More → Variance rules.</a:t>
            </a:r>
          </a:p>
          <a:p>
            <a:pPr>
              <a:spcAft>
                <a:spcPts val="300"/>
              </a:spcAft>
            </a:pPr>
            <a:r>
              <a:rPr lang="it-IT" dirty="0"/>
              <a:t>Sono supportate le building schedules, che consentono regole distinte per le ore operative e non operative.</a:t>
            </a:r>
            <a:endParaRPr lang="it-IT"/>
          </a:p>
          <a:p>
            <a:pPr>
              <a:spcAft>
                <a:spcPts val="300"/>
              </a:spcAft>
            </a:pPr>
            <a:r>
              <a:rPr lang="it-IT" dirty="0"/>
              <a:t>Nella maggior parte degli scenari le variance rules sono sufficienti; le regole avanzate restano disponibili quando servono.</a:t>
            </a:r>
          </a:p>
        </p:txBody>
      </p:sp>
      <p:sp>
        <p:nvSpPr>
          <p:cNvPr id="15" name="Footer Placeholder 4">
            <a:extLst>
              <a:ext uri="{FF2B5EF4-FFF2-40B4-BE49-F238E27FC236}">
                <a16:creationId xmlns:a16="http://schemas.microsoft.com/office/drawing/2014/main" id="{1EB1F319-DBAF-17F6-1282-DA89A18E4F13}"/>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712B9848-3B92-A954-1EA9-3E4EA8DCA168}"/>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35</a:t>
            </a:fld>
            <a:endParaRPr lang="en-US"/>
          </a:p>
        </p:txBody>
      </p:sp>
      <p:pic>
        <p:nvPicPr>
          <p:cNvPr id="11" name="Picture 10">
            <a:extLst>
              <a:ext uri="{FF2B5EF4-FFF2-40B4-BE49-F238E27FC236}">
                <a16:creationId xmlns:a16="http://schemas.microsoft.com/office/drawing/2014/main" id="{E83292D0-9308-2849-01BD-742D5362FC40}"/>
              </a:ext>
            </a:extLst>
          </p:cNvPr>
          <p:cNvPicPr>
            <a:picLocks noChangeAspect="1"/>
          </p:cNvPicPr>
          <p:nvPr/>
        </p:nvPicPr>
        <p:blipFill>
          <a:blip r:embed="rId3"/>
          <a:stretch>
            <a:fillRect/>
          </a:stretch>
        </p:blipFill>
        <p:spPr>
          <a:xfrm>
            <a:off x="3559038" y="834934"/>
            <a:ext cx="8217408" cy="4980420"/>
          </a:xfrm>
          <a:prstGeom prst="rect">
            <a:avLst/>
          </a:prstGeom>
        </p:spPr>
      </p:pic>
      <p:sp>
        <p:nvSpPr>
          <p:cNvPr id="3" name="CasellaDiTesto 2">
            <a:extLst>
              <a:ext uri="{FF2B5EF4-FFF2-40B4-BE49-F238E27FC236}">
                <a16:creationId xmlns:a16="http://schemas.microsoft.com/office/drawing/2014/main" id="{24F319FA-2787-748C-5044-4BA76D8DEBCF}"/>
              </a:ext>
            </a:extLst>
          </p:cNvPr>
          <p:cNvSpPr txBox="1"/>
          <p:nvPr/>
        </p:nvSpPr>
        <p:spPr>
          <a:xfrm>
            <a:off x="3048832" y="2687756"/>
            <a:ext cx="6097664" cy="7795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8492029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7D0D4-A9DB-9729-1203-4CE038B709D2}"/>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DA544B48-236B-5318-B1DE-2A6020C34E65}"/>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C79F281C-53DA-A7D4-A1E1-5373FE5F5F8D}"/>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633139C8-D1E6-B814-A32D-672999E13DE1}"/>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E02E50C7-0033-4C1F-7F7E-D8A62018224A}"/>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err="1">
                <a:solidFill>
                  <a:srgbClr val="161616"/>
                </a:solidFill>
              </a:rPr>
              <a:t>Envizi</a:t>
            </a: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3349201E-3922-4EE5-DA9A-62D4B43BC295}"/>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a:t>
            </a:r>
            <a:r>
              <a:rPr lang="it-IT" sz="2200" i="1" dirty="0" err="1">
                <a:solidFill>
                  <a:srgbClr val="0F62FE"/>
                </a:solidFill>
              </a:rPr>
              <a:t>Envizi</a:t>
            </a:r>
            <a:r>
              <a:rPr lang="it-IT" sz="2200" i="1" dirty="0">
                <a:solidFill>
                  <a:srgbClr val="0F62FE"/>
                </a:solidFill>
              </a:rPr>
              <a:t> Base</a:t>
            </a:r>
          </a:p>
          <a:p>
            <a:pPr>
              <a:buNone/>
            </a:pPr>
            <a:endParaRPr lang="it-IT" sz="2200" i="1" dirty="0">
              <a:solidFill>
                <a:srgbClr val="0F62FE"/>
              </a:solidFill>
            </a:endParaRPr>
          </a:p>
          <a:p>
            <a:pPr>
              <a:buNone/>
            </a:pPr>
            <a:r>
              <a:rPr lang="it-IT" sz="2000" dirty="0">
                <a:solidFill>
                  <a:srgbClr val="161616"/>
                </a:solidFill>
              </a:rPr>
              <a:t>Verifica qualità dei dati</a:t>
            </a:r>
          </a:p>
        </p:txBody>
      </p:sp>
      <p:sp>
        <p:nvSpPr>
          <p:cNvPr id="6" name="Rettangolo 5">
            <a:extLst>
              <a:ext uri="{FF2B5EF4-FFF2-40B4-BE49-F238E27FC236}">
                <a16:creationId xmlns:a16="http://schemas.microsoft.com/office/drawing/2014/main" id="{BAAA20F2-A1EF-DDE1-6ADE-CE5FA32E2F95}"/>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E78807E2-11AE-3D51-E2CD-38E7C96FDCC5}"/>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1622649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DATA QUALITY MANAGEMENT</a:t>
            </a:r>
          </a:p>
        </p:txBody>
      </p:sp>
      <p:sp>
        <p:nvSpPr>
          <p:cNvPr id="3" name="TextBox 2"/>
          <p:cNvSpPr txBox="1"/>
          <p:nvPr/>
        </p:nvSpPr>
        <p:spPr>
          <a:xfrm>
            <a:off x="287999" y="571872"/>
            <a:ext cx="9142810" cy="292388"/>
          </a:xfrm>
          <a:prstGeom prst="rect">
            <a:avLst/>
          </a:prstGeom>
          <a:noFill/>
        </p:spPr>
        <p:txBody>
          <a:bodyPr wrap="square" lIns="0" tIns="0" rIns="0" bIns="0">
            <a:spAutoFit/>
          </a:bodyPr>
          <a:lstStyle/>
          <a:p>
            <a:r>
              <a:rPr lang="it-IT" sz="1900" b="1">
                <a:solidFill>
                  <a:srgbClr val="161616"/>
                </a:solidFill>
                <a:latin typeface="IBM Plex Sans Light"/>
              </a:rPr>
              <a:t>La qualità del dato: il fondamento dell’Energy Management</a:t>
            </a:r>
          </a:p>
        </p:txBody>
      </p:sp>
      <p:sp>
        <p:nvSpPr>
          <p:cNvPr id="4" name="Rounded Rectangle 3"/>
          <p:cNvSpPr/>
          <p:nvPr/>
        </p:nvSpPr>
        <p:spPr>
          <a:xfrm>
            <a:off x="287999" y="1371868"/>
            <a:ext cx="5638066" cy="2209512"/>
          </a:xfrm>
          <a:prstGeom prst="roundRect">
            <a:avLst>
              <a:gd name="adj" fmla="val 5000"/>
            </a:avLst>
          </a:prstGeom>
          <a:solidFill>
            <a:srgbClr val="F4F6FA"/>
          </a:solidFill>
          <a:ln w="12700">
            <a:solidFill>
              <a:srgbClr val="D7E0F0"/>
            </a:solidFill>
          </a:ln>
          <a:effectLst/>
        </p:spPr>
        <p:txBody>
          <a:bodyPr rtlCol="0" anchor="ctr"/>
          <a:lstStyle/>
          <a:p>
            <a:pPr algn="ctr"/>
            <a:endParaRPr lang="it-IT" sz="900"/>
          </a:p>
        </p:txBody>
      </p:sp>
      <p:sp>
        <p:nvSpPr>
          <p:cNvPr id="5" name="TextBox 4"/>
          <p:cNvSpPr txBox="1"/>
          <p:nvPr/>
        </p:nvSpPr>
        <p:spPr>
          <a:xfrm>
            <a:off x="479998" y="1623296"/>
            <a:ext cx="5254068" cy="741229"/>
          </a:xfrm>
          <a:prstGeom prst="rect">
            <a:avLst/>
          </a:prstGeom>
          <a:noFill/>
        </p:spPr>
        <p:txBody>
          <a:bodyPr wrap="square" lIns="0" tIns="0" rIns="0" bIns="0">
            <a:spAutoFit/>
          </a:bodyPr>
          <a:lstStyle/>
          <a:p>
            <a:pPr>
              <a:spcAft>
                <a:spcPts val="500"/>
              </a:spcAft>
            </a:pPr>
            <a:r>
              <a:rPr lang="it-IT" sz="1100" b="1">
                <a:solidFill>
                  <a:srgbClr val="0F62FE"/>
                </a:solidFill>
                <a:latin typeface="IBM Plex Sans Light"/>
              </a:rPr>
              <a:t>Decisioni efficaci richiedono dati affidabili</a:t>
            </a:r>
          </a:p>
          <a:p>
            <a:r>
              <a:rPr lang="it-IT" sz="1100">
                <a:solidFill>
                  <a:srgbClr val="161616"/>
                </a:solidFill>
                <a:latin typeface="IBM Plex Sans Light"/>
              </a:rPr>
              <a:t>L’Energy Management non consiste solo nel raccogliere i consumi, ma nel garantire che ogni dato sia completo, corretto e verificabile prima di essere utilizzato per analisi, reporting e decisioni operative.</a:t>
            </a:r>
          </a:p>
        </p:txBody>
      </p:sp>
      <p:sp>
        <p:nvSpPr>
          <p:cNvPr id="6" name="Rounded Rectangle 5"/>
          <p:cNvSpPr/>
          <p:nvPr/>
        </p:nvSpPr>
        <p:spPr>
          <a:xfrm>
            <a:off x="6264349" y="1371868"/>
            <a:ext cx="5635018" cy="2209512"/>
          </a:xfrm>
          <a:prstGeom prst="roundRect">
            <a:avLst>
              <a:gd name="adj" fmla="val 5000"/>
            </a:avLst>
          </a:prstGeom>
          <a:solidFill>
            <a:srgbClr val="001141"/>
          </a:solidFill>
          <a:ln>
            <a:noFill/>
          </a:ln>
          <a:effectLst/>
        </p:spPr>
        <p:txBody>
          <a:bodyPr rtlCol="0" anchor="ctr"/>
          <a:lstStyle/>
          <a:p>
            <a:pPr algn="ctr"/>
            <a:endParaRPr lang="it-IT" sz="900"/>
          </a:p>
        </p:txBody>
      </p:sp>
      <p:sp>
        <p:nvSpPr>
          <p:cNvPr id="7" name="TextBox 6"/>
          <p:cNvSpPr txBox="1"/>
          <p:nvPr/>
        </p:nvSpPr>
        <p:spPr>
          <a:xfrm>
            <a:off x="6456348" y="1623295"/>
            <a:ext cx="5251020" cy="1233671"/>
          </a:xfrm>
          <a:prstGeom prst="rect">
            <a:avLst/>
          </a:prstGeom>
          <a:noFill/>
        </p:spPr>
        <p:txBody>
          <a:bodyPr wrap="square" lIns="0" tIns="0" rIns="0" bIns="0">
            <a:spAutoFit/>
          </a:bodyPr>
          <a:lstStyle/>
          <a:p>
            <a:pPr>
              <a:spcAft>
                <a:spcPts val="500"/>
              </a:spcAft>
            </a:pPr>
            <a:r>
              <a:rPr lang="it-IT" sz="1100" b="1">
                <a:solidFill>
                  <a:srgbClr val="78A9FF"/>
                </a:solidFill>
                <a:latin typeface="IBM Plex Sans Light"/>
              </a:rPr>
              <a:t>COSA CONSENTE IBM ENVIZI</a:t>
            </a:r>
          </a:p>
          <a:p>
            <a:pPr marL="171416" indent="-171416">
              <a:spcAft>
                <a:spcPts val="250"/>
              </a:spcAft>
              <a:buClr>
                <a:srgbClr val="78A9FF"/>
              </a:buClr>
              <a:buFont typeface="IBM Plex Sans Light"/>
              <a:buChar char="—"/>
            </a:pPr>
            <a:r>
              <a:rPr lang="it-IT" sz="1100">
                <a:solidFill>
                  <a:srgbClr val="FFFFFF"/>
                </a:solidFill>
                <a:latin typeface="IBM Plex Sans Light"/>
              </a:rPr>
              <a:t>verificare la completezza dei dati da contatori e bollette;</a:t>
            </a:r>
          </a:p>
          <a:p>
            <a:pPr marL="171416" indent="-171416">
              <a:spcAft>
                <a:spcPts val="250"/>
              </a:spcAft>
              <a:buClr>
                <a:srgbClr val="78A9FF"/>
              </a:buClr>
              <a:buFont typeface="IBM Plex Sans Light"/>
              <a:buChar char="—"/>
            </a:pPr>
            <a:r>
              <a:rPr lang="it-IT" sz="1100">
                <a:solidFill>
                  <a:srgbClr val="FFFFFF"/>
                </a:solidFill>
                <a:latin typeface="IBM Plex Sans Light"/>
              </a:rPr>
              <a:t>individuare dati mancanti, ritardi e anomalie di acquisizione;</a:t>
            </a:r>
          </a:p>
          <a:p>
            <a:pPr marL="171416" indent="-171416">
              <a:spcAft>
                <a:spcPts val="250"/>
              </a:spcAft>
              <a:buClr>
                <a:srgbClr val="78A9FF"/>
              </a:buClr>
              <a:buFont typeface="IBM Plex Sans Light"/>
              <a:buChar char="—"/>
            </a:pPr>
            <a:r>
              <a:rPr lang="it-IT" sz="1100">
                <a:solidFill>
                  <a:srgbClr val="FFFFFF"/>
                </a:solidFill>
                <a:latin typeface="IBM Plex Sans Light"/>
              </a:rPr>
              <a:t>controllare coerenza e validità dei valori raccolti;</a:t>
            </a:r>
          </a:p>
          <a:p>
            <a:pPr marL="171416" indent="-171416">
              <a:spcAft>
                <a:spcPts val="250"/>
              </a:spcAft>
              <a:buClr>
                <a:srgbClr val="78A9FF"/>
              </a:buClr>
              <a:buFont typeface="IBM Plex Sans Light"/>
              <a:buChar char="—"/>
            </a:pPr>
            <a:r>
              <a:rPr lang="it-IT" sz="1100">
                <a:solidFill>
                  <a:srgbClr val="FFFFFF"/>
                </a:solidFill>
                <a:latin typeface="IBM Plex Sans Light"/>
              </a:rPr>
              <a:t>gestire i workflow di revisione e approvazione;</a:t>
            </a:r>
          </a:p>
          <a:p>
            <a:pPr marL="171416" indent="-171416">
              <a:spcAft>
                <a:spcPts val="250"/>
              </a:spcAft>
              <a:buClr>
                <a:srgbClr val="78A9FF"/>
              </a:buClr>
              <a:buFont typeface="IBM Plex Sans Light"/>
              <a:buChar char="—"/>
            </a:pPr>
            <a:r>
              <a:rPr lang="it-IT" sz="1100">
                <a:solidFill>
                  <a:srgbClr val="FFFFFF"/>
                </a:solidFill>
                <a:latin typeface="IBM Plex Sans Light"/>
              </a:rPr>
              <a:t>mantenere la tracciabilità delle modifiche per gli audit.</a:t>
            </a:r>
          </a:p>
        </p:txBody>
      </p:sp>
      <p:graphicFrame>
        <p:nvGraphicFramePr>
          <p:cNvPr id="11" name="Tabella 10"/>
          <p:cNvGraphicFramePr>
            <a:graphicFrameLocks noGrp="1"/>
          </p:cNvGraphicFramePr>
          <p:nvPr/>
        </p:nvGraphicFramePr>
        <p:xfrm>
          <a:off x="287999" y="3809951"/>
          <a:ext cx="11611368" cy="1371421"/>
        </p:xfrm>
        <a:graphic>
          <a:graphicData uri="http://schemas.openxmlformats.org/drawingml/2006/table">
            <a:tbl>
              <a:tblPr firstRow="1">
                <a:tableStyleId>{5C22544A-7EE6-4342-B048-85BDC9FD1C3A}</a:tableStyleId>
              </a:tblPr>
              <a:tblGrid>
                <a:gridCol w="5805684">
                  <a:extLst>
                    <a:ext uri="{9D8B030D-6E8A-4147-A177-3AD203B41FA5}">
                      <a16:colId xmlns:a16="http://schemas.microsoft.com/office/drawing/2014/main" val="20000"/>
                    </a:ext>
                  </a:extLst>
                </a:gridCol>
                <a:gridCol w="5805684">
                  <a:extLst>
                    <a:ext uri="{9D8B030D-6E8A-4147-A177-3AD203B41FA5}">
                      <a16:colId xmlns:a16="http://schemas.microsoft.com/office/drawing/2014/main" val="20001"/>
                    </a:ext>
                  </a:extLst>
                </a:gridCol>
              </a:tblGrid>
              <a:tr h="274284">
                <a:tc>
                  <a:txBody>
                    <a:bodyPr/>
                    <a:lstStyle/>
                    <a:p>
                      <a:pPr algn="l"/>
                      <a:r>
                        <a:rPr lang="it-IT" sz="1100" b="1">
                          <a:solidFill>
                            <a:srgbClr val="FFFFFF"/>
                          </a:solidFill>
                          <a:latin typeface="IBM Plex Sans Light"/>
                        </a:rPr>
                        <a:t>Senza controllo qualità</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Con IBM Envizi</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274284">
                <a:tc>
                  <a:txBody>
                    <a:bodyPr/>
                    <a:lstStyle/>
                    <a:p>
                      <a:pPr algn="l"/>
                      <a:r>
                        <a:rPr lang="it-IT" sz="1100" b="0">
                          <a:solidFill>
                            <a:srgbClr val="161616"/>
                          </a:solidFill>
                          <a:latin typeface="IBM Plex Sans Light"/>
                        </a:rPr>
                        <a:t>Decisioni basate su dati incompleti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Decisioni supportate da dati affidabili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274284">
                <a:tc>
                  <a:txBody>
                    <a:bodyPr/>
                    <a:lstStyle/>
                    <a:p>
                      <a:pPr algn="l"/>
                      <a:r>
                        <a:rPr lang="it-IT" sz="1100" b="0">
                          <a:solidFill>
                            <a:srgbClr val="161616"/>
                          </a:solidFill>
                          <a:latin typeface="IBM Plex Sans Light"/>
                        </a:rPr>
                        <a:t>Tempo perso nella verifica manuale</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Controlli automatici e monitoraggio continuo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r h="274284">
                <a:tc>
                  <a:txBody>
                    <a:bodyPr/>
                    <a:lstStyle/>
                    <a:p>
                      <a:pPr algn="l"/>
                      <a:r>
                        <a:rPr lang="it-IT" sz="1100" b="0">
                          <a:solidFill>
                            <a:srgbClr val="161616"/>
                          </a:solidFill>
                          <a:latin typeface="IBM Plex Sans Light"/>
                        </a:rPr>
                        <a:t>Rischio di errori nei KPI energetici</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F62FE"/>
                          </a:solidFill>
                          <a:latin typeface="IBM Plex Sans Light"/>
                        </a:rPr>
                        <a:t>KPI coerenti e confrontabili nel tempo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3"/>
                  </a:ext>
                </a:extLst>
              </a:tr>
              <a:tr h="274284">
                <a:tc>
                  <a:txBody>
                    <a:bodyPr/>
                    <a:lstStyle/>
                    <a:p>
                      <a:pPr algn="l"/>
                      <a:r>
                        <a:rPr lang="it-IT" sz="1100" b="0" dirty="0">
                          <a:solidFill>
                            <a:srgbClr val="161616"/>
                          </a:solidFill>
                          <a:latin typeface="IBM Plex Sans Light"/>
                        </a:rPr>
                        <a:t>Maggiore rischio di audit </a:t>
                      </a:r>
                      <a:r>
                        <a:rPr lang="it-IT" sz="1100" b="0" dirty="0" err="1">
                          <a:solidFill>
                            <a:srgbClr val="161616"/>
                          </a:solidFill>
                          <a:latin typeface="IBM Plex Sans Light"/>
                        </a:rPr>
                        <a:t>findings</a:t>
                      </a:r>
                      <a:endParaRPr lang="it-IT" sz="1100" b="0" dirty="0">
                        <a:solidFill>
                          <a:srgbClr val="161616"/>
                        </a:solidFill>
                        <a:latin typeface="IBM Plex Sans Light"/>
                      </a:endParaRP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dirty="0">
                          <a:solidFill>
                            <a:srgbClr val="0F62FE"/>
                          </a:solidFill>
                          <a:latin typeface="IBM Plex Sans Light"/>
                        </a:rPr>
                        <a:t>Tracciabilità completa del dato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287999" y="5474411"/>
            <a:ext cx="11611368" cy="685711"/>
          </a:xfrm>
          <a:prstGeom prst="roundRect">
            <a:avLst>
              <a:gd name="adj" fmla="val 12000"/>
            </a:avLst>
          </a:prstGeom>
          <a:solidFill>
            <a:srgbClr val="E8EFFE"/>
          </a:solidFill>
          <a:ln>
            <a:noFill/>
          </a:ln>
          <a:effectLst/>
        </p:spPr>
        <p:txBody>
          <a:bodyPr wrap="square" lIns="274284" rIns="274284" rtlCol="0" anchor="ctr"/>
          <a:lstStyle/>
          <a:p>
            <a:r>
              <a:rPr lang="it-IT" sz="1100" b="1" dirty="0">
                <a:solidFill>
                  <a:srgbClr val="0F62FE"/>
                </a:solidFill>
                <a:latin typeface="IBM Plex Sans Light"/>
              </a:rPr>
              <a:t>In sintesi:  </a:t>
            </a:r>
            <a:r>
              <a:rPr lang="it-IT" sz="1100" dirty="0">
                <a:solidFill>
                  <a:srgbClr val="161616"/>
                </a:solidFill>
                <a:latin typeface="IBM Plex Sans Light"/>
              </a:rPr>
              <a:t>la qualità del dato non è un’attività amministrativa: è il presupposto per individuare sprechi, misurare i risultati degli interventi e prendere decisioni energetiche con fiducia. </a:t>
            </a:r>
            <a:r>
              <a:rPr lang="it-IT" sz="1100" b="1" dirty="0"/>
              <a:t>La qualità delle decisioni energetiche non può essere superiore alla qualità dei dati su cui si basano.</a:t>
            </a:r>
            <a:endParaRPr lang="it-IT" sz="1100" dirty="0"/>
          </a:p>
          <a:p>
            <a:endParaRPr lang="it-IT" sz="1100" dirty="0">
              <a:solidFill>
                <a:srgbClr val="161616"/>
              </a:solidFill>
              <a:latin typeface="IBM Plex Sans Light"/>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90B6-4FCC-B80B-D7B5-E7E13604C3D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57EB5FE-A454-CBDB-A1CD-644950CA3BFF}"/>
              </a:ext>
            </a:extLst>
          </p:cNvPr>
          <p:cNvSpPr>
            <a:spLocks noGrp="1"/>
          </p:cNvSpPr>
          <p:nvPr>
            <p:ph type="title"/>
          </p:nvPr>
        </p:nvSpPr>
        <p:spPr>
          <a:xfrm>
            <a:off x="284125" y="265794"/>
            <a:ext cx="3550077" cy="569140"/>
          </a:xfrm>
        </p:spPr>
        <p:txBody>
          <a:bodyPr>
            <a:normAutofit/>
          </a:bodyPr>
          <a:lstStyle/>
          <a:p>
            <a:r>
              <a:rPr lang="it-IT" sz="1800" dirty="0"/>
              <a:t>Account Data Health Check</a:t>
            </a:r>
          </a:p>
        </p:txBody>
      </p:sp>
      <p:sp>
        <p:nvSpPr>
          <p:cNvPr id="8" name="Text Placeholder 7">
            <a:extLst>
              <a:ext uri="{FF2B5EF4-FFF2-40B4-BE49-F238E27FC236}">
                <a16:creationId xmlns:a16="http://schemas.microsoft.com/office/drawing/2014/main" id="{A9AD9CE1-05B1-3DC8-A555-F681D8DCA3C3}"/>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Esecuzione: home page → Power reports → Account data health check.</a:t>
            </a:r>
          </a:p>
          <a:p>
            <a:pPr>
              <a:spcAft>
                <a:spcPts val="300"/>
              </a:spcAft>
            </a:pPr>
            <a:endParaRPr lang="it-IT" dirty="0"/>
          </a:p>
          <a:p>
            <a:pPr>
              <a:spcAft>
                <a:spcPts val="300"/>
              </a:spcAft>
            </a:pPr>
            <a:r>
              <a:rPr lang="it-IT" dirty="0"/>
              <a:t>Il drill down consente di individuare gli account con dati in ritardo.</a:t>
            </a:r>
          </a:p>
          <a:p>
            <a:pPr>
              <a:spcAft>
                <a:spcPts val="300"/>
              </a:spcAft>
            </a:pPr>
            <a:endParaRPr lang="it-IT" dirty="0"/>
          </a:p>
          <a:p>
            <a:pPr>
              <a:spcAft>
                <a:spcPts val="300"/>
              </a:spcAft>
            </a:pPr>
            <a:r>
              <a:rPr lang="it-IT" dirty="0"/>
              <a:t>Il follow-up con gli stakeholder interni permette di recuperare i dati mancanti o di chiudere gli account non più attivi.</a:t>
            </a:r>
          </a:p>
        </p:txBody>
      </p:sp>
      <p:sp>
        <p:nvSpPr>
          <p:cNvPr id="15" name="Footer Placeholder 4">
            <a:extLst>
              <a:ext uri="{FF2B5EF4-FFF2-40B4-BE49-F238E27FC236}">
                <a16:creationId xmlns:a16="http://schemas.microsoft.com/office/drawing/2014/main" id="{4D19912B-7DAF-199B-A1CB-6B5C2BB26597}"/>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ABAD9101-FFE4-EA1D-AEEA-D41FF522AABE}"/>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38</a:t>
            </a:fld>
            <a:endParaRPr lang="en-US"/>
          </a:p>
        </p:txBody>
      </p:sp>
      <p:pic>
        <p:nvPicPr>
          <p:cNvPr id="3" name="Picture 2">
            <a:extLst>
              <a:ext uri="{FF2B5EF4-FFF2-40B4-BE49-F238E27FC236}">
                <a16:creationId xmlns:a16="http://schemas.microsoft.com/office/drawing/2014/main" id="{69979226-9A94-78C1-7802-86CA2F8CDEA6}"/>
              </a:ext>
            </a:extLst>
          </p:cNvPr>
          <p:cNvPicPr>
            <a:picLocks noChangeAspect="1"/>
          </p:cNvPicPr>
          <p:nvPr/>
        </p:nvPicPr>
        <p:blipFill>
          <a:blip r:embed="rId3"/>
          <a:stretch>
            <a:fillRect/>
          </a:stretch>
        </p:blipFill>
        <p:spPr>
          <a:xfrm>
            <a:off x="4825719" y="160966"/>
            <a:ext cx="6781988" cy="3194063"/>
          </a:xfrm>
          <a:prstGeom prst="rect">
            <a:avLst/>
          </a:prstGeom>
        </p:spPr>
      </p:pic>
      <p:pic>
        <p:nvPicPr>
          <p:cNvPr id="11" name="Picture 10">
            <a:extLst>
              <a:ext uri="{FF2B5EF4-FFF2-40B4-BE49-F238E27FC236}">
                <a16:creationId xmlns:a16="http://schemas.microsoft.com/office/drawing/2014/main" id="{479E5B7D-7DB0-C0CF-94DC-280BC4B5A678}"/>
              </a:ext>
            </a:extLst>
          </p:cNvPr>
          <p:cNvPicPr>
            <a:picLocks noChangeAspect="1"/>
          </p:cNvPicPr>
          <p:nvPr/>
        </p:nvPicPr>
        <p:blipFill>
          <a:blip r:embed="rId4"/>
          <a:stretch>
            <a:fillRect/>
          </a:stretch>
        </p:blipFill>
        <p:spPr>
          <a:xfrm>
            <a:off x="3834202" y="3502972"/>
            <a:ext cx="6242134" cy="3354582"/>
          </a:xfrm>
          <a:prstGeom prst="rect">
            <a:avLst/>
          </a:prstGeom>
        </p:spPr>
      </p:pic>
      <p:sp>
        <p:nvSpPr>
          <p:cNvPr id="4" name="CasellaDiTesto 3">
            <a:extLst>
              <a:ext uri="{FF2B5EF4-FFF2-40B4-BE49-F238E27FC236}">
                <a16:creationId xmlns:a16="http://schemas.microsoft.com/office/drawing/2014/main" id="{CC082471-448F-39F9-D99F-2F8E56F9B32C}"/>
              </a:ext>
            </a:extLst>
          </p:cNvPr>
          <p:cNvSpPr txBox="1"/>
          <p:nvPr/>
        </p:nvSpPr>
        <p:spPr>
          <a:xfrm>
            <a:off x="3048832" y="2892945"/>
            <a:ext cx="6097664" cy="77957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122639779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0E70F-B4DB-985D-6FA3-1965ABAD282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A5137E0-9E16-F63A-B581-4CC8C8752D46}"/>
              </a:ext>
            </a:extLst>
          </p:cNvPr>
          <p:cNvSpPr>
            <a:spLocks noGrp="1"/>
          </p:cNvSpPr>
          <p:nvPr>
            <p:ph type="title"/>
          </p:nvPr>
        </p:nvSpPr>
        <p:spPr>
          <a:xfrm>
            <a:off x="284125" y="265794"/>
            <a:ext cx="3550077" cy="569140"/>
          </a:xfrm>
        </p:spPr>
        <p:txBody>
          <a:bodyPr>
            <a:normAutofit/>
          </a:bodyPr>
          <a:lstStyle/>
          <a:p>
            <a:r>
              <a:rPr lang="it-IT" sz="1800" dirty="0"/>
              <a:t>Meter Data Health Check</a:t>
            </a:r>
          </a:p>
        </p:txBody>
      </p:sp>
      <p:sp>
        <p:nvSpPr>
          <p:cNvPr id="8" name="Text Placeholder 7">
            <a:extLst>
              <a:ext uri="{FF2B5EF4-FFF2-40B4-BE49-F238E27FC236}">
                <a16:creationId xmlns:a16="http://schemas.microsoft.com/office/drawing/2014/main" id="{B9FAA337-522B-3183-B8F1-4EC1AD070FC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Esecuzione: home page → Power reports → Meter data health check.</a:t>
            </a:r>
          </a:p>
          <a:p>
            <a:pPr>
              <a:spcAft>
                <a:spcPts val="300"/>
              </a:spcAft>
            </a:pPr>
            <a:endParaRPr lang="it-IT" dirty="0"/>
          </a:p>
          <a:p>
            <a:pPr>
              <a:spcAft>
                <a:spcPts val="300"/>
              </a:spcAft>
            </a:pPr>
            <a:r>
              <a:rPr lang="it-IT" dirty="0"/>
              <a:t>Da “View Details” si individuano i contatori privi di dati.</a:t>
            </a:r>
          </a:p>
          <a:p>
            <a:pPr>
              <a:spcAft>
                <a:spcPts val="300"/>
              </a:spcAft>
            </a:pPr>
            <a:endParaRPr lang="it-IT" dirty="0"/>
          </a:p>
          <a:p>
            <a:pPr>
              <a:spcAft>
                <a:spcPts val="300"/>
              </a:spcAft>
            </a:pPr>
            <a:r>
              <a:rPr lang="it-IT" dirty="0"/>
              <a:t>I filtri permettono di selezionare un gruppo e un intervallo di date specifico.</a:t>
            </a:r>
          </a:p>
          <a:p>
            <a:pPr>
              <a:spcAft>
                <a:spcPts val="300"/>
              </a:spcAft>
            </a:pPr>
            <a:endParaRPr lang="it-IT" dirty="0"/>
          </a:p>
          <a:p>
            <a:pPr>
              <a:spcAft>
                <a:spcPts val="300"/>
              </a:spcAft>
            </a:pPr>
            <a:r>
              <a:rPr lang="it-IT" dirty="0"/>
              <a:t>Il report può essere condiviso in formato PDF con gli altri stakeholder.</a:t>
            </a:r>
          </a:p>
        </p:txBody>
      </p:sp>
      <p:sp>
        <p:nvSpPr>
          <p:cNvPr id="15" name="Footer Placeholder 4">
            <a:extLst>
              <a:ext uri="{FF2B5EF4-FFF2-40B4-BE49-F238E27FC236}">
                <a16:creationId xmlns:a16="http://schemas.microsoft.com/office/drawing/2014/main" id="{036BC9A7-81E4-DD7A-34CC-F0E5209884BE}"/>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4EB6B1C7-9CC3-58B5-1E03-40FCF2711A4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39</a:t>
            </a:fld>
            <a:endParaRPr lang="en-US"/>
          </a:p>
        </p:txBody>
      </p:sp>
      <p:pic>
        <p:nvPicPr>
          <p:cNvPr id="4" name="Picture 3">
            <a:extLst>
              <a:ext uri="{FF2B5EF4-FFF2-40B4-BE49-F238E27FC236}">
                <a16:creationId xmlns:a16="http://schemas.microsoft.com/office/drawing/2014/main" id="{64D25FC0-8B7B-319E-8E6E-5F6CAEC4E933}"/>
              </a:ext>
            </a:extLst>
          </p:cNvPr>
          <p:cNvPicPr>
            <a:picLocks noChangeAspect="1"/>
          </p:cNvPicPr>
          <p:nvPr/>
        </p:nvPicPr>
        <p:blipFill>
          <a:blip r:embed="rId3"/>
          <a:stretch>
            <a:fillRect/>
          </a:stretch>
        </p:blipFill>
        <p:spPr>
          <a:xfrm>
            <a:off x="5173235" y="102439"/>
            <a:ext cx="6921941" cy="3469179"/>
          </a:xfrm>
          <a:prstGeom prst="rect">
            <a:avLst/>
          </a:prstGeom>
        </p:spPr>
      </p:pic>
      <p:pic>
        <p:nvPicPr>
          <p:cNvPr id="9" name="Picture 8">
            <a:extLst>
              <a:ext uri="{FF2B5EF4-FFF2-40B4-BE49-F238E27FC236}">
                <a16:creationId xmlns:a16="http://schemas.microsoft.com/office/drawing/2014/main" id="{BDF98F74-BF87-0060-B09C-4D9BE57E82F3}"/>
              </a:ext>
            </a:extLst>
          </p:cNvPr>
          <p:cNvPicPr>
            <a:picLocks noChangeAspect="1"/>
          </p:cNvPicPr>
          <p:nvPr/>
        </p:nvPicPr>
        <p:blipFill>
          <a:blip r:embed="rId4"/>
          <a:stretch>
            <a:fillRect/>
          </a:stretch>
        </p:blipFill>
        <p:spPr>
          <a:xfrm>
            <a:off x="3484380" y="3469625"/>
            <a:ext cx="6411709" cy="3285936"/>
          </a:xfrm>
          <a:prstGeom prst="rect">
            <a:avLst/>
          </a:prstGeom>
        </p:spPr>
      </p:pic>
      <p:sp>
        <p:nvSpPr>
          <p:cNvPr id="3" name="CasellaDiTesto 2">
            <a:extLst>
              <a:ext uri="{FF2B5EF4-FFF2-40B4-BE49-F238E27FC236}">
                <a16:creationId xmlns:a16="http://schemas.microsoft.com/office/drawing/2014/main" id="{F2C6FF22-F052-38E9-F040-C2B5E4C575FF}"/>
              </a:ext>
            </a:extLst>
          </p:cNvPr>
          <p:cNvSpPr txBox="1"/>
          <p:nvPr/>
        </p:nvSpPr>
        <p:spPr>
          <a:xfrm>
            <a:off x="3048832" y="2790351"/>
            <a:ext cx="6097664" cy="1123193"/>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endParaRPr sz="900"/>
          </a:p>
          <a:p>
            <a:pPr fontAlgn="base"/>
            <a:endParaRPr sz="900"/>
          </a:p>
          <a:p>
            <a:pPr fontAlgn="base"/>
            <a:endParaRPr sz="900"/>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219348950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FEE757-0A1E-429B-A477-4604ABEE8235}"/>
              </a:ext>
            </a:extLst>
          </p:cNvPr>
          <p:cNvSpPr>
            <a:spLocks noGrp="1"/>
          </p:cNvSpPr>
          <p:nvPr>
            <p:ph type="title"/>
          </p:nvPr>
        </p:nvSpPr>
        <p:spPr>
          <a:xfrm>
            <a:off x="287999" y="288445"/>
            <a:ext cx="11471299" cy="763425"/>
          </a:xfrm>
        </p:spPr>
        <p:txBody>
          <a:bodyPr>
            <a:normAutofit/>
          </a:bodyPr>
          <a:lstStyle/>
          <a:p>
            <a:r>
              <a:rPr lang="it-IT" sz="1800" dirty="0"/>
              <a:t>Accounts Incomplete Data</a:t>
            </a:r>
          </a:p>
        </p:txBody>
      </p:sp>
      <p:sp>
        <p:nvSpPr>
          <p:cNvPr id="3" name="Slide Number Placeholder 2">
            <a:extLst>
              <a:ext uri="{FF2B5EF4-FFF2-40B4-BE49-F238E27FC236}">
                <a16:creationId xmlns:a16="http://schemas.microsoft.com/office/drawing/2014/main" id="{9DACAE71-50E3-4ED4-AB75-B6264757BFB8}"/>
              </a:ext>
            </a:extLst>
          </p:cNvPr>
          <p:cNvSpPr>
            <a:spLocks noGrp="1"/>
          </p:cNvSpPr>
          <p:nvPr>
            <p:ph type="sldNum" sz="quarter" idx="4"/>
          </p:nvPr>
        </p:nvSpPr>
        <p:spPr>
          <a:xfrm>
            <a:off x="11397344" y="6409814"/>
            <a:ext cx="507356" cy="287189"/>
          </a:xfrm>
          <a:prstGeom prst="rect">
            <a:avLst/>
          </a:prstGeom>
        </p:spPr>
        <p:txBody>
          <a:bodyPr vert="horz" wrap="square" lIns="121904" tIns="60952" rIns="121904" bIns="60952" rtlCol="0" anchor="ctr">
            <a:spAutoFit/>
          </a:bodyPr>
          <a:lstStyle>
            <a:defPPr>
              <a:defRPr lang="en-US"/>
            </a:defPPr>
            <a:lvl1pPr marL="0" algn="r" defTabSz="1218971" rtl="0" eaLnBrk="1" latinLnBrk="0" hangingPunct="1">
              <a:defRPr sz="1066" kern="1200">
                <a:solidFill>
                  <a:schemeClr val="accent3"/>
                </a:solidFill>
                <a:latin typeface="Nunito Sans" panose="020B0604020202020204" charset="0"/>
                <a:ea typeface="+mn-ea"/>
                <a:cs typeface="+mn-cs"/>
              </a:defRPr>
            </a:lvl1pPr>
            <a:lvl2pPr marL="609486" algn="l" defTabSz="1218971" rtl="0" eaLnBrk="1" latinLnBrk="0" hangingPunct="1">
              <a:defRPr sz="2400" kern="1200">
                <a:solidFill>
                  <a:schemeClr val="tx1"/>
                </a:solidFill>
                <a:latin typeface="+mn-lt"/>
                <a:ea typeface="+mn-ea"/>
                <a:cs typeface="+mn-cs"/>
              </a:defRPr>
            </a:lvl2pPr>
            <a:lvl3pPr marL="1218971" algn="l" defTabSz="1218971" rtl="0" eaLnBrk="1" latinLnBrk="0" hangingPunct="1">
              <a:defRPr sz="2400" kern="1200">
                <a:solidFill>
                  <a:schemeClr val="tx1"/>
                </a:solidFill>
                <a:latin typeface="+mn-lt"/>
                <a:ea typeface="+mn-ea"/>
                <a:cs typeface="+mn-cs"/>
              </a:defRPr>
            </a:lvl3pPr>
            <a:lvl4pPr marL="1828457" algn="l" defTabSz="1218971" rtl="0" eaLnBrk="1" latinLnBrk="0" hangingPunct="1">
              <a:defRPr sz="2400" kern="1200">
                <a:solidFill>
                  <a:schemeClr val="tx1"/>
                </a:solidFill>
                <a:latin typeface="+mn-lt"/>
                <a:ea typeface="+mn-ea"/>
                <a:cs typeface="+mn-cs"/>
              </a:defRPr>
            </a:lvl4pPr>
            <a:lvl5pPr marL="2437943" algn="l" defTabSz="1218971" rtl="0" eaLnBrk="1" latinLnBrk="0" hangingPunct="1">
              <a:defRPr sz="2400" kern="1200">
                <a:solidFill>
                  <a:schemeClr val="tx1"/>
                </a:solidFill>
                <a:latin typeface="+mn-lt"/>
                <a:ea typeface="+mn-ea"/>
                <a:cs typeface="+mn-cs"/>
              </a:defRPr>
            </a:lvl5pPr>
            <a:lvl6pPr marL="3047428" algn="l" defTabSz="1218971" rtl="0" eaLnBrk="1" latinLnBrk="0" hangingPunct="1">
              <a:defRPr sz="2400" kern="1200">
                <a:solidFill>
                  <a:schemeClr val="tx1"/>
                </a:solidFill>
                <a:latin typeface="+mn-lt"/>
                <a:ea typeface="+mn-ea"/>
                <a:cs typeface="+mn-cs"/>
              </a:defRPr>
            </a:lvl6pPr>
            <a:lvl7pPr marL="3656914" algn="l" defTabSz="1218971" rtl="0" eaLnBrk="1" latinLnBrk="0" hangingPunct="1">
              <a:defRPr sz="2400" kern="1200">
                <a:solidFill>
                  <a:schemeClr val="tx1"/>
                </a:solidFill>
                <a:latin typeface="+mn-lt"/>
                <a:ea typeface="+mn-ea"/>
                <a:cs typeface="+mn-cs"/>
              </a:defRPr>
            </a:lvl7pPr>
            <a:lvl8pPr marL="4266400" algn="l" defTabSz="1218971" rtl="0" eaLnBrk="1" latinLnBrk="0" hangingPunct="1">
              <a:defRPr sz="2400" kern="1200">
                <a:solidFill>
                  <a:schemeClr val="tx1"/>
                </a:solidFill>
                <a:latin typeface="+mn-lt"/>
                <a:ea typeface="+mn-ea"/>
                <a:cs typeface="+mn-cs"/>
              </a:defRPr>
            </a:lvl8pPr>
            <a:lvl9pPr marL="4875886" algn="l" defTabSz="1218971" rtl="0" eaLnBrk="1" latinLnBrk="0" hangingPunct="1">
              <a:defRPr sz="2400" kern="1200">
                <a:solidFill>
                  <a:schemeClr val="tx1"/>
                </a:solidFill>
                <a:latin typeface="+mn-lt"/>
                <a:ea typeface="+mn-ea"/>
                <a:cs typeface="+mn-cs"/>
              </a:defRPr>
            </a:lvl9pPr>
          </a:lstStyle>
          <a:p>
            <a:fld id="{585732F6-B2E4-4CE3-B902-ABF0CF5E15BE}" type="slidenum">
              <a:rPr lang="en-AU" smtClean="0">
                <a:latin typeface="+mn-lt"/>
              </a:rPr>
              <a:pPr/>
              <a:t>40</a:t>
            </a:fld>
            <a:endParaRPr lang="en-AU" dirty="0">
              <a:latin typeface="+mn-lt"/>
            </a:endParaRPr>
          </a:p>
        </p:txBody>
      </p:sp>
      <p:sp>
        <p:nvSpPr>
          <p:cNvPr id="15" name="Content Placeholder 1"/>
          <p:cNvSpPr txBox="1">
            <a:spLocks/>
          </p:cNvSpPr>
          <p:nvPr/>
        </p:nvSpPr>
        <p:spPr>
          <a:xfrm>
            <a:off x="53009" y="1750327"/>
            <a:ext cx="11169848" cy="4384651"/>
          </a:xfrm>
          <a:prstGeom prst="rect">
            <a:avLst/>
          </a:prstGeom>
        </p:spPr>
        <p:txBody>
          <a:bodyPr vert="horz" wrap="square" lIns="91428" tIns="45714" rIns="91428" bIns="45714" rtlCol="0">
            <a:noAutofit/>
          </a:bodyPr>
          <a:lstStyle>
            <a:lvl1pPr marL="0" indent="-176400" algn="l" defTabSz="457200" rtl="0" eaLnBrk="1" latinLnBrk="0" hangingPunct="1">
              <a:spcBef>
                <a:spcPct val="20000"/>
              </a:spcBef>
              <a:buClr>
                <a:schemeClr val="accent1"/>
              </a:buClr>
              <a:buSzPct val="70000"/>
              <a:buFont typeface="Lucida Grande"/>
              <a:buChar char="&gt;"/>
              <a:defRPr sz="2200" b="1" i="0" kern="1200" baseline="0">
                <a:solidFill>
                  <a:schemeClr val="tx1"/>
                </a:solidFill>
                <a:latin typeface="+mn-lt"/>
                <a:ea typeface="+mn-ea"/>
                <a:cs typeface="+mn-cs"/>
              </a:defRPr>
            </a:lvl1pPr>
            <a:lvl2pPr marL="3564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2pPr>
            <a:lvl3pPr marL="6048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3pPr>
            <a:lvl4pPr marL="810000" indent="-176400" algn="l" defTabSz="457200" rtl="0" eaLnBrk="1" latinLnBrk="0" hangingPunct="1">
              <a:spcBef>
                <a:spcPct val="20000"/>
              </a:spcBef>
              <a:buClr>
                <a:srgbClr val="D3D3D3"/>
              </a:buClr>
              <a:buSzPct val="70000"/>
              <a:buFont typeface="Lucida Grande"/>
              <a:buChar char="&gt;"/>
              <a:defRPr sz="2200" kern="1200">
                <a:solidFill>
                  <a:schemeClr val="tx1"/>
                </a:solidFill>
                <a:latin typeface="+mn-lt"/>
                <a:ea typeface="+mn-ea"/>
                <a:cs typeface="+mn-cs"/>
              </a:defRPr>
            </a:lvl4pPr>
            <a:lvl5pPr marL="979200" indent="-176400" algn="l" defTabSz="457200" rtl="0" eaLnBrk="1" latinLnBrk="0" hangingPunct="1">
              <a:spcBef>
                <a:spcPct val="20000"/>
              </a:spcBef>
              <a:buClr>
                <a:schemeClr val="accent1"/>
              </a:buClr>
              <a:buSzPct val="70000"/>
              <a:buFont typeface="Lucida Grande"/>
              <a:buChar char="&gt;"/>
              <a:defRPr sz="2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2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200" kern="1200">
                <a:solidFill>
                  <a:schemeClr val="tx1"/>
                </a:solidFill>
                <a:latin typeface="+mn-lt"/>
                <a:ea typeface="+mn-ea"/>
                <a:cs typeface="+mn-cs"/>
              </a:defRPr>
            </a:lvl9pPr>
          </a:lstStyle>
          <a:p>
            <a:pPr indent="0">
              <a:buClr>
                <a:schemeClr val="accent2"/>
              </a:buClr>
              <a:buNone/>
            </a:pPr>
            <a:endParaRPr lang="en-AU" sz="1800" dirty="0"/>
          </a:p>
        </p:txBody>
      </p:sp>
      <p:sp>
        <p:nvSpPr>
          <p:cNvPr id="5" name="Rectangle 4"/>
          <p:cNvSpPr/>
          <p:nvPr/>
        </p:nvSpPr>
        <p:spPr>
          <a:xfrm>
            <a:off x="366037" y="5532508"/>
            <a:ext cx="5052983" cy="577081"/>
          </a:xfrm>
          <a:prstGeom prst="rect">
            <a:avLst/>
          </a:prstGeom>
        </p:spPr>
        <p:txBody>
          <a:bodyPr wrap="square">
            <a:spAutoFit/>
          </a:bodyPr>
          <a:lstStyle/>
          <a:p>
            <a:pPr marL="228557" indent="-228557">
              <a:buAutoNum type="arabicPeriod"/>
            </a:pPr>
            <a:endParaRPr lang="it-IT" sz="900"/>
          </a:p>
          <a:p>
            <a:pPr marL="228557" indent="-228557">
              <a:buAutoNum type="arabicPeriod"/>
            </a:pPr>
            <a:endParaRPr lang="it-IT" sz="900"/>
          </a:p>
          <a:p>
            <a:endParaRPr lang="en-AU" sz="1350" dirty="0"/>
          </a:p>
        </p:txBody>
      </p:sp>
      <p:pic>
        <p:nvPicPr>
          <p:cNvPr id="8" name="Picture 7">
            <a:extLst>
              <a:ext uri="{FF2B5EF4-FFF2-40B4-BE49-F238E27FC236}">
                <a16:creationId xmlns:a16="http://schemas.microsoft.com/office/drawing/2014/main" id="{973735E2-9A2B-EAB1-2C47-5E2EE2B24AD0}"/>
              </a:ext>
            </a:extLst>
          </p:cNvPr>
          <p:cNvPicPr>
            <a:picLocks noChangeAspect="1"/>
          </p:cNvPicPr>
          <p:nvPr/>
        </p:nvPicPr>
        <p:blipFill>
          <a:blip r:embed="rId3"/>
          <a:stretch>
            <a:fillRect/>
          </a:stretch>
        </p:blipFill>
        <p:spPr>
          <a:xfrm>
            <a:off x="188195" y="2046066"/>
            <a:ext cx="11756442" cy="2194444"/>
          </a:xfrm>
          <a:prstGeom prst="rect">
            <a:avLst/>
          </a:prstGeom>
        </p:spPr>
      </p:pic>
      <p:sp>
        <p:nvSpPr>
          <p:cNvPr id="6" name="CasellaDiTesto 5">
            <a:extLst>
              <a:ext uri="{FF2B5EF4-FFF2-40B4-BE49-F238E27FC236}">
                <a16:creationId xmlns:a16="http://schemas.microsoft.com/office/drawing/2014/main" id="{701CF255-3523-281C-1E56-C94EDED08CAA}"/>
              </a:ext>
            </a:extLst>
          </p:cNvPr>
          <p:cNvSpPr txBox="1"/>
          <p:nvPr/>
        </p:nvSpPr>
        <p:spPr>
          <a:xfrm>
            <a:off x="287999" y="1281543"/>
            <a:ext cx="9960177" cy="60516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1219017" fontAlgn="base">
              <a:spcBef>
                <a:spcPts val="800"/>
              </a:spcBef>
              <a:defRPr/>
            </a:pPr>
            <a:r>
              <a:rPr lang="it-IT" sz="1333">
                <a:latin typeface="IBM Plex Sans Light" panose="020B0503050203000203" pitchFamily="34" charset="0"/>
              </a:rPr>
              <a:t>Esecuzione: ricerca globale → selezionare Report → digitare “Accounts incomplete data”.</a:t>
            </a:r>
          </a:p>
          <a:p>
            <a:pPr defTabSz="1219017" fontAlgn="base">
              <a:spcBef>
                <a:spcPts val="800"/>
              </a:spcBef>
              <a:defRPr/>
            </a:pPr>
            <a:r>
              <a:rPr lang="it-IT" sz="1333">
                <a:latin typeface="IBM Plex Sans Light" panose="020B0503050203000203" pitchFamily="34" charset="0"/>
              </a:rPr>
              <a:t>Selezionare tutti i gruppi o un gruppo di interesse e selezionare il periodo di interesse.</a:t>
            </a:r>
          </a:p>
        </p:txBody>
      </p:sp>
      <p:sp>
        <p:nvSpPr>
          <p:cNvPr id="9" name="CasellaDiTesto 8">
            <a:extLst>
              <a:ext uri="{FF2B5EF4-FFF2-40B4-BE49-F238E27FC236}">
                <a16:creationId xmlns:a16="http://schemas.microsoft.com/office/drawing/2014/main" id="{E377978B-5F25-897E-C6B1-93351B9092B3}"/>
              </a:ext>
            </a:extLst>
          </p:cNvPr>
          <p:cNvSpPr txBox="1"/>
          <p:nvPr/>
        </p:nvSpPr>
        <p:spPr>
          <a:xfrm>
            <a:off x="188195" y="4355351"/>
            <a:ext cx="11034662" cy="43088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1100"/>
              <a:t>Questa vista mostra un </a:t>
            </a:r>
            <a:r>
              <a:rPr lang="it-IT" sz="1100" b="1"/>
              <a:t>controllo di qualità sulla copertura temporale dei dati</a:t>
            </a:r>
            <a:r>
              <a:rPr lang="it-IT" sz="1100"/>
              <a:t> caricati in </a:t>
            </a:r>
            <a:r>
              <a:rPr lang="it-IT" sz="1100" err="1"/>
              <a:t>Envizi</a:t>
            </a:r>
            <a:r>
              <a:rPr lang="it-IT" sz="1100"/>
              <a:t>. In particolare, la colonna evidenziata </a:t>
            </a:r>
            <a:r>
              <a:rPr lang="it-IT" sz="1100" b="1" err="1"/>
              <a:t>Days_Mismatch</a:t>
            </a:r>
            <a:r>
              <a:rPr lang="it-IT" sz="1100"/>
              <a:t> indica la differenza tra il numero di giorni che </a:t>
            </a:r>
            <a:r>
              <a:rPr lang="it-IT" sz="1100" b="1" err="1"/>
              <a:t>Envizi</a:t>
            </a:r>
            <a:r>
              <a:rPr lang="it-IT" sz="1100" b="1"/>
              <a:t> si aspetta</a:t>
            </a:r>
            <a:r>
              <a:rPr lang="it-IT" sz="1100"/>
              <a:t> per quel periodo e il numero di giorni </a:t>
            </a:r>
            <a:r>
              <a:rPr lang="it-IT" sz="1100" b="1"/>
              <a:t>effettivamente coperti dal record</a:t>
            </a:r>
            <a:r>
              <a:rPr lang="it-IT" sz="1100"/>
              <a:t>.</a:t>
            </a:r>
          </a:p>
        </p:txBody>
      </p:sp>
      <p:graphicFrame>
        <p:nvGraphicFramePr>
          <p:cNvPr id="10" name="Tabella 9">
            <a:extLst>
              <a:ext uri="{FF2B5EF4-FFF2-40B4-BE49-F238E27FC236}">
                <a16:creationId xmlns:a16="http://schemas.microsoft.com/office/drawing/2014/main" id="{C3BF21CF-D1F1-EE79-917F-E3ACEF5801D2}"/>
              </a:ext>
            </a:extLst>
          </p:cNvPr>
          <p:cNvGraphicFramePr>
            <a:graphicFrameLocks noGrp="1"/>
          </p:cNvGraphicFramePr>
          <p:nvPr/>
        </p:nvGraphicFramePr>
        <p:xfrm>
          <a:off x="188195" y="4881864"/>
          <a:ext cx="6326175" cy="1219041"/>
        </p:xfrm>
        <a:graphic>
          <a:graphicData uri="http://schemas.openxmlformats.org/drawingml/2006/table">
            <a:tbl>
              <a:tblPr>
                <a:tableStyleId>{5C22544A-7EE6-4342-B048-85BDC9FD1C3A}</a:tableStyleId>
              </a:tblPr>
              <a:tblGrid>
                <a:gridCol w="1956849">
                  <a:extLst>
                    <a:ext uri="{9D8B030D-6E8A-4147-A177-3AD203B41FA5}">
                      <a16:colId xmlns:a16="http://schemas.microsoft.com/office/drawing/2014/main" val="2487809444"/>
                    </a:ext>
                  </a:extLst>
                </a:gridCol>
                <a:gridCol w="4369327">
                  <a:extLst>
                    <a:ext uri="{9D8B030D-6E8A-4147-A177-3AD203B41FA5}">
                      <a16:colId xmlns:a16="http://schemas.microsoft.com/office/drawing/2014/main" val="509606105"/>
                    </a:ext>
                  </a:extLst>
                </a:gridCol>
              </a:tblGrid>
              <a:tr h="243808">
                <a:tc>
                  <a:txBody>
                    <a:bodyPr/>
                    <a:lstStyle/>
                    <a:p>
                      <a:pPr algn="l">
                        <a:buNone/>
                      </a:pPr>
                      <a:r>
                        <a:rPr lang="it-IT" sz="1100" b="1" dirty="0">
                          <a:solidFill>
                            <a:schemeClr val="tx1"/>
                          </a:solidFill>
                          <a:effectLst/>
                        </a:rPr>
                        <a:t>Colonna</a:t>
                      </a:r>
                    </a:p>
                  </a:txBody>
                  <a:tcPr marL="57143" marR="57143" marT="38095" marB="38095" anchor="ctr"/>
                </a:tc>
                <a:tc>
                  <a:txBody>
                    <a:bodyPr/>
                    <a:lstStyle/>
                    <a:p>
                      <a:pPr algn="l">
                        <a:buNone/>
                      </a:pPr>
                      <a:r>
                        <a:rPr lang="it-IT" sz="1100" b="1" dirty="0">
                          <a:solidFill>
                            <a:schemeClr val="tx1"/>
                          </a:solidFill>
                          <a:effectLst/>
                        </a:rPr>
                        <a:t>Significato</a:t>
                      </a:r>
                    </a:p>
                  </a:txBody>
                  <a:tcPr marL="57143" marR="57143" marT="38095" marB="38095" anchor="ctr"/>
                </a:tc>
                <a:extLst>
                  <a:ext uri="{0D108BD9-81ED-4DB2-BD59-A6C34878D82A}">
                    <a16:rowId xmlns:a16="http://schemas.microsoft.com/office/drawing/2014/main" val="610334479"/>
                  </a:ext>
                </a:extLst>
              </a:tr>
              <a:tr h="243808">
                <a:tc>
                  <a:txBody>
                    <a:bodyPr/>
                    <a:lstStyle/>
                    <a:p>
                      <a:pPr algn="l">
                        <a:buNone/>
                      </a:pPr>
                      <a:r>
                        <a:rPr lang="it-IT" sz="1100" dirty="0" err="1">
                          <a:solidFill>
                            <a:schemeClr val="tx1"/>
                          </a:solidFill>
                          <a:effectLst/>
                        </a:rPr>
                        <a:t>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effettivi del mese (30 o 31).</a:t>
                      </a:r>
                    </a:p>
                  </a:txBody>
                  <a:tcPr marL="57143" marR="57143" marT="38095" marB="38095" anchor="ctr">
                    <a:solidFill>
                      <a:schemeClr val="bg1"/>
                    </a:solidFill>
                  </a:tcPr>
                </a:tc>
                <a:extLst>
                  <a:ext uri="{0D108BD9-81ED-4DB2-BD59-A6C34878D82A}">
                    <a16:rowId xmlns:a16="http://schemas.microsoft.com/office/drawing/2014/main" val="1273816786"/>
                  </a:ext>
                </a:extLst>
              </a:tr>
              <a:tr h="243808">
                <a:tc>
                  <a:txBody>
                    <a:bodyPr/>
                    <a:lstStyle/>
                    <a:p>
                      <a:pPr algn="l">
                        <a:buNone/>
                      </a:pPr>
                      <a:r>
                        <a:rPr lang="it-IT" sz="1100" dirty="0" err="1">
                          <a:solidFill>
                            <a:schemeClr val="tx1"/>
                          </a:solidFill>
                          <a:effectLst/>
                        </a:rPr>
                        <a:t>Expected_Days_In_Month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che </a:t>
                      </a:r>
                      <a:r>
                        <a:rPr lang="it-IT" sz="1100" dirty="0" err="1">
                          <a:solidFill>
                            <a:schemeClr val="tx1"/>
                          </a:solidFill>
                          <a:effectLst/>
                        </a:rPr>
                        <a:t>Envizi</a:t>
                      </a:r>
                      <a:r>
                        <a:rPr lang="it-IT" sz="1100" dirty="0">
                          <a:solidFill>
                            <a:schemeClr val="tx1"/>
                          </a:solidFill>
                          <a:effectLst/>
                        </a:rPr>
                        <a:t> si aspetta di coprire.</a:t>
                      </a:r>
                    </a:p>
                  </a:txBody>
                  <a:tcPr marL="57143" marR="57143" marT="38095" marB="38095" anchor="ctr">
                    <a:solidFill>
                      <a:schemeClr val="bg1"/>
                    </a:solidFill>
                  </a:tcPr>
                </a:tc>
                <a:extLst>
                  <a:ext uri="{0D108BD9-81ED-4DB2-BD59-A6C34878D82A}">
                    <a16:rowId xmlns:a16="http://schemas.microsoft.com/office/drawing/2014/main" val="522314368"/>
                  </a:ext>
                </a:extLst>
              </a:tr>
              <a:tr h="243808">
                <a:tc>
                  <a:txBody>
                    <a:bodyPr/>
                    <a:lstStyle/>
                    <a:p>
                      <a:pPr algn="l">
                        <a:buNone/>
                      </a:pPr>
                      <a:r>
                        <a:rPr lang="it-IT" sz="1100" dirty="0" err="1">
                          <a:solidFill>
                            <a:schemeClr val="tx1"/>
                          </a:solidFill>
                          <a:effectLst/>
                        </a:rPr>
                        <a:t>Days_Of_Data</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Giorni coperti dal record importato.</a:t>
                      </a:r>
                    </a:p>
                  </a:txBody>
                  <a:tcPr marL="57143" marR="57143" marT="38095" marB="38095" anchor="ctr">
                    <a:solidFill>
                      <a:schemeClr val="bg1"/>
                    </a:solidFill>
                  </a:tcPr>
                </a:tc>
                <a:extLst>
                  <a:ext uri="{0D108BD9-81ED-4DB2-BD59-A6C34878D82A}">
                    <a16:rowId xmlns:a16="http://schemas.microsoft.com/office/drawing/2014/main" val="1781174174"/>
                  </a:ext>
                </a:extLst>
              </a:tr>
              <a:tr h="243808">
                <a:tc>
                  <a:txBody>
                    <a:bodyPr/>
                    <a:lstStyle/>
                    <a:p>
                      <a:pPr algn="l">
                        <a:buNone/>
                      </a:pPr>
                      <a:r>
                        <a:rPr lang="it-IT" sz="1100" dirty="0" err="1">
                          <a:solidFill>
                            <a:schemeClr val="tx1"/>
                          </a:solidFill>
                          <a:effectLst/>
                        </a:rPr>
                        <a:t>Days_Mismatch</a:t>
                      </a:r>
                      <a:endParaRPr lang="it-IT" sz="1100" dirty="0">
                        <a:solidFill>
                          <a:schemeClr val="tx1"/>
                        </a:solidFill>
                        <a:effectLst/>
                      </a:endParaRPr>
                    </a:p>
                  </a:txBody>
                  <a:tcPr marL="57143" marR="57143" marT="38095" marB="38095" anchor="ctr">
                    <a:solidFill>
                      <a:schemeClr val="bg1"/>
                    </a:solidFill>
                  </a:tcPr>
                </a:tc>
                <a:tc>
                  <a:txBody>
                    <a:bodyPr/>
                    <a:lstStyle/>
                    <a:p>
                      <a:pPr algn="l">
                        <a:buNone/>
                      </a:pPr>
                      <a:r>
                        <a:rPr lang="it-IT" sz="1100" dirty="0">
                          <a:solidFill>
                            <a:schemeClr val="tx1"/>
                          </a:solidFill>
                          <a:effectLst/>
                        </a:rPr>
                        <a:t>Differenza tra copertura attesa e copertura reale.</a:t>
                      </a:r>
                    </a:p>
                  </a:txBody>
                  <a:tcPr marL="57143" marR="57143" marT="38095" marB="38095" anchor="ctr">
                    <a:solidFill>
                      <a:schemeClr val="bg1"/>
                    </a:solidFill>
                  </a:tcPr>
                </a:tc>
                <a:extLst>
                  <a:ext uri="{0D108BD9-81ED-4DB2-BD59-A6C34878D82A}">
                    <a16:rowId xmlns:a16="http://schemas.microsoft.com/office/drawing/2014/main" val="2519722103"/>
                  </a:ext>
                </a:extLst>
              </a:tr>
            </a:tbl>
          </a:graphicData>
        </a:graphic>
      </p:graphicFrame>
    </p:spTree>
    <p:extLst>
      <p:ext uri="{BB962C8B-B14F-4D97-AF65-F5344CB8AC3E}">
        <p14:creationId xmlns:p14="http://schemas.microsoft.com/office/powerpoint/2010/main" val="336730888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8481C354-5026-66A3-80C5-B01EE02BFAA3}"/>
              </a:ext>
            </a:extLst>
          </p:cNvPr>
          <p:cNvSpPr>
            <a:spLocks noGrp="1"/>
          </p:cNvSpPr>
          <p:nvPr>
            <p:ph type="ftr" sz="quarter" idx="12"/>
          </p:nvPr>
        </p:nvSpPr>
        <p:spPr/>
        <p:txBody>
          <a:bodyPr/>
          <a:lstStyle/>
          <a:p>
            <a:endParaRPr lang="en-US" dirty="0"/>
          </a:p>
        </p:txBody>
      </p:sp>
      <p:sp>
        <p:nvSpPr>
          <p:cNvPr id="4" name="Segnaposto numero diapositiva 3">
            <a:extLst>
              <a:ext uri="{FF2B5EF4-FFF2-40B4-BE49-F238E27FC236}">
                <a16:creationId xmlns:a16="http://schemas.microsoft.com/office/drawing/2014/main" id="{92C342ED-77B0-3AB3-6A84-89DE0AA36411}"/>
              </a:ext>
            </a:extLst>
          </p:cNvPr>
          <p:cNvSpPr>
            <a:spLocks noGrp="1"/>
          </p:cNvSpPr>
          <p:nvPr>
            <p:ph type="sldNum" sz="quarter" idx="4"/>
          </p:nvPr>
        </p:nvSpPr>
        <p:spPr>
          <a:xfrm>
            <a:off x="11782872" y="6469419"/>
            <a:ext cx="121828" cy="123111"/>
          </a:xfrm>
        </p:spPr>
        <p:txBody>
          <a:bodyPr/>
          <a:lstStyle/>
          <a:p>
            <a:fld id="{86CB4B4D-7CA3-9044-876B-883B54F8677D}" type="slidenum">
              <a:rPr lang="en-US" smtClean="0"/>
              <a:pPr/>
              <a:t>41</a:t>
            </a:fld>
            <a:endParaRPr lang="en-US" dirty="0"/>
          </a:p>
        </p:txBody>
      </p:sp>
      <p:sp>
        <p:nvSpPr>
          <p:cNvPr id="20" name="Eyebrow"/>
          <p:cNvSpPr txBox="1"/>
          <p:nvPr/>
        </p:nvSpPr>
        <p:spPr>
          <a:xfrm>
            <a:off x="287999" y="320445"/>
            <a:ext cx="6399967" cy="169277"/>
          </a:xfrm>
          <a:prstGeom prst="rect">
            <a:avLst/>
          </a:prstGeom>
          <a:noFill/>
        </p:spPr>
        <p:txBody>
          <a:bodyPr wrap="square" lIns="0" tIns="0" rIns="0" bIns="0">
            <a:spAutoFit/>
          </a:bodyPr>
          <a:lstStyle/>
          <a:p>
            <a:r>
              <a:rPr lang="it-IT" sz="1100" b="1">
                <a:solidFill>
                  <a:srgbClr val="0F62FE"/>
                </a:solidFill>
                <a:latin typeface="IBM Plex Sans Light"/>
              </a:rPr>
              <a:t>DATA HEALTH CHECK</a:t>
            </a:r>
          </a:p>
        </p:txBody>
      </p:sp>
      <p:sp>
        <p:nvSpPr>
          <p:cNvPr id="21" name="Title"/>
          <p:cNvSpPr txBox="1"/>
          <p:nvPr/>
        </p:nvSpPr>
        <p:spPr>
          <a:xfrm>
            <a:off x="287999" y="571872"/>
            <a:ext cx="10498633" cy="292388"/>
          </a:xfrm>
          <a:prstGeom prst="rect">
            <a:avLst/>
          </a:prstGeom>
          <a:noFill/>
        </p:spPr>
        <p:txBody>
          <a:bodyPr wrap="square" lIns="0" tIns="0" rIns="0" bIns="0">
            <a:spAutoFit/>
          </a:bodyPr>
          <a:lstStyle/>
          <a:p>
            <a:r>
              <a:rPr lang="it-IT" sz="1900" b="1">
                <a:solidFill>
                  <a:srgbClr val="000000"/>
                </a:solidFill>
                <a:latin typeface="IBM Plex Sans Light"/>
              </a:rPr>
              <a:t>Days Mismatch: come interpretare i valori</a:t>
            </a:r>
          </a:p>
        </p:txBody>
      </p:sp>
      <p:sp>
        <p:nvSpPr>
          <p:cNvPr id="22" name="Card L"/>
          <p:cNvSpPr/>
          <p:nvPr/>
        </p:nvSpPr>
        <p:spPr>
          <a:xfrm>
            <a:off x="287999" y="1448058"/>
            <a:ext cx="5638066" cy="1942847"/>
          </a:xfrm>
          <a:prstGeom prst="roundRect">
            <a:avLst>
              <a:gd name="adj" fmla="val 5000"/>
            </a:avLst>
          </a:prstGeom>
          <a:solidFill>
            <a:srgbClr val="F4F6FA"/>
          </a:solidFill>
          <a:ln w="12700">
            <a:solidFill>
              <a:srgbClr val="D7E0F0"/>
            </a:solidFill>
          </a:ln>
          <a:effectLst/>
        </p:spPr>
        <p:txBody>
          <a:bodyPr rtlCol="0" anchor="ctr"/>
          <a:lstStyle/>
          <a:p>
            <a:pPr algn="ctr"/>
            <a:endParaRPr sz="900"/>
          </a:p>
        </p:txBody>
      </p:sp>
      <p:sp>
        <p:nvSpPr>
          <p:cNvPr id="23" name="Card R"/>
          <p:cNvSpPr/>
          <p:nvPr/>
        </p:nvSpPr>
        <p:spPr>
          <a:xfrm>
            <a:off x="6264349" y="1448058"/>
            <a:ext cx="5635018" cy="1942847"/>
          </a:xfrm>
          <a:prstGeom prst="roundRect">
            <a:avLst>
              <a:gd name="adj" fmla="val 6000"/>
            </a:avLst>
          </a:prstGeom>
          <a:solidFill>
            <a:srgbClr val="001141"/>
          </a:solidFill>
          <a:ln>
            <a:noFill/>
          </a:ln>
          <a:effectLst/>
        </p:spPr>
        <p:txBody>
          <a:bodyPr rtlCol="0" anchor="ctr"/>
          <a:lstStyle/>
          <a:p>
            <a:pPr algn="ctr"/>
            <a:endParaRPr sz="900"/>
          </a:p>
        </p:txBody>
      </p:sp>
      <p:sp>
        <p:nvSpPr>
          <p:cNvPr id="24" name="Card L text"/>
          <p:cNvSpPr txBox="1"/>
          <p:nvPr/>
        </p:nvSpPr>
        <p:spPr>
          <a:xfrm>
            <a:off x="479998" y="1630914"/>
            <a:ext cx="5254068" cy="769441"/>
          </a:xfrm>
          <a:prstGeom prst="rect">
            <a:avLst/>
          </a:prstGeom>
          <a:noFill/>
        </p:spPr>
        <p:txBody>
          <a:bodyPr wrap="square" lIns="0" tIns="0" rIns="0" bIns="0">
            <a:spAutoFit/>
          </a:bodyPr>
          <a:lstStyle/>
          <a:p>
            <a:pPr>
              <a:spcAft>
                <a:spcPts val="400"/>
              </a:spcAft>
            </a:pPr>
            <a:r>
              <a:rPr lang="it-IT" sz="1200" b="1">
                <a:solidFill>
                  <a:srgbClr val="0F62FE"/>
                </a:solidFill>
                <a:latin typeface="IBM Plex Sans Light"/>
              </a:rPr>
              <a:t>Days_Mismatch = 1 — caso corretto</a:t>
            </a:r>
          </a:p>
          <a:p>
            <a:pPr>
              <a:spcAft>
                <a:spcPts val="200"/>
              </a:spcAft>
            </a:pPr>
            <a:r>
              <a:rPr lang="it-IT" sz="1100">
                <a:solidFill>
                  <a:srgbClr val="000000"/>
                </a:solidFill>
                <a:latin typeface="IBM Plex Sans Light"/>
              </a:rPr>
              <a:t>Marzo 2025: Expected Days 31, Days of Data 30.</a:t>
            </a:r>
          </a:p>
          <a:p>
            <a:r>
              <a:rPr lang="it-IT" sz="1100">
                <a:solidFill>
                  <a:srgbClr val="000000"/>
                </a:solidFill>
                <a:latin typeface="IBM Plex Sans Light"/>
              </a:rPr>
              <a:t>Manca un solo giorno di copertura (lettura dal 1° al 30): copertura quasi completa, nessuna azione necessaria.</a:t>
            </a:r>
          </a:p>
        </p:txBody>
      </p:sp>
      <p:sp>
        <p:nvSpPr>
          <p:cNvPr id="25" name="Card R text"/>
          <p:cNvSpPr txBox="1"/>
          <p:nvPr/>
        </p:nvSpPr>
        <p:spPr>
          <a:xfrm>
            <a:off x="6456348" y="1630914"/>
            <a:ext cx="5251020" cy="1328569"/>
          </a:xfrm>
          <a:prstGeom prst="rect">
            <a:avLst/>
          </a:prstGeom>
          <a:noFill/>
        </p:spPr>
        <p:txBody>
          <a:bodyPr wrap="square" lIns="0" tIns="0" rIns="0" bIns="0">
            <a:spAutoFit/>
          </a:bodyPr>
          <a:lstStyle/>
          <a:p>
            <a:pPr>
              <a:spcAft>
                <a:spcPts val="400"/>
              </a:spcAft>
            </a:pPr>
            <a:r>
              <a:rPr lang="it-IT" sz="1200" b="1" dirty="0">
                <a:solidFill>
                  <a:srgbClr val="78A9FF"/>
                </a:solidFill>
                <a:latin typeface="IBM Plex Sans Light"/>
              </a:rPr>
              <a:t>DAYS_MISMATCH = -31 — ANOMALIA</a:t>
            </a:r>
          </a:p>
          <a:p>
            <a:pPr>
              <a:spcAft>
                <a:spcPts val="300"/>
              </a:spcAft>
            </a:pPr>
            <a:r>
              <a:rPr lang="it-IT" sz="1100" dirty="0">
                <a:solidFill>
                  <a:srgbClr val="FFFFFF"/>
                </a:solidFill>
                <a:latin typeface="IBM Plex Sans Light"/>
              </a:rPr>
              <a:t>Luglio 2024: Expected Days 31, Days of Data 62 — il record copre due mesi Tipici errori da correggere a fronte di questi dati.</a:t>
            </a:r>
          </a:p>
          <a:p>
            <a:pPr>
              <a:spcAft>
                <a:spcPts val="100"/>
              </a:spcAft>
            </a:pPr>
            <a:r>
              <a:rPr lang="it-IT" sz="1100" dirty="0">
                <a:solidFill>
                  <a:srgbClr val="FFFFFF"/>
                </a:solidFill>
                <a:latin typeface="IBM Plex Sans Light"/>
              </a:rPr>
              <a:t>— bolletta bimestrale caricata come mensile;</a:t>
            </a:r>
          </a:p>
          <a:p>
            <a:pPr>
              <a:spcAft>
                <a:spcPts val="100"/>
              </a:spcAft>
            </a:pPr>
            <a:r>
              <a:rPr lang="it-IT" sz="1100" dirty="0">
                <a:solidFill>
                  <a:srgbClr val="FFFFFF"/>
                </a:solidFill>
                <a:latin typeface="IBM Plex Sans Light"/>
              </a:rPr>
              <a:t>— inserite date di inizio/fine errate;</a:t>
            </a:r>
          </a:p>
          <a:p>
            <a:pPr>
              <a:spcAft>
                <a:spcPts val="100"/>
              </a:spcAft>
            </a:pPr>
            <a:r>
              <a:rPr lang="it-IT" sz="1100" dirty="0">
                <a:solidFill>
                  <a:srgbClr val="FFFFFF"/>
                </a:solidFill>
                <a:latin typeface="IBM Plex Sans Light"/>
              </a:rPr>
              <a:t>— periodo di consolidamento non coerente;</a:t>
            </a:r>
          </a:p>
          <a:p>
            <a:r>
              <a:rPr lang="it-IT" sz="1100" dirty="0">
                <a:solidFill>
                  <a:srgbClr val="FFFFFF"/>
                </a:solidFill>
                <a:latin typeface="IBM Plex Sans Light"/>
              </a:rPr>
              <a:t>— sovrapposizione con un altro record.</a:t>
            </a:r>
          </a:p>
        </p:txBody>
      </p:sp>
      <p:graphicFrame>
        <p:nvGraphicFramePr>
          <p:cNvPr id="26" name="Tabella"/>
          <p:cNvGraphicFramePr>
            <a:graphicFrameLocks noGrp="1"/>
          </p:cNvGraphicFramePr>
          <p:nvPr/>
        </p:nvGraphicFramePr>
        <p:xfrm>
          <a:off x="287999" y="3543285"/>
          <a:ext cx="11611368" cy="1028566"/>
        </p:xfrm>
        <a:graphic>
          <a:graphicData uri="http://schemas.openxmlformats.org/drawingml/2006/table">
            <a:tbl>
              <a:tblPr firstRow="1"/>
              <a:tblGrid>
                <a:gridCol w="3809504">
                  <a:extLst>
                    <a:ext uri="{9D8B030D-6E8A-4147-A177-3AD203B41FA5}">
                      <a16:colId xmlns:a16="http://schemas.microsoft.com/office/drawing/2014/main" val="20000"/>
                    </a:ext>
                  </a:extLst>
                </a:gridCol>
                <a:gridCol w="7801864">
                  <a:extLst>
                    <a:ext uri="{9D8B030D-6E8A-4147-A177-3AD203B41FA5}">
                      <a16:colId xmlns:a16="http://schemas.microsoft.com/office/drawing/2014/main" val="20001"/>
                    </a:ext>
                  </a:extLst>
                </a:gridCol>
              </a:tblGrid>
              <a:tr h="342855">
                <a:tc>
                  <a:txBody>
                    <a:bodyPr/>
                    <a:lstStyle/>
                    <a:p>
                      <a:pPr algn="l"/>
                      <a:r>
                        <a:rPr lang="it-IT" sz="1100" b="1">
                          <a:solidFill>
                            <a:srgbClr val="FFFFFF"/>
                          </a:solidFill>
                          <a:latin typeface="IBM Plex Sans Light"/>
                        </a:rPr>
                        <a:t>Valore</a:t>
                      </a:r>
                    </a:p>
                  </a:txBody>
                  <a:tcPr marL="91428" marR="91428" marT="45714" marB="45714" anchor="ctr">
                    <a:lnB w="12700">
                      <a:solidFill>
                        <a:srgbClr val="D7E0F0"/>
                      </a:solidFill>
                    </a:lnB>
                    <a:solidFill>
                      <a:srgbClr val="001141"/>
                    </a:solidFill>
                  </a:tcPr>
                </a:tc>
                <a:tc>
                  <a:txBody>
                    <a:bodyPr/>
                    <a:lstStyle/>
                    <a:p>
                      <a:pPr algn="l"/>
                      <a:r>
                        <a:rPr lang="it-IT" sz="1100" b="1">
                          <a:solidFill>
                            <a:srgbClr val="FFFFFF"/>
                          </a:solidFill>
                          <a:latin typeface="IBM Plex Sans Light"/>
                        </a:rPr>
                        <a:t>Come leggerlo</a:t>
                      </a:r>
                    </a:p>
                  </a:txBody>
                  <a:tcPr marL="91428" marR="91428" marT="45714" marB="45714" anchor="ctr">
                    <a:lnB w="12700">
                      <a:solidFill>
                        <a:srgbClr val="D7E0F0"/>
                      </a:solidFill>
                    </a:lnB>
                    <a:solidFill>
                      <a:srgbClr val="001141"/>
                    </a:solidFill>
                  </a:tcPr>
                </a:tc>
                <a:extLst>
                  <a:ext uri="{0D108BD9-81ED-4DB2-BD59-A6C34878D82A}">
                    <a16:rowId xmlns:a16="http://schemas.microsoft.com/office/drawing/2014/main" val="10000"/>
                  </a:ext>
                </a:extLst>
              </a:tr>
              <a:tr h="342855">
                <a:tc>
                  <a:txBody>
                    <a:bodyPr/>
                    <a:lstStyle/>
                    <a:p>
                      <a:pPr algn="l"/>
                      <a:r>
                        <a:rPr lang="it-IT" sz="1100" b="0">
                          <a:solidFill>
                            <a:srgbClr val="000000"/>
                          </a:solidFill>
                          <a:latin typeface="IBM Plex Sans Light"/>
                        </a:rPr>
                        <a:t>Days_Mismatch = 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Copertura quasi completa: manca un giorno, nessun intervento.</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1"/>
                  </a:ext>
                </a:extLst>
              </a:tr>
              <a:tr h="342855">
                <a:tc>
                  <a:txBody>
                    <a:bodyPr/>
                    <a:lstStyle/>
                    <a:p>
                      <a:pPr algn="l"/>
                      <a:r>
                        <a:rPr lang="it-IT" sz="1100" b="0">
                          <a:solidFill>
                            <a:srgbClr val="000000"/>
                          </a:solidFill>
                          <a:latin typeface="IBM Plex Sans Light"/>
                        </a:rPr>
                        <a:t>Days_Mismatch = -30 / -31</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FFFFFF"/>
                    </a:solidFill>
                  </a:tcPr>
                </a:tc>
                <a:tc>
                  <a:txBody>
                    <a:bodyPr/>
                    <a:lstStyle/>
                    <a:p>
                      <a:pPr algn="l"/>
                      <a:r>
                        <a:rPr lang="it-IT" sz="1100" b="0">
                          <a:solidFill>
                            <a:srgbClr val="000000"/>
                          </a:solidFill>
                          <a:latin typeface="IBM Plex Sans Light"/>
                        </a:rPr>
                        <a:t>Il record copre circa due mesi: verificare il periodo del record.</a:t>
                      </a:r>
                    </a:p>
                  </a:txBody>
                  <a:tcPr marL="91428" marR="91428" marT="45714" marB="45714" anchor="ctr">
                    <a:lnT w="12700" cap="flat" cmpd="sng" algn="ctr">
                      <a:solidFill>
                        <a:srgbClr val="D7E0F0"/>
                      </a:solidFill>
                      <a:prstDash val="solid"/>
                      <a:round/>
                      <a:headEnd type="none" w="med" len="med"/>
                      <a:tailEnd type="none" w="med" len="med"/>
                    </a:lnT>
                    <a:lnB w="12700">
                      <a:solidFill>
                        <a:srgbClr val="D7E0F0"/>
                      </a:solidFill>
                    </a:lnB>
                    <a:solidFill>
                      <a:srgbClr val="E8EFFE"/>
                    </a:solidFill>
                  </a:tcPr>
                </a:tc>
                <a:extLst>
                  <a:ext uri="{0D108BD9-81ED-4DB2-BD59-A6C34878D82A}">
                    <a16:rowId xmlns:a16="http://schemas.microsoft.com/office/drawing/2014/main" val="10002"/>
                  </a:ext>
                </a:extLst>
              </a:tr>
            </a:tbl>
          </a:graphicData>
        </a:graphic>
      </p:graphicFrame>
      <p:sp>
        <p:nvSpPr>
          <p:cNvPr id="27" name="Bar"/>
          <p:cNvSpPr/>
          <p:nvPr/>
        </p:nvSpPr>
        <p:spPr>
          <a:xfrm>
            <a:off x="287999" y="4952802"/>
            <a:ext cx="11611368" cy="799996"/>
          </a:xfrm>
          <a:prstGeom prst="roundRect">
            <a:avLst>
              <a:gd name="adj" fmla="val 12000"/>
            </a:avLst>
          </a:prstGeom>
          <a:solidFill>
            <a:srgbClr val="E8EFFE"/>
          </a:solidFill>
          <a:ln>
            <a:noFill/>
          </a:ln>
          <a:effectLst/>
        </p:spPr>
        <p:txBody>
          <a:bodyPr rtlCol="0" anchor="ctr"/>
          <a:lstStyle/>
          <a:p>
            <a:pPr algn="ctr"/>
            <a:endParaRPr sz="900"/>
          </a:p>
        </p:txBody>
      </p:sp>
      <p:sp>
        <p:nvSpPr>
          <p:cNvPr id="28" name="Bar text"/>
          <p:cNvSpPr txBox="1"/>
          <p:nvPr/>
        </p:nvSpPr>
        <p:spPr>
          <a:xfrm>
            <a:off x="562283" y="5120420"/>
            <a:ext cx="11062800" cy="338554"/>
          </a:xfrm>
          <a:prstGeom prst="rect">
            <a:avLst/>
          </a:prstGeom>
          <a:noFill/>
        </p:spPr>
        <p:txBody>
          <a:bodyPr wrap="square" lIns="0" tIns="0" rIns="0" bIns="0">
            <a:spAutoFit/>
          </a:bodyPr>
          <a:lstStyle/>
          <a:p>
            <a:pPr algn="ctr"/>
            <a:r>
              <a:rPr lang="it-IT" sz="1100" b="1">
                <a:solidFill>
                  <a:srgbClr val="0F62FE"/>
                </a:solidFill>
                <a:latin typeface="IBM Plex Sans Light"/>
              </a:rPr>
              <a:t>In sintesi:  </a:t>
            </a:r>
            <a:r>
              <a:rPr lang="it-IT" sz="1100">
                <a:solidFill>
                  <a:srgbClr val="000000"/>
                </a:solidFill>
                <a:latin typeface="IBM Plex Sans Light"/>
              </a:rPr>
              <a:t>Days Mismatch confronta la durata del periodo coperto dal record con quella attesa e intercetta bollette bimestrali, date errate o sovrapposizioni prima che influenzino KPI, report e decisioni dell'Energy Manager.</a:t>
            </a:r>
          </a:p>
        </p:txBody>
      </p:sp>
    </p:spTree>
    <p:extLst>
      <p:ext uri="{BB962C8B-B14F-4D97-AF65-F5344CB8AC3E}">
        <p14:creationId xmlns:p14="http://schemas.microsoft.com/office/powerpoint/2010/main" val="2041015075"/>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9370-644A-0274-D5B2-54A5CF145E0A}"/>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6D3FE642-E21D-5942-3A10-BE7666D69160}"/>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123394FA-6E45-A50B-6694-5ABE433A2150}"/>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9796DC5D-79EC-2594-1640-533A74425A48}"/>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4EAEE384-E9AB-48AA-0C51-F731E6F49D2A}"/>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a:solidFill>
                  <a:srgbClr val="161616"/>
                </a:solidFill>
              </a:rPr>
              <a:t>Reporting</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53167F2B-BE00-4E2D-90F3-198C0711C287}"/>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GRESB</a:t>
            </a:r>
            <a:endParaRPr lang="it-IT" sz="2200" i="1" dirty="0">
              <a:solidFill>
                <a:srgbClr val="0F62FE"/>
              </a:solidFill>
            </a:endParaRPr>
          </a:p>
          <a:p>
            <a:pPr>
              <a:buNone/>
            </a:pPr>
            <a:endParaRPr lang="it-IT" sz="2200" i="1" dirty="0">
              <a:solidFill>
                <a:srgbClr val="0F62FE"/>
              </a:solidFill>
            </a:endParaRPr>
          </a:p>
          <a:p>
            <a:r>
              <a:rPr lang="it-IT" sz="2000" dirty="0">
                <a:solidFill>
                  <a:srgbClr val="161616"/>
                </a:solidFill>
              </a:rPr>
              <a:t>Dalla analisi al benchmark </a:t>
            </a:r>
          </a:p>
        </p:txBody>
      </p:sp>
      <p:sp>
        <p:nvSpPr>
          <p:cNvPr id="6" name="Rettangolo 5">
            <a:extLst>
              <a:ext uri="{FF2B5EF4-FFF2-40B4-BE49-F238E27FC236}">
                <a16:creationId xmlns:a16="http://schemas.microsoft.com/office/drawing/2014/main" id="{0C8864D1-1F01-7E0E-2518-BD192B0E84BF}"/>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BC9D6DE2-37F8-03CC-EB5E-441BCF50A54A}"/>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3798704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99F3-6BEC-284B-5B68-61D5EED4E68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F1CF5CE-30E0-0D9B-178B-2FCC05BEE212}"/>
              </a:ext>
            </a:extLst>
          </p:cNvPr>
          <p:cNvSpPr>
            <a:spLocks noGrp="1"/>
          </p:cNvSpPr>
          <p:nvPr>
            <p:ph type="title"/>
          </p:nvPr>
        </p:nvSpPr>
        <p:spPr>
          <a:xfrm>
            <a:off x="284125" y="265794"/>
            <a:ext cx="5363465" cy="569140"/>
          </a:xfrm>
        </p:spPr>
        <p:txBody>
          <a:bodyPr>
            <a:normAutofit fontScale="90000"/>
          </a:bodyPr>
          <a:lstStyle/>
          <a:p>
            <a:r>
              <a:rPr lang="en-US" dirty="0"/>
              <a:t>API Energy Star e GRESB integrate in ENVIZI, </a:t>
            </a:r>
            <a:r>
              <a:rPr lang="en-US" dirty="0" err="1"/>
              <a:t>insieme</a:t>
            </a:r>
            <a:r>
              <a:rPr lang="en-US" dirty="0"/>
              <a:t> ai rating </a:t>
            </a:r>
            <a:r>
              <a:rPr lang="en-US" dirty="0" err="1"/>
              <a:t>indicativi</a:t>
            </a:r>
            <a:r>
              <a:rPr lang="en-US" dirty="0"/>
              <a:t> GRESB (Europa) NABERS (Australia) </a:t>
            </a:r>
            <a:br>
              <a:rPr lang="en-US" dirty="0"/>
            </a:br>
            <a:endParaRPr lang="en-US" dirty="0"/>
          </a:p>
        </p:txBody>
      </p:sp>
      <p:sp>
        <p:nvSpPr>
          <p:cNvPr id="8" name="Text Placeholder 7">
            <a:extLst>
              <a:ext uri="{FF2B5EF4-FFF2-40B4-BE49-F238E27FC236}">
                <a16:creationId xmlns:a16="http://schemas.microsoft.com/office/drawing/2014/main" id="{358E1738-113B-8386-A399-21EE0E82C157}"/>
              </a:ext>
            </a:extLst>
          </p:cNvPr>
          <p:cNvSpPr>
            <a:spLocks noGrp="1"/>
          </p:cNvSpPr>
          <p:nvPr>
            <p:ph type="body" sz="quarter" idx="12"/>
          </p:nvPr>
        </p:nvSpPr>
        <p:spPr>
          <a:xfrm>
            <a:off x="287999" y="1837028"/>
            <a:ext cx="2477765" cy="4163387"/>
          </a:xfrm>
        </p:spPr>
        <p:txBody>
          <a:bodyPr>
            <a:normAutofit/>
          </a:bodyPr>
          <a:lstStyle/>
          <a:p>
            <a:pPr>
              <a:spcAft>
                <a:spcPts val="300"/>
              </a:spcAft>
            </a:pPr>
            <a:r>
              <a:rPr lang="it-IT" dirty="0"/>
              <a:t>Sede di esempio: One Penn Plaza, raggiungibile da ricerca globale o da Org Hierarchy sotto MREF Locations.</a:t>
            </a:r>
          </a:p>
          <a:p>
            <a:pPr>
              <a:spcAft>
                <a:spcPts val="300"/>
              </a:spcAft>
            </a:pPr>
            <a:endParaRPr lang="it-IT" dirty="0"/>
          </a:p>
          <a:p>
            <a:pPr>
              <a:spcAft>
                <a:spcPts val="300"/>
              </a:spcAft>
            </a:pPr>
            <a:r>
              <a:rPr lang="it-IT" dirty="0"/>
              <a:t>Envizi si integra con GRESB, NABERS ed Energy Star tramite API dedicate.</a:t>
            </a:r>
          </a:p>
          <a:p>
            <a:pPr>
              <a:spcAft>
                <a:spcPts val="300"/>
              </a:spcAft>
            </a:pPr>
            <a:endParaRPr lang="it-IT" dirty="0"/>
          </a:p>
          <a:p>
            <a:pPr>
              <a:spcAft>
                <a:spcPts val="300"/>
              </a:spcAft>
            </a:pPr>
            <a:r>
              <a:rPr lang="it-IT" dirty="0"/>
              <a:t>Questi moduli dispongono di materiale di abilitazione separato, disponibile su richiesta per Business Partner e clienti.</a:t>
            </a:r>
          </a:p>
        </p:txBody>
      </p:sp>
      <p:sp>
        <p:nvSpPr>
          <p:cNvPr id="15" name="Footer Placeholder 4">
            <a:extLst>
              <a:ext uri="{FF2B5EF4-FFF2-40B4-BE49-F238E27FC236}">
                <a16:creationId xmlns:a16="http://schemas.microsoft.com/office/drawing/2014/main" id="{95D031C2-ED8E-F79B-CC1F-2B8772B95389}"/>
              </a:ext>
            </a:extLst>
          </p:cNvPr>
          <p:cNvSpPr>
            <a:spLocks noGrp="1"/>
          </p:cNvSpPr>
          <p:nvPr>
            <p:ph type="ftr" sz="quarter" idx="13"/>
          </p:nvPr>
        </p:nvSpPr>
        <p:spPr>
          <a:xfrm>
            <a:off x="284125" y="6401731"/>
            <a:ext cx="2477765" cy="190475"/>
          </a:xfrm>
        </p:spPr>
        <p:txBody>
          <a:bodyPr/>
          <a:lstStyle/>
          <a:p>
            <a:endParaRPr lang="en-US"/>
          </a:p>
        </p:txBody>
      </p:sp>
      <p:sp>
        <p:nvSpPr>
          <p:cNvPr id="6" name="Slide Number Placeholder 5" hidden="1">
            <a:extLst>
              <a:ext uri="{FF2B5EF4-FFF2-40B4-BE49-F238E27FC236}">
                <a16:creationId xmlns:a16="http://schemas.microsoft.com/office/drawing/2014/main" id="{B013C4E7-819E-A17E-8824-DC83C4171855}"/>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43</a:t>
            </a:fld>
            <a:endParaRPr lang="en-US"/>
          </a:p>
        </p:txBody>
      </p:sp>
      <p:pic>
        <p:nvPicPr>
          <p:cNvPr id="11" name="Picture 10">
            <a:extLst>
              <a:ext uri="{FF2B5EF4-FFF2-40B4-BE49-F238E27FC236}">
                <a16:creationId xmlns:a16="http://schemas.microsoft.com/office/drawing/2014/main" id="{ABB69471-716C-711F-BA77-72AE107FFA26}"/>
              </a:ext>
            </a:extLst>
          </p:cNvPr>
          <p:cNvPicPr>
            <a:picLocks noChangeAspect="1"/>
          </p:cNvPicPr>
          <p:nvPr/>
        </p:nvPicPr>
        <p:blipFill>
          <a:blip r:embed="rId3"/>
          <a:stretch>
            <a:fillRect/>
          </a:stretch>
        </p:blipFill>
        <p:spPr>
          <a:xfrm>
            <a:off x="4371995" y="555528"/>
            <a:ext cx="6132712" cy="5746945"/>
          </a:xfrm>
          <a:prstGeom prst="rect">
            <a:avLst/>
          </a:prstGeom>
        </p:spPr>
      </p:pic>
      <p:sp>
        <p:nvSpPr>
          <p:cNvPr id="3" name="CasellaDiTesto 2">
            <a:extLst>
              <a:ext uri="{FF2B5EF4-FFF2-40B4-BE49-F238E27FC236}">
                <a16:creationId xmlns:a16="http://schemas.microsoft.com/office/drawing/2014/main" id="{C77952D1-2348-FE15-87F5-C4FCD30901F4}"/>
              </a:ext>
            </a:extLst>
          </p:cNvPr>
          <p:cNvSpPr txBox="1"/>
          <p:nvPr/>
        </p:nvSpPr>
        <p:spPr>
          <a:xfrm>
            <a:off x="3048832" y="2687756"/>
            <a:ext cx="6097664" cy="111793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fontAlgn="base"/>
            <a:r>
              <a:rPr lang="en-US" sz="1333" err="1">
                <a:latin typeface="IBM Plex Sans Light" panose="020B0503050203000203" pitchFamily="34" charset="0"/>
              </a:rPr>
              <a:t>Envizi</a:t>
            </a:r>
            <a:r>
              <a:rPr lang="en-US" sz="1333">
                <a:latin typeface="IBM Plex Sans Light" panose="020B0503050203000203" pitchFamily="34" charset="0"/>
              </a:rPr>
              <a:t> </a:t>
            </a: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a:p>
            <a:pPr fontAlgn="base"/>
            <a:endParaRPr lang="en-US" sz="1333">
              <a:latin typeface="IBM Plex Sans Light" panose="020B0503050203000203" pitchFamily="34" charset="0"/>
            </a:endParaRPr>
          </a:p>
        </p:txBody>
      </p:sp>
    </p:spTree>
    <p:extLst>
      <p:ext uri="{BB962C8B-B14F-4D97-AF65-F5344CB8AC3E}">
        <p14:creationId xmlns:p14="http://schemas.microsoft.com/office/powerpoint/2010/main" val="4044318034"/>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4DDAB-22A3-4E79-E0F2-4103F4D459B5}"/>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666EABF8-D3BB-0073-3327-5AE601D03E12}"/>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378D171A-A69F-EA4A-F00B-C0D4AAA42226}"/>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BBA59B5B-98F7-050B-CB68-1CB39AC4CA09}"/>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4D57B869-F703-8373-A376-D6D0A6172C5C}"/>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a:solidFill>
                  <a:srgbClr val="161616"/>
                </a:solidFill>
              </a:rPr>
              <a:t>Decarbonizzazione</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B0FD2E2B-0B67-BBE1-069A-0D84071C7FB1}"/>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Moduli: </a:t>
            </a:r>
            <a:r>
              <a:rPr lang="it-IT" sz="2200" i="1" dirty="0">
                <a:solidFill>
                  <a:srgbClr val="0F62FE"/>
                </a:solidFill>
              </a:rPr>
              <a:t>Pianificazione e Targets</a:t>
            </a:r>
          </a:p>
          <a:p>
            <a:pPr>
              <a:buNone/>
            </a:pPr>
            <a:endParaRPr lang="it-IT" sz="2200" i="1" dirty="0">
              <a:solidFill>
                <a:srgbClr val="0F62FE"/>
              </a:solidFill>
            </a:endParaRPr>
          </a:p>
          <a:p>
            <a:r>
              <a:rPr lang="it-IT" sz="2000" dirty="0">
                <a:solidFill>
                  <a:srgbClr val="161616"/>
                </a:solidFill>
              </a:rPr>
              <a:t>Dalla analisi alla guida della decarbonizzazione</a:t>
            </a:r>
          </a:p>
        </p:txBody>
      </p:sp>
      <p:sp>
        <p:nvSpPr>
          <p:cNvPr id="6" name="Rettangolo 5">
            <a:extLst>
              <a:ext uri="{FF2B5EF4-FFF2-40B4-BE49-F238E27FC236}">
                <a16:creationId xmlns:a16="http://schemas.microsoft.com/office/drawing/2014/main" id="{26F7D975-1D11-A548-443E-B458D5DADF75}"/>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60236BE2-E049-2836-3526-A64FC3A1708A}"/>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1782046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00BCA-6C36-71D6-0AA9-D43CE7ABBA3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A4FA0F6-0F6E-282D-882C-A00AEDBE4BD8}"/>
              </a:ext>
            </a:extLst>
          </p:cNvPr>
          <p:cNvSpPr>
            <a:spLocks noGrp="1"/>
          </p:cNvSpPr>
          <p:nvPr>
            <p:ph type="title"/>
          </p:nvPr>
        </p:nvSpPr>
        <p:spPr>
          <a:xfrm>
            <a:off x="287999" y="288445"/>
            <a:ext cx="4322815" cy="645330"/>
          </a:xfrm>
        </p:spPr>
        <p:txBody>
          <a:bodyPr>
            <a:normAutofit/>
          </a:bodyPr>
          <a:lstStyle/>
          <a:p>
            <a:r>
              <a:rPr lang="it-IT" dirty="0"/>
              <a:t>Programs – Business case caldaia</a:t>
            </a:r>
            <a:endParaRPr lang="it-IT"/>
          </a:p>
        </p:txBody>
      </p:sp>
      <p:sp>
        <p:nvSpPr>
          <p:cNvPr id="8" name="Text Placeholder 7">
            <a:extLst>
              <a:ext uri="{FF2B5EF4-FFF2-40B4-BE49-F238E27FC236}">
                <a16:creationId xmlns:a16="http://schemas.microsoft.com/office/drawing/2014/main" id="{D06B4258-BF75-54E0-B1E7-014EBBFB9E19}"/>
              </a:ext>
            </a:extLst>
          </p:cNvPr>
          <p:cNvSpPr>
            <a:spLocks noGrp="1"/>
          </p:cNvSpPr>
          <p:nvPr>
            <p:ph type="body" sz="quarter" idx="12"/>
          </p:nvPr>
        </p:nvSpPr>
        <p:spPr>
          <a:xfrm>
            <a:off x="498986" y="746812"/>
            <a:ext cx="2477765" cy="5654918"/>
          </a:xfrm>
        </p:spPr>
        <p:txBody>
          <a:bodyPr>
            <a:normAutofit fontScale="92500"/>
          </a:bodyPr>
          <a:lstStyle/>
          <a:p>
            <a:pPr>
              <a:spcAft>
                <a:spcPts val="300"/>
              </a:spcAft>
            </a:pPr>
            <a:r>
              <a:rPr lang="it-IT" dirty="0"/>
              <a:t>Persona: Energy Manager / Facility Manager.</a:t>
            </a:r>
          </a:p>
          <a:p>
            <a:pPr>
              <a:spcAft>
                <a:spcPts val="300"/>
              </a:spcAft>
            </a:pPr>
            <a:endParaRPr lang="it-IT" dirty="0"/>
          </a:p>
          <a:p>
            <a:pPr>
              <a:spcAft>
                <a:spcPts val="300"/>
              </a:spcAft>
            </a:pPr>
            <a:r>
              <a:rPr lang="it-IT" dirty="0"/>
              <a:t>Caso d'uso: dalle dashboard UBA si individua una sede a elevata intensità di gas e si avvia l'iniziativa “Boiler upgrade”.</a:t>
            </a:r>
          </a:p>
          <a:p>
            <a:pPr>
              <a:spcAft>
                <a:spcPts val="300"/>
              </a:spcAft>
            </a:pPr>
            <a:endParaRPr lang="it-IT" dirty="0"/>
          </a:p>
          <a:p>
            <a:pPr>
              <a:spcAft>
                <a:spcPts val="300"/>
              </a:spcAft>
            </a:pPr>
            <a:r>
              <a:rPr lang="it-IT" dirty="0"/>
              <a:t>Il business case con i risparmi attesi viene importato in Envizi nel modulo Programs.</a:t>
            </a:r>
          </a:p>
          <a:p>
            <a:pPr>
              <a:spcAft>
                <a:spcPts val="300"/>
              </a:spcAft>
            </a:pPr>
            <a:endParaRPr lang="it-IT" dirty="0"/>
          </a:p>
          <a:p>
            <a:pPr>
              <a:spcAft>
                <a:spcPts val="300"/>
              </a:spcAft>
            </a:pPr>
            <a:r>
              <a:rPr lang="it-IT" dirty="0"/>
              <a:t>Navigazione: ricerca globale → Charlotte Watson Center → Quick links → More → Program Actions → Edit.</a:t>
            </a:r>
          </a:p>
          <a:p>
            <a:pPr>
              <a:spcAft>
                <a:spcPts val="300"/>
              </a:spcAft>
            </a:pPr>
            <a:endParaRPr lang="it-IT" dirty="0"/>
          </a:p>
          <a:p>
            <a:pPr>
              <a:spcAft>
                <a:spcPts val="300"/>
              </a:spcAft>
            </a:pPr>
            <a:r>
              <a:rPr lang="it-IT" dirty="0"/>
              <a:t>I dati del programma possono alimentare Planning Analytics per scenari e forecast.</a:t>
            </a:r>
          </a:p>
        </p:txBody>
      </p:sp>
      <p:sp>
        <p:nvSpPr>
          <p:cNvPr id="6" name="Slide Number Placeholder 5" hidden="1">
            <a:extLst>
              <a:ext uri="{FF2B5EF4-FFF2-40B4-BE49-F238E27FC236}">
                <a16:creationId xmlns:a16="http://schemas.microsoft.com/office/drawing/2014/main" id="{0A593FF0-DAB3-0DC1-F3D1-63ED665C8171}"/>
              </a:ext>
            </a:extLst>
          </p:cNvPr>
          <p:cNvSpPr>
            <a:spLocks noGrp="1"/>
          </p:cNvSpPr>
          <p:nvPr>
            <p:ph type="sldNum" sz="quarter" idx="4294967295"/>
          </p:nvPr>
        </p:nvSpPr>
        <p:spPr>
          <a:xfrm>
            <a:off x="11776447" y="6448031"/>
            <a:ext cx="128254" cy="126984"/>
          </a:xfrm>
        </p:spPr>
        <p:txBody>
          <a:bodyPr/>
          <a:lstStyle/>
          <a:p>
            <a:pPr>
              <a:spcAft>
                <a:spcPts val="300"/>
              </a:spcAft>
            </a:pPr>
            <a:fld id="{86CB4B4D-7CA3-9044-876B-883B54F8677D}" type="slidenum">
              <a:rPr lang="en-US" smtClean="0"/>
              <a:pPr>
                <a:spcAft>
                  <a:spcPts val="300"/>
                </a:spcAft>
              </a:pPr>
              <a:t>45</a:t>
            </a:fld>
            <a:endParaRPr lang="en-US"/>
          </a:p>
        </p:txBody>
      </p:sp>
      <p:pic>
        <p:nvPicPr>
          <p:cNvPr id="5" name="Picture 4">
            <a:extLst>
              <a:ext uri="{FF2B5EF4-FFF2-40B4-BE49-F238E27FC236}">
                <a16:creationId xmlns:a16="http://schemas.microsoft.com/office/drawing/2014/main" id="{D0A8A36B-3D3E-0152-D2BD-61B6F49036EB}"/>
              </a:ext>
            </a:extLst>
          </p:cNvPr>
          <p:cNvPicPr>
            <a:picLocks noChangeAspect="1"/>
          </p:cNvPicPr>
          <p:nvPr/>
        </p:nvPicPr>
        <p:blipFill>
          <a:blip r:embed="rId3"/>
          <a:stretch>
            <a:fillRect/>
          </a:stretch>
        </p:blipFill>
        <p:spPr>
          <a:xfrm>
            <a:off x="4483408" y="746812"/>
            <a:ext cx="6943632" cy="5253603"/>
          </a:xfrm>
          <a:prstGeom prst="rect">
            <a:avLst/>
          </a:prstGeom>
        </p:spPr>
      </p:pic>
    </p:spTree>
    <p:extLst>
      <p:ext uri="{BB962C8B-B14F-4D97-AF65-F5344CB8AC3E}">
        <p14:creationId xmlns:p14="http://schemas.microsoft.com/office/powerpoint/2010/main" val="3678881102"/>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2ED7E9FC-2826-883B-6C9C-E0188EC76E41}"/>
              </a:ext>
            </a:extLst>
          </p:cNvPr>
          <p:cNvSpPr txBox="1"/>
          <p:nvPr/>
        </p:nvSpPr>
        <p:spPr>
          <a:xfrm>
            <a:off x="617986" y="359329"/>
            <a:ext cx="6594675" cy="5570756"/>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a:buNone/>
            </a:pPr>
            <a:r>
              <a:rPr lang="it-IT" sz="900" b="1"/>
              <a:t>Conclusioni</a:t>
            </a:r>
          </a:p>
          <a:p>
            <a:pPr>
              <a:buNone/>
            </a:pPr>
            <a:endParaRPr lang="it-IT" sz="900" b="1"/>
          </a:p>
          <a:p>
            <a:pPr>
              <a:buNone/>
            </a:pPr>
            <a:r>
              <a:rPr lang="it-IT" sz="1600" b="1"/>
              <a:t>IBM </a:t>
            </a:r>
            <a:r>
              <a:rPr lang="it-IT" sz="1600" b="1" err="1"/>
              <a:t>Envizi</a:t>
            </a:r>
            <a:r>
              <a:rPr lang="it-IT" sz="1600" b="1"/>
              <a:t> trasforma i dati energetici in decisioni</a:t>
            </a:r>
          </a:p>
          <a:p>
            <a:pPr>
              <a:buNone/>
            </a:pPr>
            <a:endParaRPr lang="it-IT" sz="1600" b="1"/>
          </a:p>
          <a:p>
            <a:pPr>
              <a:buNone/>
            </a:pPr>
            <a:r>
              <a:rPr lang="it-IT" sz="1600"/>
              <a:t>Nel corso della demo abbiamo seguito il percorso completo dell’Energy Management: dalla raccolta dei dati provenienti da bollette e contatori fino all’identificazione delle opportunità di efficientamento e decarbonizzazione. </a:t>
            </a:r>
          </a:p>
          <a:p>
            <a:pPr>
              <a:buNone/>
            </a:pPr>
            <a:endParaRPr lang="it-IT" sz="1600"/>
          </a:p>
          <a:p>
            <a:pPr>
              <a:buNone/>
            </a:pPr>
            <a:r>
              <a:rPr lang="it-IT" sz="1600"/>
              <a:t>Attraverso il caso </a:t>
            </a:r>
            <a:r>
              <a:rPr lang="it-IT" sz="1600" err="1"/>
              <a:t>Alfago</a:t>
            </a:r>
            <a:r>
              <a:rPr lang="it-IT" sz="1600"/>
              <a:t> abbiamo mostrato come una piattaforma unica consenta di:</a:t>
            </a:r>
          </a:p>
          <a:p>
            <a:pPr>
              <a:buNone/>
            </a:pPr>
            <a:endParaRPr lang="it-IT" sz="1600"/>
          </a:p>
          <a:p>
            <a:pPr marL="171416" indent="-171416">
              <a:buFont typeface="Arial" panose="020B0604020202020204" pitchFamily="34" charset="0"/>
              <a:buChar char="•"/>
            </a:pPr>
            <a:r>
              <a:rPr lang="it-IT" sz="1600" b="1"/>
              <a:t>misurare</a:t>
            </a:r>
            <a:r>
              <a:rPr lang="it-IT" sz="1600"/>
              <a:t> consumi, costi ed emissioni con dati affidabili e verificabili;</a:t>
            </a:r>
          </a:p>
          <a:p>
            <a:pPr marL="171416" indent="-171416">
              <a:buFont typeface="Arial" panose="020B0604020202020204" pitchFamily="34" charset="0"/>
              <a:buChar char="•"/>
            </a:pPr>
            <a:r>
              <a:rPr lang="it-IT" sz="1600" b="1"/>
              <a:t>comprendere</a:t>
            </a:r>
            <a:r>
              <a:rPr lang="it-IT" sz="1600"/>
              <a:t> dove si concentrano inefficienze, anomalie e opportunità di miglioramento;</a:t>
            </a:r>
          </a:p>
          <a:p>
            <a:pPr marL="171416" indent="-171416">
              <a:buFont typeface="Arial" panose="020B0604020202020204" pitchFamily="34" charset="0"/>
              <a:buChar char="•"/>
            </a:pPr>
            <a:r>
              <a:rPr lang="it-IT" sz="1600" b="1"/>
              <a:t>ottimizzare</a:t>
            </a:r>
            <a:r>
              <a:rPr lang="it-IT" sz="1600"/>
              <a:t> impianti, approvvigionamenti e investimenti sulla base di analisi oggettive.</a:t>
            </a:r>
          </a:p>
          <a:p>
            <a:pPr>
              <a:buNone/>
            </a:pPr>
            <a:endParaRPr lang="it-IT" sz="1600"/>
          </a:p>
          <a:p>
            <a:pPr>
              <a:buNone/>
            </a:pPr>
            <a:r>
              <a:rPr lang="it-IT" sz="1600"/>
              <a:t>Il valore di IBM </a:t>
            </a:r>
            <a:r>
              <a:rPr lang="it-IT" sz="1600" err="1"/>
              <a:t>Envizi</a:t>
            </a:r>
            <a:r>
              <a:rPr lang="it-IT" sz="1600"/>
              <a:t> non è semplicemente produrre dashboard, ma </a:t>
            </a:r>
            <a:r>
              <a:rPr lang="it-IT" sz="1600" b="1"/>
              <a:t>trasformare dati energetici complessi in informazioni utilizzabili dal management per prendere decisioni più rapide, misurabili e orientate alla riduzione di costi, emissioni e rischi operativi</a:t>
            </a:r>
            <a:r>
              <a:rPr lang="it-IT" sz="1600"/>
              <a:t>. </a:t>
            </a:r>
          </a:p>
          <a:p>
            <a:pPr>
              <a:buNone/>
            </a:pPr>
            <a:br>
              <a:rPr lang="it-IT" sz="900"/>
            </a:br>
            <a:endParaRPr lang="it-IT" sz="900"/>
          </a:p>
        </p:txBody>
      </p:sp>
      <p:pic>
        <p:nvPicPr>
          <p:cNvPr id="9" name="Immagine 8">
            <a:extLst>
              <a:ext uri="{FF2B5EF4-FFF2-40B4-BE49-F238E27FC236}">
                <a16:creationId xmlns:a16="http://schemas.microsoft.com/office/drawing/2014/main" id="{FF7DEFB1-2A51-3797-9837-B4F263CA25F1}"/>
              </a:ext>
            </a:extLst>
          </p:cNvPr>
          <p:cNvPicPr>
            <a:picLocks noChangeAspect="1"/>
          </p:cNvPicPr>
          <p:nvPr/>
        </p:nvPicPr>
        <p:blipFill>
          <a:blip r:embed="rId2"/>
          <a:stretch>
            <a:fillRect/>
          </a:stretch>
        </p:blipFill>
        <p:spPr>
          <a:xfrm>
            <a:off x="7610544" y="447"/>
            <a:ext cx="4581457" cy="6872187"/>
          </a:xfrm>
          <a:prstGeom prst="rect">
            <a:avLst/>
          </a:prstGeom>
        </p:spPr>
      </p:pic>
    </p:spTree>
    <p:extLst>
      <p:ext uri="{BB962C8B-B14F-4D97-AF65-F5344CB8AC3E}">
        <p14:creationId xmlns:p14="http://schemas.microsoft.com/office/powerpoint/2010/main" val="306785583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3DB3-8204-FF67-F019-902CD9B03342}"/>
            </a:ext>
          </a:extLst>
        </p:cNvPr>
        <p:cNvGrpSpPr/>
        <p:nvPr/>
      </p:nvGrpSpPr>
      <p:grpSpPr>
        <a:xfrm>
          <a:off x="0" y="0"/>
          <a:ext cx="0" cy="0"/>
          <a:chOff x="0" y="0"/>
          <a:chExt cx="0" cy="0"/>
        </a:xfrm>
      </p:grpSpPr>
      <p:pic>
        <p:nvPicPr>
          <p:cNvPr id="8" name="Immagine 7">
            <a:extLst>
              <a:ext uri="{FF2B5EF4-FFF2-40B4-BE49-F238E27FC236}">
                <a16:creationId xmlns:a16="http://schemas.microsoft.com/office/drawing/2014/main" id="{4B1AE286-F3C5-4B70-0402-D479319BBBBA}"/>
              </a:ext>
            </a:extLst>
          </p:cNvPr>
          <p:cNvPicPr>
            <a:picLocks noChangeAspect="1"/>
          </p:cNvPicPr>
          <p:nvPr/>
        </p:nvPicPr>
        <p:blipFill>
          <a:blip r:embed="rId3"/>
          <a:srcRect t="27" b="27"/>
          <a:stretch>
            <a:fillRect/>
          </a:stretch>
        </p:blipFill>
        <p:spPr>
          <a:xfrm>
            <a:off x="794" y="447"/>
            <a:ext cx="12190413" cy="6857107"/>
          </a:xfrm>
          <a:prstGeom prst="rect">
            <a:avLst/>
          </a:prstGeom>
        </p:spPr>
      </p:pic>
      <p:sp>
        <p:nvSpPr>
          <p:cNvPr id="2" name="Rettangolo 1">
            <a:extLst>
              <a:ext uri="{FF2B5EF4-FFF2-40B4-BE49-F238E27FC236}">
                <a16:creationId xmlns:a16="http://schemas.microsoft.com/office/drawing/2014/main" id="{33FFEB6F-8FBE-20A5-4F10-4AEA8294ADBA}"/>
              </a:ext>
            </a:extLst>
          </p:cNvPr>
          <p:cNvSpPr>
            <a:spLocks noGrp="1"/>
          </p:cNvSpPr>
          <p:nvPr/>
        </p:nvSpPr>
        <p:spPr>
          <a:xfrm>
            <a:off x="794" y="447"/>
            <a:ext cx="5714256" cy="6857107"/>
          </a:xfrm>
          <a:prstGeom prst="rect">
            <a:avLst/>
          </a:prstGeom>
          <a:ln w="0">
            <a:noFill/>
            <a:prstDash val="solid"/>
          </a:ln>
        </p:spPr>
        <p:txBody>
          <a:bodyPr/>
          <a:lstStyle/>
          <a:p>
            <a:endParaRPr lang="it-IT" sz="3599"/>
          </a:p>
        </p:txBody>
      </p:sp>
      <p:sp>
        <p:nvSpPr>
          <p:cNvPr id="3" name="Rettangolo 2">
            <a:extLst>
              <a:ext uri="{FF2B5EF4-FFF2-40B4-BE49-F238E27FC236}">
                <a16:creationId xmlns:a16="http://schemas.microsoft.com/office/drawing/2014/main" id="{8AC008BE-0F4F-665A-5891-37E50AF9F6D9}"/>
              </a:ext>
            </a:extLst>
          </p:cNvPr>
          <p:cNvSpPr>
            <a:spLocks noGrp="1"/>
          </p:cNvSpPr>
          <p:nvPr/>
        </p:nvSpPr>
        <p:spPr>
          <a:xfrm>
            <a:off x="610314" y="819490"/>
            <a:ext cx="3809504" cy="495236"/>
          </a:xfrm>
          <a:prstGeom prst="rect">
            <a:avLst/>
          </a:prstGeom>
          <a:noFill/>
          <a:ln w="0">
            <a:noFill/>
            <a:prstDash val="solid"/>
          </a:ln>
        </p:spPr>
        <p:txBody>
          <a:bodyPr/>
          <a:lstStyle/>
          <a:p>
            <a:pPr algn="l">
              <a:buNone/>
              <a:defRPr sz="2000" b="1">
                <a:solidFill>
                  <a:srgbClr val="073E31"/>
                </a:solidFill>
                <a:latin typeface="IBM Plex Sans" panose="020B0503050203000203" pitchFamily="34" charset="0"/>
              </a:defRPr>
            </a:pPr>
            <a:r>
              <a:rPr sz="1725" b="1">
                <a:solidFill>
                  <a:srgbClr val="073E31"/>
                </a:solidFill>
              </a:rPr>
              <a:t>IBM Envizi</a:t>
            </a:r>
            <a:endParaRPr lang="it-IT" sz="1725" b="1">
              <a:solidFill>
                <a:srgbClr val="073E31"/>
              </a:solidFill>
            </a:endParaRPr>
          </a:p>
        </p:txBody>
      </p:sp>
      <p:sp>
        <p:nvSpPr>
          <p:cNvPr id="4" name="Rettangolo 3">
            <a:extLst>
              <a:ext uri="{FF2B5EF4-FFF2-40B4-BE49-F238E27FC236}">
                <a16:creationId xmlns:a16="http://schemas.microsoft.com/office/drawing/2014/main" id="{02E6FC0D-0B2A-58C3-E7AF-C8D50383B4E7}"/>
              </a:ext>
            </a:extLst>
          </p:cNvPr>
          <p:cNvSpPr>
            <a:spLocks noGrp="1"/>
          </p:cNvSpPr>
          <p:nvPr/>
        </p:nvSpPr>
        <p:spPr>
          <a:xfrm>
            <a:off x="610314" y="1619486"/>
            <a:ext cx="11122958" cy="1190470"/>
          </a:xfrm>
          <a:prstGeom prst="rect">
            <a:avLst/>
          </a:prstGeom>
          <a:noFill/>
          <a:ln w="0">
            <a:noFill/>
            <a:prstDash val="solid"/>
          </a:ln>
        </p:spPr>
        <p:txBody>
          <a:bodyPr/>
          <a:lstStyle/>
          <a:p>
            <a:r>
              <a:rPr lang="it-IT" sz="3999" b="1" dirty="0" err="1">
                <a:solidFill>
                  <a:srgbClr val="161616"/>
                </a:solidFill>
              </a:rPr>
              <a:t>Envizi</a:t>
            </a:r>
            <a:br>
              <a:rPr lang="it-IT" sz="3999" dirty="0"/>
            </a:br>
            <a:endParaRPr lang="it-IT" sz="3999" dirty="0"/>
          </a:p>
          <a:p>
            <a:pPr>
              <a:buNone/>
            </a:pPr>
            <a:endParaRPr lang="it-IT" sz="3999" b="1" dirty="0">
              <a:solidFill>
                <a:srgbClr val="161616"/>
              </a:solidFill>
            </a:endParaRPr>
          </a:p>
        </p:txBody>
      </p:sp>
      <p:sp>
        <p:nvSpPr>
          <p:cNvPr id="5" name="Rettangolo 4">
            <a:extLst>
              <a:ext uri="{FF2B5EF4-FFF2-40B4-BE49-F238E27FC236}">
                <a16:creationId xmlns:a16="http://schemas.microsoft.com/office/drawing/2014/main" id="{223942C5-476F-768B-8981-A69205A3D99B}"/>
              </a:ext>
            </a:extLst>
          </p:cNvPr>
          <p:cNvSpPr>
            <a:spLocks noGrp="1"/>
          </p:cNvSpPr>
          <p:nvPr/>
        </p:nvSpPr>
        <p:spPr>
          <a:xfrm>
            <a:off x="610314" y="2128436"/>
            <a:ext cx="7583050" cy="857138"/>
          </a:xfrm>
          <a:prstGeom prst="rect">
            <a:avLst/>
          </a:prstGeom>
          <a:noFill/>
          <a:ln w="0">
            <a:noFill/>
            <a:prstDash val="solid"/>
          </a:ln>
        </p:spPr>
        <p:txBody>
          <a:bodyPr/>
          <a:lstStyle/>
          <a:p>
            <a:pPr>
              <a:buNone/>
            </a:pPr>
            <a:br>
              <a:rPr lang="it-IT" sz="2000" dirty="0"/>
            </a:br>
            <a:r>
              <a:rPr lang="it-IT" sz="2200" dirty="0">
                <a:solidFill>
                  <a:srgbClr val="0F62FE"/>
                </a:solidFill>
              </a:rPr>
              <a:t>Allegati</a:t>
            </a:r>
            <a:endParaRPr lang="it-IT" sz="2200" i="1" dirty="0">
              <a:solidFill>
                <a:srgbClr val="0F62FE"/>
              </a:solidFill>
            </a:endParaRPr>
          </a:p>
          <a:p>
            <a:pPr>
              <a:buNone/>
            </a:pPr>
            <a:endParaRPr lang="it-IT" sz="2200" i="1" dirty="0">
              <a:solidFill>
                <a:srgbClr val="0F62FE"/>
              </a:solidFill>
            </a:endParaRPr>
          </a:p>
          <a:p>
            <a:pPr>
              <a:buNone/>
            </a:pPr>
            <a:r>
              <a:rPr lang="it-IT" sz="2200" i="1" dirty="0"/>
              <a:t>Glossari</a:t>
            </a:r>
          </a:p>
          <a:p>
            <a:pPr>
              <a:buNone/>
            </a:pPr>
            <a:r>
              <a:rPr lang="it-IT" sz="2200" i="1" dirty="0"/>
              <a:t>Approfondimenti didattici</a:t>
            </a:r>
          </a:p>
          <a:p>
            <a:pPr>
              <a:buNone/>
            </a:pPr>
            <a:r>
              <a:rPr lang="it-IT" sz="2200" i="1" dirty="0"/>
              <a:t>Schede tecniche </a:t>
            </a:r>
            <a:r>
              <a:rPr lang="it-IT" sz="2200" i="1" dirty="0" err="1"/>
              <a:t>Envizi</a:t>
            </a:r>
            <a:endParaRPr lang="it-IT" sz="2200" i="1" dirty="0"/>
          </a:p>
        </p:txBody>
      </p:sp>
      <p:sp>
        <p:nvSpPr>
          <p:cNvPr id="6" name="Rettangolo 5">
            <a:extLst>
              <a:ext uri="{FF2B5EF4-FFF2-40B4-BE49-F238E27FC236}">
                <a16:creationId xmlns:a16="http://schemas.microsoft.com/office/drawing/2014/main" id="{98394798-65C9-37D2-A277-EACA7CD487F7}"/>
              </a:ext>
            </a:extLst>
          </p:cNvPr>
          <p:cNvSpPr>
            <a:spLocks noGrp="1"/>
          </p:cNvSpPr>
          <p:nvPr/>
        </p:nvSpPr>
        <p:spPr>
          <a:xfrm>
            <a:off x="610314" y="5809940"/>
            <a:ext cx="2857128" cy="171428"/>
          </a:xfrm>
          <a:prstGeom prst="rect">
            <a:avLst/>
          </a:prstGeom>
          <a:noFill/>
          <a:ln w="0">
            <a:noFill/>
            <a:prstDash val="solid"/>
          </a:ln>
        </p:spPr>
        <p:txBody>
          <a:bodyPr/>
          <a:lstStyle/>
          <a:p>
            <a:pPr algn="l">
              <a:buNone/>
              <a:defRPr sz="2000" b="0">
                <a:solidFill>
                  <a:srgbClr val="3A7165"/>
                </a:solidFill>
                <a:latin typeface="IBM Plex Sans" panose="020B0503050203000203" pitchFamily="34" charset="0"/>
              </a:defRPr>
            </a:pPr>
            <a:r>
              <a:rPr lang="it-IT" sz="1000">
                <a:solidFill>
                  <a:srgbClr val="3A7165"/>
                </a:solidFill>
                <a:latin typeface="IBM Plex Sans" panose="020B0503050203000203" pitchFamily="34" charset="0"/>
              </a:rPr>
              <a:t>Incontro di lavoro · 2026</a:t>
            </a:r>
          </a:p>
        </p:txBody>
      </p:sp>
      <p:sp>
        <p:nvSpPr>
          <p:cNvPr id="9" name="CasellaDiTesto 8">
            <a:extLst>
              <a:ext uri="{FF2B5EF4-FFF2-40B4-BE49-F238E27FC236}">
                <a16:creationId xmlns:a16="http://schemas.microsoft.com/office/drawing/2014/main" id="{E9ADAA6F-E860-47A5-6821-C089D0F67C04}"/>
              </a:ext>
            </a:extLst>
          </p:cNvPr>
          <p:cNvSpPr txBox="1"/>
          <p:nvPr/>
        </p:nvSpPr>
        <p:spPr>
          <a:xfrm>
            <a:off x="3891555" y="686069"/>
            <a:ext cx="6188978" cy="11970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fontScale="25000" lnSpcReduction="20000"/>
          </a:bodyPr>
          <a:lstStyle/>
          <a:p>
            <a:r>
              <a:rPr lang="it-IT">
                <a:solidFill>
                  <a:srgbClr val="C6D4F5"/>
                </a:solidFill>
                <a:latin typeface="IBM Plex Sans Light"/>
              </a:rPr>
              <a:t>Dalla raccolta dei dati energetici alle decisioni: consumi, costi e performance degli edifici in un'unica piattaforma.</a:t>
            </a:r>
          </a:p>
        </p:txBody>
      </p:sp>
    </p:spTree>
    <p:extLst>
      <p:ext uri="{BB962C8B-B14F-4D97-AF65-F5344CB8AC3E}">
        <p14:creationId xmlns:p14="http://schemas.microsoft.com/office/powerpoint/2010/main" val="2474688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BA49-3DD1-9B02-7F82-FF7FD2702FEC}"/>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6BB8A2DB-811B-BCC5-571A-392EA755E790}"/>
              </a:ext>
            </a:extLst>
          </p:cNvPr>
          <p:cNvSpPr>
            <a:spLocks noGrp="1"/>
          </p:cNvSpPr>
          <p:nvPr>
            <p:ph type="sldNum" sz="quarter" idx="4"/>
          </p:nvPr>
        </p:nvSpPr>
        <p:spPr>
          <a:xfrm>
            <a:off x="5720743" y="3188565"/>
            <a:ext cx="230832" cy="153888"/>
          </a:xfrm>
        </p:spPr>
        <p:txBody>
          <a:bodyPr/>
          <a:lstStyle/>
          <a:p>
            <a:pPr defTabSz="914507">
              <a:defRPr/>
            </a:pPr>
            <a:fld id="{86CB4B4D-7CA3-9044-876B-883B54F8677D}" type="slidenum">
              <a:rPr lang="en-US" sz="1000">
                <a:solidFill>
                  <a:srgbClr val="000000"/>
                </a:solidFill>
              </a:rPr>
              <a:pPr defTabSz="914507">
                <a:defRPr/>
              </a:pPr>
              <a:t>48</a:t>
            </a:fld>
            <a:endParaRPr lang="en-US" sz="1000">
              <a:solidFill>
                <a:srgbClr val="000000"/>
              </a:solidFill>
            </a:endParaRPr>
          </a:p>
        </p:txBody>
      </p:sp>
      <p:sp>
        <p:nvSpPr>
          <p:cNvPr id="7" name="CasellaDiTesto 6">
            <a:extLst>
              <a:ext uri="{FF2B5EF4-FFF2-40B4-BE49-F238E27FC236}">
                <a16:creationId xmlns:a16="http://schemas.microsoft.com/office/drawing/2014/main" id="{5073C023-8BFE-8DAF-AA8C-C03EEFFBE690}"/>
              </a:ext>
            </a:extLst>
          </p:cNvPr>
          <p:cNvSpPr txBox="1"/>
          <p:nvPr/>
        </p:nvSpPr>
        <p:spPr>
          <a:xfrm>
            <a:off x="475673" y="752640"/>
            <a:ext cx="4595201" cy="40010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914507">
              <a:defRPr/>
            </a:pPr>
            <a:r>
              <a:rPr lang="it-IT" sz="1100" b="1">
                <a:solidFill>
                  <a:srgbClr val="000000"/>
                </a:solidFill>
                <a:latin typeface="IBM Plex Sans Light"/>
              </a:rPr>
              <a:t>Una Garanzia d’Origine (GO)</a:t>
            </a:r>
            <a:r>
              <a:rPr lang="it-IT" sz="1100">
                <a:solidFill>
                  <a:srgbClr val="000000"/>
                </a:solidFill>
                <a:latin typeface="IBM Plex Sans Light"/>
              </a:rPr>
              <a:t> è un certificato elettronico rilasciato per ogni </a:t>
            </a:r>
            <a:r>
              <a:rPr lang="it-IT" sz="1100" b="1">
                <a:solidFill>
                  <a:srgbClr val="000000"/>
                </a:solidFill>
                <a:latin typeface="IBM Plex Sans Light"/>
              </a:rPr>
              <a:t>1 MWh di energia elettrica prodotta da fonti rinnovabili</a:t>
            </a:r>
            <a:r>
              <a:rPr lang="it-IT" sz="1100">
                <a:solidFill>
                  <a:srgbClr val="000000"/>
                </a:solidFill>
                <a:latin typeface="IBM Plex Sans Light"/>
              </a:rPr>
              <a:t>. Il certificato attesta esclusivamente l’origine rinnovabile dell’energia, ma </a:t>
            </a:r>
            <a:r>
              <a:rPr lang="it-IT" sz="1100" b="1">
                <a:solidFill>
                  <a:srgbClr val="000000"/>
                </a:solidFill>
                <a:latin typeface="IBM Plex Sans Light"/>
              </a:rPr>
              <a:t>non comporta la fornitura fisica dell’elettricità</a:t>
            </a:r>
            <a:r>
              <a:rPr lang="it-IT" sz="1100">
                <a:solidFill>
                  <a:srgbClr val="000000"/>
                </a:solidFill>
                <a:latin typeface="IBM Plex Sans Light"/>
              </a:rPr>
              <a:t>: l’azienda continua infatti ad acquistare l’energia dalla rete elettrica, associandole però un certificato che ne dimostra la provenienza da fonti rinnovabili.</a:t>
            </a:r>
          </a:p>
          <a:p>
            <a:pPr defTabSz="914507">
              <a:defRPr/>
            </a:pPr>
            <a:endParaRPr lang="it-IT" sz="1100">
              <a:solidFill>
                <a:srgbClr val="000000"/>
              </a:solidFill>
              <a:latin typeface="IBM Plex Sans Light"/>
            </a:endParaRPr>
          </a:p>
          <a:p>
            <a:pPr defTabSz="914507">
              <a:defRPr/>
            </a:pPr>
            <a:r>
              <a:rPr lang="it-IT" sz="1100" b="1">
                <a:solidFill>
                  <a:srgbClr val="000000"/>
                </a:solidFill>
                <a:latin typeface="IBM Plex Sans Light"/>
              </a:rPr>
              <a:t>Un PPA (Power Purchase Agreement)</a:t>
            </a:r>
            <a:r>
              <a:rPr lang="it-IT" sz="1100">
                <a:solidFill>
                  <a:srgbClr val="000000"/>
                </a:solidFill>
                <a:latin typeface="IBM Plex Sans Light"/>
              </a:rPr>
              <a:t>, invece, è un </a:t>
            </a:r>
            <a:r>
              <a:rPr lang="it-IT" sz="1100" b="1">
                <a:solidFill>
                  <a:srgbClr val="000000"/>
                </a:solidFill>
                <a:latin typeface="IBM Plex Sans Light"/>
              </a:rPr>
              <a:t>contratto di lungo periodo</a:t>
            </a:r>
            <a:r>
              <a:rPr lang="it-IT" sz="1100">
                <a:solidFill>
                  <a:srgbClr val="000000"/>
                </a:solidFill>
                <a:latin typeface="IBM Plex Sans Light"/>
              </a:rPr>
              <a:t> con il quale un’azienda si impegna ad acquistare energia elettrica direttamente da uno specifico produttore, generalmente da impianti fotovoltaici, eolici o idroelettrici. </a:t>
            </a:r>
            <a:r>
              <a:rPr lang="it-IT" sz="1100" b="1">
                <a:solidFill>
                  <a:srgbClr val="000000"/>
                </a:solidFill>
                <a:latin typeface="IBM Plex Sans Light"/>
              </a:rPr>
              <a:t>A differenza delle sole Garanzie d’Origine, il PPA collega l’acquisto dell’energia alla produzione di un determinato impianto</a:t>
            </a:r>
            <a:r>
              <a:rPr lang="it-IT" sz="1100">
                <a:solidFill>
                  <a:srgbClr val="000000"/>
                </a:solidFill>
                <a:latin typeface="IBM Plex Sans Light"/>
              </a:rPr>
              <a:t> e consente di definire in anticipo durata, quantità e spesso anche il prezzo dell’energia acquistata.</a:t>
            </a:r>
          </a:p>
          <a:p>
            <a:pPr defTabSz="914507">
              <a:defRPr/>
            </a:pPr>
            <a:endParaRPr lang="it-IT" sz="1100">
              <a:solidFill>
                <a:srgbClr val="000000"/>
              </a:solidFill>
              <a:latin typeface="IBM Plex Sans Light"/>
            </a:endParaRPr>
          </a:p>
          <a:p>
            <a:pPr defTabSz="914507">
              <a:defRPr/>
            </a:pPr>
            <a:r>
              <a:rPr lang="it-IT" sz="1100">
                <a:solidFill>
                  <a:srgbClr val="000000"/>
                </a:solidFill>
                <a:latin typeface="IBM Plex Sans Light"/>
              </a:rPr>
              <a:t>Questa formulazione mette in evidenza la differenza fondamentale:</a:t>
            </a:r>
          </a:p>
          <a:p>
            <a:pPr defTabSz="914507">
              <a:defRPr/>
            </a:pPr>
            <a:r>
              <a:rPr lang="it-IT" sz="1100" b="1">
                <a:solidFill>
                  <a:srgbClr val="000000"/>
                </a:solidFill>
                <a:latin typeface="IBM Plex Sans Light"/>
              </a:rPr>
              <a:t>GO = certifica l’origine rinnovabile dell’energia acquistata.</a:t>
            </a:r>
            <a:endParaRPr lang="it-IT" sz="1100">
              <a:solidFill>
                <a:srgbClr val="000000"/>
              </a:solidFill>
              <a:latin typeface="IBM Plex Sans Light"/>
            </a:endParaRPr>
          </a:p>
          <a:p>
            <a:pPr defTabSz="914507">
              <a:defRPr/>
            </a:pPr>
            <a:r>
              <a:rPr lang="it-IT" sz="1100" b="1">
                <a:solidFill>
                  <a:srgbClr val="000000"/>
                </a:solidFill>
                <a:latin typeface="IBM Plex Sans Light"/>
              </a:rPr>
              <a:t>PPA = contratto di acquisto dell’energia da uno specifico produttore, normalmente accompagnato dalle relative GO.</a:t>
            </a:r>
            <a:endParaRPr lang="it-IT" sz="1100">
              <a:solidFill>
                <a:srgbClr val="000000"/>
              </a:solidFill>
              <a:latin typeface="IBM Plex Sans Light"/>
            </a:endParaRPr>
          </a:p>
          <a:p>
            <a:pPr defTabSz="914507">
              <a:defRPr/>
            </a:pPr>
            <a:endParaRPr lang="it-IT" sz="1100">
              <a:solidFill>
                <a:srgbClr val="000000"/>
              </a:solidFill>
              <a:latin typeface="IBM Plex Sans Light"/>
            </a:endParaRPr>
          </a:p>
          <a:p>
            <a:pPr defTabSz="914507">
              <a:defRPr/>
            </a:pPr>
            <a:r>
              <a:rPr lang="it-IT" sz="1100">
                <a:solidFill>
                  <a:srgbClr val="000000"/>
                </a:solidFill>
                <a:latin typeface="IBM Plex Sans Light"/>
              </a:rPr>
              <a:t>.</a:t>
            </a:r>
          </a:p>
          <a:p>
            <a:pPr defTabSz="914507">
              <a:defRPr/>
            </a:pPr>
            <a:endParaRPr lang="it-IT" sz="1200" b="1">
              <a:solidFill>
                <a:srgbClr val="000000"/>
              </a:solidFill>
              <a:latin typeface="IBM Plex Sans Light"/>
            </a:endParaRPr>
          </a:p>
        </p:txBody>
      </p:sp>
      <p:sp>
        <p:nvSpPr>
          <p:cNvPr id="6" name="CasellaDiTesto 5">
            <a:extLst>
              <a:ext uri="{FF2B5EF4-FFF2-40B4-BE49-F238E27FC236}">
                <a16:creationId xmlns:a16="http://schemas.microsoft.com/office/drawing/2014/main" id="{5062B531-D94D-9B4D-D23F-757035387128}"/>
              </a:ext>
            </a:extLst>
          </p:cNvPr>
          <p:cNvSpPr txBox="1"/>
          <p:nvPr/>
        </p:nvSpPr>
        <p:spPr>
          <a:xfrm>
            <a:off x="5310038" y="808455"/>
            <a:ext cx="6459226" cy="400109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pPr defTabSz="914507">
              <a:defRPr/>
            </a:pPr>
            <a:r>
              <a:rPr lang="it-IT" sz="1100" b="1">
                <a:solidFill/>
                <a:latin typeface="IBM Plex Sans Light"/>
              </a:rPr>
              <a:t>Esempio per </a:t>
            </a:r>
            <a:r>
              <a:rPr lang="it-IT" sz="1100" b="1" err="1">
                <a:solidFill/>
                <a:latin typeface="IBM Plex Sans Light"/>
              </a:rPr>
              <a:t>Alfago</a:t>
            </a:r>
            <a:r>
              <a:rPr lang="it-IT" sz="1100" b="1">
                <a:solidFill/>
                <a:latin typeface="IBM Plex Sans Light"/>
              </a:rPr>
              <a:t> - </a:t>
            </a:r>
            <a:r>
              <a:rPr lang="it-IT" sz="1100">
                <a:solidFill/>
                <a:latin typeface="IBM Plex Sans Light"/>
              </a:rPr>
              <a:t>Supponiamo che </a:t>
            </a:r>
            <a:r>
              <a:rPr lang="it-IT" sz="1100" err="1">
                <a:solidFill/>
                <a:latin typeface="IBM Plex Sans Light"/>
              </a:rPr>
              <a:t>Alfago</a:t>
            </a:r>
            <a:r>
              <a:rPr lang="it-IT" sz="1100">
                <a:solidFill/>
                <a:latin typeface="IBM Plex Sans Light"/>
              </a:rPr>
              <a:t> consumi </a:t>
            </a:r>
            <a:r>
              <a:rPr lang="it-IT" sz="1100" b="1">
                <a:solidFill/>
                <a:latin typeface="IBM Plex Sans Light"/>
              </a:rPr>
              <a:t>1,7 GWh/anno</a:t>
            </a:r>
            <a:r>
              <a:rPr lang="it-IT" sz="1100">
                <a:solidFill/>
                <a:latin typeface="IBM Plex Sans Light"/>
              </a:rPr>
              <a:t>.</a:t>
            </a:r>
          </a:p>
          <a:p>
            <a:pPr defTabSz="914507">
              <a:defRPr/>
            </a:pPr>
            <a:endParaRPr lang="it-IT" sz="1100">
              <a:solidFill>
                <a:srgbClr val="000000"/>
              </a:solidFill>
              <a:latin typeface="IBM Plex Sans Light"/>
            </a:endParaRPr>
          </a:p>
          <a:p>
            <a:pPr defTabSz="914507">
              <a:defRPr/>
            </a:pPr>
            <a:r>
              <a:rPr lang="it-IT" sz="1100">
                <a:solidFill/>
                <a:latin typeface="IBM Plex Sans Light"/>
              </a:rPr>
              <a:t>Oggi:</a:t>
            </a:r>
          </a:p>
          <a:p>
            <a:pPr marL="171416" indent="-171416" defTabSz="914507">
              <a:buFont typeface="Arial" panose="020B0604020202020204" pitchFamily="34" charset="0"/>
              <a:buChar char="•"/>
              <a:defRPr/>
            </a:pPr>
            <a:r>
              <a:rPr lang="it-IT" sz="1100">
                <a:solidFill/>
                <a:latin typeface="IBM Plex Sans Light"/>
              </a:rPr>
              <a:t>acquista energia dalla rete;</a:t>
            </a:r>
          </a:p>
          <a:p>
            <a:pPr marL="171416" indent="-171416" defTabSz="914507">
              <a:buFont typeface="Arial" panose="020B0604020202020204" pitchFamily="34" charset="0"/>
              <a:buChar char="•"/>
              <a:defRPr/>
            </a:pPr>
            <a:r>
              <a:rPr lang="it-IT" sz="1100">
                <a:solidFill/>
                <a:latin typeface="IBM Plex Sans Light"/>
              </a:rPr>
              <a:t>acquista GO per parte dei consumi;</a:t>
            </a:r>
          </a:p>
          <a:p>
            <a:pPr marL="171416" indent="-171416" defTabSz="914507">
              <a:buFont typeface="Arial" panose="020B0604020202020204" pitchFamily="34" charset="0"/>
              <a:buChar char="•"/>
              <a:defRPr/>
            </a:pPr>
            <a:r>
              <a:rPr lang="it-IT" sz="1100">
                <a:solidFill/>
                <a:latin typeface="IBM Plex Sans Light"/>
              </a:rPr>
              <a:t>il report mostra una copertura rinnovabile del </a:t>
            </a:r>
            <a:r>
              <a:rPr lang="it-IT" sz="1100" b="1">
                <a:solidFill/>
                <a:latin typeface="IBM Plex Sans Light"/>
              </a:rPr>
              <a:t>68,1%</a:t>
            </a:r>
            <a:r>
              <a:rPr lang="it-IT" sz="1100">
                <a:solidFill/>
                <a:latin typeface="IBM Plex Sans Light"/>
              </a:rPr>
              <a:t>.</a:t>
            </a:r>
          </a:p>
          <a:p>
            <a:pPr defTabSz="914507">
              <a:defRPr/>
            </a:pPr>
            <a:endParaRPr lang="it-IT" sz="1100">
              <a:solidFill>
                <a:srgbClr val="000000"/>
              </a:solidFill>
              <a:latin typeface="IBM Plex Sans Light"/>
            </a:endParaRPr>
          </a:p>
          <a:p>
            <a:pPr defTabSz="914507">
              <a:defRPr/>
            </a:pPr>
            <a:r>
              <a:rPr lang="it-IT" sz="1100">
                <a:solidFill/>
                <a:latin typeface="IBM Plex Sans Light"/>
              </a:rPr>
              <a:t>Un’alternativa potrebbe essere:</a:t>
            </a:r>
          </a:p>
          <a:p>
            <a:pPr marL="171416" indent="-171416" defTabSz="914507">
              <a:buFont typeface="Arial" panose="020B0604020202020204" pitchFamily="34" charset="0"/>
              <a:buChar char="•"/>
              <a:defRPr/>
            </a:pPr>
            <a:r>
              <a:rPr lang="it-IT" sz="1100">
                <a:solidFill/>
                <a:latin typeface="IBM Plex Sans Light"/>
              </a:rPr>
              <a:t>stipulare un </a:t>
            </a:r>
            <a:r>
              <a:rPr lang="it-IT" sz="1100" b="1">
                <a:solidFill/>
                <a:latin typeface="IBM Plex Sans Light"/>
              </a:rPr>
              <a:t>PPA decennale</a:t>
            </a:r>
            <a:r>
              <a:rPr lang="it-IT" sz="1100">
                <a:solidFill/>
                <a:latin typeface="IBM Plex Sans Light"/>
              </a:rPr>
              <a:t> con un parco fotovoltaico;</a:t>
            </a:r>
          </a:p>
          <a:p>
            <a:pPr marL="171416" indent="-171416" defTabSz="914507">
              <a:buFont typeface="Arial" panose="020B0604020202020204" pitchFamily="34" charset="0"/>
              <a:buChar char="•"/>
              <a:defRPr/>
            </a:pPr>
            <a:r>
              <a:rPr lang="it-IT" sz="1100">
                <a:solidFill/>
                <a:latin typeface="IBM Plex Sans Light"/>
              </a:rPr>
              <a:t>acquistare, ad esempio, </a:t>
            </a:r>
            <a:r>
              <a:rPr lang="it-IT" sz="1100" b="1">
                <a:solidFill/>
                <a:latin typeface="IBM Plex Sans Light"/>
              </a:rPr>
              <a:t>700 MWh/anno</a:t>
            </a:r>
            <a:r>
              <a:rPr lang="it-IT" sz="1100">
                <a:solidFill/>
                <a:latin typeface="IBM Plex Sans Light"/>
              </a:rPr>
              <a:t> di energia rinnovabile tramite quel contratto.</a:t>
            </a:r>
          </a:p>
          <a:p>
            <a:pPr defTabSz="914507">
              <a:defRPr/>
            </a:pPr>
            <a:endParaRPr lang="it-IT" sz="1100">
              <a:solidFill>
                <a:srgbClr val="000000"/>
              </a:solidFill>
              <a:latin typeface="IBM Plex Sans Light"/>
            </a:endParaRPr>
          </a:p>
          <a:p>
            <a:pPr defTabSz="914507">
              <a:defRPr/>
            </a:pPr>
            <a:r>
              <a:rPr lang="it-IT" sz="1100">
                <a:solidFill/>
                <a:latin typeface="IBM Plex Sans Light"/>
              </a:rPr>
              <a:t>In questo caso:</a:t>
            </a:r>
          </a:p>
          <a:p>
            <a:pPr marL="171416" indent="-171416" defTabSz="914507">
              <a:buFont typeface="Arial" panose="020B0604020202020204" pitchFamily="34" charset="0"/>
              <a:buChar char="•"/>
              <a:defRPr/>
            </a:pPr>
            <a:r>
              <a:rPr lang="it-IT" sz="1100">
                <a:solidFill/>
                <a:latin typeface="IBM Plex Sans Light"/>
              </a:rPr>
              <a:t>aumenta la quota di energia rinnovabile;</a:t>
            </a:r>
          </a:p>
          <a:p>
            <a:pPr marL="171416" indent="-171416" defTabSz="914507">
              <a:buFont typeface="Arial" panose="020B0604020202020204" pitchFamily="34" charset="0"/>
              <a:buChar char="•"/>
              <a:defRPr/>
            </a:pPr>
            <a:r>
              <a:rPr lang="it-IT" sz="1100">
                <a:solidFill/>
                <a:latin typeface="IBM Plex Sans Light"/>
              </a:rPr>
              <a:t>diminuiscono le emissioni </a:t>
            </a:r>
            <a:r>
              <a:rPr lang="it-IT" sz="1100" b="1">
                <a:solidFill/>
                <a:latin typeface="IBM Plex Sans Light"/>
              </a:rPr>
              <a:t>Market Based</a:t>
            </a:r>
            <a:r>
              <a:rPr lang="it-IT" sz="1100">
                <a:solidFill/>
                <a:latin typeface="IBM Plex Sans Light"/>
              </a:rPr>
              <a:t> dello Scope 2;</a:t>
            </a:r>
          </a:p>
          <a:p>
            <a:pPr marL="171416" indent="-171416" defTabSz="914507">
              <a:buFont typeface="Arial" panose="020B0604020202020204" pitchFamily="34" charset="0"/>
              <a:buChar char="•"/>
              <a:defRPr/>
            </a:pPr>
            <a:r>
              <a:rPr lang="it-IT" sz="1100">
                <a:solidFill/>
                <a:latin typeface="IBM Plex Sans Light"/>
              </a:rPr>
              <a:t>il costo dell’energia può essere più prevedibile nel tempo.</a:t>
            </a:r>
          </a:p>
          <a:p>
            <a:pPr defTabSz="914507">
              <a:defRPr/>
            </a:pPr>
            <a:endParaRPr lang="it-IT" sz="1200" b="1">
              <a:solidFill>
                <a:srgbClr val="000000"/>
              </a:solidFill>
              <a:latin typeface="IBM Plex Sans Light"/>
            </a:endParaRPr>
          </a:p>
          <a:p>
            <a:pPr defTabSz="914507">
              <a:defRPr/>
            </a:pPr>
            <a:r>
              <a:rPr lang="it-IT" sz="1100" b="1">
                <a:solidFill/>
                <a:latin typeface="IBM Plex Sans Light"/>
              </a:rPr>
              <a:t>Le On-site </a:t>
            </a:r>
            <a:r>
              <a:rPr lang="it-IT" sz="1100" b="1" err="1">
                <a:solidFill/>
                <a:latin typeface="IBM Plex Sans Light"/>
              </a:rPr>
              <a:t>Renewables</a:t>
            </a:r>
            <a:r>
              <a:rPr lang="it-IT" sz="1100" b="1">
                <a:solidFill/>
                <a:latin typeface="IBM Plex Sans Light"/>
              </a:rPr>
              <a:t> </a:t>
            </a:r>
            <a:r>
              <a:rPr lang="it-IT" sz="1100">
                <a:solidFill/>
                <a:latin typeface="IBM Plex Sans Light"/>
              </a:rPr>
              <a:t>rappresentano l’energia rinnovabile che l’azienda produce e utilizza direttamente nei propri impianti. Con le Garanzie d’Origine (certificati associati all’energia acquistata dalla rete che ne attestano la produzione da fonti rinnovabili)  contribuiscono a ridurre le emissioni Scope 2 calcolate con il metodo market-</a:t>
            </a:r>
            <a:r>
              <a:rPr lang="it-IT" sz="1100" err="1">
                <a:solidFill/>
                <a:latin typeface="IBM Plex Sans Light"/>
              </a:rPr>
              <a:t>based</a:t>
            </a:r>
            <a:r>
              <a:rPr lang="it-IT" sz="1100">
                <a:solidFill/>
                <a:latin typeface="IBM Plex Sans Light"/>
              </a:rPr>
              <a:t>, ma la prima agisce sul consumo fisico di energia, mentre la seconda sugli attributi ambientali dell’energia acquistata.</a:t>
            </a:r>
          </a:p>
          <a:p>
            <a:pPr defTabSz="914507">
              <a:defRPr/>
            </a:pPr>
            <a:endParaRPr lang="it-IT" sz="1100" b="1">
              <a:solidFill/>
              <a:latin typeface="IBM Plex Sans Light"/>
            </a:endParaRPr>
          </a:p>
          <a:p>
            <a:pPr defTabSz="914507">
              <a:defRPr/>
            </a:pPr>
            <a:endParaRPr lang="it-IT" sz="1100">
              <a:solidFill>
                <a:srgbClr val="000000"/>
              </a:solidFill>
              <a:latin typeface="IBM Plex Sans Light"/>
            </a:endParaRPr>
          </a:p>
        </p:txBody>
      </p:sp>
      <p:sp>
        <p:nvSpPr>
          <p:cNvPr id="8" name="CasellaDiTesto 7">
            <a:extLst>
              <a:ext uri="{FF2B5EF4-FFF2-40B4-BE49-F238E27FC236}">
                <a16:creationId xmlns:a16="http://schemas.microsoft.com/office/drawing/2014/main" id="{4CF1CB2C-293C-03CE-BB21-D31412314FFD}"/>
              </a:ext>
            </a:extLst>
          </p:cNvPr>
          <p:cNvSpPr txBox="1"/>
          <p:nvPr/>
        </p:nvSpPr>
        <p:spPr>
          <a:xfrm>
            <a:off x="475672" y="237489"/>
            <a:ext cx="6098081" cy="501437"/>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normAutofit/>
          </a:bodyPr>
          <a:lstStyle/>
          <a:p>
            <a:pPr defTabSz="1218956">
              <a:spcBef>
                <a:spcPts val="1450"/>
              </a:spcBef>
              <a:buSzPct val="100000"/>
              <a:defRPr/>
            </a:pPr>
            <a:r>
              <a:rPr lang="it-IT" kern="0" err="1">
                <a:solidFill>
                  <a:srgbClr val="000000"/>
                </a:solidFill>
                <a:latin typeface="IBM Plex Sans Light"/>
                <a:sym typeface="IBM Plex Sans Light"/>
              </a:rPr>
              <a:t>Envizi</a:t>
            </a:r>
            <a:r>
              <a:rPr lang="it-IT" kern="0">
                <a:solidFill>
                  <a:srgbClr val="000000"/>
                </a:solidFill>
                <a:latin typeface="IBM Plex Sans Light"/>
                <a:sym typeface="IBM Plex Sans Light"/>
              </a:rPr>
              <a:t> e rendicontazione GO, PPA, On site </a:t>
            </a:r>
            <a:r>
              <a:rPr lang="it-IT" kern="0" err="1">
                <a:solidFill>
                  <a:srgbClr val="000000"/>
                </a:solidFill>
                <a:latin typeface="IBM Plex Sans Light"/>
                <a:sym typeface="IBM Plex Sans Light"/>
              </a:rPr>
              <a:t>renewables</a:t>
            </a:r>
            <a:endParaRPr lang="it-IT" kern="0">
              <a:solidFill>
                <a:srgbClr val="000000"/>
              </a:solidFill>
              <a:latin typeface="IBM Plex Sans Light"/>
              <a:sym typeface="IBM Plex Sans Light"/>
            </a:endParaRPr>
          </a:p>
        </p:txBody>
      </p:sp>
      <p:graphicFrame>
        <p:nvGraphicFramePr>
          <p:cNvPr id="9" name="Tabella 8">
            <a:extLst>
              <a:ext uri="{FF2B5EF4-FFF2-40B4-BE49-F238E27FC236}">
                <a16:creationId xmlns:a16="http://schemas.microsoft.com/office/drawing/2014/main" id="{CD81225A-FEB7-15A5-1286-22737AD7F2B6}"/>
              </a:ext>
            </a:extLst>
          </p:cNvPr>
          <p:cNvGraphicFramePr>
            <a:graphicFrameLocks noGrp="1"/>
          </p:cNvGraphicFramePr>
          <p:nvPr/>
        </p:nvGraphicFramePr>
        <p:xfrm>
          <a:off x="422737" y="4481436"/>
          <a:ext cx="11293593" cy="1950680"/>
        </p:xfrm>
        <a:graphic>
          <a:graphicData uri="http://schemas.openxmlformats.org/drawingml/2006/table">
            <a:tbl>
              <a:tblPr>
                <a:tableStyleId>{5C22544A-7EE6-4342-B048-85BDC9FD1C3A}</a:tableStyleId>
              </a:tblPr>
              <a:tblGrid>
                <a:gridCol w="3764531">
                  <a:extLst>
                    <a:ext uri="{9D8B030D-6E8A-4147-A177-3AD203B41FA5}">
                      <a16:colId xmlns:a16="http://schemas.microsoft.com/office/drawing/2014/main" val="577265126"/>
                    </a:ext>
                  </a:extLst>
                </a:gridCol>
                <a:gridCol w="3764531">
                  <a:extLst>
                    <a:ext uri="{9D8B030D-6E8A-4147-A177-3AD203B41FA5}">
                      <a16:colId xmlns:a16="http://schemas.microsoft.com/office/drawing/2014/main" val="3225939350"/>
                    </a:ext>
                  </a:extLst>
                </a:gridCol>
                <a:gridCol w="3764531">
                  <a:extLst>
                    <a:ext uri="{9D8B030D-6E8A-4147-A177-3AD203B41FA5}">
                      <a16:colId xmlns:a16="http://schemas.microsoft.com/office/drawing/2014/main" val="3101886294"/>
                    </a:ext>
                  </a:extLst>
                </a:gridCol>
              </a:tblGrid>
              <a:tr h="259046">
                <a:tc>
                  <a:txBody>
                    <a:bodyPr/>
                    <a:lstStyle/>
                    <a:p>
                      <a:pPr algn="l">
                        <a:buNone/>
                      </a:pPr>
                      <a:r>
                        <a:rPr lang="it-IT" sz="1200" b="1" dirty="0">
                          <a:solidFill>
                            <a:schemeClr val="tx1"/>
                          </a:solidFill>
                          <a:effectLst/>
                        </a:rPr>
                        <a:t>Garanzie d’Origine (GO)</a:t>
                      </a:r>
                    </a:p>
                  </a:txBody>
                  <a:tcPr marL="57143" marR="57143" marT="38095" marB="38095" anchor="ctr"/>
                </a:tc>
                <a:tc>
                  <a:txBody>
                    <a:bodyPr/>
                    <a:lstStyle/>
                    <a:p>
                      <a:pPr algn="l">
                        <a:buNone/>
                      </a:pPr>
                      <a:r>
                        <a:rPr lang="it-IT" sz="1200" b="1" dirty="0">
                          <a:solidFill>
                            <a:schemeClr val="tx1"/>
                          </a:solidFill>
                          <a:effectLst/>
                        </a:rPr>
                        <a:t>PPA</a:t>
                      </a:r>
                    </a:p>
                  </a:txBody>
                  <a:tcPr marL="57143" marR="57143" marT="38095" marB="38095" anchor="ctr"/>
                </a:tc>
                <a:tc>
                  <a:txBody>
                    <a:bodyPr/>
                    <a:lstStyle/>
                    <a:p>
                      <a:pPr algn="l">
                        <a:buNone/>
                      </a:pPr>
                      <a:r>
                        <a:rPr lang="it-IT" sz="1200" b="1" dirty="0">
                          <a:solidFill>
                            <a:schemeClr val="tx1"/>
                          </a:solidFill>
                          <a:effectLst/>
                        </a:rPr>
                        <a:t>On-site </a:t>
                      </a:r>
                      <a:r>
                        <a:rPr lang="it-IT" sz="1200" b="1" dirty="0" err="1">
                          <a:solidFill>
                            <a:schemeClr val="tx1"/>
                          </a:solidFill>
                          <a:effectLst/>
                        </a:rPr>
                        <a:t>Renewables</a:t>
                      </a:r>
                      <a:endParaRPr lang="it-IT" sz="1200" b="1" dirty="0">
                        <a:solidFill>
                          <a:schemeClr val="tx1"/>
                        </a:solidFill>
                        <a:effectLst/>
                      </a:endParaRPr>
                    </a:p>
                  </a:txBody>
                  <a:tcPr marL="57143" marR="57143" marT="38095" marB="38095" anchor="ctr"/>
                </a:tc>
                <a:extLst>
                  <a:ext uri="{0D108BD9-81ED-4DB2-BD59-A6C34878D82A}">
                    <a16:rowId xmlns:a16="http://schemas.microsoft.com/office/drawing/2014/main" val="3305345499"/>
                  </a:ext>
                </a:extLst>
              </a:tr>
              <a:tr h="624759">
                <a:tc>
                  <a:txBody>
                    <a:bodyPr/>
                    <a:lstStyle/>
                    <a:p>
                      <a:pPr algn="l">
                        <a:buNone/>
                      </a:pPr>
                      <a:r>
                        <a:rPr lang="it-IT" sz="1200" dirty="0">
                          <a:solidFill>
                            <a:schemeClr val="tx1"/>
                          </a:solidFill>
                          <a:effectLst/>
                        </a:rPr>
                        <a:t>Certificano che una quantità equivalente di energia è stata prodotta da fonti rinnovabili.</a:t>
                      </a:r>
                    </a:p>
                  </a:txBody>
                  <a:tcPr marL="57143" marR="57143" marT="38095" marB="38095" anchor="ctr">
                    <a:solidFill>
                      <a:schemeClr val="bg1"/>
                    </a:solidFill>
                  </a:tcPr>
                </a:tc>
                <a:tc>
                  <a:txBody>
                    <a:bodyPr/>
                    <a:lstStyle/>
                    <a:p>
                      <a:pPr algn="l">
                        <a:buNone/>
                      </a:pPr>
                      <a:r>
                        <a:rPr lang="it-IT" sz="1200" dirty="0">
                          <a:solidFill>
                            <a:schemeClr val="tx1"/>
                          </a:solidFill>
                          <a:effectLst/>
                        </a:rPr>
                        <a:t>Contratto di acquisto dell’energia direttamente da un produttore.</a:t>
                      </a:r>
                    </a:p>
                  </a:txBody>
                  <a:tcPr marL="57143" marR="57143" marT="38095" marB="38095" anchor="ctr">
                    <a:solidFill>
                      <a:schemeClr val="bg1"/>
                    </a:solidFill>
                  </a:tcPr>
                </a:tc>
                <a:tc>
                  <a:txBody>
                    <a:bodyPr/>
                    <a:lstStyle/>
                    <a:p>
                      <a:pPr algn="l">
                        <a:buNone/>
                      </a:pPr>
                      <a:r>
                        <a:rPr lang="it-IT" sz="1200">
                          <a:solidFill>
                            <a:schemeClr val="tx1"/>
                          </a:solidFill>
                          <a:effectLst/>
                        </a:rPr>
                        <a:t>Energia rinnovabile prodotta e autoconsumata direttamente presso il sito aziendale (es. impianto fotovoltaico).</a:t>
                      </a:r>
                    </a:p>
                  </a:txBody>
                  <a:tcPr marL="57143" marR="57143" marT="38095" marB="38095" anchor="ctr">
                    <a:solidFill>
                      <a:schemeClr val="bg1"/>
                    </a:solidFill>
                  </a:tcPr>
                </a:tc>
                <a:extLst>
                  <a:ext uri="{0D108BD9-81ED-4DB2-BD59-A6C34878D82A}">
                    <a16:rowId xmlns:a16="http://schemas.microsoft.com/office/drawing/2014/main" val="1088595550"/>
                  </a:ext>
                </a:extLst>
              </a:tr>
              <a:tr h="441902">
                <a:tc>
                  <a:txBody>
                    <a:bodyPr/>
                    <a:lstStyle/>
                    <a:p>
                      <a:pPr algn="l">
                        <a:buNone/>
                      </a:pPr>
                      <a:r>
                        <a:rPr lang="it-IT" sz="1200" dirty="0">
                          <a:solidFill>
                            <a:schemeClr val="tx1"/>
                          </a:solidFill>
                          <a:effectLst/>
                        </a:rPr>
                        <a:t>Agiscono principalmente sull’attribuzione delle emissioni Market-Based.</a:t>
                      </a:r>
                    </a:p>
                  </a:txBody>
                  <a:tcPr marL="57143" marR="57143" marT="38095" marB="38095" anchor="ctr">
                    <a:solidFill>
                      <a:schemeClr val="bg1"/>
                    </a:solidFill>
                  </a:tcPr>
                </a:tc>
                <a:tc>
                  <a:txBody>
                    <a:bodyPr/>
                    <a:lstStyle/>
                    <a:p>
                      <a:pPr algn="l">
                        <a:buNone/>
                      </a:pPr>
                      <a:r>
                        <a:rPr lang="it-IT" sz="1200" dirty="0">
                          <a:solidFill>
                            <a:schemeClr val="tx1"/>
                          </a:solidFill>
                          <a:effectLst/>
                        </a:rPr>
                        <a:t>Influenzano sia la strategia di approvvigionamento sia il profilo economico dell’energia.</a:t>
                      </a:r>
                    </a:p>
                  </a:txBody>
                  <a:tcPr marL="57143" marR="57143" marT="38095" marB="38095" anchor="ctr">
                    <a:solidFill>
                      <a:schemeClr val="bg1"/>
                    </a:solidFill>
                  </a:tcPr>
                </a:tc>
                <a:tc>
                  <a:txBody>
                    <a:bodyPr/>
                    <a:lstStyle/>
                    <a:p>
                      <a:pPr algn="l">
                        <a:buNone/>
                      </a:pPr>
                      <a:r>
                        <a:rPr lang="it-IT" sz="1200">
                          <a:solidFill>
                            <a:schemeClr val="tx1"/>
                          </a:solidFill>
                          <a:effectLst/>
                        </a:rPr>
                        <a:t>Riducono direttamente il prelievo di energia dalla rete e le relative emissioni.</a:t>
                      </a:r>
                    </a:p>
                  </a:txBody>
                  <a:tcPr marL="57143" marR="57143" marT="38095" marB="38095" anchor="ctr">
                    <a:solidFill>
                      <a:schemeClr val="bg1"/>
                    </a:solidFill>
                  </a:tcPr>
                </a:tc>
                <a:extLst>
                  <a:ext uri="{0D108BD9-81ED-4DB2-BD59-A6C34878D82A}">
                    <a16:rowId xmlns:a16="http://schemas.microsoft.com/office/drawing/2014/main" val="3940361264"/>
                  </a:ext>
                </a:extLst>
              </a:tr>
              <a:tr h="624759">
                <a:tc>
                  <a:txBody>
                    <a:bodyPr/>
                    <a:lstStyle/>
                    <a:p>
                      <a:pPr algn="l">
                        <a:buNone/>
                      </a:pPr>
                      <a:r>
                        <a:rPr lang="it-IT" sz="1200" dirty="0">
                          <a:solidFill>
                            <a:schemeClr val="tx1"/>
                          </a:solidFill>
                          <a:effectLst/>
                        </a:rPr>
                        <a:t>Generalmente hanno un costo inferiore.</a:t>
                      </a:r>
                    </a:p>
                  </a:txBody>
                  <a:tcPr marL="57143" marR="57143" marT="38095" marB="38095" anchor="ctr">
                    <a:solidFill>
                      <a:schemeClr val="bg1"/>
                    </a:solidFill>
                  </a:tcPr>
                </a:tc>
                <a:tc>
                  <a:txBody>
                    <a:bodyPr/>
                    <a:lstStyle/>
                    <a:p>
                      <a:pPr algn="l">
                        <a:buNone/>
                      </a:pPr>
                      <a:r>
                        <a:rPr lang="it-IT" sz="1200" dirty="0">
                          <a:solidFill>
                            <a:schemeClr val="tx1"/>
                          </a:solidFill>
                          <a:effectLst/>
                        </a:rPr>
                        <a:t>Sono impegni pluriennali con impatto strategico e finanziario.</a:t>
                      </a:r>
                    </a:p>
                  </a:txBody>
                  <a:tcPr marL="57143" marR="57143" marT="38095" marB="38095" anchor="ctr">
                    <a:solidFill>
                      <a:schemeClr val="bg1"/>
                    </a:solidFill>
                  </a:tcPr>
                </a:tc>
                <a:tc>
                  <a:txBody>
                    <a:bodyPr/>
                    <a:lstStyle/>
                    <a:p>
                      <a:pPr algn="l">
                        <a:buNone/>
                      </a:pPr>
                      <a:r>
                        <a:rPr lang="it-IT" sz="1200" dirty="0">
                          <a:solidFill>
                            <a:schemeClr val="tx1"/>
                          </a:solidFill>
                          <a:effectLst/>
                        </a:rPr>
                        <a:t>Richiedono un investimento nell’impianto, ma generano benefici economici ed ambientali nel lungo periodo.</a:t>
                      </a:r>
                    </a:p>
                  </a:txBody>
                  <a:tcPr marL="57143" marR="57143" marT="38095" marB="38095" anchor="ctr">
                    <a:solidFill>
                      <a:schemeClr val="bg1"/>
                    </a:solidFill>
                  </a:tcPr>
                </a:tc>
                <a:extLst>
                  <a:ext uri="{0D108BD9-81ED-4DB2-BD59-A6C34878D82A}">
                    <a16:rowId xmlns:a16="http://schemas.microsoft.com/office/drawing/2014/main" val="1267633040"/>
                  </a:ext>
                </a:extLst>
              </a:tr>
            </a:tbl>
          </a:graphicData>
        </a:graphic>
      </p:graphicFrame>
    </p:spTree>
    <p:extLst>
      <p:ext uri="{BB962C8B-B14F-4D97-AF65-F5344CB8AC3E}">
        <p14:creationId xmlns:p14="http://schemas.microsoft.com/office/powerpoint/2010/main" val="1902850886"/>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698B2F3-77B4-BC85-45C5-B876C865DCC4}"/>
              </a:ext>
            </a:extLst>
          </p:cNvPr>
          <p:cNvSpPr txBox="1"/>
          <p:nvPr/>
        </p:nvSpPr>
        <p:spPr>
          <a:xfrm>
            <a:off x="709040" y="618552"/>
            <a:ext cx="10443406" cy="4616648"/>
          </a:xfrm>
          <a:prstGeom prst="rect">
            <a:avLst/>
          </a:prstGeom>
          <a:noFill/>
        </p:spPr>
        <p:txBody>
          <a:bodyPr wrap="square">
            <a:spAutoFit/>
          </a:bodyPr>
          <a:lstStyle/>
          <a:p>
            <a:pPr defTabSz="914217"/>
            <a:r>
              <a:rPr lang="it-IT" sz="1400" b="1" dirty="0">
                <a:solidFill>
                  <a:prstClr val="black"/>
                </a:solidFill>
                <a:latin typeface="Aptos" panose="02110004020202020204"/>
              </a:rPr>
              <a:t>1. </a:t>
            </a:r>
            <a:r>
              <a:rPr lang="it-IT" sz="1400" b="1" dirty="0" err="1">
                <a:solidFill>
                  <a:prstClr val="black"/>
                </a:solidFill>
                <a:latin typeface="Aptos" panose="02110004020202020204"/>
              </a:rPr>
              <a:t>Interval</a:t>
            </a:r>
            <a:r>
              <a:rPr lang="it-IT" sz="1400" b="1" dirty="0">
                <a:solidFill>
                  <a:prstClr val="black"/>
                </a:solidFill>
                <a:latin typeface="Aptos" panose="02110004020202020204"/>
              </a:rPr>
              <a:t> Meter Analytics (contatori)</a:t>
            </a:r>
          </a:p>
          <a:p>
            <a:pPr defTabSz="914217"/>
            <a:r>
              <a:rPr lang="it-IT" sz="1400" dirty="0">
                <a:solidFill>
                  <a:prstClr val="black"/>
                </a:solidFill>
                <a:latin typeface="Aptos" panose="02110004020202020204"/>
              </a:rPr>
              <a:t>Qui </a:t>
            </a:r>
            <a:r>
              <a:rPr lang="it-IT" sz="1400" dirty="0" err="1">
                <a:solidFill>
                  <a:prstClr val="black"/>
                </a:solidFill>
                <a:latin typeface="Aptos" panose="02110004020202020204"/>
              </a:rPr>
              <a:t>Envizi</a:t>
            </a:r>
            <a:r>
              <a:rPr lang="it-IT" sz="1400" dirty="0">
                <a:solidFill>
                  <a:prstClr val="black"/>
                </a:solidFill>
                <a:latin typeface="Aptos" panose="02110004020202020204"/>
              </a:rPr>
              <a:t> dispone di un vero motore di </a:t>
            </a:r>
            <a:r>
              <a:rPr lang="it-IT" sz="1400" b="1" dirty="0">
                <a:solidFill>
                  <a:prstClr val="black"/>
                </a:solidFill>
                <a:latin typeface="Aptos" panose="02110004020202020204"/>
              </a:rPr>
              <a:t>Rules → Alerts → Issues</a:t>
            </a:r>
            <a:r>
              <a:rPr lang="it-IT" sz="1400" dirty="0">
                <a:solidFill>
                  <a:prstClr val="black"/>
                </a:solidFill>
                <a:latin typeface="Aptos" panose="02110004020202020204"/>
              </a:rPr>
              <a:t>. Puoi configurare regole che generano automaticamente alert quando:</a:t>
            </a:r>
          </a:p>
          <a:p>
            <a:pPr marL="342831" indent="-342831" defTabSz="914217">
              <a:buFont typeface="Arial" panose="020B0604020202020204" pitchFamily="34" charset="0"/>
              <a:buChar char="•"/>
            </a:pPr>
            <a:r>
              <a:rPr lang="it-IT" sz="1400" b="1" dirty="0">
                <a:solidFill>
                  <a:prstClr val="black"/>
                </a:solidFill>
                <a:latin typeface="Aptos" panose="02110004020202020204"/>
              </a:rPr>
              <a:t>non arrivano dati</a:t>
            </a:r>
            <a:r>
              <a:rPr lang="it-IT" sz="1400" dirty="0">
                <a:solidFill>
                  <a:prstClr val="black"/>
                </a:solidFill>
                <a:latin typeface="Aptos" panose="02110004020202020204"/>
              </a:rPr>
              <a:t> per un certo numero di ore o giorni (</a:t>
            </a:r>
            <a:r>
              <a:rPr lang="it-IT" sz="1400" i="1" dirty="0" err="1">
                <a:solidFill>
                  <a:prstClr val="black"/>
                </a:solidFill>
                <a:latin typeface="Aptos" panose="02110004020202020204"/>
              </a:rPr>
              <a:t>Inactivity</a:t>
            </a:r>
            <a:r>
              <a:rPr lang="it-IT" sz="1400" i="1" dirty="0">
                <a:solidFill>
                  <a:prstClr val="black"/>
                </a:solidFill>
                <a:latin typeface="Aptos" panose="02110004020202020204"/>
              </a:rPr>
              <a:t>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viene superata una soglia assoluta di consumo o domanda (</a:t>
            </a:r>
            <a:r>
              <a:rPr lang="it-IT" sz="1400" i="1" dirty="0">
                <a:solidFill>
                  <a:prstClr val="black"/>
                </a:solidFill>
                <a:latin typeface="Aptos" panose="02110004020202020204"/>
              </a:rPr>
              <a:t>Absolute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il consumo si discosta dal profilo atteso (</a:t>
            </a:r>
            <a:r>
              <a:rPr lang="it-IT" sz="1400" i="1" dirty="0" err="1">
                <a:solidFill>
                  <a:prstClr val="black"/>
                </a:solidFill>
                <a:latin typeface="Aptos" panose="02110004020202020204"/>
              </a:rPr>
              <a:t>Variance</a:t>
            </a:r>
            <a:r>
              <a:rPr lang="it-IT" sz="1400" i="1" dirty="0">
                <a:solidFill>
                  <a:prstClr val="black"/>
                </a:solidFill>
                <a:latin typeface="Aptos" panose="02110004020202020204"/>
              </a:rPr>
              <a:t> Rule</a:t>
            </a:r>
            <a:r>
              <a:rPr lang="it-IT" sz="1400" dirty="0">
                <a:solidFill>
                  <a:prstClr val="black"/>
                </a:solidFill>
                <a:latin typeface="Aptos" panose="02110004020202020204"/>
              </a:rPr>
              <a:t>);</a:t>
            </a:r>
          </a:p>
          <a:p>
            <a:pPr marL="342831" indent="-342831" defTabSz="914217">
              <a:buFont typeface="Arial" panose="020B0604020202020204" pitchFamily="34" charset="0"/>
              <a:buChar char="•"/>
            </a:pPr>
            <a:r>
              <a:rPr lang="it-IT" sz="1400" dirty="0">
                <a:solidFill>
                  <a:prstClr val="black"/>
                </a:solidFill>
                <a:latin typeface="Aptos" panose="02110004020202020204"/>
              </a:rPr>
              <a:t>vengono rilevati pattern tipici di spreco energetico (</a:t>
            </a:r>
            <a:r>
              <a:rPr lang="it-IT" sz="1400" i="1" dirty="0">
                <a:solidFill>
                  <a:prstClr val="black"/>
                </a:solidFill>
                <a:latin typeface="Aptos" panose="02110004020202020204"/>
              </a:rPr>
              <a:t>Performance Rule</a:t>
            </a:r>
            <a:r>
              <a:rPr lang="it-IT" sz="1400" dirty="0">
                <a:solidFill>
                  <a:prstClr val="black"/>
                </a:solidFill>
                <a:latin typeface="Aptos" panose="02110004020202020204"/>
              </a:rPr>
              <a:t>).  </a:t>
            </a:r>
          </a:p>
          <a:p>
            <a:pPr defTabSz="914217"/>
            <a:r>
              <a:rPr lang="it-IT" sz="1400" dirty="0">
                <a:solidFill>
                  <a:prstClr val="black"/>
                </a:solidFill>
                <a:latin typeface="Aptos" panose="02110004020202020204"/>
              </a:rPr>
              <a:t>Per esempio:</a:t>
            </a:r>
          </a:p>
          <a:p>
            <a:pPr defTabSz="914217"/>
            <a:r>
              <a:rPr lang="it-IT" sz="1400" dirty="0">
                <a:solidFill>
                  <a:prstClr val="black"/>
                </a:solidFill>
                <a:latin typeface="Aptos" panose="02110004020202020204"/>
              </a:rPr>
              <a:t>“Il contatore dello stabilimento di Segrate non trasmette dati da 6 ore.”</a:t>
            </a:r>
          </a:p>
          <a:p>
            <a:pPr defTabSz="914217"/>
            <a:r>
              <a:rPr lang="it-IT" sz="1400" dirty="0">
                <a:solidFill>
                  <a:prstClr val="black"/>
                </a:solidFill>
                <a:latin typeface="Aptos" panose="02110004020202020204"/>
              </a:rPr>
              <a:t>↓</a:t>
            </a:r>
          </a:p>
          <a:p>
            <a:pPr defTabSz="914217"/>
            <a:r>
              <a:rPr lang="it-IT" sz="1400" dirty="0" err="1">
                <a:solidFill>
                  <a:prstClr val="black"/>
                </a:solidFill>
                <a:latin typeface="Aptos" panose="02110004020202020204"/>
              </a:rPr>
              <a:t>Envizi</a:t>
            </a:r>
            <a:r>
              <a:rPr lang="it-IT" sz="1400" dirty="0">
                <a:solidFill>
                  <a:prstClr val="black"/>
                </a:solidFill>
                <a:latin typeface="Aptos" panose="02110004020202020204"/>
              </a:rPr>
              <a:t> crea un </a:t>
            </a:r>
            <a:r>
              <a:rPr lang="it-IT" sz="1400" b="1" dirty="0">
                <a:solidFill>
                  <a:prstClr val="black"/>
                </a:solidFill>
                <a:latin typeface="Aptos" panose="02110004020202020204"/>
              </a:rPr>
              <a:t>Alert</a:t>
            </a:r>
            <a:r>
              <a:rPr lang="it-IT" sz="1400" dirty="0">
                <a:solidFill>
                  <a:prstClr val="black"/>
                </a:solidFill>
                <a:latin typeface="Aptos" panose="02110004020202020204"/>
              </a:rPr>
              <a:t>, apre automaticamente un </a:t>
            </a:r>
            <a:r>
              <a:rPr lang="it-IT" sz="1400" b="1" dirty="0" err="1">
                <a:solidFill>
                  <a:prstClr val="black"/>
                </a:solidFill>
                <a:latin typeface="Aptos" panose="02110004020202020204"/>
              </a:rPr>
              <a:t>Issue</a:t>
            </a:r>
            <a:r>
              <a:rPr lang="it-IT" sz="1400" dirty="0">
                <a:solidFill>
                  <a:prstClr val="black"/>
                </a:solidFill>
                <a:latin typeface="Aptos" panose="02110004020202020204"/>
              </a:rPr>
              <a:t>, lo assegna al responsabile e può inviare una notifica e-mail.  </a:t>
            </a:r>
            <a:br>
              <a:rPr lang="it-IT" sz="1400" dirty="0">
                <a:solidFill>
                  <a:prstClr val="black"/>
                </a:solidFill>
                <a:latin typeface="Aptos" panose="02110004020202020204"/>
              </a:rPr>
            </a:br>
            <a:endParaRPr lang="it-IT" sz="1400" dirty="0">
              <a:solidFill>
                <a:prstClr val="black"/>
              </a:solidFill>
              <a:latin typeface="Aptos" panose="02110004020202020204"/>
            </a:endParaRPr>
          </a:p>
          <a:p>
            <a:pPr defTabSz="914217"/>
            <a:r>
              <a:rPr lang="it-IT" sz="1400" b="1" dirty="0">
                <a:solidFill>
                  <a:prstClr val="black"/>
                </a:solidFill>
                <a:latin typeface="Aptos" panose="02110004020202020204"/>
              </a:rPr>
              <a:t>2. Utility Bill Analytics (bollette)</a:t>
            </a:r>
          </a:p>
          <a:p>
            <a:pPr defTabSz="914217"/>
            <a:r>
              <a:rPr lang="it-IT" sz="1400" dirty="0">
                <a:solidFill>
                  <a:prstClr val="black"/>
                </a:solidFill>
                <a:latin typeface="Aptos" panose="02110004020202020204"/>
              </a:rPr>
              <a:t>Qui il comportamento è diverso.</a:t>
            </a:r>
          </a:p>
          <a:p>
            <a:pPr defTabSz="914217"/>
            <a:r>
              <a:rPr lang="it-IT" sz="1400" dirty="0">
                <a:solidFill>
                  <a:prstClr val="black"/>
                </a:solidFill>
                <a:latin typeface="Aptos" panose="02110004020202020204"/>
              </a:rPr>
              <a:t>Non esistono alert in tempo reale perché i dati arrivano con la frequenza delle bollette (mensili o bimestrali).</a:t>
            </a:r>
          </a:p>
          <a:p>
            <a:pPr defTabSz="914217"/>
            <a:r>
              <a:rPr lang="it-IT" sz="1400" dirty="0" err="1">
                <a:solidFill>
                  <a:prstClr val="black"/>
                </a:solidFill>
                <a:latin typeface="Aptos" panose="02110004020202020204"/>
              </a:rPr>
              <a:t>Envizi</a:t>
            </a:r>
            <a:r>
              <a:rPr lang="it-IT" sz="1400" dirty="0">
                <a:solidFill>
                  <a:prstClr val="black"/>
                </a:solidFill>
                <a:latin typeface="Aptos" panose="02110004020202020204"/>
              </a:rPr>
              <a:t> mette però a disposizione le dashboard </a:t>
            </a:r>
            <a:r>
              <a:rPr lang="it-IT" sz="1400" b="1" dirty="0">
                <a:solidFill>
                  <a:prstClr val="black"/>
                </a:solidFill>
                <a:latin typeface="Aptos" panose="02110004020202020204"/>
              </a:rPr>
              <a:t>Data Health Check</a:t>
            </a:r>
            <a:r>
              <a:rPr lang="it-IT" sz="1400" dirty="0">
                <a:solidFill>
                  <a:prstClr val="black"/>
                </a:solidFill>
                <a:latin typeface="Aptos" panose="02110004020202020204"/>
              </a:rPr>
              <a:t>, che evidenziano:</a:t>
            </a:r>
          </a:p>
          <a:p>
            <a:pPr marL="342831" indent="-342831" defTabSz="914217">
              <a:buFont typeface="Arial" panose="020B0604020202020204" pitchFamily="34" charset="0"/>
              <a:buChar char="•"/>
            </a:pPr>
            <a:r>
              <a:rPr lang="it-IT" sz="1400" dirty="0">
                <a:solidFill>
                  <a:prstClr val="black"/>
                </a:solidFill>
                <a:latin typeface="Aptos" panose="02110004020202020204"/>
              </a:rPr>
              <a:t>account senza dati;</a:t>
            </a:r>
          </a:p>
          <a:p>
            <a:pPr marL="342831" indent="-342831" defTabSz="914217">
              <a:buFont typeface="Arial" panose="020B0604020202020204" pitchFamily="34" charset="0"/>
              <a:buChar char="•"/>
            </a:pPr>
            <a:r>
              <a:rPr lang="it-IT" sz="1400" dirty="0">
                <a:solidFill>
                  <a:prstClr val="black"/>
                </a:solidFill>
                <a:latin typeface="Aptos" panose="02110004020202020204"/>
              </a:rPr>
              <a:t>mesi mancanti;</a:t>
            </a:r>
          </a:p>
          <a:p>
            <a:pPr marL="342831" indent="-342831" defTabSz="914217">
              <a:buFont typeface="Arial" panose="020B0604020202020204" pitchFamily="34" charset="0"/>
              <a:buChar char="•"/>
            </a:pPr>
            <a:r>
              <a:rPr lang="it-IT" sz="1400" dirty="0">
                <a:solidFill>
                  <a:prstClr val="black"/>
                </a:solidFill>
                <a:latin typeface="Aptos" panose="02110004020202020204"/>
              </a:rPr>
              <a:t>giorni mancanti;</a:t>
            </a:r>
          </a:p>
          <a:p>
            <a:pPr marL="342831" indent="-342831" defTabSz="914217">
              <a:buFont typeface="Arial" panose="020B0604020202020204" pitchFamily="34" charset="0"/>
              <a:buChar char="•"/>
            </a:pPr>
            <a:r>
              <a:rPr lang="it-IT" sz="1400" dirty="0">
                <a:solidFill>
                  <a:prstClr val="black"/>
                </a:solidFill>
                <a:latin typeface="Aptos" panose="02110004020202020204"/>
              </a:rPr>
              <a:t>fornitori che non hanno inviato le fatture;</a:t>
            </a:r>
          </a:p>
          <a:p>
            <a:pPr marL="342831" indent="-342831" defTabSz="914217">
              <a:buFont typeface="Arial" panose="020B0604020202020204" pitchFamily="34" charset="0"/>
              <a:buChar char="•"/>
            </a:pPr>
            <a:r>
              <a:rPr lang="it-IT" sz="1400" dirty="0">
                <a:solidFill>
                  <a:prstClr val="black"/>
                </a:solidFill>
                <a:latin typeface="Aptos" panose="02110004020202020204"/>
              </a:rPr>
              <a:t>copertura incompleta del periodo.</a:t>
            </a:r>
          </a:p>
          <a:p>
            <a:pPr defTabSz="914217"/>
            <a:r>
              <a:rPr lang="it-IT" sz="1400" dirty="0">
                <a:solidFill>
                  <a:prstClr val="black"/>
                </a:solidFill>
                <a:latin typeface="Aptos" panose="02110004020202020204"/>
              </a:rPr>
              <a:t>L’utente può poi fare drill-down fino all’account e correggere il problema.  </a:t>
            </a:r>
          </a:p>
        </p:txBody>
      </p:sp>
    </p:spTree>
    <p:extLst>
      <p:ext uri="{BB962C8B-B14F-4D97-AF65-F5344CB8AC3E}">
        <p14:creationId xmlns:p14="http://schemas.microsoft.com/office/powerpoint/2010/main" val="632140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 name="Testo originale sotto il titolo"/>
          <p:cNvSpPr txBox="1"/>
          <p:nvPr/>
        </p:nvSpPr>
        <p:spPr>
          <a:xfrm>
            <a:off x="549362" y="5641561"/>
            <a:ext cx="10879943" cy="307777"/>
          </a:xfrm>
          <a:prstGeom prst="rect">
            <a:avLst/>
          </a:prstGeom>
          <a:noFill/>
        </p:spPr>
        <p:txBody>
          <a:bodyPr wrap="square" lIns="0" tIns="0" rIns="0" bIns="0" anchor="t">
            <a:spAutoFit/>
          </a:bodyPr>
          <a:lstStyle/>
          <a:p>
            <a:pPr algn="l">
              <a:defRPr sz="2000">
                <a:solidFill>
                  <a:srgbClr val="073E31"/>
                </a:solidFill>
              </a:defRPr>
            </a:pPr>
            <a:r>
              <a:rPr sz="2000" dirty="0">
                <a:solidFill>
                  <a:srgbClr val="073E31"/>
                </a:solidFill>
                <a:latin typeface="Calibri"/>
              </a:rPr>
              <a:t> </a:t>
            </a:r>
            <a:endParaRPr sz="2400" dirty="0">
              <a:solidFill>
                <a:srgbClr val="D8E8DC"/>
              </a:solidFill>
              <a:latin typeface="Calibri"/>
            </a:endParaRPr>
          </a:p>
        </p:txBody>
      </p:sp>
      <p:sp>
        <p:nvSpPr>
          <p:cNvPr id="8" name="Linea verde titolo">
            <a:extLst>
              <a:ext uri="{FF2B5EF4-FFF2-40B4-BE49-F238E27FC236}">
                <a16:creationId xmlns:a16="http://schemas.microsoft.com/office/drawing/2014/main" id="{A6678BFC-6560-E5C2-2666-C334E1932CBD}"/>
              </a:ext>
            </a:extLst>
          </p:cNvPr>
          <p:cNvSpPr/>
          <p:nvPr/>
        </p:nvSpPr>
        <p:spPr>
          <a:xfrm>
            <a:off x="640790" y="274731"/>
            <a:ext cx="1005709" cy="73142"/>
          </a:xfrm>
          <a:prstGeom prst="rect">
            <a:avLst/>
          </a:prstGeom>
          <a:solidFill>
            <a:srgbClr val="4EA72E"/>
          </a:solidFill>
          <a:ln>
            <a:noFill/>
          </a:ln>
        </p:spPr>
        <p:txBody>
          <a:bodyPr/>
          <a:lstStyle/>
          <a:p>
            <a:pPr>
              <a:defRPr sz="2000">
                <a:solidFill>
                  <a:srgbClr val="073E31"/>
                </a:solidFill>
              </a:defRPr>
            </a:pPr>
            <a:endParaRPr lang="it-IT" sz="2000"/>
          </a:p>
        </p:txBody>
      </p:sp>
      <p:sp>
        <p:nvSpPr>
          <p:cNvPr id="5" name="TextBox 4"/>
          <p:cNvSpPr txBox="1"/>
          <p:nvPr/>
        </p:nvSpPr>
        <p:spPr>
          <a:xfrm>
            <a:off x="640790" y="457587"/>
            <a:ext cx="10907372" cy="369332"/>
          </a:xfrm>
          <a:prstGeom prst="rect">
            <a:avLst/>
          </a:prstGeom>
          <a:noFill/>
        </p:spPr>
        <p:txBody>
          <a:bodyPr wrap="square" lIns="0" tIns="0" rIns="0" bIns="0" anchor="t">
            <a:spAutoFit/>
          </a:bodyPr>
          <a:lstStyle/>
          <a:p>
            <a:pPr>
              <a:spcAft>
                <a:spcPts val="500"/>
              </a:spcAft>
              <a:defRPr sz="2400" b="1">
                <a:solidFill>
                  <a:srgbClr val="073E31"/>
                </a:solidFill>
                <a:latin typeface="Calibri"/>
              </a:defRPr>
            </a:pPr>
            <a:r>
              <a:rPr lang="it-IT" sz="2400" b="1">
                <a:solidFill>
                  <a:srgbClr val="073E31"/>
                </a:solidFill>
                <a:latin typeface="Calibri"/>
              </a:rPr>
              <a:t>Grazie</a:t>
            </a:r>
          </a:p>
        </p:txBody>
      </p:sp>
      <p:sp>
        <p:nvSpPr>
          <p:cNvPr id="2" name="TextBox 3">
            <a:extLst>
              <a:ext uri="{FF2B5EF4-FFF2-40B4-BE49-F238E27FC236}">
                <a16:creationId xmlns:a16="http://schemas.microsoft.com/office/drawing/2014/main" id="{6EF24286-BAAB-56CB-EE5D-375D369C0873}"/>
              </a:ext>
            </a:extLst>
          </p:cNvPr>
          <p:cNvSpPr txBox="1"/>
          <p:nvPr/>
        </p:nvSpPr>
        <p:spPr>
          <a:xfrm>
            <a:off x="10057884" y="219874"/>
            <a:ext cx="2742843" cy="233908"/>
          </a:xfrm>
          <a:prstGeom prst="rect">
            <a:avLst/>
          </a:prstGeom>
          <a:noFill/>
        </p:spPr>
        <p:txBody>
          <a:bodyPr wrap="square" lIns="18286" tIns="9143" rIns="18286" bIns="9143">
            <a:spAutoFit/>
          </a:bodyPr>
          <a:lstStyle/>
          <a:p>
            <a:pPr defTabSz="457109">
              <a:defRPr/>
            </a:pPr>
            <a:r>
              <a:rPr sz="1400" b="1" dirty="0">
                <a:solidFill>
                  <a:srgbClr val="0F62FE"/>
                </a:solidFill>
                <a:latin typeface="IBM Plex Sans"/>
              </a:rPr>
              <a:t>IBM ENVIZI</a:t>
            </a:r>
          </a:p>
        </p:txBody>
      </p:sp>
      <p:sp>
        <p:nvSpPr>
          <p:cNvPr id="3" name="TextBox 4">
            <a:extLst>
              <a:ext uri="{FF2B5EF4-FFF2-40B4-BE49-F238E27FC236}">
                <a16:creationId xmlns:a16="http://schemas.microsoft.com/office/drawing/2014/main" id="{8CDF11D0-1C53-0547-9873-8FB7E1E39671}"/>
              </a:ext>
            </a:extLst>
          </p:cNvPr>
          <p:cNvSpPr txBox="1"/>
          <p:nvPr/>
        </p:nvSpPr>
        <p:spPr>
          <a:xfrm>
            <a:off x="640791" y="1280440"/>
            <a:ext cx="6217110" cy="603112"/>
          </a:xfrm>
          <a:prstGeom prst="rect">
            <a:avLst/>
          </a:prstGeom>
          <a:noFill/>
        </p:spPr>
        <p:txBody>
          <a:bodyPr wrap="square" lIns="18286" tIns="9143" rIns="18286" bIns="9143">
            <a:spAutoFit/>
          </a:bodyPr>
          <a:lstStyle/>
          <a:p>
            <a:pPr defTabSz="457109">
              <a:defRPr/>
            </a:pPr>
            <a:r>
              <a:rPr sz="3799" b="1" dirty="0">
                <a:solidFill>
                  <a:srgbClr val="11233F"/>
                </a:solidFill>
                <a:latin typeface="IBM Plex Sans"/>
              </a:rPr>
              <a:t>Thank you</a:t>
            </a:r>
          </a:p>
        </p:txBody>
      </p:sp>
      <p:sp>
        <p:nvSpPr>
          <p:cNvPr id="4" name="Rectangle 5">
            <a:extLst>
              <a:ext uri="{FF2B5EF4-FFF2-40B4-BE49-F238E27FC236}">
                <a16:creationId xmlns:a16="http://schemas.microsoft.com/office/drawing/2014/main" id="{46CC8070-723C-29F9-6B8C-870A277CC8CE}"/>
              </a:ext>
            </a:extLst>
          </p:cNvPr>
          <p:cNvSpPr/>
          <p:nvPr/>
        </p:nvSpPr>
        <p:spPr>
          <a:xfrm>
            <a:off x="640790" y="2085006"/>
            <a:ext cx="1005709" cy="54857"/>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109">
              <a:defRPr/>
            </a:pPr>
            <a:endParaRPr sz="900">
              <a:solidFill>
                <a:prstClr val="white"/>
              </a:solidFill>
              <a:latin typeface="Calibri"/>
            </a:endParaRPr>
          </a:p>
        </p:txBody>
      </p:sp>
      <p:sp>
        <p:nvSpPr>
          <p:cNvPr id="6" name="TextBox 6">
            <a:extLst>
              <a:ext uri="{FF2B5EF4-FFF2-40B4-BE49-F238E27FC236}">
                <a16:creationId xmlns:a16="http://schemas.microsoft.com/office/drawing/2014/main" id="{C5511781-77E8-AB51-35E5-D1D2C2451BA2}"/>
              </a:ext>
            </a:extLst>
          </p:cNvPr>
          <p:cNvSpPr txBox="1"/>
          <p:nvPr/>
        </p:nvSpPr>
        <p:spPr>
          <a:xfrm>
            <a:off x="640790" y="2423292"/>
            <a:ext cx="5897112" cy="541685"/>
          </a:xfrm>
          <a:prstGeom prst="rect">
            <a:avLst/>
          </a:prstGeom>
          <a:noFill/>
        </p:spPr>
        <p:txBody>
          <a:bodyPr wrap="square" lIns="18286" tIns="9143" rIns="18286" bIns="9143">
            <a:spAutoFit/>
          </a:bodyPr>
          <a:lstStyle/>
          <a:p>
            <a:pPr defTabSz="457109">
              <a:defRPr/>
            </a:pPr>
            <a:r>
              <a:rPr sz="1700">
                <a:solidFill>
                  <a:srgbClr val="5B687A"/>
                </a:solidFill>
                <a:latin typeface="IBM Plex Sans"/>
              </a:rPr>
              <a:t>Sustainability data that supports reporting, decisions and business value.</a:t>
            </a:r>
          </a:p>
        </p:txBody>
      </p:sp>
      <p:sp>
        <p:nvSpPr>
          <p:cNvPr id="9" name="TextBox 7">
            <a:extLst>
              <a:ext uri="{FF2B5EF4-FFF2-40B4-BE49-F238E27FC236}">
                <a16:creationId xmlns:a16="http://schemas.microsoft.com/office/drawing/2014/main" id="{8CE9F074-FDBC-705B-960A-8459F4BC17DE}"/>
              </a:ext>
            </a:extLst>
          </p:cNvPr>
          <p:cNvSpPr txBox="1"/>
          <p:nvPr/>
        </p:nvSpPr>
        <p:spPr>
          <a:xfrm>
            <a:off x="640791" y="3822140"/>
            <a:ext cx="4205692" cy="264686"/>
          </a:xfrm>
          <a:prstGeom prst="rect">
            <a:avLst/>
          </a:prstGeom>
          <a:noFill/>
        </p:spPr>
        <p:txBody>
          <a:bodyPr wrap="square" lIns="18286" tIns="9143" rIns="18286" bIns="9143">
            <a:spAutoFit/>
          </a:bodyPr>
          <a:lstStyle/>
          <a:p>
            <a:pPr defTabSz="457109">
              <a:defRPr/>
            </a:pPr>
            <a:r>
              <a:rPr sz="1600" b="1" dirty="0">
                <a:solidFill>
                  <a:srgbClr val="11233F"/>
                </a:solidFill>
                <a:latin typeface="IBM Plex Sans"/>
              </a:rPr>
              <a:t>Felice Petrignano</a:t>
            </a:r>
          </a:p>
        </p:txBody>
      </p:sp>
      <p:sp>
        <p:nvSpPr>
          <p:cNvPr id="10" name="TextBox 8">
            <a:extLst>
              <a:ext uri="{FF2B5EF4-FFF2-40B4-BE49-F238E27FC236}">
                <a16:creationId xmlns:a16="http://schemas.microsoft.com/office/drawing/2014/main" id="{434EFB8C-0790-AAB3-DB53-C9B2F350C225}"/>
              </a:ext>
            </a:extLst>
          </p:cNvPr>
          <p:cNvSpPr txBox="1"/>
          <p:nvPr/>
        </p:nvSpPr>
        <p:spPr>
          <a:xfrm>
            <a:off x="640790" y="4206139"/>
            <a:ext cx="5119973" cy="233908"/>
          </a:xfrm>
          <a:prstGeom prst="rect">
            <a:avLst/>
          </a:prstGeom>
          <a:noFill/>
        </p:spPr>
        <p:txBody>
          <a:bodyPr wrap="square" lIns="18286" tIns="9143" rIns="18286" bIns="9143">
            <a:spAutoFit/>
          </a:bodyPr>
          <a:lstStyle/>
          <a:p>
            <a:pPr defTabSz="457109">
              <a:defRPr/>
            </a:pPr>
            <a:r>
              <a:rPr sz="1400">
                <a:solidFill>
                  <a:srgbClr val="1F252E"/>
                </a:solidFill>
                <a:latin typeface="IBM Plex Sans"/>
              </a:rPr>
              <a:t>Senior Technology Specialist</a:t>
            </a:r>
          </a:p>
        </p:txBody>
      </p:sp>
      <p:sp>
        <p:nvSpPr>
          <p:cNvPr id="11" name="TextBox 9">
            <a:extLst>
              <a:ext uri="{FF2B5EF4-FFF2-40B4-BE49-F238E27FC236}">
                <a16:creationId xmlns:a16="http://schemas.microsoft.com/office/drawing/2014/main" id="{6BEDC525-C44E-79D2-F7A4-4D024636405B}"/>
              </a:ext>
            </a:extLst>
          </p:cNvPr>
          <p:cNvSpPr txBox="1"/>
          <p:nvPr/>
        </p:nvSpPr>
        <p:spPr>
          <a:xfrm>
            <a:off x="640790" y="4516995"/>
            <a:ext cx="5302830" cy="233908"/>
          </a:xfrm>
          <a:prstGeom prst="rect">
            <a:avLst/>
          </a:prstGeom>
          <a:noFill/>
        </p:spPr>
        <p:txBody>
          <a:bodyPr wrap="square" lIns="18286" tIns="9143" rIns="18286" bIns="9143">
            <a:spAutoFit/>
          </a:bodyPr>
          <a:lstStyle/>
          <a:p>
            <a:pPr defTabSz="457109">
              <a:defRPr/>
            </a:pPr>
            <a:r>
              <a:rPr sz="1400">
                <a:solidFill>
                  <a:srgbClr val="1F252E"/>
                </a:solidFill>
                <a:latin typeface="IBM Plex Sans"/>
              </a:rPr>
              <a:t>IBM Italy</a:t>
            </a:r>
          </a:p>
        </p:txBody>
      </p:sp>
      <p:sp>
        <p:nvSpPr>
          <p:cNvPr id="12" name="TextBox 10">
            <a:extLst>
              <a:ext uri="{FF2B5EF4-FFF2-40B4-BE49-F238E27FC236}">
                <a16:creationId xmlns:a16="http://schemas.microsoft.com/office/drawing/2014/main" id="{F621139D-38E0-2953-A093-2FC128265975}"/>
              </a:ext>
            </a:extLst>
          </p:cNvPr>
          <p:cNvSpPr txBox="1"/>
          <p:nvPr/>
        </p:nvSpPr>
        <p:spPr>
          <a:xfrm>
            <a:off x="640790" y="5047278"/>
            <a:ext cx="5302830" cy="233908"/>
          </a:xfrm>
          <a:prstGeom prst="rect">
            <a:avLst/>
          </a:prstGeom>
          <a:noFill/>
        </p:spPr>
        <p:txBody>
          <a:bodyPr wrap="square" lIns="18286" tIns="9143" rIns="18286" bIns="9143">
            <a:spAutoFit/>
          </a:bodyPr>
          <a:lstStyle/>
          <a:p>
            <a:pPr defTabSz="457109">
              <a:defRPr/>
            </a:pPr>
            <a:r>
              <a:rPr sz="1400" b="1" dirty="0" err="1">
                <a:solidFill>
                  <a:srgbClr val="0F62FE"/>
                </a:solidFill>
                <a:latin typeface="IBM Plex Sans"/>
              </a:rPr>
              <a:t>linkedin.com</a:t>
            </a:r>
            <a:r>
              <a:rPr sz="1400" b="1" dirty="0">
                <a:solidFill>
                  <a:srgbClr val="0F62FE"/>
                </a:solidFill>
                <a:latin typeface="IBM Plex Sans"/>
              </a:rPr>
              <a:t>/in/</a:t>
            </a:r>
            <a:r>
              <a:rPr sz="1400" b="1" dirty="0" err="1">
                <a:solidFill>
                  <a:srgbClr val="0F62FE"/>
                </a:solidFill>
                <a:latin typeface="IBM Plex Sans"/>
              </a:rPr>
              <a:t>fpetrignano</a:t>
            </a:r>
            <a:endParaRPr sz="1400" b="1" dirty="0">
              <a:solidFill>
                <a:srgbClr val="0F62FE"/>
              </a:solidFill>
              <a:latin typeface="IBM Plex Sans"/>
            </a:endParaRPr>
          </a:p>
        </p:txBody>
      </p:sp>
      <p:sp>
        <p:nvSpPr>
          <p:cNvPr id="13" name="Rectangle 11">
            <a:extLst>
              <a:ext uri="{FF2B5EF4-FFF2-40B4-BE49-F238E27FC236}">
                <a16:creationId xmlns:a16="http://schemas.microsoft.com/office/drawing/2014/main" id="{306529D3-89C5-8762-7A9F-5369BAAECD79}"/>
              </a:ext>
            </a:extLst>
          </p:cNvPr>
          <p:cNvSpPr/>
          <p:nvPr/>
        </p:nvSpPr>
        <p:spPr>
          <a:xfrm>
            <a:off x="7635040" y="640443"/>
            <a:ext cx="3794266" cy="5439972"/>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109">
              <a:defRPr/>
            </a:pPr>
            <a:endParaRPr sz="900">
              <a:solidFill>
                <a:prstClr val="white"/>
              </a:solidFill>
              <a:latin typeface="Calibri"/>
            </a:endParaRPr>
          </a:p>
        </p:txBody>
      </p:sp>
      <p:sp>
        <p:nvSpPr>
          <p:cNvPr id="14" name="TextBox 12">
            <a:extLst>
              <a:ext uri="{FF2B5EF4-FFF2-40B4-BE49-F238E27FC236}">
                <a16:creationId xmlns:a16="http://schemas.microsoft.com/office/drawing/2014/main" id="{9DED0332-C7E5-AB26-11BC-B0241C7CD2B4}"/>
              </a:ext>
            </a:extLst>
          </p:cNvPr>
          <p:cNvSpPr txBox="1"/>
          <p:nvPr/>
        </p:nvSpPr>
        <p:spPr>
          <a:xfrm>
            <a:off x="8000752" y="1079298"/>
            <a:ext cx="3062841" cy="233908"/>
          </a:xfrm>
          <a:prstGeom prst="rect">
            <a:avLst/>
          </a:prstGeom>
          <a:noFill/>
        </p:spPr>
        <p:txBody>
          <a:bodyPr wrap="square" lIns="18286" tIns="9143" rIns="18286" bIns="9143">
            <a:spAutoFit/>
          </a:bodyPr>
          <a:lstStyle/>
          <a:p>
            <a:pPr algn="ctr" defTabSz="457109">
              <a:defRPr/>
            </a:pPr>
            <a:r>
              <a:rPr sz="1400" b="1">
                <a:solidFill>
                  <a:srgbClr val="0F62FE"/>
                </a:solidFill>
                <a:latin typeface="IBM Plex Sans"/>
              </a:rPr>
              <a:t>LET’S CONNECT</a:t>
            </a:r>
          </a:p>
        </p:txBody>
      </p:sp>
      <p:pic>
        <p:nvPicPr>
          <p:cNvPr id="15" name="Picture 13" descr="linkedin_qr_original.png">
            <a:extLst>
              <a:ext uri="{FF2B5EF4-FFF2-40B4-BE49-F238E27FC236}">
                <a16:creationId xmlns:a16="http://schemas.microsoft.com/office/drawing/2014/main" id="{5488A219-564D-1AA5-DC0B-80CAF2A9B24A}"/>
              </a:ext>
            </a:extLst>
          </p:cNvPr>
          <p:cNvPicPr>
            <a:picLocks noChangeAspect="1"/>
          </p:cNvPicPr>
          <p:nvPr/>
        </p:nvPicPr>
        <p:blipFill>
          <a:blip r:embed="rId2"/>
          <a:stretch>
            <a:fillRect/>
          </a:stretch>
        </p:blipFill>
        <p:spPr>
          <a:xfrm>
            <a:off x="8267453" y="1600438"/>
            <a:ext cx="2529438" cy="3154269"/>
          </a:xfrm>
          <a:prstGeom prst="rect">
            <a:avLst/>
          </a:prstGeom>
        </p:spPr>
      </p:pic>
      <p:sp>
        <p:nvSpPr>
          <p:cNvPr id="16" name="TextBox 14">
            <a:extLst>
              <a:ext uri="{FF2B5EF4-FFF2-40B4-BE49-F238E27FC236}">
                <a16:creationId xmlns:a16="http://schemas.microsoft.com/office/drawing/2014/main" id="{D4866AE4-DC69-6812-12BF-9F23A0B9733F}"/>
              </a:ext>
            </a:extLst>
          </p:cNvPr>
          <p:cNvSpPr txBox="1"/>
          <p:nvPr/>
        </p:nvSpPr>
        <p:spPr>
          <a:xfrm>
            <a:off x="8000752" y="5074706"/>
            <a:ext cx="3062841" cy="449352"/>
          </a:xfrm>
          <a:prstGeom prst="rect">
            <a:avLst/>
          </a:prstGeom>
          <a:noFill/>
        </p:spPr>
        <p:txBody>
          <a:bodyPr wrap="square" lIns="18286" tIns="9143" rIns="18286" bIns="9143">
            <a:spAutoFit/>
          </a:bodyPr>
          <a:lstStyle/>
          <a:p>
            <a:pPr algn="ctr" defTabSz="457109">
              <a:defRPr/>
            </a:pPr>
            <a:r>
              <a:rPr sz="1400" b="1">
                <a:solidFill>
                  <a:srgbClr val="11233F"/>
                </a:solidFill>
                <a:latin typeface="IBM Plex Sans"/>
              </a:rPr>
              <a:t>Scan the QR code to connect on LinkedIn</a:t>
            </a:r>
          </a:p>
        </p:txBody>
      </p:sp>
    </p:spTree>
    <p:extLst>
      <p:ext uri="{BB962C8B-B14F-4D97-AF65-F5344CB8AC3E}">
        <p14:creationId xmlns:p14="http://schemas.microsoft.com/office/powerpoint/2010/main" val="22844632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tangolo 2">
            <a:extLst>
              <a:ext uri="{FF2B5EF4-FFF2-40B4-BE49-F238E27FC236}">
                <a16:creationId xmlns:a16="http://schemas.microsoft.com/office/drawing/2014/main" id="{E5692321-2990-921A-697F-F435F6803838}"/>
              </a:ext>
            </a:extLst>
          </p:cNvPr>
          <p:cNvSpPr/>
          <p:nvPr/>
        </p:nvSpPr>
        <p:spPr>
          <a:xfrm>
            <a:off x="9062133" y="176831"/>
            <a:ext cx="3029167" cy="267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36571" tIns="0" rIns="36571" bIns="0" rtlCol="0" anchor="ctr">
            <a:noAutofit/>
          </a:bodyPr>
          <a:lstStyle/>
          <a:p>
            <a:pPr algn="ctr" defTabSz="914217">
              <a:defRPr/>
            </a:pPr>
            <a:r>
              <a:rPr sz="1600" b="1">
                <a:solidFill>
                  <a:srgbClr val="FFFFFF"/>
                </a:solidFill>
                <a:latin typeface="Calibri"/>
                <a:cs typeface="Calibri"/>
              </a:rPr>
              <a:t>IBM Envizi</a:t>
            </a:r>
            <a:endParaRPr lang="it-IT" sz="900">
              <a:solidFill>
                <a:srgbClr val="FFFFFF"/>
              </a:solidFill>
              <a:latin typeface="Calibri"/>
              <a:cs typeface="Calibri"/>
            </a:endParaRPr>
          </a:p>
        </p:txBody>
      </p:sp>
      <p:sp>
        <p:nvSpPr>
          <p:cNvPr id="3" name="Linea verde titolo">
            <a:extLst>
              <a:ext uri="{FF2B5EF4-FFF2-40B4-BE49-F238E27FC236}">
                <a16:creationId xmlns:a16="http://schemas.microsoft.com/office/drawing/2014/main" id="{A6678BFC-6560-E5C2-2666-C334E1932CBD}"/>
              </a:ext>
            </a:extLst>
          </p:cNvPr>
          <p:cNvSpPr/>
          <p:nvPr/>
        </p:nvSpPr>
        <p:spPr>
          <a:xfrm>
            <a:off x="640790" y="274731"/>
            <a:ext cx="1005709" cy="73142"/>
          </a:xfrm>
          <a:prstGeom prst="rect">
            <a:avLst/>
          </a:prstGeom>
          <a:solidFill>
            <a:srgbClr val="4EA72E"/>
          </a:solidFill>
          <a:ln>
            <a:noFill/>
          </a:ln>
        </p:spPr>
        <p:txBody>
          <a:bodyPr/>
          <a:lstStyle/>
          <a:p>
            <a:pPr defTabSz="914217">
              <a:defRPr/>
            </a:pPr>
            <a:endParaRPr lang="it-IT" sz="900">
              <a:solidFill>
                <a:srgbClr val="000000"/>
              </a:solidFill>
              <a:latin typeface="Calibri"/>
              <a:cs typeface="Calibri"/>
            </a:endParaRPr>
          </a:p>
        </p:txBody>
      </p:sp>
      <p:sp>
        <p:nvSpPr>
          <p:cNvPr id="4" name="TextBox 1"/>
          <p:cNvSpPr txBox="1"/>
          <p:nvPr/>
        </p:nvSpPr>
        <p:spPr>
          <a:xfrm>
            <a:off x="640790" y="457587"/>
            <a:ext cx="10907372" cy="369284"/>
          </a:xfrm>
          <a:prstGeom prst="rect">
            <a:avLst/>
          </a:prstGeom>
          <a:noFill/>
        </p:spPr>
        <p:txBody>
          <a:bodyPr wrap="square" lIns="36571" tIns="0" rIns="36571" bIns="0" anchor="t">
            <a:noAutofit/>
          </a:bodyPr>
          <a:lstStyle/>
          <a:p>
            <a:pPr defTabSz="914217">
              <a:defRPr sz="2400" b="1">
                <a:solidFill>
                  <a:srgbClr val="073E31"/>
                </a:solidFill>
                <a:latin typeface="Calibri"/>
              </a:defRPr>
            </a:pPr>
            <a:r>
              <a:rPr lang="it-IT" sz="2400" b="1">
                <a:solidFill>
                  <a:srgbClr val="073E31"/>
                </a:solidFill>
                <a:latin typeface="Calibri"/>
                <a:cs typeface="Calibri"/>
              </a:rPr>
              <a:t>Riferimenti ufficiali</a:t>
            </a:r>
            <a:r>
              <a:rPr sz="2400" b="1">
                <a:solidFill>
                  <a:srgbClr val="073E31"/>
                </a:solidFill>
                <a:latin typeface="Calibri"/>
                <a:cs typeface="Calibri"/>
              </a:rPr>
              <a:t> IBM</a:t>
            </a:r>
          </a:p>
        </p:txBody>
      </p:sp>
      <p:sp>
        <p:nvSpPr>
          <p:cNvPr id="5" name="TextBox 4"/>
          <p:cNvSpPr txBox="1"/>
          <p:nvPr/>
        </p:nvSpPr>
        <p:spPr>
          <a:xfrm>
            <a:off x="640790" y="1509010"/>
            <a:ext cx="5074259" cy="323165"/>
          </a:xfrm>
          <a:prstGeom prst="rect">
            <a:avLst/>
          </a:prstGeom>
          <a:noFill/>
        </p:spPr>
        <p:txBody>
          <a:bodyPr wrap="square" lIns="0" tIns="0" rIns="0" bIns="0">
            <a:spAutoFit/>
          </a:bodyPr>
          <a:lstStyle/>
          <a:p>
            <a:r>
              <a:rPr lang="it-IT" sz="2100" u="sng">
                <a:solidFill>
                  <a:srgbClr val="144D40"/>
                </a:solidFill>
                <a:latin typeface="Calibri"/>
                <a:hlinkClick r:id="rId3"/>
              </a:rPr>
              <a:t>Utility Bill Analytics</a:t>
            </a:r>
          </a:p>
        </p:txBody>
      </p:sp>
      <p:sp>
        <p:nvSpPr>
          <p:cNvPr id="6" name="TextBox 5"/>
          <p:cNvSpPr txBox="1"/>
          <p:nvPr/>
        </p:nvSpPr>
        <p:spPr>
          <a:xfrm>
            <a:off x="640790" y="1984436"/>
            <a:ext cx="5074259" cy="261610"/>
          </a:xfrm>
          <a:prstGeom prst="rect">
            <a:avLst/>
          </a:prstGeom>
          <a:noFill/>
        </p:spPr>
        <p:txBody>
          <a:bodyPr wrap="square" lIns="0" tIns="0" rIns="0" bIns="0">
            <a:spAutoFit/>
          </a:bodyPr>
          <a:lstStyle/>
          <a:p>
            <a:r>
              <a:rPr lang="it-IT" sz="1700">
                <a:solidFill>
                  <a:srgbClr val="333333"/>
                </a:solidFill>
                <a:latin typeface="Calibri"/>
              </a:rPr>
              <a:t>Analisi di costi, consumi e anomalie delle utenze.</a:t>
            </a:r>
          </a:p>
        </p:txBody>
      </p:sp>
      <p:sp>
        <p:nvSpPr>
          <p:cNvPr id="7" name="TextBox 6"/>
          <p:cNvSpPr txBox="1"/>
          <p:nvPr/>
        </p:nvSpPr>
        <p:spPr>
          <a:xfrm>
            <a:off x="640790" y="2752433"/>
            <a:ext cx="5074259" cy="323165"/>
          </a:xfrm>
          <a:prstGeom prst="rect">
            <a:avLst/>
          </a:prstGeom>
          <a:noFill/>
        </p:spPr>
        <p:txBody>
          <a:bodyPr wrap="square" lIns="0" tIns="0" rIns="0" bIns="0">
            <a:spAutoFit/>
          </a:bodyPr>
          <a:lstStyle/>
          <a:p>
            <a:r>
              <a:rPr lang="it-IT" sz="2100" u="sng">
                <a:solidFill>
                  <a:srgbClr val="144D40"/>
                </a:solidFill>
                <a:latin typeface="Calibri"/>
                <a:hlinkClick r:id="rId4"/>
              </a:rPr>
              <a:t>Report e controlli sulle bollette</a:t>
            </a:r>
          </a:p>
        </p:txBody>
      </p:sp>
      <p:sp>
        <p:nvSpPr>
          <p:cNvPr id="8" name="TextBox 7"/>
          <p:cNvSpPr txBox="1"/>
          <p:nvPr/>
        </p:nvSpPr>
        <p:spPr>
          <a:xfrm>
            <a:off x="640790" y="3227858"/>
            <a:ext cx="5074259" cy="261610"/>
          </a:xfrm>
          <a:prstGeom prst="rect">
            <a:avLst/>
          </a:prstGeom>
          <a:noFill/>
        </p:spPr>
        <p:txBody>
          <a:bodyPr wrap="square" lIns="0" tIns="0" rIns="0" bIns="0">
            <a:spAutoFit/>
          </a:bodyPr>
          <a:lstStyle/>
          <a:p>
            <a:r>
              <a:rPr lang="it-IT" sz="1700">
                <a:solidFill>
                  <a:srgbClr val="333333"/>
                </a:solidFill>
                <a:latin typeface="Calibri"/>
              </a:rPr>
              <a:t>Scostamenti, lacune e sovrapposizioni nei dati.</a:t>
            </a:r>
          </a:p>
        </p:txBody>
      </p:sp>
      <p:sp>
        <p:nvSpPr>
          <p:cNvPr id="9" name="TextBox 8"/>
          <p:cNvSpPr txBox="1"/>
          <p:nvPr/>
        </p:nvSpPr>
        <p:spPr>
          <a:xfrm>
            <a:off x="640790" y="3995855"/>
            <a:ext cx="5074259" cy="323165"/>
          </a:xfrm>
          <a:prstGeom prst="rect">
            <a:avLst/>
          </a:prstGeom>
          <a:noFill/>
        </p:spPr>
        <p:txBody>
          <a:bodyPr wrap="square" lIns="0" tIns="0" rIns="0" bIns="0">
            <a:spAutoFit/>
          </a:bodyPr>
          <a:lstStyle/>
          <a:p>
            <a:r>
              <a:rPr lang="it-IT" sz="2100" u="sng">
                <a:solidFill>
                  <a:srgbClr val="144D40"/>
                </a:solidFill>
                <a:latin typeface="Calibri"/>
                <a:hlinkClick r:id="rId5"/>
              </a:rPr>
              <a:t>Interval Metering Analytics</a:t>
            </a:r>
          </a:p>
        </p:txBody>
      </p:sp>
      <p:sp>
        <p:nvSpPr>
          <p:cNvPr id="10" name="TextBox 9"/>
          <p:cNvSpPr txBox="1"/>
          <p:nvPr/>
        </p:nvSpPr>
        <p:spPr>
          <a:xfrm>
            <a:off x="640790" y="4471280"/>
            <a:ext cx="5074259" cy="261610"/>
          </a:xfrm>
          <a:prstGeom prst="rect">
            <a:avLst/>
          </a:prstGeom>
          <a:noFill/>
        </p:spPr>
        <p:txBody>
          <a:bodyPr wrap="square" lIns="0" tIns="0" rIns="0" bIns="0">
            <a:spAutoFit/>
          </a:bodyPr>
          <a:lstStyle/>
          <a:p>
            <a:r>
              <a:rPr lang="it-IT" sz="1700">
                <a:solidFill>
                  <a:srgbClr val="333333"/>
                </a:solidFill>
                <a:latin typeface="Calibri"/>
              </a:rPr>
              <a:t>Dati a intervalli, contatori e viste di dettaglio.</a:t>
            </a:r>
          </a:p>
        </p:txBody>
      </p:sp>
      <p:sp>
        <p:nvSpPr>
          <p:cNvPr id="11" name="TextBox 10"/>
          <p:cNvSpPr txBox="1"/>
          <p:nvPr/>
        </p:nvSpPr>
        <p:spPr>
          <a:xfrm>
            <a:off x="6217904" y="1509010"/>
            <a:ext cx="5074259" cy="323165"/>
          </a:xfrm>
          <a:prstGeom prst="rect">
            <a:avLst/>
          </a:prstGeom>
          <a:noFill/>
        </p:spPr>
        <p:txBody>
          <a:bodyPr wrap="square" lIns="0" tIns="0" rIns="0" bIns="0">
            <a:spAutoFit/>
          </a:bodyPr>
          <a:lstStyle/>
          <a:p>
            <a:r>
              <a:rPr lang="it-IT" sz="2100" u="sng">
                <a:solidFill>
                  <a:srgbClr val="144D40"/>
                </a:solidFill>
                <a:latin typeface="Calibri"/>
                <a:hlinkClick r:id="rId6"/>
              </a:rPr>
              <a:t>Benchmark e contatori virtuali</a:t>
            </a:r>
          </a:p>
        </p:txBody>
      </p:sp>
      <p:sp>
        <p:nvSpPr>
          <p:cNvPr id="12" name="TextBox 11"/>
          <p:cNvSpPr txBox="1"/>
          <p:nvPr/>
        </p:nvSpPr>
        <p:spPr>
          <a:xfrm>
            <a:off x="6217904" y="1984436"/>
            <a:ext cx="5074259" cy="261610"/>
          </a:xfrm>
          <a:prstGeom prst="rect">
            <a:avLst/>
          </a:prstGeom>
          <a:noFill/>
        </p:spPr>
        <p:txBody>
          <a:bodyPr wrap="square" lIns="0" tIns="0" rIns="0" bIns="0">
            <a:spAutoFit/>
          </a:bodyPr>
          <a:lstStyle/>
          <a:p>
            <a:r>
              <a:rPr lang="it-IT" sz="1700">
                <a:solidFill>
                  <a:srgbClr val="333333"/>
                </a:solidFill>
                <a:latin typeface="Calibri"/>
              </a:rPr>
              <a:t>Intensità normalizzate e modellazione dei carichi.</a:t>
            </a:r>
          </a:p>
        </p:txBody>
      </p:sp>
      <p:sp>
        <p:nvSpPr>
          <p:cNvPr id="13" name="TextBox 12"/>
          <p:cNvSpPr txBox="1"/>
          <p:nvPr/>
        </p:nvSpPr>
        <p:spPr>
          <a:xfrm>
            <a:off x="6217904" y="2752433"/>
            <a:ext cx="5074259" cy="323165"/>
          </a:xfrm>
          <a:prstGeom prst="rect">
            <a:avLst/>
          </a:prstGeom>
          <a:noFill/>
        </p:spPr>
        <p:txBody>
          <a:bodyPr wrap="square" lIns="0" tIns="0" rIns="0" bIns="0">
            <a:spAutoFit/>
          </a:bodyPr>
          <a:lstStyle/>
          <a:p>
            <a:r>
              <a:rPr lang="it-IT" sz="2100" u="sng">
                <a:solidFill>
                  <a:srgbClr val="144D40"/>
                </a:solidFill>
                <a:latin typeface="Calibri"/>
                <a:hlinkClick r:id="rId7"/>
              </a:rPr>
              <a:t>Regole, alert e issue dei contatori</a:t>
            </a:r>
          </a:p>
        </p:txBody>
      </p:sp>
      <p:sp>
        <p:nvSpPr>
          <p:cNvPr id="14" name="TextBox 13"/>
          <p:cNvSpPr txBox="1"/>
          <p:nvPr/>
        </p:nvSpPr>
        <p:spPr>
          <a:xfrm>
            <a:off x="6217904" y="3227858"/>
            <a:ext cx="5074259" cy="261610"/>
          </a:xfrm>
          <a:prstGeom prst="rect">
            <a:avLst/>
          </a:prstGeom>
          <a:noFill/>
        </p:spPr>
        <p:txBody>
          <a:bodyPr wrap="square" lIns="0" tIns="0" rIns="0" bIns="0">
            <a:spAutoFit/>
          </a:bodyPr>
          <a:lstStyle/>
          <a:p>
            <a:r>
              <a:rPr lang="it-IT" sz="1700">
                <a:solidFill>
                  <a:srgbClr val="333333"/>
                </a:solidFill>
                <a:latin typeface="Calibri"/>
              </a:rPr>
              <a:t>Condizioni, assegnazioni e notifiche configurabili.</a:t>
            </a:r>
          </a:p>
        </p:txBody>
      </p:sp>
      <p:sp>
        <p:nvSpPr>
          <p:cNvPr id="15" name="TextBox 14"/>
          <p:cNvSpPr txBox="1"/>
          <p:nvPr/>
        </p:nvSpPr>
        <p:spPr>
          <a:xfrm>
            <a:off x="6217904" y="3995855"/>
            <a:ext cx="5074259" cy="323165"/>
          </a:xfrm>
          <a:prstGeom prst="rect">
            <a:avLst/>
          </a:prstGeom>
          <a:noFill/>
        </p:spPr>
        <p:txBody>
          <a:bodyPr wrap="square" lIns="0" tIns="0" rIns="0" bIns="0">
            <a:spAutoFit/>
          </a:bodyPr>
          <a:lstStyle/>
          <a:p>
            <a:r>
              <a:rPr lang="it-IT" sz="2100" u="sng">
                <a:solidFill>
                  <a:srgbClr val="144D40"/>
                </a:solidFill>
                <a:latin typeface="Calibri"/>
                <a:hlinkClick r:id="rId8"/>
              </a:rPr>
              <a:t>Alert di inattività degli account</a:t>
            </a:r>
          </a:p>
        </p:txBody>
      </p:sp>
      <p:sp>
        <p:nvSpPr>
          <p:cNvPr id="16" name="TextBox 15"/>
          <p:cNvSpPr txBox="1"/>
          <p:nvPr/>
        </p:nvSpPr>
        <p:spPr>
          <a:xfrm>
            <a:off x="6217904" y="4471280"/>
            <a:ext cx="5074259" cy="261610"/>
          </a:xfrm>
          <a:prstGeom prst="rect">
            <a:avLst/>
          </a:prstGeom>
          <a:noFill/>
        </p:spPr>
        <p:txBody>
          <a:bodyPr wrap="square" lIns="0" tIns="0" rIns="0" bIns="0">
            <a:spAutoFit/>
          </a:bodyPr>
          <a:lstStyle/>
          <a:p>
            <a:r>
              <a:rPr lang="it-IT" sz="1700">
                <a:solidFill>
                  <a:srgbClr val="333333"/>
                </a:solidFill>
                <a:latin typeface="Calibri"/>
              </a:rPr>
              <a:t>Segnalazioni quando mancano i dati attesi.</a:t>
            </a:r>
          </a:p>
        </p:txBody>
      </p:sp>
      <p:sp>
        <p:nvSpPr>
          <p:cNvPr id="17" name="TextBox 16"/>
          <p:cNvSpPr txBox="1"/>
          <p:nvPr/>
        </p:nvSpPr>
        <p:spPr>
          <a:xfrm>
            <a:off x="640790" y="5650703"/>
            <a:ext cx="10907372" cy="230832"/>
          </a:xfrm>
          <a:prstGeom prst="rect">
            <a:avLst/>
          </a:prstGeom>
          <a:noFill/>
        </p:spPr>
        <p:txBody>
          <a:bodyPr wrap="square" lIns="0" tIns="0" rIns="0" bIns="0">
            <a:spAutoFit/>
          </a:bodyPr>
          <a:lstStyle/>
          <a:p>
            <a:r>
              <a:rPr lang="it-IT" sz="1500">
                <a:solidFill>
                  <a:srgbClr val="333333"/>
                </a:solidFill>
                <a:latin typeface="Calibri"/>
              </a:rPr>
              <a:t>Documentazione IBM in inglese. Consultazione: 9 ottobre 2026.</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1484007"/>
      </p:ext>
    </p:extLst>
  </p:cSld>
  <p:clrMapOvr>
    <a:masterClrMapping/>
  </p:clrMapOvr>
  <p:transition spd="med"/>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10645</Words>
  <Application>Microsoft Macintosh PowerPoint</Application>
  <PresentationFormat>Widescreen</PresentationFormat>
  <Paragraphs>995</Paragraphs>
  <Slides>52</Slides>
  <Notes>36</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52</vt:i4>
      </vt:variant>
    </vt:vector>
  </HeadingPairs>
  <TitlesOfParts>
    <vt:vector size="61" baseType="lpstr">
      <vt:lpstr>Yu Mincho</vt:lpstr>
      <vt:lpstr>Aptos</vt:lpstr>
      <vt:lpstr>Aptos Display</vt:lpstr>
      <vt:lpstr>Arial</vt:lpstr>
      <vt:lpstr>Calibri</vt:lpstr>
      <vt:lpstr>IBM Plex Sans</vt:lpstr>
      <vt:lpstr>IBM Plex Sans Light</vt:lpstr>
      <vt:lpstr>Times New Roman</vt:lpstr>
      <vt:lpstr>Tema di Office</vt:lpstr>
      <vt:lpstr>Presentazione standard di PowerPoint</vt:lpstr>
      <vt:lpstr>Presentazione standard di PowerPoint</vt:lpstr>
      <vt:lpstr>Performance dashboard  – Consumi di tutte le utenze</vt:lpstr>
      <vt:lpstr>Presentazione standard di PowerPoint</vt:lpstr>
      <vt:lpstr>Presentazione standard di PowerPoint</vt:lpstr>
      <vt:lpstr>Revisione dati -&gt; Dati contatori</vt:lpstr>
      <vt:lpstr>Report Billed vs Metered – Individuare le anomalie di fatturazione</vt:lpstr>
      <vt:lpstr>Presentazione standard di PowerPoint</vt:lpstr>
      <vt:lpstr>Presentazione standard di PowerPoint</vt:lpstr>
      <vt:lpstr>Presentazione standard di PowerPoint</vt:lpstr>
      <vt:lpstr>Meter Profile – Analisi del profilo di carico</vt:lpstr>
      <vt:lpstr>Presentazione standard di PowerPoint</vt:lpstr>
      <vt:lpstr>Presentazione standard di PowerPoint</vt:lpstr>
      <vt:lpstr>Presentazione standard di PowerPoint</vt:lpstr>
      <vt:lpstr>Presentazione standard di PowerPoint</vt:lpstr>
      <vt:lpstr>Consumption Profile – I driver dell'andamento dei consumi</vt:lpstr>
      <vt:lpstr>Profile Comparison – Giornate a confronto</vt:lpstr>
      <vt:lpstr>Maximum Demand – Controllo della potenza di picco</vt:lpstr>
      <vt:lpstr>Daily Performance – Consumi giornalieri e condizioni meteo</vt:lpstr>
      <vt:lpstr>Meter Reporting – Heat Map</vt:lpstr>
      <vt:lpstr>Regression Analysis – Baseline dei consumi</vt:lpstr>
      <vt:lpstr>Presentazione standard di PowerPoint</vt:lpstr>
      <vt:lpstr>Waste Report – Scostamento rispetto alla baseline</vt:lpstr>
      <vt:lpstr>Performance attesa senza modello di regressione</vt:lpstr>
      <vt:lpstr>Presentazione standard di PowerPoint</vt:lpstr>
      <vt:lpstr>Meter Reporting – Interval Chart Builder</vt:lpstr>
      <vt:lpstr>Presentazione standard di PowerPoint</vt:lpstr>
      <vt:lpstr>Meter Hierarchy e contatori virtuali</vt:lpstr>
      <vt:lpstr>Esempio Verifica dei risparmi dopo l'upgrade della caldaia</vt:lpstr>
      <vt:lpstr>Utility Performance Benchmarking</vt:lpstr>
      <vt:lpstr>Meter Utility Performance – Risparmi per fascia</vt:lpstr>
      <vt:lpstr>Regole di inattività – Allarmi sui dati mancanti</vt:lpstr>
      <vt:lpstr>Gestione di alert e issue</vt:lpstr>
      <vt:lpstr>Regole assolute – Soglie definite dall'utente</vt:lpstr>
      <vt:lpstr>Regole di scostamento (variance)</vt:lpstr>
      <vt:lpstr>Presentazione standard di PowerPoint</vt:lpstr>
      <vt:lpstr>Presentazione standard di PowerPoint</vt:lpstr>
      <vt:lpstr>Account Data Health Check</vt:lpstr>
      <vt:lpstr>Meter Data Health Check</vt:lpstr>
      <vt:lpstr>Accounts Incomplete Data</vt:lpstr>
      <vt:lpstr>Presentazione standard di PowerPoint</vt:lpstr>
      <vt:lpstr>Presentazione standard di PowerPoint</vt:lpstr>
      <vt:lpstr>API Energy Star e GRESB integrate in ENVIZI, insieme ai rating indicativi GRESB (Europa) NABERS (Australia)  </vt:lpstr>
      <vt:lpstr>Presentazione standard di PowerPoint</vt:lpstr>
      <vt:lpstr>Programs – Business case caldaia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Felice Petrignano</dc:creator>
  <cp:lastModifiedBy>Felice Petrignano</cp:lastModifiedBy>
  <cp:revision>18</cp:revision>
  <dcterms:created xsi:type="dcterms:W3CDTF">2026-10-09T13:31:22Z</dcterms:created>
  <dcterms:modified xsi:type="dcterms:W3CDTF">2026-10-14T09:50:19Z</dcterms:modified>
</cp:coreProperties>
</file>