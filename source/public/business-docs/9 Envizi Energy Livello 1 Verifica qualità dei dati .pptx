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635" r:id="rId2"/>
    <p:sldId id="2142533173" r:id="rId3"/>
    <p:sldId id="2142533084" r:id="rId4"/>
    <p:sldId id="2142533085" r:id="rId5"/>
    <p:sldId id="569" r:id="rId6"/>
    <p:sldId id="2142533174" r:id="rId7"/>
    <p:sldId id="2142533195" r:id="rId8"/>
    <p:sldId id="2142533092" r:id="rId9"/>
    <p:sldId id="2142533194" r:id="rId10"/>
    <p:sldId id="2142533097" r:id="rId11"/>
    <p:sldId id="2142533205" r:id="rId12"/>
    <p:sldId id="2142533212" r:id="rId13"/>
    <p:sldId id="2142533160" r:id="rId14"/>
    <p:sldId id="2142533210" r:id="rId15"/>
    <p:sldId id="2147472659" r:id="rId16"/>
    <p:sldId id="2147472660" r:id="rId17"/>
    <p:sldId id="560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164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https://www.ibm.com/docs/en/envizi-esg-suite?topic=modules-utility-bill-analytics</a:t>
            </a:r>
          </a:p>
          <a:p>
            <a:r>
              <a:rPr lang="it-IT"/>
              <a:t>https://www.ibm.com/docs/en/envizi-esg-suite?topic=reference-utility-bill-analytics</a:t>
            </a:r>
          </a:p>
          <a:p>
            <a:r>
              <a:rPr lang="it-IT"/>
              <a:t>https://www.ibm.com/docs/en/envizi-esg-suite?topic=modules-interval-metering-analytics</a:t>
            </a:r>
          </a:p>
          <a:p>
            <a:r>
              <a:rPr lang="it-IT"/>
              <a:t>https://www.ibm.com/products/envizi/interval-meter-analytics</a:t>
            </a:r>
          </a:p>
          <a:p>
            <a:r>
              <a:rPr lang="it-IT"/>
              <a:t>https://www.ibm.com/docs/en/envizi-esg-suite?topic=analytics-configuring-meter-alert-rules</a:t>
            </a:r>
          </a:p>
          <a:p>
            <a:r>
              <a:rPr lang="it-IT"/>
              <a:t>https://www.ibm.com/docs/en/envizi-esg-suite?topic=quality-account-inactivity-alerts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  <a:p>
            <a:r>
              <a:rPr lang="it-IT"/>
              <a:t>Alfago è un caso simulato, come specificato nel capitolo. I livelli 1–3 sono una struttura didattica della demo. La disponibilità dipende dai moduli e dalla configurazione. Le anomalie segnalano condizioni da indagare e non dimostrano automaticamente cause o risparmi. Gli alert di inattività sono disponibili anche per gli account secondo la documentazione IBM.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7FBA1-3036-4F19-9EDA-780676FF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FA16D-25BA-1661-F2D5-AA361909E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696C9-F5C3-AF39-8D73-C18AFD26A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How to run: Home Page – Power reports -&gt; Account data health check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Drill down to see accounts in arrears and follow up with internal stakeholders to get the data or close the accounts.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B2028-6157-41DC-196C-CCC962DF2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13526-295A-5F20-0436-FB40C10DD0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80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05703-461E-5597-E40D-C3B949B65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8D20A-4A20-F203-A9E5-3A6718145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36042-16E9-386A-8B7A-286C6EBC0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How to run: Home Page – Power reports -&gt; Meter  data health check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Drill down from Vide Details to see in Meters without data. 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Filters can be applied to filter data for a group and specified date range.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Report can be shared as pdf to other stakeholders.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F2A01-55C8-FDC9-7E44-3866FCA22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EF7F-018C-ADD9-E577-17895EBF9B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741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the report from Global search in top middle screen and select Report on search field -&gt; Type -&gt; Accounts incomplete data. </a:t>
            </a:r>
          </a:p>
          <a:p>
            <a:r>
              <a:rPr lang="en-AU" dirty="0"/>
              <a:t>Select Group -&gt; MREF Locations and leave 1 year as default ending in June 25.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1AAB4-4AF7-4A40-8B4D-113FB2F32F4C}" type="slidenum">
              <a:rPr lang="en-AU" smtClean="0"/>
              <a:pPr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0830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FD58E-39CB-FA0C-A8D6-0BB95DEE5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FEFDC-ACCF-1DEC-F448-E4FEB2AC4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1CA0C-4D40-4F58-212F-6D5F137D7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63470-172D-AD95-8E50-30E18EBAA57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341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C973-E811-E2AD-E1E4-35C289A0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7FF9E-792E-10C2-60ED-336A2F837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2FEFB-50B8-6DEB-6466-CCF173DA3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Envizi 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Open Location : One Penn Plaza 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From Global search or Org Hierarchy under MREF Locations.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These modules have separate enablement material. You can let the BP or client know that Envizi can integrate with GRESB, NABERS and Energy Star if they are interested.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54B83-CA66-37A2-F28D-A33C9D62D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92267-8052-5E8F-858B-715E78A2D9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5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A23D3-07A2-23D1-3B8E-7DE30D67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2DF05-C2E9-A2D7-6FFF-9540F380A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F4D23-8D2A-13C9-F901-C467642B5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BF5FC-9E35-3B9E-BA10-C35A65862E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0924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C7D3C-158A-840A-D453-9D5C16F1D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CE75F-A545-4BD6-2064-DF3008FA8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84C2A-9D23-C974-3335-1A5F71AB4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Persona: Energy Manager/ Facility manager. 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Use case: Based on the UBA dashboards/ reports or MREF suggestions, lets take a location with higher intensity of Natural Gas and go through a journey of a program initiative called: Boiler upgrade. 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A energy consultant will create the business case with cost savings which can be ingested in Envizi under Programs module.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Navigate to Location from global search – Charlotte Watson Center. </a:t>
            </a: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From quick links select sub menu More -&gt; Program Actions -&gt; select existing Program and press Edit.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Boiler upgrade started in Aug and finished in Oct 13</a:t>
            </a:r>
            <a:r>
              <a:rPr lang="en-US" sz="2667" b="0" i="0" kern="1200" baseline="300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th</a:t>
            </a:r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. </a:t>
            </a:r>
          </a:p>
          <a:p>
            <a:pPr fontAlgn="base"/>
            <a:endParaRPr lang="en-US" sz="2667" b="0" i="0" kern="1200" dirty="0">
              <a:solidFill>
                <a:schemeClr val="bg1"/>
              </a:solidFill>
              <a:effectLst/>
              <a:latin typeface="IBM Plex Sans Light" panose="020B0503050203000203" pitchFamily="34" charset="0"/>
              <a:ea typeface="+mn-ea"/>
              <a:cs typeface="+mn-cs"/>
            </a:endParaRPr>
          </a:p>
          <a:p>
            <a:pPr fontAlgn="base"/>
            <a:r>
              <a:rPr lang="en-US" sz="2667" b="0" i="0" kern="1200" dirty="0">
                <a:solidFill>
                  <a:schemeClr val="bg1"/>
                </a:solidFill>
                <a:effectLst/>
                <a:latin typeface="IBM Plex Sans Light" panose="020B0503050203000203" pitchFamily="34" charset="0"/>
                <a:ea typeface="+mn-ea"/>
                <a:cs typeface="+mn-cs"/>
              </a:rPr>
              <a:t>This program data from Envizi can be used in Planning Analytics for analysis, scenario modelling and forecasting. (Not covered in this demo)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7C10A-FDA2-0590-22EF-DDCD88367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89CCE-1481-7391-8F33-12DDA05501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044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1D6A-E9F8-2C75-DC64-9323AB23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D9F58-4813-B72D-6264-A1201AF94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D97E1-00C9-2CF7-A6B6-E709E33DB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9863B-CDE6-CDAE-AABC-F6A566B697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5273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0D5E-B234-D12D-FC8A-908FC5F8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BF4DC0D-99CF-7C93-5F1E-5C4E962AB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563633A-2770-DEA4-3374-6FF06BBD0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55B294-DC2E-CCE4-7221-8EC8B7942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l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CC8183-776F-B853-B97B-E5FE73CA34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427300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modules-utility-bill-analytics</a:t>
            </a:r>
            <a:endParaRPr/>
          </a:p>
          <a:p>
            <a:r>
              <a:t>https://www.ibm.com/</a:t>
            </a:r>
            <a:r>
              <a:rPr lang="it-IT"/>
              <a:t>docs</a:t>
            </a:r>
            <a:r>
              <a:t>/</a:t>
            </a:r>
            <a:r>
              <a:rPr lang="it-IT"/>
              <a:t>en</a:t>
            </a:r>
            <a:r>
              <a:t>/</a:t>
            </a:r>
            <a:r>
              <a:rPr lang="it-IT"/>
              <a:t>envizi-esg-suite?topic=reference-utility-bill-analytics</a:t>
            </a:r>
            <a:endParaRPr/>
          </a:p>
          <a:p>
            <a:r>
              <a:t>https://www.ibm.com/docs/en/envizi-esg-suite?topic=</a:t>
            </a:r>
            <a:r>
              <a:rPr lang="it-IT"/>
              <a:t>modules-interval-metering-analytics</a:t>
            </a:r>
            <a:endParaRPr/>
          </a:p>
          <a:p>
            <a:r>
              <a:t>https://www.ibm.com/</a:t>
            </a:r>
            <a:r>
              <a:rPr lang="it-IT"/>
              <a:t>products</a:t>
            </a:r>
            <a:r>
              <a:t>/</a:t>
            </a:r>
            <a:r>
              <a:rPr lang="it-IT"/>
              <a:t>envizi</a:t>
            </a:r>
            <a:r>
              <a:t>/</a:t>
            </a:r>
            <a:r>
              <a:rPr lang="it-IT"/>
              <a:t>interval-meter-analytics</a:t>
            </a:r>
          </a:p>
          <a:p>
            <a:r>
              <a:rPr lang="it-IT"/>
              <a:t>https://www.ibm.com/docs/en/envizi-esg-suite?topic=analytics-configuring-meter-alert-rules</a:t>
            </a:r>
          </a:p>
          <a:p>
            <a:r>
              <a:rPr lang="it-IT"/>
              <a:t>https://www.ibm.com/docs/en/envizi-esg-suite?topic=quality-account-inactivity-alerts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  <a:endParaRPr lang="it-IT"/>
          </a:p>
          <a:p>
            <a:r>
              <a:rPr lang="it-IT"/>
              <a:t>Alfago è un caso simulato, come specificato nel capitolo. I livelli 1–3 sono una struttura didattica della demo. La disponibilità dipende dai moduli e dalla configurazione. Le anomalie segnalano condizioni da indagare e non dimostrano automaticamente cause o risparmi. Gli alert di inattività sono disponibili anche per gli account secondo la documentazione IBM.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4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0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6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80222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3251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2118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7192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375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  <p:sldLayoutId id="2147483675" r:id="rId13"/>
    <p:sldLayoutId id="2147483677" r:id="rId14"/>
    <p:sldLayoutId id="2147483678" r:id="rId15"/>
    <p:sldLayoutId id="2147483680" r:id="rId16"/>
    <p:sldLayoutId id="214748368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quality-account-inactivity-alerts" TargetMode="External"/><Relationship Id="rId3" Type="http://schemas.openxmlformats.org/officeDocument/2006/relationships/hyperlink" Target="https://www.ibm.com/docs/en/envizi-esg-suite?topic=modules-utility-bill-analytics" TargetMode="External"/><Relationship Id="rId7" Type="http://schemas.openxmlformats.org/officeDocument/2006/relationships/hyperlink" Target="https://www.ibm.com/docs/en/envizi-esg-suite?topic=analytics-configuring-meter-alert-rul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ibm.com/products/envizi/interval-meter-analytics" TargetMode="External"/><Relationship Id="rId5" Type="http://schemas.openxmlformats.org/officeDocument/2006/relationships/hyperlink" Target="https://www.ibm.com/docs/en/envizi-esg-suite?topic=modules-interval-metering-analytics" TargetMode="External"/><Relationship Id="rId4" Type="http://schemas.openxmlformats.org/officeDocument/2006/relationships/hyperlink" Target="https://www.ibm.com/docs/en/envizi-esg-suite?topic=reference-utility-bill-analytic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it-IT" sz="2800" dirty="0">
                <a:solidFill>
                  <a:srgbClr val="0F62FE"/>
                </a:solidFill>
              </a:rPr>
              <a:t>Verifica qualità dei </a:t>
            </a:r>
            <a:r>
              <a:rPr lang="it-IT" sz="2800">
                <a:solidFill>
                  <a:srgbClr val="0F62FE"/>
                </a:solidFill>
              </a:rPr>
              <a:t>dati energetici</a:t>
            </a:r>
            <a:endParaRPr lang="it-IT" sz="2800" dirty="0">
              <a:solidFill>
                <a:srgbClr val="0F62FE"/>
              </a:solidFill>
            </a:endParaRPr>
          </a:p>
          <a:p>
            <a:pPr>
              <a:buNone/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999" y="320445"/>
            <a:ext cx="63999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100" b="1">
                <a:solidFill>
                  <a:srgbClr val="0F62FE"/>
                </a:solidFill>
                <a:latin typeface="IBM Plex Sans Light"/>
              </a:rPr>
              <a:t>DATA QUALITY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999" y="571872"/>
            <a:ext cx="914281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900" b="1">
                <a:solidFill>
                  <a:srgbClr val="161616"/>
                </a:solidFill>
                <a:latin typeface="IBM Plex Sans Light"/>
              </a:rPr>
              <a:t>La qualità del dato: il fondamento dell’Energy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7999" y="1371868"/>
            <a:ext cx="5638066" cy="2209512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7E0F0"/>
            </a:solidFill>
          </a:ln>
          <a:effectLst/>
        </p:spPr>
        <p:txBody>
          <a:bodyPr rtlCol="0" anchor="ctr"/>
          <a:lstStyle/>
          <a:p>
            <a:pPr algn="ctr"/>
            <a:endParaRPr lang="it-IT" sz="900"/>
          </a:p>
        </p:txBody>
      </p:sp>
      <p:sp>
        <p:nvSpPr>
          <p:cNvPr id="5" name="TextBox 4"/>
          <p:cNvSpPr txBox="1"/>
          <p:nvPr/>
        </p:nvSpPr>
        <p:spPr>
          <a:xfrm>
            <a:off x="479998" y="1623296"/>
            <a:ext cx="5254068" cy="741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it-IT" sz="1100" b="1">
                <a:solidFill>
                  <a:srgbClr val="0F62FE"/>
                </a:solidFill>
                <a:latin typeface="IBM Plex Sans Light"/>
              </a:rPr>
              <a:t>Decisioni efficaci richiedono dati affidabili</a:t>
            </a:r>
          </a:p>
          <a:p>
            <a:r>
              <a:rPr lang="it-IT" sz="1100">
                <a:solidFill>
                  <a:srgbClr val="161616"/>
                </a:solidFill>
                <a:latin typeface="IBM Plex Sans Light"/>
              </a:rPr>
              <a:t>L’Energy Management non consiste solo nel raccogliere i consumi, ma nel garantire che ogni dato sia completo, corretto e verificabile prima di essere utilizzato per analisi, reporting e decisioni operative.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4349" y="1371868"/>
            <a:ext cx="5635018" cy="2209512"/>
          </a:xfrm>
          <a:prstGeom prst="roundRect">
            <a:avLst>
              <a:gd name="adj" fmla="val 5000"/>
            </a:avLst>
          </a:prstGeom>
          <a:solidFill>
            <a:srgbClr val="0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it-IT" sz="900"/>
          </a:p>
        </p:txBody>
      </p:sp>
      <p:sp>
        <p:nvSpPr>
          <p:cNvPr id="7" name="TextBox 6"/>
          <p:cNvSpPr txBox="1"/>
          <p:nvPr/>
        </p:nvSpPr>
        <p:spPr>
          <a:xfrm>
            <a:off x="6456348" y="1623295"/>
            <a:ext cx="5251020" cy="1233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it-IT" sz="1100" b="1">
                <a:solidFill>
                  <a:srgbClr val="78A9FF"/>
                </a:solidFill>
                <a:latin typeface="IBM Plex Sans Light"/>
              </a:rPr>
              <a:t>COSA CONSENTE IBM ENVIZI</a:t>
            </a:r>
          </a:p>
          <a:p>
            <a:pPr marL="171416" indent="-171416">
              <a:spcAft>
                <a:spcPts val="250"/>
              </a:spcAft>
              <a:buClr>
                <a:srgbClr val="78A9FF"/>
              </a:buClr>
              <a:buFont typeface="IBM Plex Sans Light"/>
              <a:buChar char="—"/>
            </a:pPr>
            <a:r>
              <a:rPr lang="it-IT" sz="1100">
                <a:solidFill>
                  <a:srgbClr val="FFFFFF"/>
                </a:solidFill>
                <a:latin typeface="IBM Plex Sans Light"/>
              </a:rPr>
              <a:t>verificare la completezza dei dati da contatori e bollette;</a:t>
            </a:r>
          </a:p>
          <a:p>
            <a:pPr marL="171416" indent="-171416">
              <a:spcAft>
                <a:spcPts val="250"/>
              </a:spcAft>
              <a:buClr>
                <a:srgbClr val="78A9FF"/>
              </a:buClr>
              <a:buFont typeface="IBM Plex Sans Light"/>
              <a:buChar char="—"/>
            </a:pPr>
            <a:r>
              <a:rPr lang="it-IT" sz="1100">
                <a:solidFill>
                  <a:srgbClr val="FFFFFF"/>
                </a:solidFill>
                <a:latin typeface="IBM Plex Sans Light"/>
              </a:rPr>
              <a:t>individuare dati mancanti, ritardi e anomalie di acquisizione;</a:t>
            </a:r>
          </a:p>
          <a:p>
            <a:pPr marL="171416" indent="-171416">
              <a:spcAft>
                <a:spcPts val="250"/>
              </a:spcAft>
              <a:buClr>
                <a:srgbClr val="78A9FF"/>
              </a:buClr>
              <a:buFont typeface="IBM Plex Sans Light"/>
              <a:buChar char="—"/>
            </a:pPr>
            <a:r>
              <a:rPr lang="it-IT" sz="1100">
                <a:solidFill>
                  <a:srgbClr val="FFFFFF"/>
                </a:solidFill>
                <a:latin typeface="IBM Plex Sans Light"/>
              </a:rPr>
              <a:t>controllare coerenza e validità dei valori raccolti;</a:t>
            </a:r>
          </a:p>
          <a:p>
            <a:pPr marL="171416" indent="-171416">
              <a:spcAft>
                <a:spcPts val="250"/>
              </a:spcAft>
              <a:buClr>
                <a:srgbClr val="78A9FF"/>
              </a:buClr>
              <a:buFont typeface="IBM Plex Sans Light"/>
              <a:buChar char="—"/>
            </a:pPr>
            <a:r>
              <a:rPr lang="it-IT" sz="1100">
                <a:solidFill>
                  <a:srgbClr val="FFFFFF"/>
                </a:solidFill>
                <a:latin typeface="IBM Plex Sans Light"/>
              </a:rPr>
              <a:t>gestire i workflow di revisione e approvazione;</a:t>
            </a:r>
          </a:p>
          <a:p>
            <a:pPr marL="171416" indent="-171416">
              <a:spcAft>
                <a:spcPts val="250"/>
              </a:spcAft>
              <a:buClr>
                <a:srgbClr val="78A9FF"/>
              </a:buClr>
              <a:buFont typeface="IBM Plex Sans Light"/>
              <a:buChar char="—"/>
            </a:pPr>
            <a:r>
              <a:rPr lang="it-IT" sz="1100">
                <a:solidFill>
                  <a:srgbClr val="FFFFFF"/>
                </a:solidFill>
                <a:latin typeface="IBM Plex Sans Light"/>
              </a:rPr>
              <a:t>mantenere la tracciabilità delle modifiche per gli audit.</a:t>
            </a:r>
          </a:p>
        </p:txBody>
      </p:sp>
      <p:graphicFrame>
        <p:nvGraphicFramePr>
          <p:cNvPr id="11" name="Tabella 10"/>
          <p:cNvGraphicFramePr>
            <a:graphicFrameLocks noGrp="1"/>
          </p:cNvGraphicFramePr>
          <p:nvPr/>
        </p:nvGraphicFramePr>
        <p:xfrm>
          <a:off x="287999" y="3809951"/>
          <a:ext cx="11611368" cy="13714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05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84">
                <a:tc>
                  <a:txBody>
                    <a:bodyPr/>
                    <a:lstStyle/>
                    <a:p>
                      <a:pPr algn="l"/>
                      <a:r>
                        <a:rPr lang="it-IT" sz="1100" b="1">
                          <a:solidFill>
                            <a:srgbClr val="FFFFFF"/>
                          </a:solidFill>
                          <a:latin typeface="IBM Plex Sans Light"/>
                        </a:rPr>
                        <a:t>Senza controllo qualità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D7E0F0"/>
                      </a:solidFill>
                    </a:lnB>
                    <a:solidFill>
                      <a:srgbClr val="0011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1">
                          <a:solidFill>
                            <a:srgbClr val="FFFFFF"/>
                          </a:solidFill>
                          <a:latin typeface="IBM Plex Sans Light"/>
                        </a:rPr>
                        <a:t>Con IBM Envizi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D7E0F0"/>
                      </a:solidFill>
                    </a:lnB>
                    <a:solidFill>
                      <a:srgbClr val="0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4"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161616"/>
                          </a:solidFill>
                          <a:latin typeface="IBM Plex Sans Light"/>
                        </a:rPr>
                        <a:t>Decisioni basate su dati incompleti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0F62FE"/>
                          </a:solidFill>
                          <a:latin typeface="IBM Plex Sans Light"/>
                        </a:rPr>
                        <a:t>Decisioni supportate da dati affidabili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E8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84"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161616"/>
                          </a:solidFill>
                          <a:latin typeface="IBM Plex Sans Light"/>
                        </a:rPr>
                        <a:t>Tempo perso nella verifica manuale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0F62FE"/>
                          </a:solidFill>
                          <a:latin typeface="IBM Plex Sans Light"/>
                        </a:rPr>
                        <a:t>Controlli automatici e monitoraggio continuo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E8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84"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161616"/>
                          </a:solidFill>
                          <a:latin typeface="IBM Plex Sans Light"/>
                        </a:rPr>
                        <a:t>Rischio di errori nei KPI energetici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0F62FE"/>
                          </a:solidFill>
                          <a:latin typeface="IBM Plex Sans Light"/>
                        </a:rPr>
                        <a:t>KPI coerenti e confrontabili nel tempo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E8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84">
                <a:tc>
                  <a:txBody>
                    <a:bodyPr/>
                    <a:lstStyle/>
                    <a:p>
                      <a:pPr algn="l"/>
                      <a:r>
                        <a:rPr lang="it-IT" sz="1100" b="0" dirty="0">
                          <a:solidFill>
                            <a:srgbClr val="161616"/>
                          </a:solidFill>
                          <a:latin typeface="IBM Plex Sans Light"/>
                        </a:rPr>
                        <a:t>Maggiore rischio di audit </a:t>
                      </a:r>
                      <a:r>
                        <a:rPr lang="it-IT" sz="1100" b="0" dirty="0" err="1">
                          <a:solidFill>
                            <a:srgbClr val="161616"/>
                          </a:solidFill>
                          <a:latin typeface="IBM Plex Sans Light"/>
                        </a:rPr>
                        <a:t>findings</a:t>
                      </a:r>
                      <a:endParaRPr lang="it-IT" sz="1100" b="0" dirty="0">
                        <a:solidFill>
                          <a:srgbClr val="161616"/>
                        </a:solidFill>
                        <a:latin typeface="IBM Plex Sans Light"/>
                      </a:endParaRP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 dirty="0">
                          <a:solidFill>
                            <a:srgbClr val="0F62FE"/>
                          </a:solidFill>
                          <a:latin typeface="IBM Plex Sans Light"/>
                        </a:rPr>
                        <a:t>Tracciabilità completa del dato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E8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87999" y="5474411"/>
            <a:ext cx="11611368" cy="685711"/>
          </a:xfrm>
          <a:prstGeom prst="roundRect">
            <a:avLst>
              <a:gd name="adj" fmla="val 12000"/>
            </a:avLst>
          </a:prstGeom>
          <a:solidFill>
            <a:srgbClr val="E8EFFE"/>
          </a:solidFill>
          <a:ln>
            <a:noFill/>
          </a:ln>
          <a:effectLst/>
        </p:spPr>
        <p:txBody>
          <a:bodyPr wrap="square" lIns="274284" rIns="274284" rtlCol="0" anchor="ctr"/>
          <a:lstStyle/>
          <a:p>
            <a:r>
              <a:rPr lang="it-IT" sz="1100" b="1" dirty="0">
                <a:solidFill>
                  <a:srgbClr val="0F62FE"/>
                </a:solidFill>
                <a:latin typeface="IBM Plex Sans Light"/>
              </a:rPr>
              <a:t>In sintesi:  </a:t>
            </a:r>
            <a:r>
              <a:rPr lang="it-IT" sz="1100" dirty="0">
                <a:solidFill>
                  <a:srgbClr val="161616"/>
                </a:solidFill>
                <a:latin typeface="IBM Plex Sans Light"/>
              </a:rPr>
              <a:t>la qualità del dato non è un’attività amministrativa: è il presupposto per individuare sprechi, misurare i risultati degli interventi e prendere decisioni energetiche con fiducia. </a:t>
            </a:r>
            <a:r>
              <a:rPr lang="it-IT" sz="1100" b="1" dirty="0"/>
              <a:t>La qualità delle decisioni energetiche non può essere superiore alla qualità dei dati su cui si basano.</a:t>
            </a:r>
            <a:endParaRPr lang="it-IT" sz="1100" dirty="0"/>
          </a:p>
          <a:p>
            <a:endParaRPr lang="it-IT" sz="1100" dirty="0">
              <a:solidFill>
                <a:srgbClr val="161616"/>
              </a:solidFill>
              <a:latin typeface="IBM Plex Sans Light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C90B6-4FCC-B80B-D7B5-E7E13604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7EB5FE-A454-CBDB-A1CD-644950CA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25" y="265794"/>
            <a:ext cx="3550077" cy="569140"/>
          </a:xfrm>
        </p:spPr>
        <p:txBody>
          <a:bodyPr>
            <a:normAutofit/>
          </a:bodyPr>
          <a:lstStyle/>
          <a:p>
            <a:r>
              <a:rPr lang="it-IT" sz="1800" dirty="0"/>
              <a:t>Account Data Health Check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AD9CE1-05B1-3DC8-A555-F681D8DCA3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837028"/>
            <a:ext cx="2477765" cy="4163387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it-IT" dirty="0"/>
              <a:t>Esecuzione: home page → Power reports → Account data health check.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Il drill down consente di individuare gli account con dati in ritardo.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Il follow-up con gli stakeholder interni permette di recuperare i dati mancanti o di chiudere gli account non più attivi.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D19912B-7DAF-199B-A1CB-6B5C2BB2659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84125" y="6401731"/>
            <a:ext cx="2477765" cy="19047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ABAD9101-FFE4-EA1D-AEEA-D41FF522AA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76447" y="6448031"/>
            <a:ext cx="128254" cy="126984"/>
          </a:xfrm>
        </p:spPr>
        <p:txBody>
          <a:bodyPr/>
          <a:lstStyle/>
          <a:p>
            <a:pPr>
              <a:spcAft>
                <a:spcPts val="300"/>
              </a:spcAft>
            </a:pPr>
            <a:fld id="{86CB4B4D-7CA3-9044-876B-883B54F8677D}" type="slidenum">
              <a:rPr lang="en-US" smtClean="0"/>
              <a:pPr>
                <a:spcAft>
                  <a:spcPts val="300"/>
                </a:spcAft>
              </a:pPr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979226-9A94-78C1-7802-86CA2F8CD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719" y="160966"/>
            <a:ext cx="6781988" cy="3194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9E5B7D-7DB0-C0CF-94DC-280BC4B5A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202" y="3502972"/>
            <a:ext cx="6242134" cy="335458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C082471-448F-39F9-D99F-2F8E56F9B32C}"/>
              </a:ext>
            </a:extLst>
          </p:cNvPr>
          <p:cNvSpPr txBox="1"/>
          <p:nvPr/>
        </p:nvSpPr>
        <p:spPr>
          <a:xfrm>
            <a:off x="3048832" y="2892945"/>
            <a:ext cx="6097664" cy="77957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fontAlgn="base"/>
            <a:endParaRPr sz="900"/>
          </a:p>
          <a:p>
            <a:pPr fontAlgn="base"/>
            <a:endParaRPr sz="900"/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3977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E70F-B4DB-985D-6FA3-1965ABAD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5137E0-9E16-F63A-B581-4CC8C8752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25" y="265794"/>
            <a:ext cx="3550077" cy="569140"/>
          </a:xfrm>
        </p:spPr>
        <p:txBody>
          <a:bodyPr>
            <a:normAutofit/>
          </a:bodyPr>
          <a:lstStyle/>
          <a:p>
            <a:r>
              <a:rPr lang="it-IT" sz="1800" dirty="0"/>
              <a:t>Meter Data Health Check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FAA337-522B-3183-B8F1-4EC1AD070F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837028"/>
            <a:ext cx="2477765" cy="4163387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it-IT" dirty="0"/>
              <a:t>Esecuzione: home page → Power reports → Meter data health check.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Da “View Details” si individuano i contatori privi di dati.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I filtri permettono di selezionare un gruppo e un intervallo di date specifico.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Il report può essere condiviso in formato PDF con gli altri stakeholder.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36BC9A7-81E4-DD7A-34CC-F0E5209884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84125" y="6401731"/>
            <a:ext cx="2477765" cy="19047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4EB6B1C7-9CC3-58B5-1E03-40FCF2711A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76447" y="6448031"/>
            <a:ext cx="128254" cy="126984"/>
          </a:xfrm>
        </p:spPr>
        <p:txBody>
          <a:bodyPr/>
          <a:lstStyle/>
          <a:p>
            <a:pPr>
              <a:spcAft>
                <a:spcPts val="300"/>
              </a:spcAft>
            </a:pPr>
            <a:fld id="{86CB4B4D-7CA3-9044-876B-883B54F8677D}" type="slidenum">
              <a:rPr lang="en-US" smtClean="0"/>
              <a:pPr>
                <a:spcAft>
                  <a:spcPts val="300"/>
                </a:spcAft>
              </a:pPr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FC0-8B7B-319E-8E6E-5F6CAEC4E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35" y="102439"/>
            <a:ext cx="6921941" cy="34691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F98F74-BF87-0060-B09C-4D9BE57E8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380" y="3469625"/>
            <a:ext cx="6411709" cy="328593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2C6FF22-F052-38E9-F040-C2B5E4C575FF}"/>
              </a:ext>
            </a:extLst>
          </p:cNvPr>
          <p:cNvSpPr txBox="1"/>
          <p:nvPr/>
        </p:nvSpPr>
        <p:spPr>
          <a:xfrm>
            <a:off x="3048832" y="2790351"/>
            <a:ext cx="6097664" cy="112319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fontAlgn="base"/>
            <a:endParaRPr sz="900"/>
          </a:p>
          <a:p>
            <a:pPr fontAlgn="base"/>
            <a:endParaRPr sz="900"/>
          </a:p>
          <a:p>
            <a:pPr fontAlgn="base"/>
            <a:endParaRPr sz="900"/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4895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FEE757-0A1E-429B-A477-4604ABEE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445"/>
            <a:ext cx="11471299" cy="763425"/>
          </a:xfrm>
        </p:spPr>
        <p:txBody>
          <a:bodyPr>
            <a:normAutofit/>
          </a:bodyPr>
          <a:lstStyle/>
          <a:p>
            <a:r>
              <a:rPr lang="it-IT" sz="1800" dirty="0"/>
              <a:t>Accounts Incomplete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CAE71-50E3-4ED4-AB75-B6264757B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7344" y="6409814"/>
            <a:ext cx="507356" cy="287189"/>
          </a:xfrm>
          <a:prstGeom prst="rect">
            <a:avLst/>
          </a:prstGeom>
        </p:spPr>
        <p:txBody>
          <a:bodyPr vert="horz" wrap="square" lIns="121904" tIns="60952" rIns="121904" bIns="60952" rtlCol="0" anchor="ctr">
            <a:spAutoFit/>
          </a:bodyPr>
          <a:lstStyle>
            <a:defPPr>
              <a:defRPr lang="en-US"/>
            </a:defPPr>
            <a:lvl1pPr marL="0" algn="r" defTabSz="1218971" rtl="0" eaLnBrk="1" latinLnBrk="0" hangingPunct="1">
              <a:defRPr sz="1066" kern="1200">
                <a:solidFill>
                  <a:schemeClr val="accent3"/>
                </a:solidFill>
                <a:latin typeface="Nunito Sans" panose="020B0604020202020204" charset="0"/>
                <a:ea typeface="+mn-ea"/>
                <a:cs typeface="+mn-cs"/>
              </a:defRPr>
            </a:lvl1pPr>
            <a:lvl2pPr marL="609486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71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57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43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28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14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00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86" algn="l" defTabSz="121897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5732F6-B2E4-4CE3-B902-ABF0CF5E15BE}" type="slidenum">
              <a:rPr lang="en-AU" smtClean="0">
                <a:latin typeface="+mn-lt"/>
              </a:rPr>
              <a:pPr/>
              <a:t>5</a:t>
            </a:fld>
            <a:endParaRPr lang="en-AU" dirty="0">
              <a:latin typeface="+mn-lt"/>
            </a:endParaRPr>
          </a:p>
        </p:txBody>
      </p:sp>
      <p:sp>
        <p:nvSpPr>
          <p:cNvPr id="15" name="Content Placeholder 1"/>
          <p:cNvSpPr txBox="1">
            <a:spLocks/>
          </p:cNvSpPr>
          <p:nvPr/>
        </p:nvSpPr>
        <p:spPr>
          <a:xfrm>
            <a:off x="53009" y="1750327"/>
            <a:ext cx="11169848" cy="4384651"/>
          </a:xfrm>
          <a:prstGeom prst="rect">
            <a:avLst/>
          </a:prstGeom>
        </p:spPr>
        <p:txBody>
          <a:bodyPr vert="horz" wrap="square" lIns="91428" tIns="45714" rIns="91428" bIns="45714" rtlCol="0">
            <a:noAutofit/>
          </a:bodyPr>
          <a:lstStyle>
            <a:lvl1pPr marL="0" indent="-1764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Lucida Grande"/>
              <a:buChar char="&gt;"/>
              <a:defRPr sz="2200" b="1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400" indent="-176400" algn="l" defTabSz="457200" rtl="0" eaLnBrk="1" latinLnBrk="0" hangingPunct="1">
              <a:spcBef>
                <a:spcPct val="20000"/>
              </a:spcBef>
              <a:buClr>
                <a:srgbClr val="D3D3D3"/>
              </a:buClr>
              <a:buSzPct val="70000"/>
              <a:buFont typeface="Lucida Grande"/>
              <a:buChar char="&gt;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4800" indent="-176400" algn="l" defTabSz="457200" rtl="0" eaLnBrk="1" latinLnBrk="0" hangingPunct="1">
              <a:spcBef>
                <a:spcPct val="20000"/>
              </a:spcBef>
              <a:buClr>
                <a:srgbClr val="D3D3D3"/>
              </a:buClr>
              <a:buSzPct val="70000"/>
              <a:buFont typeface="Lucida Grande"/>
              <a:buChar char="&gt;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0000" indent="-176400" algn="l" defTabSz="457200" rtl="0" eaLnBrk="1" latinLnBrk="0" hangingPunct="1">
              <a:spcBef>
                <a:spcPct val="20000"/>
              </a:spcBef>
              <a:buClr>
                <a:srgbClr val="D3D3D3"/>
              </a:buClr>
              <a:buSzPct val="70000"/>
              <a:buFont typeface="Lucida Grande"/>
              <a:buChar char="&gt;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9200" indent="-1764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Lucida Grande"/>
              <a:buChar char="&gt;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Clr>
                <a:schemeClr val="accent2"/>
              </a:buClr>
              <a:buNone/>
            </a:pPr>
            <a:endParaRPr lang="en-AU" sz="1800" dirty="0"/>
          </a:p>
        </p:txBody>
      </p:sp>
      <p:sp>
        <p:nvSpPr>
          <p:cNvPr id="5" name="Rectangle 4"/>
          <p:cNvSpPr/>
          <p:nvPr/>
        </p:nvSpPr>
        <p:spPr>
          <a:xfrm>
            <a:off x="366037" y="5532508"/>
            <a:ext cx="5052983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57" indent="-228557">
              <a:buAutoNum type="arabicPeriod"/>
            </a:pPr>
            <a:endParaRPr lang="it-IT" sz="900"/>
          </a:p>
          <a:p>
            <a:pPr marL="228557" indent="-228557">
              <a:buAutoNum type="arabicPeriod"/>
            </a:pPr>
            <a:endParaRPr lang="it-IT" sz="900"/>
          </a:p>
          <a:p>
            <a:endParaRPr lang="en-AU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3735E2-9A2B-EAB1-2C47-5E2EE2B24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95" y="2046066"/>
            <a:ext cx="11756442" cy="219444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01CF255-3523-281C-1E56-C94EDED08CAA}"/>
              </a:ext>
            </a:extLst>
          </p:cNvPr>
          <p:cNvSpPr txBox="1"/>
          <p:nvPr/>
        </p:nvSpPr>
        <p:spPr>
          <a:xfrm>
            <a:off x="287999" y="1281543"/>
            <a:ext cx="9960177" cy="6051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1219017" fontAlgn="base">
              <a:spcBef>
                <a:spcPts val="800"/>
              </a:spcBef>
              <a:defRPr/>
            </a:pPr>
            <a:r>
              <a:rPr lang="it-IT" sz="1333">
                <a:latin typeface="IBM Plex Sans Light" panose="020B0503050203000203" pitchFamily="34" charset="0"/>
              </a:rPr>
              <a:t>Esecuzione: ricerca globale → selezionare Report → digitare “Accounts incomplete data”.</a:t>
            </a:r>
          </a:p>
          <a:p>
            <a:pPr defTabSz="1219017" fontAlgn="base">
              <a:spcBef>
                <a:spcPts val="800"/>
              </a:spcBef>
              <a:defRPr/>
            </a:pPr>
            <a:r>
              <a:rPr lang="it-IT" sz="1333">
                <a:latin typeface="IBM Plex Sans Light" panose="020B0503050203000203" pitchFamily="34" charset="0"/>
              </a:rPr>
              <a:t>Selezionare tutti i gruppi o un gruppo di interesse e selezionare il periodo di interesse.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377978B-5F25-897E-C6B1-93351B9092B3}"/>
              </a:ext>
            </a:extLst>
          </p:cNvPr>
          <p:cNvSpPr txBox="1"/>
          <p:nvPr/>
        </p:nvSpPr>
        <p:spPr>
          <a:xfrm>
            <a:off x="188195" y="4355351"/>
            <a:ext cx="11034662" cy="43088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100"/>
              <a:t>Questa vista mostra un </a:t>
            </a:r>
            <a:r>
              <a:rPr lang="it-IT" sz="1100" b="1"/>
              <a:t>controllo di qualità sulla copertura temporale dei dati</a:t>
            </a:r>
            <a:r>
              <a:rPr lang="it-IT" sz="1100"/>
              <a:t> caricati in </a:t>
            </a:r>
            <a:r>
              <a:rPr lang="it-IT" sz="1100" err="1"/>
              <a:t>Envizi</a:t>
            </a:r>
            <a:r>
              <a:rPr lang="it-IT" sz="1100"/>
              <a:t>. In particolare, la colonna evidenziata </a:t>
            </a:r>
            <a:r>
              <a:rPr lang="it-IT" sz="1100" b="1" err="1"/>
              <a:t>Days_Mismatch</a:t>
            </a:r>
            <a:r>
              <a:rPr lang="it-IT" sz="1100"/>
              <a:t> indica la differenza tra il numero di giorni che </a:t>
            </a:r>
            <a:r>
              <a:rPr lang="it-IT" sz="1100" b="1" err="1"/>
              <a:t>Envizi</a:t>
            </a:r>
            <a:r>
              <a:rPr lang="it-IT" sz="1100" b="1"/>
              <a:t> si aspetta</a:t>
            </a:r>
            <a:r>
              <a:rPr lang="it-IT" sz="1100"/>
              <a:t> per quel periodo e il numero di giorni </a:t>
            </a:r>
            <a:r>
              <a:rPr lang="it-IT" sz="1100" b="1"/>
              <a:t>effettivamente coperti dal record</a:t>
            </a:r>
            <a:r>
              <a:rPr lang="it-IT" sz="1100"/>
              <a:t>.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C3BF21CF-D1F1-EE79-917F-E3ACEF5801D2}"/>
              </a:ext>
            </a:extLst>
          </p:cNvPr>
          <p:cNvGraphicFramePr>
            <a:graphicFrameLocks noGrp="1"/>
          </p:cNvGraphicFramePr>
          <p:nvPr/>
        </p:nvGraphicFramePr>
        <p:xfrm>
          <a:off x="188195" y="4881864"/>
          <a:ext cx="6326175" cy="12190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6849">
                  <a:extLst>
                    <a:ext uri="{9D8B030D-6E8A-4147-A177-3AD203B41FA5}">
                      <a16:colId xmlns:a16="http://schemas.microsoft.com/office/drawing/2014/main" val="2487809444"/>
                    </a:ext>
                  </a:extLst>
                </a:gridCol>
                <a:gridCol w="4369327">
                  <a:extLst>
                    <a:ext uri="{9D8B030D-6E8A-4147-A177-3AD203B41FA5}">
                      <a16:colId xmlns:a16="http://schemas.microsoft.com/office/drawing/2014/main" val="509606105"/>
                    </a:ext>
                  </a:extLst>
                </a:gridCol>
              </a:tblGrid>
              <a:tr h="243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b="1" dirty="0">
                          <a:solidFill>
                            <a:schemeClr val="tx1"/>
                          </a:solidFill>
                          <a:effectLst/>
                        </a:rPr>
                        <a:t>Colonna</a:t>
                      </a:r>
                    </a:p>
                  </a:txBody>
                  <a:tcPr marL="57143" marR="57143" marT="38095" marB="3809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b="1" dirty="0">
                          <a:solidFill>
                            <a:schemeClr val="tx1"/>
                          </a:solidFill>
                          <a:effectLst/>
                        </a:rPr>
                        <a:t>Significato</a:t>
                      </a:r>
                    </a:p>
                  </a:txBody>
                  <a:tcPr marL="57143" marR="57143" marT="38095" marB="38095" anchor="ctr"/>
                </a:tc>
                <a:extLst>
                  <a:ext uri="{0D108BD9-81ED-4DB2-BD59-A6C34878D82A}">
                    <a16:rowId xmlns:a16="http://schemas.microsoft.com/office/drawing/2014/main" val="610334479"/>
                  </a:ext>
                </a:extLst>
              </a:tr>
              <a:tr h="243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 err="1">
                          <a:solidFill>
                            <a:schemeClr val="tx1"/>
                          </a:solidFill>
                          <a:effectLst/>
                        </a:rPr>
                        <a:t>Days_In_Month</a:t>
                      </a:r>
                      <a:endParaRPr lang="it-IT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>
                          <a:solidFill>
                            <a:schemeClr val="tx1"/>
                          </a:solidFill>
                          <a:effectLst/>
                        </a:rPr>
                        <a:t>Giorni effettivi del mese (30 o 31).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816786"/>
                  </a:ext>
                </a:extLst>
              </a:tr>
              <a:tr h="243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 err="1">
                          <a:solidFill>
                            <a:schemeClr val="tx1"/>
                          </a:solidFill>
                          <a:effectLst/>
                        </a:rPr>
                        <a:t>Expected_Days_In_Month</a:t>
                      </a:r>
                      <a:endParaRPr lang="it-IT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>
                          <a:solidFill>
                            <a:schemeClr val="tx1"/>
                          </a:solidFill>
                          <a:effectLst/>
                        </a:rPr>
                        <a:t>Giorni che </a:t>
                      </a:r>
                      <a:r>
                        <a:rPr lang="it-IT" sz="1100" dirty="0" err="1">
                          <a:solidFill>
                            <a:schemeClr val="tx1"/>
                          </a:solidFill>
                          <a:effectLst/>
                        </a:rPr>
                        <a:t>Envizi</a:t>
                      </a:r>
                      <a:r>
                        <a:rPr lang="it-IT" sz="1100" dirty="0">
                          <a:solidFill>
                            <a:schemeClr val="tx1"/>
                          </a:solidFill>
                          <a:effectLst/>
                        </a:rPr>
                        <a:t> si aspetta di coprire.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14368"/>
                  </a:ext>
                </a:extLst>
              </a:tr>
              <a:tr h="243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 err="1">
                          <a:solidFill>
                            <a:schemeClr val="tx1"/>
                          </a:solidFill>
                          <a:effectLst/>
                        </a:rPr>
                        <a:t>Days_Of_Data</a:t>
                      </a:r>
                      <a:endParaRPr lang="it-IT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>
                          <a:solidFill>
                            <a:schemeClr val="tx1"/>
                          </a:solidFill>
                          <a:effectLst/>
                        </a:rPr>
                        <a:t>Giorni coperti dal record importato.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74174"/>
                  </a:ext>
                </a:extLst>
              </a:tr>
              <a:tr h="243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 err="1">
                          <a:solidFill>
                            <a:schemeClr val="tx1"/>
                          </a:solidFill>
                          <a:effectLst/>
                        </a:rPr>
                        <a:t>Days_Mismatch</a:t>
                      </a:r>
                      <a:endParaRPr lang="it-IT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100" dirty="0">
                          <a:solidFill>
                            <a:schemeClr val="tx1"/>
                          </a:solidFill>
                          <a:effectLst/>
                        </a:rPr>
                        <a:t>Differenza tra copertura attesa e copertura reale.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22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3088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481C354-5026-66A3-80C5-B01EE02BFA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C342ED-77B0-3AB3-6A84-89DE0AA36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2872" y="6469419"/>
            <a:ext cx="121828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0" name="Eyebrow"/>
          <p:cNvSpPr txBox="1"/>
          <p:nvPr/>
        </p:nvSpPr>
        <p:spPr>
          <a:xfrm>
            <a:off x="287999" y="320445"/>
            <a:ext cx="639996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100" b="1">
                <a:solidFill>
                  <a:srgbClr val="0F62FE"/>
                </a:solidFill>
                <a:latin typeface="IBM Plex Sans Light"/>
              </a:rPr>
              <a:t>DATA HEALTH CHECK</a:t>
            </a:r>
          </a:p>
        </p:txBody>
      </p:sp>
      <p:sp>
        <p:nvSpPr>
          <p:cNvPr id="21" name="Title"/>
          <p:cNvSpPr txBox="1"/>
          <p:nvPr/>
        </p:nvSpPr>
        <p:spPr>
          <a:xfrm>
            <a:off x="287999" y="571872"/>
            <a:ext cx="10498633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900" b="1">
                <a:solidFill>
                  <a:srgbClr val="000000"/>
                </a:solidFill>
                <a:latin typeface="IBM Plex Sans Light"/>
              </a:rPr>
              <a:t>Days Mismatch: come interpretare i valori</a:t>
            </a:r>
          </a:p>
        </p:txBody>
      </p:sp>
      <p:sp>
        <p:nvSpPr>
          <p:cNvPr id="22" name="Card L"/>
          <p:cNvSpPr/>
          <p:nvPr/>
        </p:nvSpPr>
        <p:spPr>
          <a:xfrm>
            <a:off x="287999" y="1448058"/>
            <a:ext cx="5638066" cy="1942847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7E0F0"/>
            </a:solidFill>
          </a:ln>
          <a:effectLst/>
        </p:spPr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3" name="Card R"/>
          <p:cNvSpPr/>
          <p:nvPr/>
        </p:nvSpPr>
        <p:spPr>
          <a:xfrm>
            <a:off x="6264349" y="1448058"/>
            <a:ext cx="5635018" cy="1942847"/>
          </a:xfrm>
          <a:prstGeom prst="roundRect">
            <a:avLst>
              <a:gd name="adj" fmla="val 6000"/>
            </a:avLst>
          </a:prstGeom>
          <a:solidFill>
            <a:srgbClr val="0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4" name="Card L text"/>
          <p:cNvSpPr txBox="1"/>
          <p:nvPr/>
        </p:nvSpPr>
        <p:spPr>
          <a:xfrm>
            <a:off x="479998" y="1630914"/>
            <a:ext cx="5254068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it-IT" sz="1200" b="1">
                <a:solidFill>
                  <a:srgbClr val="0F62FE"/>
                </a:solidFill>
                <a:latin typeface="IBM Plex Sans Light"/>
              </a:rPr>
              <a:t>Days_Mismatch = 1 — caso corretto</a:t>
            </a:r>
          </a:p>
          <a:p>
            <a:pPr>
              <a:spcAft>
                <a:spcPts val="200"/>
              </a:spcAft>
            </a:pPr>
            <a:r>
              <a:rPr lang="it-IT" sz="1100">
                <a:solidFill>
                  <a:srgbClr val="000000"/>
                </a:solidFill>
                <a:latin typeface="IBM Plex Sans Light"/>
              </a:rPr>
              <a:t>Marzo 2025: Expected Days 31, Days of Data 30.</a:t>
            </a:r>
          </a:p>
          <a:p>
            <a:r>
              <a:rPr lang="it-IT" sz="1100">
                <a:solidFill>
                  <a:srgbClr val="000000"/>
                </a:solidFill>
                <a:latin typeface="IBM Plex Sans Light"/>
              </a:rPr>
              <a:t>Manca un solo giorno di copertura (lettura dal 1° al 30): copertura quasi completa, nessuna azione necessaria.</a:t>
            </a:r>
          </a:p>
        </p:txBody>
      </p:sp>
      <p:sp>
        <p:nvSpPr>
          <p:cNvPr id="25" name="Card R text"/>
          <p:cNvSpPr txBox="1"/>
          <p:nvPr/>
        </p:nvSpPr>
        <p:spPr>
          <a:xfrm>
            <a:off x="6456348" y="1630914"/>
            <a:ext cx="5251020" cy="13285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it-IT" sz="1200" b="1" dirty="0">
                <a:solidFill>
                  <a:srgbClr val="78A9FF"/>
                </a:solidFill>
                <a:latin typeface="IBM Plex Sans Light"/>
              </a:rPr>
              <a:t>DAYS_MISMATCH = -31 — ANOMALIA</a:t>
            </a:r>
          </a:p>
          <a:p>
            <a:pPr>
              <a:spcAft>
                <a:spcPts val="300"/>
              </a:spcAft>
            </a:pPr>
            <a:r>
              <a:rPr lang="it-IT" sz="1100" dirty="0">
                <a:solidFill>
                  <a:srgbClr val="FFFFFF"/>
                </a:solidFill>
                <a:latin typeface="IBM Plex Sans Light"/>
              </a:rPr>
              <a:t>Luglio 2024: Expected Days 31, Days of Data 62 — il record copre due mesi Tipici errori da correggere a fronte di questi dati.</a:t>
            </a:r>
          </a:p>
          <a:p>
            <a:pPr>
              <a:spcAft>
                <a:spcPts val="100"/>
              </a:spcAft>
            </a:pPr>
            <a:r>
              <a:rPr lang="it-IT" sz="1100" dirty="0">
                <a:solidFill>
                  <a:srgbClr val="FFFFFF"/>
                </a:solidFill>
                <a:latin typeface="IBM Plex Sans Light"/>
              </a:rPr>
              <a:t>— bolletta bimestrale caricata come mensile;</a:t>
            </a:r>
          </a:p>
          <a:p>
            <a:pPr>
              <a:spcAft>
                <a:spcPts val="100"/>
              </a:spcAft>
            </a:pPr>
            <a:r>
              <a:rPr lang="it-IT" sz="1100" dirty="0">
                <a:solidFill>
                  <a:srgbClr val="FFFFFF"/>
                </a:solidFill>
                <a:latin typeface="IBM Plex Sans Light"/>
              </a:rPr>
              <a:t>— inserite date di inizio/fine errate;</a:t>
            </a:r>
          </a:p>
          <a:p>
            <a:pPr>
              <a:spcAft>
                <a:spcPts val="100"/>
              </a:spcAft>
            </a:pPr>
            <a:r>
              <a:rPr lang="it-IT" sz="1100" dirty="0">
                <a:solidFill>
                  <a:srgbClr val="FFFFFF"/>
                </a:solidFill>
                <a:latin typeface="IBM Plex Sans Light"/>
              </a:rPr>
              <a:t>— periodo di consolidamento non coerente;</a:t>
            </a:r>
          </a:p>
          <a:p>
            <a:r>
              <a:rPr lang="it-IT" sz="1100" dirty="0">
                <a:solidFill>
                  <a:srgbClr val="FFFFFF"/>
                </a:solidFill>
                <a:latin typeface="IBM Plex Sans Light"/>
              </a:rPr>
              <a:t>— sovrapposizione con un altro record.</a:t>
            </a:r>
          </a:p>
        </p:txBody>
      </p:sp>
      <p:graphicFrame>
        <p:nvGraphicFramePr>
          <p:cNvPr id="26" name="Tabella"/>
          <p:cNvGraphicFramePr>
            <a:graphicFrameLocks noGrp="1"/>
          </p:cNvGraphicFramePr>
          <p:nvPr/>
        </p:nvGraphicFramePr>
        <p:xfrm>
          <a:off x="287999" y="3543285"/>
          <a:ext cx="11611368" cy="1028566"/>
        </p:xfrm>
        <a:graphic>
          <a:graphicData uri="http://schemas.openxmlformats.org/drawingml/2006/table">
            <a:tbl>
              <a:tblPr firstRow="1"/>
              <a:tblGrid>
                <a:gridCol w="380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855">
                <a:tc>
                  <a:txBody>
                    <a:bodyPr/>
                    <a:lstStyle/>
                    <a:p>
                      <a:pPr algn="l"/>
                      <a:r>
                        <a:rPr lang="it-IT" sz="1100" b="1">
                          <a:solidFill>
                            <a:srgbClr val="FFFFFF"/>
                          </a:solidFill>
                          <a:latin typeface="IBM Plex Sans Light"/>
                        </a:rPr>
                        <a:t>Valore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D7E0F0"/>
                      </a:solidFill>
                    </a:lnB>
                    <a:solidFill>
                      <a:srgbClr val="0011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1">
                          <a:solidFill>
                            <a:srgbClr val="FFFFFF"/>
                          </a:solidFill>
                          <a:latin typeface="IBM Plex Sans Light"/>
                        </a:rPr>
                        <a:t>Come leggerlo</a:t>
                      </a:r>
                    </a:p>
                  </a:txBody>
                  <a:tcPr marL="91428" marR="91428" marT="45714" marB="45714" anchor="ctr">
                    <a:lnB w="12700">
                      <a:solidFill>
                        <a:srgbClr val="D7E0F0"/>
                      </a:solidFill>
                    </a:lnB>
                    <a:solidFill>
                      <a:srgbClr val="0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855"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000000"/>
                          </a:solidFill>
                          <a:latin typeface="IBM Plex Sans Light"/>
                        </a:rPr>
                        <a:t>Days_Mismatch = 1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000000"/>
                          </a:solidFill>
                          <a:latin typeface="IBM Plex Sans Light"/>
                        </a:rPr>
                        <a:t>Copertura quasi completa: manca un giorno, nessun intervento.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E8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855"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000000"/>
                          </a:solidFill>
                          <a:latin typeface="IBM Plex Sans Light"/>
                        </a:rPr>
                        <a:t>Days_Mismatch = -30 / -31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100" b="0">
                          <a:solidFill>
                            <a:srgbClr val="000000"/>
                          </a:solidFill>
                          <a:latin typeface="IBM Plex Sans Light"/>
                        </a:rPr>
                        <a:t>Il record copre circa due mesi: verificare il periodo del record.</a:t>
                      </a:r>
                    </a:p>
                  </a:txBody>
                  <a:tcPr marL="91428" marR="91428" marT="45714" marB="45714" anchor="ctr"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7E0F0"/>
                      </a:solidFill>
                    </a:lnB>
                    <a:solidFill>
                      <a:srgbClr val="E8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Bar"/>
          <p:cNvSpPr/>
          <p:nvPr/>
        </p:nvSpPr>
        <p:spPr>
          <a:xfrm>
            <a:off x="287999" y="4952802"/>
            <a:ext cx="11611368" cy="799996"/>
          </a:xfrm>
          <a:prstGeom prst="roundRect">
            <a:avLst>
              <a:gd name="adj" fmla="val 12000"/>
            </a:avLst>
          </a:prstGeom>
          <a:solidFill>
            <a:srgbClr val="E8EF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8" name="Bar text"/>
          <p:cNvSpPr txBox="1"/>
          <p:nvPr/>
        </p:nvSpPr>
        <p:spPr>
          <a:xfrm>
            <a:off x="562283" y="5120420"/>
            <a:ext cx="11062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it-IT" sz="1100" b="1">
                <a:solidFill>
                  <a:srgbClr val="0F62FE"/>
                </a:solidFill>
                <a:latin typeface="IBM Plex Sans Light"/>
              </a:rPr>
              <a:t>In sintesi:  </a:t>
            </a:r>
            <a:r>
              <a:rPr lang="it-IT" sz="1100">
                <a:solidFill>
                  <a:srgbClr val="000000"/>
                </a:solidFill>
                <a:latin typeface="IBM Plex Sans Light"/>
              </a:rPr>
              <a:t>Days Mismatch confronta la durata del periodo coperto dal record con quella attesa e intercetta bollette bimestrali, date errate o sovrapposizioni prima che influenzino KPI, report e decisioni dell'Energy Manager.</a:t>
            </a:r>
          </a:p>
        </p:txBody>
      </p:sp>
    </p:spTree>
    <p:extLst>
      <p:ext uri="{BB962C8B-B14F-4D97-AF65-F5344CB8AC3E}">
        <p14:creationId xmlns:p14="http://schemas.microsoft.com/office/powerpoint/2010/main" val="204101507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9370-644A-0274-D5B2-54A5CF14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D3FE642-E21D-5942-3A10-BE7666D69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794" y="447"/>
            <a:ext cx="12190413" cy="685710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123394FA-6E45-A50B-6694-5ABE433A2150}"/>
              </a:ext>
            </a:extLst>
          </p:cNvPr>
          <p:cNvSpPr>
            <a:spLocks noGrp="1"/>
          </p:cNvSpPr>
          <p:nvPr/>
        </p:nvSpPr>
        <p:spPr>
          <a:xfrm>
            <a:off x="794" y="447"/>
            <a:ext cx="5714256" cy="6857107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it-IT" sz="3599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796DC5D-79EC-2594-1640-533A74425A48}"/>
              </a:ext>
            </a:extLst>
          </p:cNvPr>
          <p:cNvSpPr>
            <a:spLocks noGrp="1"/>
          </p:cNvSpPr>
          <p:nvPr/>
        </p:nvSpPr>
        <p:spPr>
          <a:xfrm>
            <a:off x="610314" y="819490"/>
            <a:ext cx="3809504" cy="4952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00" b="1">
                <a:solidFill>
                  <a:srgbClr val="073E31"/>
                </a:solidFill>
                <a:latin typeface="IBM Plex Sans" panose="020B0503050203000203" pitchFamily="34" charset="0"/>
              </a:defRPr>
            </a:pPr>
            <a:r>
              <a:rPr sz="1725" b="1">
                <a:solidFill>
                  <a:srgbClr val="073E31"/>
                </a:solidFill>
              </a:rPr>
              <a:t>IBM Envizi</a:t>
            </a:r>
            <a:endParaRPr lang="it-IT" sz="1725" b="1">
              <a:solidFill>
                <a:srgbClr val="073E31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EAEE384-E9AB-48AA-0C51-F731E6F49D2A}"/>
              </a:ext>
            </a:extLst>
          </p:cNvPr>
          <p:cNvSpPr>
            <a:spLocks noGrp="1"/>
          </p:cNvSpPr>
          <p:nvPr/>
        </p:nvSpPr>
        <p:spPr>
          <a:xfrm>
            <a:off x="610314" y="1619486"/>
            <a:ext cx="11122958" cy="11904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it-IT" sz="3999" b="1" dirty="0">
                <a:solidFill>
                  <a:srgbClr val="161616"/>
                </a:solidFill>
              </a:rPr>
              <a:t>Reporting</a:t>
            </a:r>
            <a:br>
              <a:rPr lang="it-IT" sz="3999" dirty="0"/>
            </a:br>
            <a:endParaRPr lang="it-IT" sz="3999" dirty="0"/>
          </a:p>
          <a:p>
            <a:pPr>
              <a:buNone/>
            </a:pPr>
            <a:endParaRPr lang="it-IT" sz="3999" b="1" dirty="0">
              <a:solidFill>
                <a:srgbClr val="161616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3167F2B-BE00-4E2D-90F3-198C0711C287}"/>
              </a:ext>
            </a:extLst>
          </p:cNvPr>
          <p:cNvSpPr>
            <a:spLocks noGrp="1"/>
          </p:cNvSpPr>
          <p:nvPr/>
        </p:nvSpPr>
        <p:spPr>
          <a:xfrm>
            <a:off x="610314" y="2128436"/>
            <a:ext cx="7583050" cy="857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</a:pPr>
            <a:br>
              <a:rPr lang="it-IT" sz="2000" dirty="0"/>
            </a:br>
            <a:r>
              <a:rPr lang="it-IT" sz="2200" dirty="0">
                <a:solidFill>
                  <a:srgbClr val="0F62FE"/>
                </a:solidFill>
              </a:rPr>
              <a:t>Moduli: GRESB</a:t>
            </a:r>
            <a:endParaRPr lang="it-IT" sz="2200" i="1" dirty="0">
              <a:solidFill>
                <a:srgbClr val="0F62FE"/>
              </a:solidFill>
            </a:endParaRPr>
          </a:p>
          <a:p>
            <a:pPr>
              <a:buNone/>
            </a:pPr>
            <a:endParaRPr lang="it-IT" sz="2200" i="1" dirty="0">
              <a:solidFill>
                <a:srgbClr val="0F62FE"/>
              </a:solidFill>
            </a:endParaRPr>
          </a:p>
          <a:p>
            <a:r>
              <a:rPr lang="it-IT" sz="2000" dirty="0">
                <a:solidFill>
                  <a:srgbClr val="161616"/>
                </a:solidFill>
              </a:rPr>
              <a:t>Dalla analisi al benchmark 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C8864D1-1F01-7E0E-2518-BD192B0E84BF}"/>
              </a:ext>
            </a:extLst>
          </p:cNvPr>
          <p:cNvSpPr>
            <a:spLocks noGrp="1"/>
          </p:cNvSpPr>
          <p:nvPr/>
        </p:nvSpPr>
        <p:spPr>
          <a:xfrm>
            <a:off x="610314" y="5809940"/>
            <a:ext cx="2857128" cy="1714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00" b="0">
                <a:solidFill>
                  <a:srgbClr val="3A7165"/>
                </a:solidFill>
                <a:latin typeface="IBM Plex Sans" panose="020B0503050203000203" pitchFamily="34" charset="0"/>
              </a:defRPr>
            </a:pPr>
            <a:r>
              <a:rPr lang="it-IT" sz="1000">
                <a:solidFill>
                  <a:srgbClr val="3A7165"/>
                </a:solidFill>
                <a:latin typeface="IBM Plex Sans" panose="020B0503050203000203" pitchFamily="34" charset="0"/>
              </a:rPr>
              <a:t>Incontro di lavoro · 2026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C9D6DE2-37F8-03CC-EB5E-441BCF50A54A}"/>
              </a:ext>
            </a:extLst>
          </p:cNvPr>
          <p:cNvSpPr txBox="1"/>
          <p:nvPr/>
        </p:nvSpPr>
        <p:spPr>
          <a:xfrm>
            <a:off x="3891555" y="686069"/>
            <a:ext cx="6188978" cy="11970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normAutofit fontScale="25000" lnSpcReduction="20000"/>
          </a:bodyPr>
          <a:lstStyle/>
          <a:p>
            <a:r>
              <a:rPr lang="it-IT">
                <a:solidFill>
                  <a:srgbClr val="C6D4F5"/>
                </a:solidFill>
                <a:latin typeface="IBM Plex Sans Light"/>
              </a:rPr>
              <a:t>Dalla raccolta dei dati energetici alle decisioni: consumi, costi e performance degli edifici in un'unica piattaforma.</a:t>
            </a:r>
          </a:p>
        </p:txBody>
      </p:sp>
    </p:spTree>
    <p:extLst>
      <p:ext uri="{BB962C8B-B14F-4D97-AF65-F5344CB8AC3E}">
        <p14:creationId xmlns:p14="http://schemas.microsoft.com/office/powerpoint/2010/main" val="3798704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99F3-6BEC-284B-5B68-61D5EED4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1CF5CE-30E0-0D9B-178B-2FCC05BE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25" y="265794"/>
            <a:ext cx="5363465" cy="569140"/>
          </a:xfrm>
        </p:spPr>
        <p:txBody>
          <a:bodyPr>
            <a:normAutofit fontScale="90000"/>
          </a:bodyPr>
          <a:lstStyle/>
          <a:p>
            <a:r>
              <a:rPr lang="en-US" dirty="0"/>
              <a:t>API Energy Star e GRESB integrate in ENVIZI, </a:t>
            </a:r>
            <a:r>
              <a:rPr lang="en-US" dirty="0" err="1"/>
              <a:t>insieme</a:t>
            </a:r>
            <a:r>
              <a:rPr lang="en-US" dirty="0"/>
              <a:t> ai rating </a:t>
            </a:r>
            <a:r>
              <a:rPr lang="en-US" dirty="0" err="1"/>
              <a:t>indicativi</a:t>
            </a:r>
            <a:r>
              <a:rPr lang="en-US" dirty="0"/>
              <a:t> GRESB (Europa) NABERS (Australia) 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8E1738-113B-8386-A399-21EE0E82C1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837028"/>
            <a:ext cx="2477765" cy="4163387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it-IT" dirty="0"/>
              <a:t>Sede di esempio: One Penn Plaza, raggiungibile da ricerca globale o da Org Hierarchy sotto MREF Locations.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Envizi si integra con GRESB, NABERS ed Energy Star tramite API dedicate.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Questi moduli dispongono di materiale di abilitazione separato, disponibile su richiesta per Business Partner e clienti.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5D031C2-ED8E-F79B-CC1F-2B8772B953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84125" y="6401731"/>
            <a:ext cx="2477765" cy="19047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B013C4E7-819E-A17E-8824-DC83C41718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76447" y="6448031"/>
            <a:ext cx="128254" cy="126984"/>
          </a:xfrm>
        </p:spPr>
        <p:txBody>
          <a:bodyPr/>
          <a:lstStyle/>
          <a:p>
            <a:pPr>
              <a:spcAft>
                <a:spcPts val="300"/>
              </a:spcAft>
            </a:pPr>
            <a:fld id="{86CB4B4D-7CA3-9044-876B-883B54F8677D}" type="slidenum">
              <a:rPr lang="en-US" smtClean="0"/>
              <a:pPr>
                <a:spcAft>
                  <a:spcPts val="300"/>
                </a:spcAft>
              </a:pPr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B69471-716C-711F-BA77-72AE107F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95" y="555528"/>
            <a:ext cx="6132712" cy="574694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77952D1-2348-FE15-87F5-C4FCD30901F4}"/>
              </a:ext>
            </a:extLst>
          </p:cNvPr>
          <p:cNvSpPr txBox="1"/>
          <p:nvPr/>
        </p:nvSpPr>
        <p:spPr>
          <a:xfrm>
            <a:off x="3048832" y="2687756"/>
            <a:ext cx="6097664" cy="111793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fontAlgn="base"/>
            <a:r>
              <a:rPr lang="en-US" sz="1333" err="1">
                <a:latin typeface="IBM Plex Sans Light" panose="020B0503050203000203" pitchFamily="34" charset="0"/>
              </a:rPr>
              <a:t>Envizi</a:t>
            </a:r>
            <a:r>
              <a:rPr lang="en-US" sz="1333">
                <a:latin typeface="IBM Plex Sans Light" panose="020B0503050203000203" pitchFamily="34" charset="0"/>
              </a:rPr>
              <a:t> </a:t>
            </a:r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  <a:p>
            <a:pPr fontAlgn="base"/>
            <a:endParaRPr lang="en-US" sz="1333"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3180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DDAB-22A3-4E79-E0F2-4103F4D4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66EABF8-D3BB-0073-3327-5AE601D03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794" y="447"/>
            <a:ext cx="12190413" cy="685710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378D171A-A69F-EA4A-F00B-C0D4AAA42226}"/>
              </a:ext>
            </a:extLst>
          </p:cNvPr>
          <p:cNvSpPr>
            <a:spLocks noGrp="1"/>
          </p:cNvSpPr>
          <p:nvPr/>
        </p:nvSpPr>
        <p:spPr>
          <a:xfrm>
            <a:off x="794" y="447"/>
            <a:ext cx="5714256" cy="6857107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it-IT" sz="3599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BA59B5B-98F7-050B-CB68-1CB39AC4CA09}"/>
              </a:ext>
            </a:extLst>
          </p:cNvPr>
          <p:cNvSpPr>
            <a:spLocks noGrp="1"/>
          </p:cNvSpPr>
          <p:nvPr/>
        </p:nvSpPr>
        <p:spPr>
          <a:xfrm>
            <a:off x="610314" y="819490"/>
            <a:ext cx="3809504" cy="4952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00" b="1">
                <a:solidFill>
                  <a:srgbClr val="073E31"/>
                </a:solidFill>
                <a:latin typeface="IBM Plex Sans" panose="020B0503050203000203" pitchFamily="34" charset="0"/>
              </a:defRPr>
            </a:pPr>
            <a:r>
              <a:rPr sz="1725" b="1">
                <a:solidFill>
                  <a:srgbClr val="073E31"/>
                </a:solidFill>
              </a:rPr>
              <a:t>IBM Envizi</a:t>
            </a:r>
            <a:endParaRPr lang="it-IT" sz="1725" b="1">
              <a:solidFill>
                <a:srgbClr val="073E31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D57B869-F703-8373-A376-D6D0A6172C5C}"/>
              </a:ext>
            </a:extLst>
          </p:cNvPr>
          <p:cNvSpPr>
            <a:spLocks noGrp="1"/>
          </p:cNvSpPr>
          <p:nvPr/>
        </p:nvSpPr>
        <p:spPr>
          <a:xfrm>
            <a:off x="610314" y="1619486"/>
            <a:ext cx="11122958" cy="11904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it-IT" sz="3999" b="1" dirty="0">
                <a:solidFill>
                  <a:srgbClr val="161616"/>
                </a:solidFill>
              </a:rPr>
              <a:t>Decarbonizzazione</a:t>
            </a:r>
            <a:br>
              <a:rPr lang="it-IT" sz="3999" dirty="0"/>
            </a:br>
            <a:endParaRPr lang="it-IT" sz="3999" dirty="0"/>
          </a:p>
          <a:p>
            <a:pPr>
              <a:buNone/>
            </a:pPr>
            <a:endParaRPr lang="it-IT" sz="3999" b="1" dirty="0">
              <a:solidFill>
                <a:srgbClr val="161616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0FD2E2B-0B67-BBE1-069A-0D84071C7FB1}"/>
              </a:ext>
            </a:extLst>
          </p:cNvPr>
          <p:cNvSpPr>
            <a:spLocks noGrp="1"/>
          </p:cNvSpPr>
          <p:nvPr/>
        </p:nvSpPr>
        <p:spPr>
          <a:xfrm>
            <a:off x="610314" y="2128436"/>
            <a:ext cx="7583050" cy="857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</a:pPr>
            <a:br>
              <a:rPr lang="it-IT" sz="2000" dirty="0"/>
            </a:br>
            <a:r>
              <a:rPr lang="it-IT" sz="2200" dirty="0">
                <a:solidFill>
                  <a:srgbClr val="0F62FE"/>
                </a:solidFill>
              </a:rPr>
              <a:t>Moduli: </a:t>
            </a:r>
            <a:r>
              <a:rPr lang="it-IT" sz="2200" i="1" dirty="0">
                <a:solidFill>
                  <a:srgbClr val="0F62FE"/>
                </a:solidFill>
              </a:rPr>
              <a:t>Pianificazione e Targets</a:t>
            </a:r>
          </a:p>
          <a:p>
            <a:pPr>
              <a:buNone/>
            </a:pPr>
            <a:endParaRPr lang="it-IT" sz="2200" i="1" dirty="0">
              <a:solidFill>
                <a:srgbClr val="0F62FE"/>
              </a:solidFill>
            </a:endParaRPr>
          </a:p>
          <a:p>
            <a:r>
              <a:rPr lang="it-IT" sz="2000" dirty="0">
                <a:solidFill>
                  <a:srgbClr val="161616"/>
                </a:solidFill>
              </a:rPr>
              <a:t>Dalla analisi alla guida della decarbonizzazione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6F7D975-1D11-A548-443E-B458D5DADF75}"/>
              </a:ext>
            </a:extLst>
          </p:cNvPr>
          <p:cNvSpPr>
            <a:spLocks noGrp="1"/>
          </p:cNvSpPr>
          <p:nvPr/>
        </p:nvSpPr>
        <p:spPr>
          <a:xfrm>
            <a:off x="610314" y="5809940"/>
            <a:ext cx="2857128" cy="1714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00" b="0">
                <a:solidFill>
                  <a:srgbClr val="3A7165"/>
                </a:solidFill>
                <a:latin typeface="IBM Plex Sans" panose="020B0503050203000203" pitchFamily="34" charset="0"/>
              </a:defRPr>
            </a:pPr>
            <a:r>
              <a:rPr lang="it-IT" sz="1000">
                <a:solidFill>
                  <a:srgbClr val="3A7165"/>
                </a:solidFill>
                <a:latin typeface="IBM Plex Sans" panose="020B0503050203000203" pitchFamily="34" charset="0"/>
              </a:rPr>
              <a:t>Incontro di lavoro · 2026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0236BE2-E049-2836-3526-A64FC3A1708A}"/>
              </a:ext>
            </a:extLst>
          </p:cNvPr>
          <p:cNvSpPr txBox="1"/>
          <p:nvPr/>
        </p:nvSpPr>
        <p:spPr>
          <a:xfrm>
            <a:off x="3891555" y="686069"/>
            <a:ext cx="6188978" cy="11970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normAutofit fontScale="25000" lnSpcReduction="20000"/>
          </a:bodyPr>
          <a:lstStyle/>
          <a:p>
            <a:r>
              <a:rPr lang="it-IT">
                <a:solidFill>
                  <a:srgbClr val="C6D4F5"/>
                </a:solidFill>
                <a:latin typeface="IBM Plex Sans Light"/>
              </a:rPr>
              <a:t>Dalla raccolta dei dati energetici alle decisioni: consumi, costi e performance degli edifici in un'unica piattaforma.</a:t>
            </a:r>
          </a:p>
        </p:txBody>
      </p:sp>
    </p:spTree>
    <p:extLst>
      <p:ext uri="{BB962C8B-B14F-4D97-AF65-F5344CB8AC3E}">
        <p14:creationId xmlns:p14="http://schemas.microsoft.com/office/powerpoint/2010/main" val="178204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00BCA-6C36-71D6-0AA9-D43CE7AB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A4FA0F6-0F6E-282D-882C-A00AEDBE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445"/>
            <a:ext cx="4322815" cy="645330"/>
          </a:xfrm>
        </p:spPr>
        <p:txBody>
          <a:bodyPr>
            <a:normAutofit/>
          </a:bodyPr>
          <a:lstStyle/>
          <a:p>
            <a:r>
              <a:rPr lang="it-IT" dirty="0"/>
              <a:t>Programs – Business case caldaia</a:t>
            </a:r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6B4258-BF75-54E0-B1E7-014EBBFB9E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8986" y="746812"/>
            <a:ext cx="2477765" cy="5654918"/>
          </a:xfrm>
        </p:spPr>
        <p:txBody>
          <a:bodyPr>
            <a:normAutofit fontScale="92500"/>
          </a:bodyPr>
          <a:lstStyle/>
          <a:p>
            <a:pPr>
              <a:spcAft>
                <a:spcPts val="300"/>
              </a:spcAft>
            </a:pPr>
            <a:r>
              <a:rPr lang="it-IT" dirty="0"/>
              <a:t>Persona: Energy Manager / Facility Manager.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Caso d'uso: dalle dashboard UBA si individua una sede a elevata intensità di gas e si avvia l'iniziativa “Boiler upgrade”.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Il business case con i risparmi attesi viene importato in Envizi nel modulo Programs.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Navigazione: ricerca globale → Charlotte Watson Center → Quick links → More → Program Actions → Edit.</a:t>
            </a:r>
          </a:p>
          <a:p>
            <a:pPr>
              <a:spcAft>
                <a:spcPts val="300"/>
              </a:spcAft>
            </a:pPr>
            <a:endParaRPr lang="it-IT" dirty="0"/>
          </a:p>
          <a:p>
            <a:pPr>
              <a:spcAft>
                <a:spcPts val="300"/>
              </a:spcAft>
            </a:pPr>
            <a:r>
              <a:rPr lang="it-IT" dirty="0"/>
              <a:t>I dati del programma possono alimentare Planning Analytics per scenari e forecast.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0A593FF0-DAB3-0DC1-F3D1-63ED665C81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76447" y="6448031"/>
            <a:ext cx="128254" cy="126984"/>
          </a:xfrm>
        </p:spPr>
        <p:txBody>
          <a:bodyPr/>
          <a:lstStyle/>
          <a:p>
            <a:pPr>
              <a:spcAft>
                <a:spcPts val="300"/>
              </a:spcAft>
            </a:pPr>
            <a:fld id="{86CB4B4D-7CA3-9044-876B-883B54F8677D}" type="slidenum">
              <a:rPr lang="en-US" smtClean="0"/>
              <a:pPr>
                <a:spcAft>
                  <a:spcPts val="300"/>
                </a:spcAft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8A36B-3D3E-0152-D2BD-61B6F490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408" y="746812"/>
            <a:ext cx="6943632" cy="525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8110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2ED7E9FC-2826-883B-6C9C-E0188EC76E41}"/>
              </a:ext>
            </a:extLst>
          </p:cNvPr>
          <p:cNvSpPr txBox="1"/>
          <p:nvPr/>
        </p:nvSpPr>
        <p:spPr>
          <a:xfrm>
            <a:off x="617986" y="359329"/>
            <a:ext cx="6594675" cy="557075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900" b="1"/>
              <a:t>Conclusioni</a:t>
            </a:r>
          </a:p>
          <a:p>
            <a:pPr>
              <a:buNone/>
            </a:pPr>
            <a:endParaRPr lang="it-IT" sz="900" b="1"/>
          </a:p>
          <a:p>
            <a:pPr>
              <a:buNone/>
            </a:pPr>
            <a:r>
              <a:rPr lang="it-IT" sz="1600" b="1"/>
              <a:t>IBM </a:t>
            </a:r>
            <a:r>
              <a:rPr lang="it-IT" sz="1600" b="1" err="1"/>
              <a:t>Envizi</a:t>
            </a:r>
            <a:r>
              <a:rPr lang="it-IT" sz="1600" b="1"/>
              <a:t> trasforma i dati energetici in decisioni</a:t>
            </a:r>
          </a:p>
          <a:p>
            <a:pPr>
              <a:buNone/>
            </a:pPr>
            <a:endParaRPr lang="it-IT" sz="1600" b="1"/>
          </a:p>
          <a:p>
            <a:pPr>
              <a:buNone/>
            </a:pPr>
            <a:r>
              <a:rPr lang="it-IT" sz="1600"/>
              <a:t>Nel corso della demo abbiamo seguito il percorso completo dell’Energy Management: dalla raccolta dei dati provenienti da bollette e contatori fino all’identificazione delle opportunità di efficientamento e decarbonizzazione. </a:t>
            </a:r>
          </a:p>
          <a:p>
            <a:pPr>
              <a:buNone/>
            </a:pPr>
            <a:endParaRPr lang="it-IT" sz="1600"/>
          </a:p>
          <a:p>
            <a:pPr>
              <a:buNone/>
            </a:pPr>
            <a:r>
              <a:rPr lang="it-IT" sz="1600"/>
              <a:t>Attraverso il caso </a:t>
            </a:r>
            <a:r>
              <a:rPr lang="it-IT" sz="1600" err="1"/>
              <a:t>Alfago</a:t>
            </a:r>
            <a:r>
              <a:rPr lang="it-IT" sz="1600"/>
              <a:t> abbiamo mostrato come una piattaforma unica consenta di:</a:t>
            </a:r>
          </a:p>
          <a:p>
            <a:pPr>
              <a:buNone/>
            </a:pPr>
            <a:endParaRPr lang="it-IT" sz="16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it-IT" sz="1600" b="1"/>
              <a:t>misurare</a:t>
            </a:r>
            <a:r>
              <a:rPr lang="it-IT" sz="1600"/>
              <a:t> consumi, costi ed emissioni con dati affidabili e verificabili;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it-IT" sz="1600" b="1"/>
              <a:t>comprendere</a:t>
            </a:r>
            <a:r>
              <a:rPr lang="it-IT" sz="1600"/>
              <a:t> dove si concentrano inefficienze, anomalie e opportunità di miglioramento;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it-IT" sz="1600" b="1"/>
              <a:t>ottimizzare</a:t>
            </a:r>
            <a:r>
              <a:rPr lang="it-IT" sz="1600"/>
              <a:t> impianti, approvvigionamenti e investimenti sulla base di analisi oggettive.</a:t>
            </a:r>
          </a:p>
          <a:p>
            <a:pPr>
              <a:buNone/>
            </a:pPr>
            <a:endParaRPr lang="it-IT" sz="1600"/>
          </a:p>
          <a:p>
            <a:pPr>
              <a:buNone/>
            </a:pPr>
            <a:r>
              <a:rPr lang="it-IT" sz="1600"/>
              <a:t>Il valore di IBM </a:t>
            </a:r>
            <a:r>
              <a:rPr lang="it-IT" sz="1600" err="1"/>
              <a:t>Envizi</a:t>
            </a:r>
            <a:r>
              <a:rPr lang="it-IT" sz="1600"/>
              <a:t> non è semplicemente produrre dashboard, ma </a:t>
            </a:r>
            <a:r>
              <a:rPr lang="it-IT" sz="1600" b="1"/>
              <a:t>trasformare dati energetici complessi in informazioni utilizzabili dal management per prendere decisioni più rapide, misurabili e orientate alla riduzione di costi, emissioni e rischi operativi</a:t>
            </a:r>
            <a:r>
              <a:rPr lang="it-IT" sz="1600"/>
              <a:t>. </a:t>
            </a:r>
          </a:p>
          <a:p>
            <a:pPr>
              <a:buNone/>
            </a:pPr>
            <a:br>
              <a:rPr lang="it-IT" sz="900"/>
            </a:br>
            <a:endParaRPr lang="it-IT" sz="90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F7DEFB1-2A51-3797-9837-B4F263CA2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544" y="447"/>
            <a:ext cx="4581457" cy="68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558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3DB3-8204-FF67-F019-902CD9B0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4B1AE286-F3C5-4B70-0402-D479319B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794" y="447"/>
            <a:ext cx="12190413" cy="685710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33FFEB6F-8FBE-20A5-4F10-4AEA8294ADBA}"/>
              </a:ext>
            </a:extLst>
          </p:cNvPr>
          <p:cNvSpPr>
            <a:spLocks noGrp="1"/>
          </p:cNvSpPr>
          <p:nvPr/>
        </p:nvSpPr>
        <p:spPr>
          <a:xfrm>
            <a:off x="794" y="447"/>
            <a:ext cx="5714256" cy="6857107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it-IT" sz="3599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AC008BE-0F4F-665A-5891-37E50AF9F6D9}"/>
              </a:ext>
            </a:extLst>
          </p:cNvPr>
          <p:cNvSpPr>
            <a:spLocks noGrp="1"/>
          </p:cNvSpPr>
          <p:nvPr/>
        </p:nvSpPr>
        <p:spPr>
          <a:xfrm>
            <a:off x="610314" y="819490"/>
            <a:ext cx="3809504" cy="4952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00" b="1">
                <a:solidFill>
                  <a:srgbClr val="073E31"/>
                </a:solidFill>
                <a:latin typeface="IBM Plex Sans" panose="020B0503050203000203" pitchFamily="34" charset="0"/>
              </a:defRPr>
            </a:pPr>
            <a:r>
              <a:rPr sz="1725" b="1">
                <a:solidFill>
                  <a:srgbClr val="073E31"/>
                </a:solidFill>
              </a:rPr>
              <a:t>IBM Envizi</a:t>
            </a:r>
            <a:endParaRPr lang="it-IT" sz="1725" b="1">
              <a:solidFill>
                <a:srgbClr val="073E31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2E6FC0D-0B2A-58C3-E7AF-C8D50383B4E7}"/>
              </a:ext>
            </a:extLst>
          </p:cNvPr>
          <p:cNvSpPr>
            <a:spLocks noGrp="1"/>
          </p:cNvSpPr>
          <p:nvPr/>
        </p:nvSpPr>
        <p:spPr>
          <a:xfrm>
            <a:off x="610314" y="1619486"/>
            <a:ext cx="11122958" cy="11904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it-IT" sz="3999" b="1" dirty="0" err="1">
                <a:solidFill>
                  <a:srgbClr val="161616"/>
                </a:solidFill>
              </a:rPr>
              <a:t>Envizi</a:t>
            </a:r>
            <a:br>
              <a:rPr lang="it-IT" sz="3999" dirty="0"/>
            </a:br>
            <a:endParaRPr lang="it-IT" sz="3999" dirty="0"/>
          </a:p>
          <a:p>
            <a:pPr>
              <a:buNone/>
            </a:pPr>
            <a:endParaRPr lang="it-IT" sz="3999" b="1" dirty="0">
              <a:solidFill>
                <a:srgbClr val="161616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23942C5-476F-768B-8981-A69205A3D99B}"/>
              </a:ext>
            </a:extLst>
          </p:cNvPr>
          <p:cNvSpPr>
            <a:spLocks noGrp="1"/>
          </p:cNvSpPr>
          <p:nvPr/>
        </p:nvSpPr>
        <p:spPr>
          <a:xfrm>
            <a:off x="610314" y="2128436"/>
            <a:ext cx="7583050" cy="857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</a:pPr>
            <a:br>
              <a:rPr lang="it-IT" sz="2000" dirty="0"/>
            </a:br>
            <a:r>
              <a:rPr lang="it-IT" sz="2200" dirty="0">
                <a:solidFill>
                  <a:srgbClr val="0F62FE"/>
                </a:solidFill>
              </a:rPr>
              <a:t>Allegati</a:t>
            </a:r>
            <a:endParaRPr lang="it-IT" sz="2200" i="1" dirty="0">
              <a:solidFill>
                <a:srgbClr val="0F62FE"/>
              </a:solidFill>
            </a:endParaRPr>
          </a:p>
          <a:p>
            <a:pPr>
              <a:buNone/>
            </a:pPr>
            <a:endParaRPr lang="it-IT" sz="2200" i="1" dirty="0">
              <a:solidFill>
                <a:srgbClr val="0F62FE"/>
              </a:solidFill>
            </a:endParaRPr>
          </a:p>
          <a:p>
            <a:pPr>
              <a:buNone/>
            </a:pPr>
            <a:r>
              <a:rPr lang="it-IT" sz="2200" i="1" dirty="0"/>
              <a:t>Glossari</a:t>
            </a:r>
          </a:p>
          <a:p>
            <a:pPr>
              <a:buNone/>
            </a:pPr>
            <a:r>
              <a:rPr lang="it-IT" sz="2200" i="1" dirty="0"/>
              <a:t>Approfondimenti didattici</a:t>
            </a:r>
          </a:p>
          <a:p>
            <a:pPr>
              <a:buNone/>
            </a:pPr>
            <a:r>
              <a:rPr lang="it-IT" sz="2200" i="1" dirty="0"/>
              <a:t>Schede tecniche </a:t>
            </a:r>
            <a:r>
              <a:rPr lang="it-IT" sz="2200" i="1" dirty="0" err="1"/>
              <a:t>Envizi</a:t>
            </a:r>
            <a:endParaRPr lang="it-IT" sz="2200" i="1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8394798-65C9-37D2-A277-EACA7CD487F7}"/>
              </a:ext>
            </a:extLst>
          </p:cNvPr>
          <p:cNvSpPr>
            <a:spLocks noGrp="1"/>
          </p:cNvSpPr>
          <p:nvPr/>
        </p:nvSpPr>
        <p:spPr>
          <a:xfrm>
            <a:off x="610314" y="5809940"/>
            <a:ext cx="2857128" cy="1714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00" b="0">
                <a:solidFill>
                  <a:srgbClr val="3A7165"/>
                </a:solidFill>
                <a:latin typeface="IBM Plex Sans" panose="020B0503050203000203" pitchFamily="34" charset="0"/>
              </a:defRPr>
            </a:pPr>
            <a:r>
              <a:rPr lang="it-IT" sz="1000">
                <a:solidFill>
                  <a:srgbClr val="3A7165"/>
                </a:solidFill>
                <a:latin typeface="IBM Plex Sans" panose="020B0503050203000203" pitchFamily="34" charset="0"/>
              </a:rPr>
              <a:t>Incontro di lavoro · 2026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9ADAA6F-E860-47A5-6821-C089D0F67C04}"/>
              </a:ext>
            </a:extLst>
          </p:cNvPr>
          <p:cNvSpPr txBox="1"/>
          <p:nvPr/>
        </p:nvSpPr>
        <p:spPr>
          <a:xfrm>
            <a:off x="3891555" y="686069"/>
            <a:ext cx="6188978" cy="11970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normAutofit fontScale="25000" lnSpcReduction="20000"/>
          </a:bodyPr>
          <a:lstStyle/>
          <a:p>
            <a:r>
              <a:rPr lang="it-IT">
                <a:solidFill>
                  <a:srgbClr val="C6D4F5"/>
                </a:solidFill>
                <a:latin typeface="IBM Plex Sans Light"/>
              </a:rPr>
              <a:t>Dalla raccolta dei dati energetici alle decisioni: consumi, costi e performance degli edifici in un'unica piattaforma.</a:t>
            </a:r>
          </a:p>
        </p:txBody>
      </p:sp>
    </p:spTree>
    <p:extLst>
      <p:ext uri="{BB962C8B-B14F-4D97-AF65-F5344CB8AC3E}">
        <p14:creationId xmlns:p14="http://schemas.microsoft.com/office/powerpoint/2010/main" val="247468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BA49-3DD1-9B02-7F82-FF7FD270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B8A2DB-811B-BCC5-571A-392EA755E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0743" y="3188565"/>
            <a:ext cx="230832" cy="153888"/>
          </a:xfrm>
        </p:spPr>
        <p:txBody>
          <a:bodyPr/>
          <a:lstStyle/>
          <a:p>
            <a:pPr defTabSz="914507">
              <a:defRPr/>
            </a:pPr>
            <a:fld id="{86CB4B4D-7CA3-9044-876B-883B54F8677D}" type="slidenum">
              <a:rPr lang="en-US" sz="1000">
                <a:solidFill>
                  <a:srgbClr val="000000"/>
                </a:solidFill>
              </a:rPr>
              <a:pPr defTabSz="914507">
                <a:defRPr/>
              </a:pPr>
              <a:t>13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073C023-8BFE-8DAF-AA8C-C03EEFFBE690}"/>
              </a:ext>
            </a:extLst>
          </p:cNvPr>
          <p:cNvSpPr txBox="1"/>
          <p:nvPr/>
        </p:nvSpPr>
        <p:spPr>
          <a:xfrm>
            <a:off x="475673" y="752640"/>
            <a:ext cx="4595201" cy="400109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914507">
              <a:defRPr/>
            </a:pPr>
            <a:r>
              <a:rPr lang="it-IT" sz="1100" b="1">
                <a:solidFill>
                  <a:srgbClr val="000000"/>
                </a:solidFill>
                <a:latin typeface="IBM Plex Sans Light"/>
              </a:rPr>
              <a:t>Una Garanzia d’Origine (GO)</a:t>
            </a:r>
            <a:r>
              <a:rPr lang="it-IT" sz="1100">
                <a:solidFill>
                  <a:srgbClr val="000000"/>
                </a:solidFill>
                <a:latin typeface="IBM Plex Sans Light"/>
              </a:rPr>
              <a:t> è un certificato elettronico rilasciato per ogni </a:t>
            </a:r>
            <a:r>
              <a:rPr lang="it-IT" sz="1100" b="1">
                <a:solidFill>
                  <a:srgbClr val="000000"/>
                </a:solidFill>
                <a:latin typeface="IBM Plex Sans Light"/>
              </a:rPr>
              <a:t>1 MWh di energia elettrica prodotta da fonti rinnovabili</a:t>
            </a:r>
            <a:r>
              <a:rPr lang="it-IT" sz="1100">
                <a:solidFill>
                  <a:srgbClr val="000000"/>
                </a:solidFill>
                <a:latin typeface="IBM Plex Sans Light"/>
              </a:rPr>
              <a:t>. Il certificato attesta esclusivamente l’origine rinnovabile dell’energia, ma </a:t>
            </a:r>
            <a:r>
              <a:rPr lang="it-IT" sz="1100" b="1">
                <a:solidFill>
                  <a:srgbClr val="000000"/>
                </a:solidFill>
                <a:latin typeface="IBM Plex Sans Light"/>
              </a:rPr>
              <a:t>non comporta la fornitura fisica dell’elettricità</a:t>
            </a:r>
            <a:r>
              <a:rPr lang="it-IT" sz="1100">
                <a:solidFill>
                  <a:srgbClr val="000000"/>
                </a:solidFill>
                <a:latin typeface="IBM Plex Sans Light"/>
              </a:rPr>
              <a:t>: l’azienda continua infatti ad acquistare l’energia dalla rete elettrica, associandole però un certificato che ne dimostra la provenienza da fonti rinnovabili.</a:t>
            </a:r>
          </a:p>
          <a:p>
            <a:pPr defTabSz="914507">
              <a:defRPr/>
            </a:pP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 b="1">
                <a:solidFill>
                  <a:srgbClr val="000000"/>
                </a:solidFill>
                <a:latin typeface="IBM Plex Sans Light"/>
              </a:rPr>
              <a:t>Un PPA (Power Purchase Agreement)</a:t>
            </a:r>
            <a:r>
              <a:rPr lang="it-IT" sz="1100">
                <a:solidFill>
                  <a:srgbClr val="000000"/>
                </a:solidFill>
                <a:latin typeface="IBM Plex Sans Light"/>
              </a:rPr>
              <a:t>, invece, è un </a:t>
            </a:r>
            <a:r>
              <a:rPr lang="it-IT" sz="1100" b="1">
                <a:solidFill>
                  <a:srgbClr val="000000"/>
                </a:solidFill>
                <a:latin typeface="IBM Plex Sans Light"/>
              </a:rPr>
              <a:t>contratto di lungo periodo</a:t>
            </a:r>
            <a:r>
              <a:rPr lang="it-IT" sz="1100">
                <a:solidFill>
                  <a:srgbClr val="000000"/>
                </a:solidFill>
                <a:latin typeface="IBM Plex Sans Light"/>
              </a:rPr>
              <a:t> con il quale un’azienda si impegna ad acquistare energia elettrica direttamente da uno specifico produttore, generalmente da impianti fotovoltaici, eolici o idroelettrici. </a:t>
            </a:r>
            <a:r>
              <a:rPr lang="it-IT" sz="1100" b="1">
                <a:solidFill>
                  <a:srgbClr val="000000"/>
                </a:solidFill>
                <a:latin typeface="IBM Plex Sans Light"/>
              </a:rPr>
              <a:t>A differenza delle sole Garanzie d’Origine, il PPA collega l’acquisto dell’energia alla produzione di un determinato impianto</a:t>
            </a:r>
            <a:r>
              <a:rPr lang="it-IT" sz="1100">
                <a:solidFill>
                  <a:srgbClr val="000000"/>
                </a:solidFill>
                <a:latin typeface="IBM Plex Sans Light"/>
              </a:rPr>
              <a:t> e consente di definire in anticipo durata, quantità e spesso anche il prezzo dell’energia acquistata.</a:t>
            </a:r>
          </a:p>
          <a:p>
            <a:pPr defTabSz="914507">
              <a:defRPr/>
            </a:pP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>
                <a:solidFill>
                  <a:srgbClr val="000000"/>
                </a:solidFill>
                <a:latin typeface="IBM Plex Sans Light"/>
              </a:rPr>
              <a:t>Questa formulazione mette in evidenza la differenza fondamentale:</a:t>
            </a:r>
          </a:p>
          <a:p>
            <a:pPr defTabSz="914507">
              <a:defRPr/>
            </a:pPr>
            <a:r>
              <a:rPr lang="it-IT" sz="1100" b="1">
                <a:solidFill>
                  <a:srgbClr val="000000"/>
                </a:solidFill>
                <a:latin typeface="IBM Plex Sans Light"/>
              </a:rPr>
              <a:t>GO = certifica l’origine rinnovabile dell’energia acquistata.</a:t>
            </a: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 b="1">
                <a:solidFill>
                  <a:srgbClr val="000000"/>
                </a:solidFill>
                <a:latin typeface="IBM Plex Sans Light"/>
              </a:rPr>
              <a:t>PPA = contratto di acquisto dell’energia da uno specifico produttore, normalmente accompagnato dalle relative GO.</a:t>
            </a: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>
                <a:solidFill>
                  <a:srgbClr val="000000"/>
                </a:solidFill>
                <a:latin typeface="IBM Plex Sans Light"/>
              </a:rPr>
              <a:t>.</a:t>
            </a:r>
          </a:p>
          <a:p>
            <a:pPr defTabSz="914507">
              <a:defRPr/>
            </a:pPr>
            <a:endParaRPr lang="it-IT" sz="1200" b="1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062B531-D94D-9B4D-D23F-757035387128}"/>
              </a:ext>
            </a:extLst>
          </p:cNvPr>
          <p:cNvSpPr txBox="1"/>
          <p:nvPr/>
        </p:nvSpPr>
        <p:spPr>
          <a:xfrm>
            <a:off x="5310038" y="808455"/>
            <a:ext cx="6459226" cy="400109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914507">
              <a:defRPr/>
            </a:pPr>
            <a:r>
              <a:rPr lang="it-IT" sz="1100" b="1">
                <a:solidFill/>
                <a:latin typeface="IBM Plex Sans Light"/>
              </a:rPr>
              <a:t>Esempio per </a:t>
            </a:r>
            <a:r>
              <a:rPr lang="it-IT" sz="1100" b="1" err="1">
                <a:solidFill/>
                <a:latin typeface="IBM Plex Sans Light"/>
              </a:rPr>
              <a:t>Alfago</a:t>
            </a:r>
            <a:r>
              <a:rPr lang="it-IT" sz="1100" b="1">
                <a:solidFill/>
                <a:latin typeface="IBM Plex Sans Light"/>
              </a:rPr>
              <a:t> - </a:t>
            </a:r>
            <a:r>
              <a:rPr lang="it-IT" sz="1100">
                <a:solidFill/>
                <a:latin typeface="IBM Plex Sans Light"/>
              </a:rPr>
              <a:t>Supponiamo che </a:t>
            </a:r>
            <a:r>
              <a:rPr lang="it-IT" sz="1100" err="1">
                <a:solidFill/>
                <a:latin typeface="IBM Plex Sans Light"/>
              </a:rPr>
              <a:t>Alfago</a:t>
            </a:r>
            <a:r>
              <a:rPr lang="it-IT" sz="1100">
                <a:solidFill/>
                <a:latin typeface="IBM Plex Sans Light"/>
              </a:rPr>
              <a:t> consumi </a:t>
            </a:r>
            <a:r>
              <a:rPr lang="it-IT" sz="1100" b="1">
                <a:solidFill/>
                <a:latin typeface="IBM Plex Sans Light"/>
              </a:rPr>
              <a:t>1,7 GWh/anno</a:t>
            </a:r>
            <a:r>
              <a:rPr lang="it-IT" sz="1100">
                <a:solidFill/>
                <a:latin typeface="IBM Plex Sans Light"/>
              </a:rPr>
              <a:t>.</a:t>
            </a:r>
          </a:p>
          <a:p>
            <a:pPr defTabSz="914507">
              <a:defRPr/>
            </a:pP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>
                <a:solidFill/>
                <a:latin typeface="IBM Plex Sans Light"/>
              </a:rPr>
              <a:t>Oggi: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acquista energia dalla rete;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acquista GO per parte dei consumi;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il report mostra una copertura rinnovabile del </a:t>
            </a:r>
            <a:r>
              <a:rPr lang="it-IT" sz="1100" b="1">
                <a:solidFill/>
                <a:latin typeface="IBM Plex Sans Light"/>
              </a:rPr>
              <a:t>68,1%</a:t>
            </a:r>
            <a:r>
              <a:rPr lang="it-IT" sz="1100">
                <a:solidFill/>
                <a:latin typeface="IBM Plex Sans Light"/>
              </a:rPr>
              <a:t>.</a:t>
            </a:r>
          </a:p>
          <a:p>
            <a:pPr defTabSz="914507">
              <a:defRPr/>
            </a:pP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>
                <a:solidFill/>
                <a:latin typeface="IBM Plex Sans Light"/>
              </a:rPr>
              <a:t>Un’alternativa potrebbe essere: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stipulare un </a:t>
            </a:r>
            <a:r>
              <a:rPr lang="it-IT" sz="1100" b="1">
                <a:solidFill/>
                <a:latin typeface="IBM Plex Sans Light"/>
              </a:rPr>
              <a:t>PPA decennale</a:t>
            </a:r>
            <a:r>
              <a:rPr lang="it-IT" sz="1100">
                <a:solidFill/>
                <a:latin typeface="IBM Plex Sans Light"/>
              </a:rPr>
              <a:t> con un parco fotovoltaico;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acquistare, ad esempio, </a:t>
            </a:r>
            <a:r>
              <a:rPr lang="it-IT" sz="1100" b="1">
                <a:solidFill/>
                <a:latin typeface="IBM Plex Sans Light"/>
              </a:rPr>
              <a:t>700 MWh/anno</a:t>
            </a:r>
            <a:r>
              <a:rPr lang="it-IT" sz="1100">
                <a:solidFill/>
                <a:latin typeface="IBM Plex Sans Light"/>
              </a:rPr>
              <a:t> di energia rinnovabile tramite quel contratto.</a:t>
            </a:r>
          </a:p>
          <a:p>
            <a:pPr defTabSz="914507">
              <a:defRPr/>
            </a:pPr>
            <a:endParaRPr lang="it-IT" sz="1100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>
                <a:solidFill/>
                <a:latin typeface="IBM Plex Sans Light"/>
              </a:rPr>
              <a:t>In questo caso: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aumenta la quota di energia rinnovabile;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diminuiscono le emissioni </a:t>
            </a:r>
            <a:r>
              <a:rPr lang="it-IT" sz="1100" b="1">
                <a:solidFill/>
                <a:latin typeface="IBM Plex Sans Light"/>
              </a:rPr>
              <a:t>Market Based</a:t>
            </a:r>
            <a:r>
              <a:rPr lang="it-IT" sz="1100">
                <a:solidFill/>
                <a:latin typeface="IBM Plex Sans Light"/>
              </a:rPr>
              <a:t> dello Scope 2;</a:t>
            </a:r>
          </a:p>
          <a:p>
            <a:pPr marL="171416" indent="-171416" defTabSz="914507">
              <a:buFont typeface="Arial" panose="020B0604020202020204" pitchFamily="34" charset="0"/>
              <a:buChar char="•"/>
              <a:defRPr/>
            </a:pPr>
            <a:r>
              <a:rPr lang="it-IT" sz="1100">
                <a:solidFill/>
                <a:latin typeface="IBM Plex Sans Light"/>
              </a:rPr>
              <a:t>il costo dell’energia può essere più prevedibile nel tempo.</a:t>
            </a:r>
          </a:p>
          <a:p>
            <a:pPr defTabSz="914507">
              <a:defRPr/>
            </a:pPr>
            <a:endParaRPr lang="it-IT" sz="1200" b="1">
              <a:solidFill>
                <a:srgbClr val="000000"/>
              </a:solidFill>
              <a:latin typeface="IBM Plex Sans Light"/>
            </a:endParaRPr>
          </a:p>
          <a:p>
            <a:pPr defTabSz="914507">
              <a:defRPr/>
            </a:pPr>
            <a:r>
              <a:rPr lang="it-IT" sz="1100" b="1">
                <a:solidFill/>
                <a:latin typeface="IBM Plex Sans Light"/>
              </a:rPr>
              <a:t>Le On-site </a:t>
            </a:r>
            <a:r>
              <a:rPr lang="it-IT" sz="1100" b="1" err="1">
                <a:solidFill/>
                <a:latin typeface="IBM Plex Sans Light"/>
              </a:rPr>
              <a:t>Renewables</a:t>
            </a:r>
            <a:r>
              <a:rPr lang="it-IT" sz="1100" b="1">
                <a:solidFill/>
                <a:latin typeface="IBM Plex Sans Light"/>
              </a:rPr>
              <a:t> </a:t>
            </a:r>
            <a:r>
              <a:rPr lang="it-IT" sz="1100">
                <a:solidFill/>
                <a:latin typeface="IBM Plex Sans Light"/>
              </a:rPr>
              <a:t>rappresentano l’energia rinnovabile che l’azienda produce e utilizza direttamente nei propri impianti. Con le Garanzie d’Origine (certificati associati all’energia acquistata dalla rete che ne attestano la produzione da fonti rinnovabili)  contribuiscono a ridurre le emissioni Scope 2 calcolate con il metodo market-</a:t>
            </a:r>
            <a:r>
              <a:rPr lang="it-IT" sz="1100" err="1">
                <a:solidFill/>
                <a:latin typeface="IBM Plex Sans Light"/>
              </a:rPr>
              <a:t>based</a:t>
            </a:r>
            <a:r>
              <a:rPr lang="it-IT" sz="1100">
                <a:solidFill/>
                <a:latin typeface="IBM Plex Sans Light"/>
              </a:rPr>
              <a:t>, ma la prima agisce sul consumo fisico di energia, mentre la seconda sugli attributi ambientali dell’energia acquistata.</a:t>
            </a:r>
          </a:p>
          <a:p>
            <a:pPr defTabSz="914507">
              <a:defRPr/>
            </a:pPr>
            <a:endParaRPr lang="it-IT" sz="1100" b="1">
              <a:solidFill/>
              <a:latin typeface="IBM Plex Sans Light"/>
            </a:endParaRPr>
          </a:p>
          <a:p>
            <a:pPr defTabSz="914507">
              <a:defRPr/>
            </a:pPr>
            <a:endParaRPr lang="it-IT" sz="110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F1CB2C-293C-03CE-BB21-D31412314FFD}"/>
              </a:ext>
            </a:extLst>
          </p:cNvPr>
          <p:cNvSpPr txBox="1"/>
          <p:nvPr/>
        </p:nvSpPr>
        <p:spPr>
          <a:xfrm>
            <a:off x="475672" y="237489"/>
            <a:ext cx="6098081" cy="50143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normAutofit/>
          </a:bodyPr>
          <a:lstStyle/>
          <a:p>
            <a:pPr defTabSz="1218956">
              <a:spcBef>
                <a:spcPts val="1450"/>
              </a:spcBef>
              <a:buSzPct val="100000"/>
              <a:defRPr/>
            </a:pPr>
            <a:r>
              <a:rPr lang="it-IT" kern="0" err="1">
                <a:solidFill>
                  <a:srgbClr val="000000"/>
                </a:solidFill>
                <a:latin typeface="IBM Plex Sans Light"/>
                <a:sym typeface="IBM Plex Sans Light"/>
              </a:rPr>
              <a:t>Envizi</a:t>
            </a:r>
            <a:r>
              <a:rPr lang="it-IT" kern="0">
                <a:solidFill>
                  <a:srgbClr val="000000"/>
                </a:solidFill>
                <a:latin typeface="IBM Plex Sans Light"/>
                <a:sym typeface="IBM Plex Sans Light"/>
              </a:rPr>
              <a:t> e rendicontazione GO, PPA, On site </a:t>
            </a:r>
            <a:r>
              <a:rPr lang="it-IT" kern="0" err="1">
                <a:solidFill>
                  <a:srgbClr val="000000"/>
                </a:solidFill>
                <a:latin typeface="IBM Plex Sans Light"/>
                <a:sym typeface="IBM Plex Sans Light"/>
              </a:rPr>
              <a:t>renewables</a:t>
            </a:r>
            <a:endParaRPr lang="it-IT" kern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CD81225A-FEB7-15A5-1286-22737AD7F2B6}"/>
              </a:ext>
            </a:extLst>
          </p:cNvPr>
          <p:cNvGraphicFramePr>
            <a:graphicFrameLocks noGrp="1"/>
          </p:cNvGraphicFramePr>
          <p:nvPr/>
        </p:nvGraphicFramePr>
        <p:xfrm>
          <a:off x="422737" y="4481436"/>
          <a:ext cx="11293593" cy="195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4531">
                  <a:extLst>
                    <a:ext uri="{9D8B030D-6E8A-4147-A177-3AD203B41FA5}">
                      <a16:colId xmlns:a16="http://schemas.microsoft.com/office/drawing/2014/main" val="577265126"/>
                    </a:ext>
                  </a:extLst>
                </a:gridCol>
                <a:gridCol w="3764531">
                  <a:extLst>
                    <a:ext uri="{9D8B030D-6E8A-4147-A177-3AD203B41FA5}">
                      <a16:colId xmlns:a16="http://schemas.microsoft.com/office/drawing/2014/main" val="3225939350"/>
                    </a:ext>
                  </a:extLst>
                </a:gridCol>
                <a:gridCol w="3764531">
                  <a:extLst>
                    <a:ext uri="{9D8B030D-6E8A-4147-A177-3AD203B41FA5}">
                      <a16:colId xmlns:a16="http://schemas.microsoft.com/office/drawing/2014/main" val="3101886294"/>
                    </a:ext>
                  </a:extLst>
                </a:gridCol>
              </a:tblGrid>
              <a:tr h="2590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b="1" dirty="0">
                          <a:solidFill>
                            <a:schemeClr val="tx1"/>
                          </a:solidFill>
                          <a:effectLst/>
                        </a:rPr>
                        <a:t>Garanzie d’Origine (GO)</a:t>
                      </a:r>
                    </a:p>
                  </a:txBody>
                  <a:tcPr marL="57143" marR="57143" marT="38095" marB="3809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b="1" dirty="0">
                          <a:solidFill>
                            <a:schemeClr val="tx1"/>
                          </a:solidFill>
                          <a:effectLst/>
                        </a:rPr>
                        <a:t>PPA</a:t>
                      </a:r>
                    </a:p>
                  </a:txBody>
                  <a:tcPr marL="57143" marR="57143" marT="38095" marB="3809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b="1" dirty="0">
                          <a:solidFill>
                            <a:schemeClr val="tx1"/>
                          </a:solidFill>
                          <a:effectLst/>
                        </a:rPr>
                        <a:t>On-site </a:t>
                      </a:r>
                      <a:r>
                        <a:rPr lang="it-IT" sz="1200" b="1" dirty="0" err="1">
                          <a:solidFill>
                            <a:schemeClr val="tx1"/>
                          </a:solidFill>
                          <a:effectLst/>
                        </a:rPr>
                        <a:t>Renewables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7143" marR="57143" marT="38095" marB="38095" anchor="ctr"/>
                </a:tc>
                <a:extLst>
                  <a:ext uri="{0D108BD9-81ED-4DB2-BD59-A6C34878D82A}">
                    <a16:rowId xmlns:a16="http://schemas.microsoft.com/office/drawing/2014/main" val="3305345499"/>
                  </a:ext>
                </a:extLst>
              </a:tr>
              <a:tr h="6247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  <a:effectLst/>
                        </a:rPr>
                        <a:t>Certificano che una quantità equivalente di energia è stata prodotta da fonti rinnovabili.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  <a:effectLst/>
                        </a:rPr>
                        <a:t>Contratto di acquisto dell’energia direttamente da un produttore.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>
                          <a:solidFill>
                            <a:schemeClr val="tx1"/>
                          </a:solidFill>
                          <a:effectLst/>
                        </a:rPr>
                        <a:t>Energia rinnovabile prodotta e autoconsumata direttamente presso il sito aziendale (es. impianto fotovoltaico).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595550"/>
                  </a:ext>
                </a:extLst>
              </a:tr>
              <a:tr h="4419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  <a:effectLst/>
                        </a:rPr>
                        <a:t>Agiscono principalmente sull’attribuzione delle emissioni Market-Based.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  <a:effectLst/>
                        </a:rPr>
                        <a:t>Influenzano sia la strategia di approvvigionamento sia il profilo economico dell’energia.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>
                          <a:solidFill>
                            <a:schemeClr val="tx1"/>
                          </a:solidFill>
                          <a:effectLst/>
                        </a:rPr>
                        <a:t>Riducono direttamente il prelievo di energia dalla rete e le relative emissioni.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61264"/>
                  </a:ext>
                </a:extLst>
              </a:tr>
              <a:tr h="6247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  <a:effectLst/>
                        </a:rPr>
                        <a:t>Generalmente hanno un costo inferiore.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  <a:effectLst/>
                        </a:rPr>
                        <a:t>Sono impegni pluriennali con impatto strategico e finanziario.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  <a:effectLst/>
                        </a:rPr>
                        <a:t>Richiedono un investimento nell’impianto, ma generano benefici economici ed ambientali nel lungo periodo.</a:t>
                      </a:r>
                    </a:p>
                  </a:txBody>
                  <a:tcPr marL="57143" marR="57143" marT="38095" marB="380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33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8508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98B2F3-77B4-BC85-45C5-B876C865DCC4}"/>
              </a:ext>
            </a:extLst>
          </p:cNvPr>
          <p:cNvSpPr txBox="1"/>
          <p:nvPr/>
        </p:nvSpPr>
        <p:spPr>
          <a:xfrm>
            <a:off x="709040" y="618552"/>
            <a:ext cx="1044340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7"/>
            <a:r>
              <a:rPr lang="it-IT" sz="1400" b="1" dirty="0">
                <a:solidFill>
                  <a:prstClr val="black"/>
                </a:solidFill>
                <a:latin typeface="Aptos" panose="02110004020202020204"/>
              </a:rPr>
              <a:t>1. </a:t>
            </a:r>
            <a:r>
              <a:rPr lang="it-IT" sz="1400" b="1" dirty="0" err="1">
                <a:solidFill>
                  <a:prstClr val="black"/>
                </a:solidFill>
                <a:latin typeface="Aptos" panose="02110004020202020204"/>
              </a:rPr>
              <a:t>Interval</a:t>
            </a:r>
            <a:r>
              <a:rPr lang="it-IT" sz="1400" b="1" dirty="0">
                <a:solidFill>
                  <a:prstClr val="black"/>
                </a:solidFill>
                <a:latin typeface="Aptos" panose="02110004020202020204"/>
              </a:rPr>
              <a:t> Meter Analytics (contatori)</a:t>
            </a:r>
          </a:p>
          <a:p>
            <a:pPr defTabSz="914217"/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Qui </a:t>
            </a:r>
            <a:r>
              <a:rPr lang="it-IT" sz="1400" dirty="0" err="1">
                <a:solidFill>
                  <a:prstClr val="black"/>
                </a:solidFill>
                <a:latin typeface="Aptos" panose="02110004020202020204"/>
              </a:rPr>
              <a:t>Envizi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 dispone di un vero motore di </a:t>
            </a:r>
            <a:r>
              <a:rPr lang="it-IT" sz="1400" b="1" dirty="0">
                <a:solidFill>
                  <a:prstClr val="black"/>
                </a:solidFill>
                <a:latin typeface="Aptos" panose="02110004020202020204"/>
              </a:rPr>
              <a:t>Rules → Alerts → Issues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. Puoi configurare regole che generano automaticamente alert quando: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prstClr val="black"/>
                </a:solidFill>
                <a:latin typeface="Aptos" panose="02110004020202020204"/>
              </a:rPr>
              <a:t>non arrivano dati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 per un certo numero di ore o giorni (</a:t>
            </a:r>
            <a:r>
              <a:rPr lang="it-IT" sz="1400" i="1" dirty="0" err="1">
                <a:solidFill>
                  <a:prstClr val="black"/>
                </a:solidFill>
                <a:latin typeface="Aptos" panose="02110004020202020204"/>
              </a:rPr>
              <a:t>Inactivity</a:t>
            </a:r>
            <a:r>
              <a:rPr lang="it-IT" sz="1400" i="1" dirty="0">
                <a:solidFill>
                  <a:prstClr val="black"/>
                </a:solidFill>
                <a:latin typeface="Aptos" panose="02110004020202020204"/>
              </a:rPr>
              <a:t> Rule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);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viene superata una soglia assoluta di consumo o domanda (</a:t>
            </a:r>
            <a:r>
              <a:rPr lang="it-IT" sz="1400" i="1" dirty="0">
                <a:solidFill>
                  <a:prstClr val="black"/>
                </a:solidFill>
                <a:latin typeface="Aptos" panose="02110004020202020204"/>
              </a:rPr>
              <a:t>Absolute Rule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);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il consumo si discosta dal profilo atteso (</a:t>
            </a:r>
            <a:r>
              <a:rPr lang="it-IT" sz="1400" i="1" dirty="0" err="1">
                <a:solidFill>
                  <a:prstClr val="black"/>
                </a:solidFill>
                <a:latin typeface="Aptos" panose="02110004020202020204"/>
              </a:rPr>
              <a:t>Variance</a:t>
            </a:r>
            <a:r>
              <a:rPr lang="it-IT" sz="1400" i="1" dirty="0">
                <a:solidFill>
                  <a:prstClr val="black"/>
                </a:solidFill>
                <a:latin typeface="Aptos" panose="02110004020202020204"/>
              </a:rPr>
              <a:t> Rule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);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vengono rilevati pattern tipici di spreco energetico (</a:t>
            </a:r>
            <a:r>
              <a:rPr lang="it-IT" sz="1400" i="1" dirty="0">
                <a:solidFill>
                  <a:prstClr val="black"/>
                </a:solidFill>
                <a:latin typeface="Aptos" panose="02110004020202020204"/>
              </a:rPr>
              <a:t>Performance Rule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).  </a:t>
            </a:r>
          </a:p>
          <a:p>
            <a:pPr defTabSz="914217"/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Per esempio:</a:t>
            </a:r>
          </a:p>
          <a:p>
            <a:pPr defTabSz="914217"/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“Il contatore dello stabilimento di Segrate non trasmette dati da 6 ore.”</a:t>
            </a:r>
          </a:p>
          <a:p>
            <a:pPr defTabSz="914217"/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↓</a:t>
            </a:r>
          </a:p>
          <a:p>
            <a:pPr defTabSz="914217"/>
            <a:r>
              <a:rPr lang="it-IT" sz="1400" dirty="0" err="1">
                <a:solidFill>
                  <a:prstClr val="black"/>
                </a:solidFill>
                <a:latin typeface="Aptos" panose="02110004020202020204"/>
              </a:rPr>
              <a:t>Envizi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 crea un </a:t>
            </a:r>
            <a:r>
              <a:rPr lang="it-IT" sz="1400" b="1" dirty="0">
                <a:solidFill>
                  <a:prstClr val="black"/>
                </a:solidFill>
                <a:latin typeface="Aptos" panose="02110004020202020204"/>
              </a:rPr>
              <a:t>Alert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, apre automaticamente un </a:t>
            </a:r>
            <a:r>
              <a:rPr lang="it-IT" sz="1400" b="1" dirty="0" err="1">
                <a:solidFill>
                  <a:prstClr val="black"/>
                </a:solidFill>
                <a:latin typeface="Aptos" panose="02110004020202020204"/>
              </a:rPr>
              <a:t>Issue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, lo assegna al responsabile e può inviare una notifica e-mail.  </a:t>
            </a:r>
            <a:br>
              <a:rPr lang="it-IT" sz="1400" dirty="0">
                <a:solidFill>
                  <a:prstClr val="black"/>
                </a:solidFill>
                <a:latin typeface="Aptos" panose="02110004020202020204"/>
              </a:rPr>
            </a:br>
            <a:endParaRPr lang="it-IT" sz="1400" dirty="0">
              <a:solidFill>
                <a:prstClr val="black"/>
              </a:solidFill>
              <a:latin typeface="Aptos" panose="02110004020202020204"/>
            </a:endParaRPr>
          </a:p>
          <a:p>
            <a:pPr defTabSz="914217"/>
            <a:r>
              <a:rPr lang="it-IT" sz="1400" b="1" dirty="0">
                <a:solidFill>
                  <a:prstClr val="black"/>
                </a:solidFill>
                <a:latin typeface="Aptos" panose="02110004020202020204"/>
              </a:rPr>
              <a:t>2. Utility Bill Analytics (bollette)</a:t>
            </a:r>
          </a:p>
          <a:p>
            <a:pPr defTabSz="914217"/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Qui il comportamento è diverso.</a:t>
            </a:r>
          </a:p>
          <a:p>
            <a:pPr defTabSz="914217"/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Non esistono alert in tempo reale perché i dati arrivano con la frequenza delle bollette (mensili o bimestrali).</a:t>
            </a:r>
          </a:p>
          <a:p>
            <a:pPr defTabSz="914217"/>
            <a:r>
              <a:rPr lang="it-IT" sz="1400" dirty="0" err="1">
                <a:solidFill>
                  <a:prstClr val="black"/>
                </a:solidFill>
                <a:latin typeface="Aptos" panose="02110004020202020204"/>
              </a:rPr>
              <a:t>Envizi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 mette però a disposizione le dashboard </a:t>
            </a:r>
            <a:r>
              <a:rPr lang="it-IT" sz="1400" b="1" dirty="0">
                <a:solidFill>
                  <a:prstClr val="black"/>
                </a:solidFill>
                <a:latin typeface="Aptos" panose="02110004020202020204"/>
              </a:rPr>
              <a:t>Data Health Check</a:t>
            </a: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, che evidenziano: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account senza dati;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mesi mancanti;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giorni mancanti;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fornitori che non hanno inviato le fatture;</a:t>
            </a:r>
          </a:p>
          <a:p>
            <a:pPr marL="342831" indent="-342831" defTabSz="914217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copertura incompleta del periodo.</a:t>
            </a:r>
          </a:p>
          <a:p>
            <a:pPr defTabSz="914217"/>
            <a:r>
              <a:rPr lang="it-IT" sz="1400" dirty="0">
                <a:solidFill>
                  <a:prstClr val="black"/>
                </a:solidFill>
                <a:latin typeface="Aptos" panose="02110004020202020204"/>
              </a:rPr>
              <a:t>L’utente può poi fare drill-down fino all’account e correggere il problema.  </a:t>
            </a:r>
          </a:p>
        </p:txBody>
      </p:sp>
    </p:spTree>
    <p:extLst>
      <p:ext uri="{BB962C8B-B14F-4D97-AF65-F5344CB8AC3E}">
        <p14:creationId xmlns:p14="http://schemas.microsoft.com/office/powerpoint/2010/main" val="63214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9362" y="5641561"/>
            <a:ext cx="1087994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dirty="0">
                <a:solidFill>
                  <a:srgbClr val="073E31"/>
                </a:solidFill>
                <a:latin typeface="Calibri"/>
              </a:rPr>
              <a:t> </a:t>
            </a:r>
            <a:endParaRPr sz="240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790" y="274731"/>
            <a:ext cx="1005709" cy="7314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 sz="2000"/>
          </a:p>
        </p:txBody>
      </p:sp>
      <p:sp>
        <p:nvSpPr>
          <p:cNvPr id="5" name="TextBox 4"/>
          <p:cNvSpPr txBox="1"/>
          <p:nvPr/>
        </p:nvSpPr>
        <p:spPr>
          <a:xfrm>
            <a:off x="640790" y="457587"/>
            <a:ext cx="109073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7884" y="219874"/>
            <a:ext cx="2742843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 b="1" dirty="0">
                <a:solidFill>
                  <a:srgbClr val="0F62FE"/>
                </a:solidFill>
                <a:latin typeface="IBM Plex San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791" y="1280440"/>
            <a:ext cx="6217110" cy="603112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3799" b="1" dirty="0">
                <a:solidFill>
                  <a:srgbClr val="11233F"/>
                </a:solidFill>
                <a:latin typeface="IBM Plex San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790" y="2085006"/>
            <a:ext cx="1005709" cy="54857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09">
              <a:defRPr/>
            </a:pPr>
            <a:endParaRPr sz="9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790" y="2423292"/>
            <a:ext cx="5897112" cy="541685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700">
                <a:solidFill>
                  <a:srgbClr val="5B687A"/>
                </a:solidFill>
                <a:latin typeface="IBM Plex San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791" y="3822140"/>
            <a:ext cx="4205692" cy="264686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600" b="1" dirty="0">
                <a:solidFill>
                  <a:srgbClr val="11233F"/>
                </a:solidFill>
                <a:latin typeface="IBM Plex San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790" y="4206139"/>
            <a:ext cx="5119973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>
                <a:solidFill>
                  <a:srgbClr val="1F252E"/>
                </a:solidFill>
                <a:latin typeface="IBM Plex San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790" y="4516995"/>
            <a:ext cx="5302830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>
                <a:solidFill>
                  <a:srgbClr val="1F252E"/>
                </a:solidFill>
                <a:latin typeface="IBM Plex San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790" y="5047278"/>
            <a:ext cx="5302830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defTabSz="457109">
              <a:defRPr/>
            </a:pPr>
            <a:r>
              <a:rPr sz="1400" b="1" dirty="0" err="1">
                <a:solidFill>
                  <a:srgbClr val="0F62FE"/>
                </a:solidFill>
                <a:latin typeface="IBM Plex Sans"/>
              </a:rPr>
              <a:t>linkedin.com</a:t>
            </a:r>
            <a:r>
              <a:rPr sz="1400" b="1" dirty="0">
                <a:solidFill>
                  <a:srgbClr val="0F62FE"/>
                </a:solidFill>
                <a:latin typeface="IBM Plex Sans"/>
              </a:rPr>
              <a:t>/in/</a:t>
            </a:r>
            <a:r>
              <a:rPr sz="1400" b="1" dirty="0" err="1">
                <a:solidFill>
                  <a:srgbClr val="0F62FE"/>
                </a:solidFill>
                <a:latin typeface="IBM Plex Sans"/>
              </a:rPr>
              <a:t>fpetrignano</a:t>
            </a:r>
            <a:endParaRPr sz="1400" b="1" dirty="0">
              <a:solidFill>
                <a:srgbClr val="0F62FE"/>
              </a:solidFill>
              <a:latin typeface="IBM Plex San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040" y="640443"/>
            <a:ext cx="3794266" cy="5439972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09">
              <a:defRPr/>
            </a:pPr>
            <a:endParaRPr sz="9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0752" y="1079298"/>
            <a:ext cx="3062841" cy="233908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algn="ctr" defTabSz="457109">
              <a:defRPr/>
            </a:pPr>
            <a:r>
              <a:rPr sz="1400" b="1">
                <a:solidFill>
                  <a:srgbClr val="0F62FE"/>
                </a:solidFill>
                <a:latin typeface="IBM Plex San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453" y="1600438"/>
            <a:ext cx="2529438" cy="3154269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0752" y="5074706"/>
            <a:ext cx="3062841" cy="449352"/>
          </a:xfrm>
          <a:prstGeom prst="rect">
            <a:avLst/>
          </a:prstGeom>
          <a:noFill/>
        </p:spPr>
        <p:txBody>
          <a:bodyPr wrap="square" lIns="18286" tIns="9143" rIns="18286" bIns="9143">
            <a:spAutoFit/>
          </a:bodyPr>
          <a:lstStyle/>
          <a:p>
            <a:pPr algn="ctr" defTabSz="457109">
              <a:defRPr/>
            </a:pPr>
            <a:r>
              <a:rPr sz="1400" b="1">
                <a:solidFill>
                  <a:srgbClr val="11233F"/>
                </a:solidFill>
                <a:latin typeface="IBM Plex San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2284463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133" y="176831"/>
            <a:ext cx="3029167" cy="2670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1" tIns="0" rIns="36571" bIns="0" rtlCol="0" anchor="ctr">
            <a:noAutofit/>
          </a:bodyPr>
          <a:lstStyle/>
          <a:p>
            <a:pPr algn="ctr" defTabSz="914217">
              <a:defRPr/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IBM Envizi</a:t>
            </a:r>
            <a:endParaRPr lang="it-IT" sz="90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790" y="274731"/>
            <a:ext cx="1005709" cy="7314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defTabSz="914217">
              <a:defRPr/>
            </a:pPr>
            <a:endParaRPr lang="it-IT" sz="9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790" y="457587"/>
            <a:ext cx="10907372" cy="369284"/>
          </a:xfrm>
          <a:prstGeom prst="rect">
            <a:avLst/>
          </a:prstGeom>
          <a:noFill/>
        </p:spPr>
        <p:txBody>
          <a:bodyPr wrap="square" lIns="36571" tIns="0" rIns="36571" bIns="0" anchor="t">
            <a:noAutofit/>
          </a:bodyPr>
          <a:lstStyle/>
          <a:p>
            <a:pPr defTabSz="914217"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  <a:cs typeface="Calibri"/>
              </a:rPr>
              <a:t>Riferimenti ufficiali</a:t>
            </a:r>
            <a:r>
              <a:rPr sz="2400" b="1">
                <a:solidFill>
                  <a:srgbClr val="073E31"/>
                </a:solidFill>
                <a:latin typeface="Calibri"/>
                <a:cs typeface="Calibri"/>
              </a:rPr>
              <a:t>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790" y="1509010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3"/>
              </a:rPr>
              <a:t>Utility Bill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790" y="1984436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Analisi di costi, consumi e anomalie delle utenze.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790" y="2752433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4"/>
              </a:rPr>
              <a:t>Report e controlli sulle bollette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790" y="3227858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Scostamenti, lacune e sovrapposizioni nei dati.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790" y="3995855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5"/>
              </a:rPr>
              <a:t>Interval Metering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90" y="4471280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Dati a intervalli, contatori e viste di dettaglio.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04" y="1509010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6"/>
              </a:rPr>
              <a:t>Benchmark e contatori virtuali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04" y="1984436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Intensità normalizzate e modellazione dei carichi.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04" y="2752433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7"/>
              </a:rPr>
              <a:t>Regole, alert e issue dei contatori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04" y="3227858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Condizioni, assegnazioni e notifiche configurabili.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04" y="3995855"/>
            <a:ext cx="507425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u="sng">
                <a:solidFill>
                  <a:srgbClr val="144D40"/>
                </a:solidFill>
                <a:latin typeface="Calibri"/>
                <a:hlinkClick r:id="rId8"/>
              </a:rPr>
              <a:t>Alert di inattività degli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04" y="4471280"/>
            <a:ext cx="5074259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>
                <a:solidFill>
                  <a:srgbClr val="333333"/>
                </a:solidFill>
                <a:latin typeface="Calibri"/>
              </a:rPr>
              <a:t>Segnalazioni quando mancano i dati attesi.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790" y="5650703"/>
            <a:ext cx="1090737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500">
                <a:solidFill>
                  <a:srgbClr val="333333"/>
                </a:solidFill>
                <a:latin typeface="Calibri"/>
              </a:rPr>
              <a:t>Documentazione IBM in inglese. Consultazione: 9 ottobre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4840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2572</Words>
  <Application>Microsoft Macintosh PowerPoint</Application>
  <PresentationFormat>Widescreen</PresentationFormat>
  <Paragraphs>286</Paragraphs>
  <Slides>17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IBM Plex Sans</vt:lpstr>
      <vt:lpstr>IBM Plex Sans Light</vt:lpstr>
      <vt:lpstr>Times New Roman</vt:lpstr>
      <vt:lpstr>Tema di Office</vt:lpstr>
      <vt:lpstr>Presentazione standard di PowerPoint</vt:lpstr>
      <vt:lpstr>Presentazione standard di PowerPoint</vt:lpstr>
      <vt:lpstr>Account Data Health Check</vt:lpstr>
      <vt:lpstr>Meter Data Health Check</vt:lpstr>
      <vt:lpstr>Accounts Incomplete Data</vt:lpstr>
      <vt:lpstr>Presentazione standard di PowerPoint</vt:lpstr>
      <vt:lpstr>Presentazione standard di PowerPoint</vt:lpstr>
      <vt:lpstr>API Energy Star e GRESB integrate in ENVIZI, insieme ai rating indicativi GRESB (Europa) NABERS (Australia)  </vt:lpstr>
      <vt:lpstr>Presentazione standard di PowerPoint</vt:lpstr>
      <vt:lpstr>Programs – Business case caldaia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19</cp:revision>
  <dcterms:created xsi:type="dcterms:W3CDTF">2026-10-09T13:31:22Z</dcterms:created>
  <dcterms:modified xsi:type="dcterms:W3CDTF">2026-10-14T09:52:25Z</dcterms:modified>
</cp:coreProperties>
</file>