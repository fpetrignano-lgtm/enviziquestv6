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2"/>
  </p:notesMasterIdLst>
  <p:sldIdLst>
    <p:sldId id="635" r:id="rId3"/>
    <p:sldId id="260" r:id="rId4"/>
    <p:sldId id="268" r:id="rId5"/>
    <p:sldId id="524" r:id="rId6"/>
    <p:sldId id="530" r:id="rId7"/>
    <p:sldId id="529" r:id="rId8"/>
    <p:sldId id="591" r:id="rId9"/>
    <p:sldId id="590" r:id="rId10"/>
    <p:sldId id="593" r:id="rId11"/>
    <p:sldId id="324" r:id="rId12"/>
    <p:sldId id="604" r:id="rId13"/>
    <p:sldId id="600" r:id="rId14"/>
    <p:sldId id="605" r:id="rId15"/>
    <p:sldId id="305" r:id="rId16"/>
    <p:sldId id="304" r:id="rId17"/>
    <p:sldId id="306" r:id="rId18"/>
    <p:sldId id="373" r:id="rId19"/>
    <p:sldId id="592" r:id="rId20"/>
    <p:sldId id="607" r:id="rId21"/>
    <p:sldId id="608" r:id="rId22"/>
    <p:sldId id="610" r:id="rId23"/>
    <p:sldId id="594" r:id="rId24"/>
    <p:sldId id="597" r:id="rId25"/>
    <p:sldId id="596" r:id="rId26"/>
    <p:sldId id="598" r:id="rId27"/>
    <p:sldId id="611" r:id="rId28"/>
    <p:sldId id="601" r:id="rId29"/>
    <p:sldId id="402" r:id="rId30"/>
    <p:sldId id="2147472656" r:id="rId3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97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https://www.ibm.com/docs/en/envizi-esg-suite?topic=started-getting-users</a:t>
            </a:r>
          </a:p>
          <a:p>
            <a:r>
              <a:rPr lang="it-IT"/>
              <a:t>https://www.ibm.com/docs/en/envizi-esg-suite?topic=modules-surveys-assessments</a:t>
            </a:r>
          </a:p>
          <a:p>
            <a:r>
              <a:rPr lang="it-IT"/>
              <a:t>https://www.ibm.com/docs/en/envizi-esg-suite?topic=bulk-loading-account-data-in</a:t>
            </a:r>
          </a:p>
          <a:p>
            <a:r>
              <a:rPr lang="it-IT"/>
              <a:t>https://www.ibm.com/docs/en/envizi-esg-suite?topic=administering-setting-up-data-flow-automation</a:t>
            </a:r>
          </a:p>
          <a:p>
            <a:r>
              <a:rPr lang="it-IT"/>
              <a:t>https://www.ibm.com/docs/en/envizi-esg-suite?topic=addons-connectors</a:t>
            </a:r>
          </a:p>
          <a:p>
            <a:r>
              <a:rPr lang="it-IT"/>
              <a:t>https://developer.ibm.com/tutorials/awb-envizi-integration-hub/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started-getting-users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modules-surveys-assessments</a:t>
            </a:r>
            <a:endParaRPr/>
          </a:p>
          <a:p>
            <a:r>
              <a:rPr lang="it-IT"/>
              <a:t>https://www.ibm.com/docs/en/envizi-esg-suite?topic=bulk-loading-account-data-in</a:t>
            </a:r>
          </a:p>
          <a:p>
            <a:r>
              <a:rPr lang="it-IT"/>
              <a:t>https://www.ibm.com/docs/en/envizi-esg-suite?topic=administering-setting-up-data-flow-automation</a:t>
            </a:r>
          </a:p>
          <a:p>
            <a:r>
              <a:rPr lang="it-IT"/>
              <a:t>https://www.ibm.com/docs/en/envizi-esg-suite?topic=addons-connectors</a:t>
            </a:r>
          </a:p>
          <a:p>
            <a:r>
              <a:rPr lang="it-IT"/>
              <a:t>https://developer.ibm.com/tutorials/awb-envizi-integration-hub/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started-getting-users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modules-surveys-assessments</a:t>
            </a:r>
            <a:endParaRPr/>
          </a:p>
          <a:p>
            <a:r>
              <a:rPr lang="it-IT"/>
              <a:t>https://www.ibm.com/docs/en/envizi-esg-suite?topic=bulk-loading-account-data-in</a:t>
            </a:r>
          </a:p>
          <a:p>
            <a:r>
              <a:rPr lang="it-IT"/>
              <a:t>https://www.ibm.com/docs/en/envizi-esg-suite?topic=administering-setting-up-data-flow-automation</a:t>
            </a:r>
          </a:p>
          <a:p>
            <a:r>
              <a:rPr lang="it-IT"/>
              <a:t>https://www.ibm.com/docs/en/envizi-esg-suite?topic=addons-connectors</a:t>
            </a:r>
          </a:p>
          <a:p>
            <a:r>
              <a:rPr lang="it-IT"/>
              <a:t>https://developer.ibm.com/tutorials/awb-envizi-integration-hub/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started-getting-users</a:t>
            </a:r>
          </a:p>
          <a:p>
            <a:r>
              <a:rPr lang="it-IT"/>
              <a:t>https://www.ibm.com/docs/en/envizi-esg-suite?topic=modules-surveys-assessments</a:t>
            </a:r>
            <a:endParaRPr/>
          </a:p>
          <a:p>
            <a:r>
              <a:t>https://www.ibm.com/docs/en/envizi-esg-suite?topic=</a:t>
            </a:r>
            <a:r>
              <a:rPr lang="it-IT"/>
              <a:t>bulk-loading-account-data-in</a:t>
            </a:r>
            <a:endParaRPr/>
          </a:p>
          <a:p>
            <a:r>
              <a:rPr lang="it-IT"/>
              <a:t>https://www.ibm.com/docs/en/envizi-esg-suite?topic=administering-setting-up-data-flow-automation</a:t>
            </a:r>
          </a:p>
          <a:p>
            <a:r>
              <a:rPr lang="it-IT"/>
              <a:t>https://www.ibm.com/docs/en/envizi-esg-suite?topic=addons-connectors</a:t>
            </a:r>
          </a:p>
          <a:p>
            <a:r>
              <a:rPr lang="it-IT"/>
              <a:t>https://developer.ibm.com/tutorials/awb-envizi-integration-hub/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4409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6960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176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3182E-C2E6-C2DF-8FC2-963837EC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DBE462-82B2-47A2-D2C7-C23B26927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212D59C-CFCB-E70C-1B82-01EF1D22E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51C2C2A-213F-289E-0AFA-7F7659970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2719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7080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D2E4-9B6F-CD3D-C46D-E504372FE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40CE62B-7D3F-D94F-4CD4-E694B07D8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255FC67-CDF3-A663-1FF6-55A156919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7F309B-3A97-E3F0-ADAC-11E4C3A1B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318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8610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6768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F614-30CB-13DF-4BEC-DA463726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510C31-E290-2B49-CA40-121E86EEE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F7B7CD5-4DA1-CDFB-508E-1BA5DCD5F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6328E7-62AD-1F2C-9B28-7C5D0F95D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5112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270AB-B830-83EE-9778-25C790A1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5E3F0B0-03EA-34E3-AA98-C1DD44246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E25A9C8-002E-0964-3C50-04D97E50B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A6C3E4-F69B-F167-A565-A42891989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6458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C3F5E-9153-80A2-E1EE-8FB99D68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1802230-F42C-517D-2D55-EF91FB622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0AA74FC-6A92-2C98-FA6D-A688956A1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9BCB90-9094-62D7-9278-C6D5B99A5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06293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9C3B-36C1-C8D2-CAAB-F50889D3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9424F67-68D7-AA6E-C490-993CF9AA1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849FAE0-303E-7BDF-B592-FCB3581C4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7E1A90C-0EF9-E387-8941-8598624EB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3707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7672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started-getting-users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modules-surveys-assessments</a:t>
            </a:r>
            <a:endParaRPr/>
          </a:p>
          <a:p>
            <a:r>
              <a:t>https://www.ibm.com/docs/en/envizi-esg-suite?topic=</a:t>
            </a:r>
            <a:r>
              <a:rPr lang="it-IT"/>
              <a:t>bulk-loading-account-data-in</a:t>
            </a:r>
            <a:endParaRPr/>
          </a:p>
          <a:p>
            <a:r>
              <a:t>https://www.ibm.com/docs/en/envizi-esg-suite?topic=</a:t>
            </a:r>
            <a:r>
              <a:rPr lang="it-IT"/>
              <a:t>administering-setting-up-data-flow-automation</a:t>
            </a:r>
          </a:p>
          <a:p>
            <a:r>
              <a:rPr lang="it-IT"/>
              <a:t>https://www.ibm.com/docs/en/envizi-esg-suite?topic=addons-connectors</a:t>
            </a:r>
          </a:p>
          <a:p>
            <a:r>
              <a:rPr lang="it-IT"/>
              <a:t>https://developer.ibm.com/tutorials/awb-envizi-integration-hub/</a:t>
            </a:r>
            <a:endParaRPr/>
          </a:p>
          <a:p>
            <a:r>
              <a:rPr lang="it-IT"/>
              <a:t>Consultazione: 9 ottobre 2026</a:t>
            </a:r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902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09EA-57CA-9A71-E391-10854E66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5E42-6EB0-A758-C7D1-BC518D2A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A591-A2B3-4B14-0740-EE8764D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BF0D-213E-F34D-93C6-37AB37C29CAE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7C6F-92F8-28B6-9CB9-837A1375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189C-1C89-B914-D8D5-484BDDB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04AF-6D8B-754A-9FED-073057245C1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2232729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09784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3675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ESG Data &amp; Environmental Intelligence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22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55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7220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019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7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ibm.com/tutorials/awb-envizi-integration-hub/" TargetMode="External"/><Relationship Id="rId3" Type="http://schemas.openxmlformats.org/officeDocument/2006/relationships/hyperlink" Target="https://www.ibm.com/docs/en/envizi-esg-suite?topic=started-getting-users" TargetMode="External"/><Relationship Id="rId7" Type="http://schemas.openxmlformats.org/officeDocument/2006/relationships/hyperlink" Target="https://www.ibm.com/docs/en/envizi-esg-suite?topic=addons-connector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docs/en/envizi-esg-suite?topic=administering-setting-up-data-flow-automation" TargetMode="External"/><Relationship Id="rId5" Type="http://schemas.openxmlformats.org/officeDocument/2006/relationships/hyperlink" Target="https://www.ibm.com/docs/en/envizi-esg-suite?topic=bulk-loading-account-data-in" TargetMode="External"/><Relationship Id="rId4" Type="http://schemas.openxmlformats.org/officeDocument/2006/relationships/hyperlink" Target="https://www.ibm.com/docs/en/envizi-esg-suite?topic=modules-surveys-assessm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Raccolta e integrazione dei 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dati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 ESG in IBM Envizi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Obiettivi del capitolo</a:t>
            </a:r>
          </a:p>
          <a:p>
            <a:endParaRPr lang="en-US" b="1"/>
          </a:p>
          <a:p>
            <a:r>
              <a:rPr lang="en-US"/>
              <a:t>Questo capitolo presenta le modalità di raccolta dei dati in IBM Envizi, dall’inserimento manuale alle survey e ai flussi di integrazione automatizzati.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Al termine del capitolo il partecipante sarà in grado di:</a:t>
            </a:r>
          </a:p>
          <a:p>
            <a:endParaRPr lang="en-US" b="1"/>
          </a:p>
          <a:p>
            <a:pPr lvl="0"/>
            <a:r>
              <a:rPr lang="en-US"/>
              <a:t>scegliere la modalità di raccolta in base a sorgenti e volumi di dati</a:t>
            </a:r>
          </a:p>
          <a:p>
            <a:pPr lvl="0">
              <a:lnSpc>
                <a:spcPct val="150000"/>
              </a:lnSpc>
            </a:pPr>
            <a:r>
              <a:rPr lang="en-US"/>
              <a:t>riconoscere le funzioni di Data Capture e Surveys + Assessments</a:t>
            </a:r>
          </a:p>
          <a:p>
            <a:pPr lvl="0">
              <a:lnSpc>
                <a:spcPct val="150000"/>
              </a:lnSpc>
            </a:pPr>
            <a:r>
              <a:rPr lang="en-US"/>
              <a:t>distinguere i template per singolo Account Style, PM&amp;C e Flat File</a:t>
            </a:r>
          </a:p>
          <a:p>
            <a:pPr lvl="0">
              <a:lnSpc>
                <a:spcPct val="150000"/>
              </a:lnSpc>
            </a:pPr>
            <a:r>
              <a:rPr lang="en-US"/>
              <a:t>valutare quando servono trasformazioni dei dati e connettori</a:t>
            </a:r>
          </a:p>
          <a:p>
            <a:pPr lvl="0">
              <a:lnSpc>
                <a:spcPct val="150000"/>
              </a:lnSpc>
            </a:pPr>
            <a:r>
              <a:rPr lang="en-US"/>
              <a:t>definire un percorso progressivo di automazione della raccolta</a:t>
            </a:r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Contenuti</a:t>
            </a:r>
          </a:p>
          <a:p>
            <a:endParaRPr lang="en-US" sz="2400" b="1"/>
          </a:p>
          <a:p>
            <a:pPr lvl="0">
              <a:lnSpc>
                <a:spcPct val="150000"/>
              </a:lnSpc>
            </a:pPr>
            <a:r>
              <a:rPr lang="en-US"/>
              <a:t>Configurazione della raccolta e responsabilità operative</a:t>
            </a:r>
          </a:p>
          <a:p>
            <a:pPr lvl="0">
              <a:lnSpc>
                <a:spcPct val="150000"/>
              </a:lnSpc>
            </a:pPr>
            <a:r>
              <a:rPr lang="en-US"/>
              <a:t>Architettura dati e modalità di acquisizione in IBM Envizi</a:t>
            </a:r>
          </a:p>
          <a:p>
            <a:pPr lvl="0">
              <a:lnSpc>
                <a:spcPct val="150000"/>
              </a:lnSpc>
            </a:pPr>
            <a:r>
              <a:rPr lang="en-US"/>
              <a:t>Inserimento manuale tramite interfaccia web e Data Capture</a:t>
            </a:r>
          </a:p>
          <a:p>
            <a:pPr lvl="0">
              <a:lnSpc>
                <a:spcPct val="150000"/>
              </a:lnSpc>
            </a:pPr>
            <a:r>
              <a:rPr lang="en-US"/>
              <a:t>Surveys + Assessments: questionari, workflow e scoring</a:t>
            </a:r>
          </a:p>
          <a:p>
            <a:pPr lvl="0">
              <a:lnSpc>
                <a:spcPct val="150000"/>
              </a:lnSpc>
            </a:pPr>
            <a:r>
              <a:rPr lang="en-US"/>
              <a:t>Template Excel: Account Setup and Data Load, PM&amp;C e Flat File</a:t>
            </a:r>
          </a:p>
          <a:p>
            <a:pPr lvl="0">
              <a:lnSpc>
                <a:spcPct val="150000"/>
              </a:lnSpc>
            </a:pPr>
            <a:r>
              <a:rPr lang="en-US"/>
              <a:t>Connettori e trasformazione dei dati dai sistemi sorgente</a:t>
            </a:r>
          </a:p>
          <a:p>
            <a:pPr lvl="0">
              <a:lnSpc>
                <a:spcPct val="150000"/>
              </a:lnSpc>
            </a:pPr>
            <a:r>
              <a:rPr lang="en-US"/>
              <a:t>Integrazione tramite file e API</a:t>
            </a:r>
          </a:p>
          <a:p>
            <a:pPr lvl="0">
              <a:lnSpc>
                <a:spcPct val="150000"/>
              </a:lnSpc>
            </a:pPr>
            <a:r>
              <a:rPr lang="en-US"/>
              <a:t>Confronto delle modalità e percorso di automazione progressiva</a:t>
            </a:r>
          </a:p>
          <a:p>
            <a:r>
              <a:rPr lang="en-US"/>
              <a:t>Riferimenti alla documentazione e alle risorse ufficiali IBM</a:t>
            </a:r>
          </a:p>
          <a:p>
            <a:endParaRPr lang="en-US"/>
          </a:p>
          <a:p>
            <a:r>
              <a:rPr lang="en-US" b="1"/>
              <a:t>Le schermate illustrano l’ambiente demo. Funzioni e canali di raccolta dipendono dai permessi, dai moduli attivi e dalla configurazione dell’istanza.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8A2D375A-93C6-74FE-EC20-720C31E7E94A}"/>
              </a:ext>
            </a:extLst>
          </p:cNvPr>
          <p:cNvSpPr txBox="1"/>
          <p:nvPr/>
        </p:nvSpPr>
        <p:spPr>
          <a:xfrm>
            <a:off x="353961" y="105809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Amministratore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referenti dei dati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Configurazione della raccolta</a:t>
            </a: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Account Styles e campi da raccogliere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Template e canali di caricamento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Permessi degli utenti coinvolti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Controllo dei flussi e dei dati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Regole di validazione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gestione delle anomalie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Controllo degli esiti di caricamento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Coordinamento con i responsabili delle sorgenti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53B2D87-94E8-6593-7EBD-F52FA715B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504" y="2163774"/>
            <a:ext cx="3144058" cy="3770671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48E9DFA-B5A3-01AB-7A53-4C116A5597F1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Configurazione e controllo della raccolta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2B61D6AD-61ED-7124-3EC3-DCE5389539D9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3263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65C1-AE4E-438F-16A7-DBCF272E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E205728F-B800-D653-EE2D-95944B75C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427" y="1424741"/>
            <a:ext cx="3609445" cy="418621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2C33459D-A4F0-AED5-A0F3-2C695F88EF63}"/>
              </a:ext>
            </a:extLst>
          </p:cNvPr>
          <p:cNvSpPr txBox="1"/>
          <p:nvPr/>
        </p:nvSpPr>
        <p:spPr>
          <a:xfrm>
            <a:off x="734381" y="13270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b="1" dirty="0"/>
              <a:t>Utenti di business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2E06A12-3EAC-6A0A-8529-F2E54E8C5692}"/>
              </a:ext>
            </a:extLst>
          </p:cNvPr>
          <p:cNvSpPr txBox="1"/>
          <p:nvPr/>
        </p:nvSpPr>
        <p:spPr>
          <a:xfrm>
            <a:off x="626224" y="227814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Caricamento tramite template Excel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Importazione automatica di file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Integrazione tramite API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Inserimento diretto tramite UI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Survey e raccolta distribuita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Tracciabilità completa dell’origine dei dati</a:t>
            </a:r>
          </a:p>
        </p:txBody>
      </p:sp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49F0869-50D0-794C-74F8-A7681C301882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Acquisizione e integrazione dati</a:t>
            </a: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398FD7B3-9CCC-6204-C20F-6B02EFA60697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44879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ottotitolo"/>
          <p:cNvSpPr txBox="1"/>
          <p:nvPr/>
        </p:nvSpPr>
        <p:spPr>
          <a:xfrm>
            <a:off x="640080" y="1005840"/>
            <a:ext cx="10908792" cy="35966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buNone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Più modalità di raccolta dati, un'unica base informativa ESG governata e sempre aggiornata.</a:t>
            </a:r>
          </a:p>
        </p:txBody>
      </p:sp>
      <p:sp>
        <p:nvSpPr>
          <p:cNvPr id="112" name="KPI 112"/>
          <p:cNvSpPr/>
          <p:nvPr/>
        </p:nvSpPr>
        <p:spPr>
          <a:xfrm>
            <a:off x="640080" y="1509369"/>
            <a:ext cx="3502152" cy="944118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966" b="1">
                <a:solidFill>
                  <a:srgbClr val="156082"/>
                </a:solidFill>
                <a:latin typeface="+mn-lt"/>
              </a:rPr>
              <a:t>Qualità</a:t>
            </a:r>
          </a:p>
          <a:p>
            <a:pPr>
              <a:buNone/>
              <a:defRPr/>
            </a:pPr>
            <a:r>
              <a:rPr lang="it-IT" sz="1376">
                <a:solidFill>
                  <a:srgbClr val="0E2841"/>
                </a:solidFill>
                <a:latin typeface="+mn-lt"/>
              </a:rPr>
              <a:t>dati affidabili e verificabili alla fonte</a:t>
            </a:r>
          </a:p>
        </p:txBody>
      </p:sp>
      <p:sp>
        <p:nvSpPr>
          <p:cNvPr id="113" name="KPI 113"/>
          <p:cNvSpPr/>
          <p:nvPr/>
        </p:nvSpPr>
        <p:spPr>
          <a:xfrm>
            <a:off x="4343400" y="1509369"/>
            <a:ext cx="3502152" cy="944118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966" b="1">
                <a:solidFill>
                  <a:srgbClr val="156082"/>
                </a:solidFill>
                <a:latin typeface="+mn-lt"/>
              </a:rPr>
              <a:t>Tracciabilità</a:t>
            </a:r>
          </a:p>
          <a:p>
            <a:pPr>
              <a:buNone/>
              <a:defRPr/>
            </a:pPr>
            <a:r>
              <a:rPr lang="it-IT" sz="1376">
                <a:solidFill>
                  <a:srgbClr val="0E2841"/>
                </a:solidFill>
                <a:latin typeface="+mn-lt"/>
              </a:rPr>
              <a:t>origine di ogni dato sempre ricostruibile</a:t>
            </a:r>
          </a:p>
        </p:txBody>
      </p:sp>
      <p:sp>
        <p:nvSpPr>
          <p:cNvPr id="114" name="KPI 114"/>
          <p:cNvSpPr/>
          <p:nvPr/>
        </p:nvSpPr>
        <p:spPr>
          <a:xfrm>
            <a:off x="8046720" y="1509369"/>
            <a:ext cx="3502152" cy="944118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966" b="1">
                <a:solidFill>
                  <a:srgbClr val="156082"/>
                </a:solidFill>
                <a:latin typeface="+mn-lt"/>
              </a:rPr>
              <a:t>Aggiornamento</a:t>
            </a:r>
          </a:p>
          <a:p>
            <a:pPr>
              <a:buNone/>
              <a:defRPr/>
            </a:pPr>
            <a:r>
              <a:rPr lang="it-IT" sz="1376">
                <a:solidFill>
                  <a:srgbClr val="0E2841"/>
                </a:solidFill>
                <a:latin typeface="+mn-lt"/>
              </a:rPr>
              <a:t>flussi continui e automatizzati nel tempo</a:t>
            </a:r>
          </a:p>
        </p:txBody>
      </p:sp>
      <p:sp>
        <p:nvSpPr>
          <p:cNvPr id="115" name="Card 115"/>
          <p:cNvSpPr/>
          <p:nvPr/>
        </p:nvSpPr>
        <p:spPr>
          <a:xfrm>
            <a:off x="640080" y="2678277"/>
            <a:ext cx="3502152" cy="2787396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91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Perché è rilevante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Il valore di una piattaforma ESG dipende dalla qualità dei dati.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Le sorgenti aziendali sono numerose ed eterogenee.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Servono tracciabilità e aggiornamento continuo.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Senza dati affidabili non c'è reporting credibile.</a:t>
            </a:r>
          </a:p>
        </p:txBody>
      </p:sp>
      <p:sp>
        <p:nvSpPr>
          <p:cNvPr id="116" name="Card 116"/>
          <p:cNvSpPr/>
          <p:nvPr/>
        </p:nvSpPr>
        <p:spPr>
          <a:xfrm>
            <a:off x="4343400" y="2678277"/>
            <a:ext cx="3502152" cy="2787396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91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Le modalità di acquisizione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Integrazione diretta con i sistemi aziendali.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Acquisizione automatica di utility e bollette.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Caricamento di fogli elettronici e file strutturati.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Connettori e API verso altre applicazioni.</a:t>
            </a:r>
          </a:p>
        </p:txBody>
      </p:sp>
      <p:sp>
        <p:nvSpPr>
          <p:cNvPr id="117" name="Card 117"/>
          <p:cNvSpPr/>
          <p:nvPr/>
        </p:nvSpPr>
        <p:spPr>
          <a:xfrm>
            <a:off x="8046720" y="2678277"/>
            <a:ext cx="3502152" cy="2787396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91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Come si sceglie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Le diverse modalità coesistono nello stesso progetto.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La scelta dipende dalla tipologia di dato.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Incide il livello di automazione desiderato.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Contano le caratteristiche dei sistemi sorgente.</a:t>
            </a:r>
          </a:p>
        </p:txBody>
      </p:sp>
      <p:sp>
        <p:nvSpPr>
          <p:cNvPr id="118" name="Band 118"/>
          <p:cNvSpPr/>
          <p:nvPr/>
        </p:nvSpPr>
        <p:spPr>
          <a:xfrm>
            <a:off x="640080" y="5636514"/>
            <a:ext cx="10908792" cy="764286"/>
          </a:xfrm>
          <a:prstGeom prst="roundRect">
            <a:avLst>
              <a:gd name="adj" fmla="val 12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55448" tIns="91440" rIns="155448" bIns="91440" anchor="ctr">
            <a:normAutofit/>
          </a:bodyPr>
          <a:lstStyle/>
          <a:p>
            <a:pPr>
              <a:buNone/>
              <a:defRPr/>
            </a:pPr>
            <a:r>
              <a:rPr lang="it-IT" sz="1376" b="1">
                <a:solidFill>
                  <a:srgbClr val="156082"/>
                </a:solidFill>
                <a:latin typeface="+mn-lt"/>
              </a:rPr>
              <a:t>L'obiettivo: </a:t>
            </a:r>
            <a:r>
              <a:rPr lang="it-IT" sz="1376">
                <a:solidFill>
                  <a:srgbClr val="0E2841"/>
                </a:solidFill>
                <a:latin typeface="+mn-lt"/>
              </a:rPr>
              <a:t>una Data Foundation unica e governata, su cui basare analisi, dashboard, reporting ESG e Bilancio di Sostenibilità.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B91BA39-962B-EE4B-225E-F7E13733F3A9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Acquisizione Dati</a:t>
            </a:r>
          </a:p>
        </p:txBody>
      </p:sp>
      <p:sp>
        <p:nvSpPr>
          <p:cNvPr id="11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0" name="Titolo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Acquisizione e integrazione dei dati</a:t>
            </a:r>
          </a:p>
        </p:txBody>
      </p:sp>
    </p:spTree>
    <p:extLst>
      <p:ext uri="{BB962C8B-B14F-4D97-AF65-F5344CB8AC3E}">
        <p14:creationId xmlns:p14="http://schemas.microsoft.com/office/powerpoint/2010/main" val="85251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BAAAD11-5BF5-60E3-7ED9-0E4E5748A6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62" y="1014762"/>
            <a:ext cx="11686476" cy="5843238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FD40BBA8-7D0C-09A2-DF98-D85C07BA1D95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Acquisizione Dati</a:t>
            </a: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itolo">
            <a:extLst>
              <a:ext uri="{FF2B5EF4-FFF2-40B4-BE49-F238E27FC236}">
                <a16:creationId xmlns:a16="http://schemas.microsoft.com/office/drawing/2014/main" id="{2DF458CF-1AC6-F5D8-E2B4-45226FB75B0E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Envizi Data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67361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89F0C15-F033-7684-62F6-318F93DC5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59" y="1353312"/>
            <a:ext cx="10789488" cy="489879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AFE24A0-30B2-B990-B2E6-4D299D68F8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946" y="3443391"/>
            <a:ext cx="1066107" cy="34290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57925816-0F66-5E3B-092D-9E30EA19EE26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Acquisizione Dati</a:t>
            </a: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itolo">
            <a:extLst>
              <a:ext uri="{FF2B5EF4-FFF2-40B4-BE49-F238E27FC236}">
                <a16:creationId xmlns:a16="http://schemas.microsoft.com/office/drawing/2014/main" id="{7F4403F8-E50A-6357-E935-0204A79E0B6F}"/>
              </a:ext>
            </a:extLst>
          </p:cNvPr>
          <p:cNvSpPr txBox="1"/>
          <p:nvPr/>
        </p:nvSpPr>
        <p:spPr>
          <a:xfrm>
            <a:off x="640080" y="457200"/>
            <a:ext cx="10908792" cy="7863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Envizi Data Architecture: principali modalità di acquisizione dati</a:t>
            </a:r>
          </a:p>
        </p:txBody>
      </p:sp>
    </p:spTree>
    <p:extLst>
      <p:ext uri="{BB962C8B-B14F-4D97-AF65-F5344CB8AC3E}">
        <p14:creationId xmlns:p14="http://schemas.microsoft.com/office/powerpoint/2010/main" val="3086468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D8471-BFCA-3232-9D58-B5846B966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6D598212-508C-C1B7-0326-FDAFFEF4687E}"/>
              </a:ext>
            </a:extLst>
          </p:cNvPr>
          <p:cNvSpPr txBox="1"/>
          <p:nvPr/>
        </p:nvSpPr>
        <p:spPr>
          <a:xfrm>
            <a:off x="660710" y="1005840"/>
            <a:ext cx="6286500" cy="5885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dirty="0"/>
              <a:t>Rappresenta la modalità più immediata per raccogliere e aggiornare i dati direttamente all’interno della piattaforma.</a:t>
            </a:r>
          </a:p>
          <a:p>
            <a:r>
              <a:rPr lang="it-IT" dirty="0"/>
              <a:t>IBM Envizi mette a disposizione </a:t>
            </a:r>
            <a:r>
              <a:rPr lang="it-IT" b="1" dirty="0"/>
              <a:t>un’interfaccia web intuitiva </a:t>
            </a:r>
            <a:r>
              <a:rPr lang="it-IT" dirty="0"/>
              <a:t>che consente agli utenti autorizzati di inserire, modificare e verificare i dati ESG in modo controllato, garantendo tracciabilità e qualità delle informazioni.</a:t>
            </a:r>
          </a:p>
          <a:p>
            <a:endParaRPr lang="it-IT" dirty="0"/>
          </a:p>
          <a:p>
            <a:r>
              <a:rPr lang="it-IT" dirty="0"/>
              <a:t>Questa modalità è particolarmente indicata quando </a:t>
            </a:r>
            <a:r>
              <a:rPr lang="it-IT" b="1" dirty="0"/>
              <a:t>i dati vengono raccolti direttamente dalle funzioni aziendali e</a:t>
            </a:r>
            <a:r>
              <a:rPr lang="it-IT" dirty="0"/>
              <a:t> i volumi sono contenuti.</a:t>
            </a:r>
          </a:p>
          <a:p>
            <a:endParaRPr lang="it-IT" b="1" dirty="0"/>
          </a:p>
          <a:p>
            <a:r>
              <a:rPr lang="it-IT" b="1" dirty="0"/>
              <a:t>Principali utilizzi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consumi energetici inseriti periodicamente;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acqua e rifiuti;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dati Social e Governance;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indicatori ESG raccolti manualmente;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raccolta dati da sedi, stabilimenti e allevamenti;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aggiornamento di dati occasionali o non integrati con altri sistemi.</a:t>
            </a:r>
          </a:p>
          <a:p>
            <a:pPr>
              <a:buNone/>
            </a:pPr>
            <a:r>
              <a:rPr lang="it-IT" sz="1643">
                <a:effectLst/>
                <a:latin typeface="+mn-lt"/>
                <a:ea typeface="Times New Roman" panose="02020603050405020304" pitchFamily="18" charset="0"/>
              </a:rPr>
              <a:t>.</a:t>
            </a:r>
            <a:endParaRPr lang="it-IT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7632B23-5E14-2AF7-12EA-C2428E9DE2FD}"/>
              </a:ext>
            </a:extLst>
          </p:cNvPr>
          <p:cNvSpPr txBox="1"/>
          <p:nvPr/>
        </p:nvSpPr>
        <p:spPr>
          <a:xfrm>
            <a:off x="7382108" y="2444196"/>
            <a:ext cx="4598018" cy="286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it-IT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L’utente inserisce direttamente i dati tramite l’interfaccia web di IBM </a:t>
            </a:r>
            <a:r>
              <a:rPr lang="it-IT" dirty="0" err="1"/>
              <a:t>Envizi</a:t>
            </a:r>
            <a:r>
              <a:rPr lang="it-IT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Ideale per la raccolta continua di dati con volumi contenuti.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Consente l’upload manuale di documenti (ad es. fatture o bollette) se previsto dalla configurazione e dai permessi dell’utente.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Modalità tipicamente utilizzata quando non è ancora disponibile un’integrazione automatica.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2B98C1B-43DD-0249-64AC-7DB52A55D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490" y="1130558"/>
            <a:ext cx="2195640" cy="66609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313C05D-6AD7-AD2C-DFB5-6F4460116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871" y="1636518"/>
            <a:ext cx="2287553" cy="967810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33901228-5F96-BF62-F442-2114685F6516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Acquisizione Dati</a:t>
            </a:r>
          </a:p>
        </p:txBody>
      </p:sp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0E6FFED-E18C-4C48-3EA7-3C9D6606A1D4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Inserimento manuale via Interfaccia Utente</a:t>
            </a:r>
          </a:p>
        </p:txBody>
      </p:sp>
    </p:spTree>
    <p:extLst>
      <p:ext uri="{BB962C8B-B14F-4D97-AF65-F5344CB8AC3E}">
        <p14:creationId xmlns:p14="http://schemas.microsoft.com/office/powerpoint/2010/main" val="199227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698F8C5-7FA2-F609-4FA2-3108DA0E8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368" y="0"/>
            <a:ext cx="2287553" cy="967810"/>
          </a:xfrm>
          <a:prstGeom prst="rect">
            <a:avLst/>
          </a:prstGeom>
        </p:spPr>
      </p:pic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16818A67-E875-6F8C-1D4E-225B7ED734A4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C7023ED-7B70-D9A8-F5AA-2F023BB2CB9A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Inserimento manuale via Interfaccia Utente: Data Capture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23488AB-6D12-6E97-3CF6-D78B462BF287}"/>
              </a:ext>
            </a:extLst>
          </p:cNvPr>
          <p:cNvSpPr txBox="1"/>
          <p:nvPr/>
        </p:nvSpPr>
        <p:spPr>
          <a:xfrm>
            <a:off x="640079" y="980492"/>
            <a:ext cx="10637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Home Gestisci&gt;Account&gt;Applica filtri colonna Ubicazione, es. inserisci Allevamenti Nord. Appaiono gli account della sede. Click destro mouse, seleziona cattura dati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C5A03F90-4140-BE8D-36CF-F3E73A4EB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50" y="1785496"/>
            <a:ext cx="11721571" cy="435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6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087DD652-4C40-F643-C832-65A03A5A2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809" y="1546520"/>
            <a:ext cx="4406837" cy="337460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AF82AD4-F605-3858-F697-3F77C7D37FF6}"/>
              </a:ext>
            </a:extLst>
          </p:cNvPr>
          <p:cNvSpPr txBox="1"/>
          <p:nvPr/>
        </p:nvSpPr>
        <p:spPr>
          <a:xfrm>
            <a:off x="507215" y="1353312"/>
            <a:ext cx="5861370" cy="4488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pPr>
              <a:defRPr/>
            </a:pPr>
            <a:r>
              <a:rPr lang="it-IT" sz="1305"/>
              <a:t>L’utente accede a un modulo digitale con i campi necessari per la raccolta del dato.</a:t>
            </a:r>
          </a:p>
          <a:p>
            <a:endParaRPr lang="it-IT" sz="1600" dirty="0"/>
          </a:p>
          <a:p>
            <a:pPr>
              <a:defRPr/>
            </a:pPr>
            <a:r>
              <a:rPr lang="it-IT" sz="1305"/>
              <a:t>Vengono indicati il </a:t>
            </a:r>
            <a:r>
              <a:rPr lang="it-IT" sz="1305" b="1"/>
              <a:t>periodo di competenza</a:t>
            </a:r>
            <a:r>
              <a:rPr lang="it-IT" sz="1305"/>
              <a:t> (data di inizio e data di fine) e le informazioni richieste, ad esempio quelle riportate in una bolletta energetica.</a:t>
            </a:r>
          </a:p>
          <a:p>
            <a:endParaRPr lang="it-IT" sz="1600" dirty="0"/>
          </a:p>
          <a:p>
            <a:pPr>
              <a:defRPr/>
            </a:pPr>
            <a:r>
              <a:rPr lang="it-IT" sz="1305"/>
              <a:t>I campi del modulo si </a:t>
            </a:r>
            <a:r>
              <a:rPr lang="it-IT" sz="1305" b="1"/>
              <a:t>adattano automaticamente</a:t>
            </a:r>
            <a:r>
              <a:rPr lang="it-IT" sz="1305"/>
              <a:t> al tipo di dato selezionato (energia elettrica, gas, acqua, rifiuti, carburanti, ecc.), visualizzando esclusivamente le informazioni pertinenti.</a:t>
            </a:r>
          </a:p>
          <a:p>
            <a:endParaRPr lang="it-IT" sz="1600" dirty="0"/>
          </a:p>
          <a:p>
            <a:pPr>
              <a:defRPr/>
            </a:pPr>
            <a:r>
              <a:rPr lang="it-IT" sz="1305"/>
              <a:t>È possibile allegare documenti, fatture o bollette. L’utente può avviare il riconoscimento tramite </a:t>
            </a:r>
            <a:r>
              <a:rPr lang="it-IT" sz="1305" b="1"/>
              <a:t>IBM </a:t>
            </a:r>
            <a:r>
              <a:rPr lang="it-IT" sz="1305" b="1" err="1"/>
              <a:t>Envizi</a:t>
            </a:r>
            <a:r>
              <a:rPr lang="it-IT" sz="1305" b="1"/>
              <a:t> AI</a:t>
            </a:r>
            <a:r>
              <a:rPr lang="it-IT" sz="1305"/>
              <a:t>, che utilizza tecnologie OCR per estrarre automaticamente i valori dal documento e proporne la compilazione nel modulo.</a:t>
            </a:r>
          </a:p>
          <a:p>
            <a:endParaRPr lang="it-IT" sz="1600" dirty="0"/>
          </a:p>
          <a:p>
            <a:pPr>
              <a:defRPr/>
            </a:pPr>
            <a:r>
              <a:rPr lang="it-IT" sz="1305"/>
              <a:t>L’amministratore può configurare </a:t>
            </a:r>
            <a:r>
              <a:rPr lang="it-IT" sz="1305" b="1"/>
              <a:t>controlli di qualità</a:t>
            </a:r>
            <a:r>
              <a:rPr lang="it-IT" sz="1305"/>
              <a:t> sull’Account Style, definendo regole di validazione e soglie di anomalia. In presenza di valori fuori scala, il sistema avvisa l’utente prima del salvataggio, contribuendo a ridurre gli errori e ad aumentare l’affidabilità del patrimonio informativo ESG.</a:t>
            </a:r>
          </a:p>
          <a:p>
            <a:endParaRPr lang="it-IT" sz="1600" dirty="0"/>
          </a:p>
          <a:p>
            <a:endParaRPr lang="it-IT" dirty="0"/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3147DC1-D4A1-BC1F-4FDD-F478EFCD4CC2}"/>
              </a:ext>
            </a:extLst>
          </p:cNvPr>
          <p:cNvSpPr txBox="1"/>
          <p:nvPr/>
        </p:nvSpPr>
        <p:spPr>
          <a:xfrm>
            <a:off x="640080" y="457200"/>
            <a:ext cx="10908792" cy="7863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Inserimento manuale via Interfaccia Utente: Esempio di Form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241CD7E-B08A-24AE-374E-EED121A30E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743" y="154264"/>
            <a:ext cx="2287553" cy="96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83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C4B22-E150-2A87-E4B8-D7FA3B43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7212F6D-7EA9-5F98-8B28-6A0FB2E5BE19}"/>
              </a:ext>
            </a:extLst>
          </p:cNvPr>
          <p:cNvSpPr txBox="1"/>
          <p:nvPr/>
        </p:nvSpPr>
        <p:spPr>
          <a:xfrm>
            <a:off x="549471" y="1049282"/>
            <a:ext cx="11247124" cy="52629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it-IT" sz="1600" b="1" dirty="0"/>
              <a:t>Questionari e workflow collaborativi (Modulo IBM </a:t>
            </a:r>
            <a:r>
              <a:rPr lang="it-IT" sz="1600" b="1" dirty="0" err="1"/>
              <a:t>Envizi</a:t>
            </a:r>
            <a:r>
              <a:rPr lang="it-IT" sz="1600" b="1" dirty="0"/>
              <a:t> Surveys + </a:t>
            </a:r>
            <a:r>
              <a:rPr lang="it-IT" sz="1600" b="1" dirty="0" err="1"/>
              <a:t>Assessments</a:t>
            </a:r>
            <a:r>
              <a:rPr lang="it-IT" sz="1600" b="1" dirty="0"/>
              <a:t>)</a:t>
            </a:r>
          </a:p>
          <a:p>
            <a:r>
              <a:rPr lang="it-IT" sz="1600" dirty="0"/>
              <a:t>Per alcune informazioni ESG, in particolare relative agli ambiti </a:t>
            </a:r>
            <a:r>
              <a:rPr lang="it-IT" sz="1600" b="1" dirty="0"/>
              <a:t>Social, Governance e Supply Chain</a:t>
            </a:r>
            <a:r>
              <a:rPr lang="it-IT" sz="1600" dirty="0"/>
              <a:t>, i dati non sono normalmente disponibili nei sistemi gestionali aziendali e devono essere raccolti direttamente da dipendenti, responsabili di funzione o fornitori.</a:t>
            </a:r>
          </a:p>
          <a:p>
            <a:endParaRPr lang="it-IT" sz="1600" dirty="0"/>
          </a:p>
          <a:p>
            <a:r>
              <a:rPr lang="it-IT" sz="1600" dirty="0"/>
              <a:t>A questo scopo IBM Envizi mette a disposizione il modulo opzionale </a:t>
            </a:r>
            <a:r>
              <a:rPr lang="it-IT" sz="1600" b="1" dirty="0"/>
              <a:t>Surveys + </a:t>
            </a:r>
            <a:r>
              <a:rPr lang="it-IT" sz="1600" b="1" dirty="0" err="1"/>
              <a:t>Assessments</a:t>
            </a:r>
            <a:r>
              <a:rPr lang="it-IT" sz="1600" dirty="0"/>
              <a:t>, che consente di distribuire </a:t>
            </a:r>
            <a:r>
              <a:rPr lang="it-IT" sz="1600" b="1" dirty="0"/>
              <a:t>questionari digitali guidati</a:t>
            </a:r>
            <a:r>
              <a:rPr lang="it-IT" sz="1600" dirty="0"/>
              <a:t> con domande a risposta libera, numerica, a scelta da elenco (</a:t>
            </a:r>
            <a:r>
              <a:rPr lang="it-IT" sz="1600" dirty="0" err="1"/>
              <a:t>picklist</a:t>
            </a:r>
            <a:r>
              <a:rPr lang="it-IT" sz="1600" dirty="0"/>
              <a:t>), a risposta multipla e con possibilità di allegare documentazione. I questionari possono inoltre includere testi di aiuto, istruzioni, regole di validazione e domande condizionali, rendendo la compilazione semplice e guidata anche per utenti non esperti.  </a:t>
            </a:r>
          </a:p>
          <a:p>
            <a:endParaRPr lang="it-IT" sz="1600" dirty="0"/>
          </a:p>
          <a:p>
            <a:r>
              <a:rPr lang="it-IT" sz="1600" dirty="0"/>
              <a:t>Il modulo supporta la raccolta delle informazioni sia da utenti interni sia da soggetti esterni, come i fornitori, attraverso un portale dedicato. Durante la compilazione è possibile interagire con gli amministratori tramite commenti, ricevere notifiche e solleciti automatici e seguire un workflow di revisione e approvazione fino alla validazione finale del dato. Tutte le informazioni vengono consolidate automaticamente in </a:t>
            </a:r>
            <a:r>
              <a:rPr lang="it-IT" sz="1600" dirty="0" err="1"/>
              <a:t>Envizi</a:t>
            </a:r>
            <a:r>
              <a:rPr lang="it-IT" sz="1600" dirty="0"/>
              <a:t>, mantenendo la completa tracciabilità dell’origine del dato, dell’autore, delle modifiche e dell’intero processo di approvazione.  </a:t>
            </a:r>
          </a:p>
          <a:p>
            <a:endParaRPr lang="it-IT" sz="1600" b="1" dirty="0"/>
          </a:p>
          <a:p>
            <a:r>
              <a:rPr lang="it-IT" sz="1600" b="1" dirty="0"/>
              <a:t>Precisazione:</a:t>
            </a:r>
            <a:r>
              <a:rPr lang="it-IT" sz="1600" dirty="0"/>
              <a:t> nella documentazione IBM non è indicata una funzione di </a:t>
            </a:r>
            <a:r>
              <a:rPr lang="it-IT" sz="1600" i="1" dirty="0"/>
              <a:t>co-authoring</a:t>
            </a:r>
            <a:r>
              <a:rPr lang="it-IT" sz="1600" dirty="0"/>
              <a:t> (più persone che compilano contemporaneamente lo stesso questionario). È invece supportata la collaborazione tramite workflow, commenti, notifiche, assegnazione ai responsabili e processo di revisione/approvazione.</a:t>
            </a:r>
          </a:p>
          <a:p>
            <a:endParaRPr lang="it-IT" sz="1600" b="1" dirty="0"/>
          </a:p>
          <a:p>
            <a:r>
              <a:rPr lang="it-IT" sz="1600" b="1" dirty="0"/>
              <a:t>Nota:</a:t>
            </a:r>
            <a:r>
              <a:rPr lang="it-IT" sz="1600" dirty="0"/>
              <a:t> il modulo </a:t>
            </a:r>
            <a:r>
              <a:rPr lang="it-IT" sz="1600" b="1" dirty="0"/>
              <a:t>Surveys + </a:t>
            </a:r>
            <a:r>
              <a:rPr lang="it-IT" sz="1600" b="1" dirty="0" err="1"/>
              <a:t>Assessments</a:t>
            </a:r>
            <a:r>
              <a:rPr lang="it-IT" sz="1600" dirty="0"/>
              <a:t> costituisce un componente aggiuntivo della suite IBM </a:t>
            </a:r>
            <a:r>
              <a:rPr lang="it-IT" sz="1600" dirty="0" err="1"/>
              <a:t>Envizi</a:t>
            </a:r>
            <a:r>
              <a:rPr lang="it-IT" sz="1600" dirty="0"/>
              <a:t> ed è disponibile tramite licenza dedicata. </a:t>
            </a: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0FC4EA3-C3AA-D5EB-27C1-50E4A771FF53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Inserimento manuale via Surveys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9025D4A-1C86-AEE9-E827-AA92FA7BA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7683" y="81472"/>
            <a:ext cx="2287553" cy="96781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AB5AFEA-B637-B0C9-58B8-9EEDB10CDF7B}"/>
              </a:ext>
            </a:extLst>
          </p:cNvPr>
          <p:cNvSpPr txBox="1"/>
          <p:nvPr/>
        </p:nvSpPr>
        <p:spPr>
          <a:xfrm>
            <a:off x="10765645" y="513711"/>
            <a:ext cx="110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Survey</a:t>
            </a:r>
          </a:p>
        </p:txBody>
      </p:sp>
    </p:spTree>
    <p:extLst>
      <p:ext uri="{BB962C8B-B14F-4D97-AF65-F5344CB8AC3E}">
        <p14:creationId xmlns:p14="http://schemas.microsoft.com/office/powerpoint/2010/main" val="271631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8289F358-786E-A65D-3243-21D774CA0DF6}"/>
              </a:ext>
            </a:extLst>
          </p:cNvPr>
          <p:cNvSpPr txBox="1"/>
          <p:nvPr/>
        </p:nvSpPr>
        <p:spPr>
          <a:xfrm>
            <a:off x="549470" y="1130764"/>
            <a:ext cx="460195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dirty="0"/>
              <a:t>Il questionario viene pubblicato dall’azienda e reso disponibile ai fornitori tramite un’interfaccia web intuitiva, senza la necessità di accedere direttamente alla piattaforma </a:t>
            </a:r>
            <a:r>
              <a:rPr lang="it-IT" sz="1600" dirty="0" err="1"/>
              <a:t>Envizi</a:t>
            </a:r>
            <a:r>
              <a:rPr lang="it-IT" sz="1600" dirty="0"/>
              <a:t>.</a:t>
            </a:r>
          </a:p>
          <a:p>
            <a:pPr>
              <a:buNone/>
            </a:pPr>
            <a:endParaRPr lang="it-IT" sz="1600" dirty="0"/>
          </a:p>
          <a:p>
            <a:pPr>
              <a:buNone/>
            </a:pPr>
            <a:r>
              <a:rPr lang="it-IT" sz="1600" dirty="0"/>
              <a:t>Le domande sono organizzate in sezioni tematiche (ad esempio Emissioni, Energia, Acqua, Rifiuti, Biodiversità, Sociale e Governance), semplificando la compilazione e migliorando l’esperienza dell’utente.</a:t>
            </a:r>
          </a:p>
          <a:p>
            <a:pPr>
              <a:buNone/>
            </a:pPr>
            <a:endParaRPr lang="it-IT" sz="1600" dirty="0"/>
          </a:p>
          <a:p>
            <a:pPr>
              <a:buNone/>
            </a:pPr>
            <a:r>
              <a:rPr lang="it-IT" sz="1600" dirty="0"/>
              <a:t>Il fornitore può inserire valori numerici, selezionare risposte predefinite e allegare documentazione di supporto, come certificazioni, policy o report, a supporto delle informazioni dichiarate.</a:t>
            </a:r>
          </a:p>
          <a:p>
            <a:pPr>
              <a:buNone/>
            </a:pPr>
            <a:endParaRPr lang="it-IT" sz="1600" dirty="0"/>
          </a:p>
          <a:p>
            <a:pPr>
              <a:buNone/>
            </a:pPr>
            <a:r>
              <a:rPr lang="it-IT" sz="1600" dirty="0"/>
              <a:t>I dati raccolti vengono acquisiti direttamente nella Data Foundation di IBM </a:t>
            </a:r>
            <a:r>
              <a:rPr lang="it-IT" sz="1600" dirty="0" err="1"/>
              <a:t>Envizi</a:t>
            </a:r>
            <a:r>
              <a:rPr lang="it-IT" sz="1600" dirty="0"/>
              <a:t>, mantenendo la tracciabilità della fonte e consentendo processi di revisione, approvazione e audit.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1D698CA-D8AA-A941-E5ED-1407F316C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940" y="1208629"/>
            <a:ext cx="6026590" cy="357828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D523BFF7-8A7A-B6D0-7236-FF3373F001AE}"/>
              </a:ext>
            </a:extLst>
          </p:cNvPr>
          <p:cNvSpPr txBox="1"/>
          <p:nvPr/>
        </p:nvSpPr>
        <p:spPr>
          <a:xfrm>
            <a:off x="5810062" y="4864541"/>
            <a:ext cx="60975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600" dirty="0"/>
              <a:t>Questa modalità consente di standardizzare la raccolta delle informazioni ESG lungo la catena di fornitura, migliorando completezza, qualità e confrontabilità dei dati e riducendo significativamente lo scambio di file Excel e comunicazioni via e-mail.</a:t>
            </a: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A756D69-5405-FF46-94F8-4D4DA73D017B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Surveys, esempio questionario per fornitori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45F0543-4507-8569-C1A7-ED725873A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370" y="0"/>
            <a:ext cx="19812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2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443A0-E2A2-F253-86B6-FC519F9EF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AE488C-3540-3047-B8AD-B1BB623FFF33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Surveys &amp; Assessments: KPI qualitativi di gruppo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298448"/>
            <a:ext cx="5303520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Raccolta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673352"/>
            <a:ext cx="5257800" cy="914400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3D38"/>
                </a:solidFill>
                <a:latin typeface="Calibri"/>
              </a:rPr>
              <a:t>Un unico portale raccoglie metriche ESG da utenti interni e stakeholder. I questionari sono personalizzabili per diversi tipi di domanda.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79776"/>
            <a:ext cx="5257800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Monitoraggio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45536"/>
            <a:ext cx="5257800" cy="667512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3D38"/>
                </a:solidFill>
                <a:latin typeface="Calibri"/>
              </a:rPr>
              <a:t>Il modulo permette di seguire le attività e lo stato di ciascun sondaggio.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87952"/>
            <a:ext cx="5257800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Analisi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2"/>
            <a:ext cx="5257800" cy="87782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3D38"/>
                </a:solidFill>
                <a:latin typeface="Calibri"/>
              </a:rPr>
              <a:t>Le risposte qualitative confluiscono in un set di reporting utilizzabile in Power Reports.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1298448"/>
            <a:ext cx="5230368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Esempio di consolidamento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1664208"/>
            <a:ext cx="5212080" cy="365760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369"/>
                </a:solidFill>
                <a:latin typeface="Calibri"/>
              </a:rPr>
              <a:t>Avete pratiche di governance documentate?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272784" y="2130552"/>
          <a:ext cx="5184648" cy="2670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00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Intervistato</a:t>
                      </a:r>
                    </a:p>
                  </a:txBody>
                  <a:tcPr marL="128016" marT="36576" marB="0" anchor="ctr"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Risposta</a:t>
                      </a:r>
                    </a:p>
                  </a:txBody>
                  <a:tcPr marL="128016" marT="36576" marB="0" anchor="ctr">
                    <a:solidFill>
                      <a:srgbClr val="0F4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0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D38"/>
                          </a:solidFill>
                          <a:latin typeface="Calibri"/>
                        </a:rPr>
                        <a:t>Intervistato A</a:t>
                      </a:r>
                    </a:p>
                  </a:txBody>
                  <a:tcPr marL="128016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D38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128016" marT="36576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00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D38"/>
                          </a:solidFill>
                          <a:latin typeface="Calibri"/>
                        </a:rPr>
                        <a:t>Intervistato B</a:t>
                      </a:r>
                    </a:p>
                  </a:txBody>
                  <a:tcPr marL="128016" marT="36576" marB="0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D38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128016" marT="36576" marB="0" anchor="ctr"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00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D38"/>
                          </a:solidFill>
                          <a:latin typeface="Calibri"/>
                        </a:rPr>
                        <a:t>Intervistato C</a:t>
                      </a:r>
                    </a:p>
                  </a:txBody>
                  <a:tcPr marL="128016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D38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28016" marT="36576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00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3D38"/>
                          </a:solidFill>
                          <a:latin typeface="Calibri"/>
                        </a:rPr>
                        <a:t>Intervistato D</a:t>
                      </a:r>
                    </a:p>
                  </a:txBody>
                  <a:tcPr marL="128016" marT="36576" marB="0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43D38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128016" marT="36576" marB="0" anchor="ctr">
                    <a:solidFill>
                      <a:srgbClr val="F0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272784" y="5056632"/>
            <a:ext cx="5184648" cy="411480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73E31"/>
                </a:solidFill>
                <a:latin typeface="Calibri"/>
              </a:rPr>
              <a:t>Sì: 3 su 4 = 75%     No: 1 su 4 = 25%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7AF738E-1308-DBE4-20EF-15AC211C5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382" y="77213"/>
            <a:ext cx="19812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65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13748-2BB9-989F-BE95-5B2FE0B9F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1F206099-6420-2E6F-4B96-C605EE588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693408" cy="1583740"/>
          </a:xfrm>
          <a:prstGeom prst="rect">
            <a:avLst/>
          </a:prstGeom>
        </p:spPr>
      </p:pic>
      <p:pic>
        <p:nvPicPr>
          <p:cNvPr id="10" name="Immagine 9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D23CE4C8-C258-A3E1-82E5-6000A3160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82112"/>
            <a:ext cx="6693408" cy="2706624"/>
          </a:xfrm>
          <a:prstGeom prst="rect">
            <a:avLst/>
          </a:prstGeom>
        </p:spPr>
      </p:pic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AE488C-3540-3047-B8AD-B1BB623FFF33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Questionari personalizzabili in Envizi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408176"/>
            <a:ext cx="3977639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Manage &gt; Surveys &gt;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801368"/>
            <a:ext cx="3767328" cy="667512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3D38"/>
                </a:solidFill>
                <a:latin typeface="Calibri"/>
              </a:rPr>
              <a:t>Il menu consente di consultare i questionari e le risposte.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642616"/>
            <a:ext cx="3977639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Formati delle risposte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072384"/>
            <a:ext cx="3794760" cy="1865376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3D38"/>
                </a:solidFill>
                <a:latin typeface="Calibri"/>
              </a:rPr>
              <a:t>Opzioni multiple (Sì/No o altro)
Valori numerici
Testo libero
Allegati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928616"/>
            <a:ext cx="3977639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Domande condizionali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5303520"/>
            <a:ext cx="3794760" cy="78638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3D38"/>
                </a:solidFill>
                <a:latin typeface="Calibri"/>
              </a:rPr>
              <a:t>Una risposta può attivare una domanda aggiuntiva, ad esempio la 2.b dopo un Sì alla domanda 2.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0AAC87F-08B8-551C-ACCC-B56726F40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399" y="0"/>
            <a:ext cx="19812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4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A9511-57BD-4733-4B12-2148860E7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oftware, Software multimediale, cerchio&#10;&#10;Il contenuto generato dall'IA potrebbe non essere corretto.">
            <a:extLst>
              <a:ext uri="{FF2B5EF4-FFF2-40B4-BE49-F238E27FC236}">
                <a16:creationId xmlns:a16="http://schemas.microsoft.com/office/drawing/2014/main" id="{DBB9FAFA-7AE0-0823-FB53-9AD72497D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25880"/>
            <a:ext cx="7827264" cy="4093768"/>
          </a:xfrm>
          <a:prstGeom prst="rect">
            <a:avLst/>
          </a:prstGeom>
        </p:spPr>
      </p:pic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AE488C-3540-3047-B8AD-B1BB623FFF33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Dalle survey all’analisi in Power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90472"/>
            <a:ext cx="2825496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Risposte consolidate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892807"/>
            <a:ext cx="2798064" cy="1572768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3D38"/>
                </a:solidFill>
                <a:latin typeface="Calibri"/>
              </a:rPr>
              <a:t>I dati qualitativi raccolti confluiscono in un unico set di reporting analizzabile in Power Reports.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67328"/>
            <a:ext cx="2825496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Esempio di domanda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9663"/>
            <a:ext cx="2788920" cy="1216152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43D38"/>
                </a:solidFill>
                <a:latin typeface="Calibri"/>
              </a:rPr>
              <a:t>Quanti hanno risposto Sì alla domanda sul rispetto delle pari opportunità?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559552"/>
            <a:ext cx="7827264" cy="502920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369"/>
                </a:solidFill>
                <a:latin typeface="Calibri"/>
              </a:rPr>
              <a:t>PowerReports &gt; ESG Performance Overview &gt; Supply chain demo report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571358-C08E-B7E0-A85D-79EEF8ECE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945" y="34636"/>
            <a:ext cx="19812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62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5BAF0-C215-6FF6-3869-FEFE158E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schermata, software, testo&#10;&#10;Il contenuto generato dall'IA potrebbe non essere corretto.">
            <a:extLst>
              <a:ext uri="{FF2B5EF4-FFF2-40B4-BE49-F238E27FC236}">
                <a16:creationId xmlns:a16="http://schemas.microsoft.com/office/drawing/2014/main" id="{BAB0D263-1ED7-224B-72C9-7A57C179F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9304"/>
            <a:ext cx="8988552" cy="4935016"/>
          </a:xfrm>
          <a:prstGeom prst="rect">
            <a:avLst/>
          </a:prstGeom>
        </p:spPr>
      </p:pic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AE488C-3540-3047-B8AD-B1BB623FFF33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Scoring dei fornitori dalle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1408176"/>
            <a:ext cx="1938528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Applicazione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2368" y="1828800"/>
            <a:ext cx="1847088" cy="1920240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3D38"/>
                </a:solidFill>
                <a:latin typeface="Calibri"/>
              </a:rPr>
              <a:t>Le risposte qualitative dei fornitori vengono aggregate per l’analisi dello scoring.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995928"/>
            <a:ext cx="1938528" cy="283464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73E31"/>
                </a:solidFill>
                <a:latin typeface="Calibri"/>
              </a:rPr>
              <a:t>Percorso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4398264"/>
            <a:ext cx="1865376" cy="1463040"/>
          </a:xfrm>
          <a:prstGeom prst="rect">
            <a:avLst/>
          </a:prstGeom>
          <a:noFill/>
        </p:spPr>
        <p:txBody>
          <a:bodyPr wrap="square" lIns="9144" tIns="0" rIns="9144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9"/>
                </a:solidFill>
                <a:latin typeface="Calibri"/>
              </a:rPr>
              <a:t>PowerReports
ESG Performance Overview
Supply Chain Demo Report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73C6569-CB6A-38A6-A334-E48CD1269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946400"/>
            <a:ext cx="1981200" cy="9652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B9CDCD0-55D1-AA74-E968-0981A1D98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399" y="0"/>
            <a:ext cx="19812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64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E04A2092-C1AE-6B38-5817-4EADF46D3C9F}"/>
              </a:ext>
            </a:extLst>
          </p:cNvPr>
          <p:cNvSpPr txBox="1"/>
          <p:nvPr/>
        </p:nvSpPr>
        <p:spPr>
          <a:xfrm>
            <a:off x="660710" y="1121114"/>
            <a:ext cx="6286500" cy="5279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it-IT" sz="18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buNone/>
              <a:defRPr/>
            </a:pPr>
            <a:r>
              <a:rPr lang="it-IT" sz="1608">
                <a:effectLst/>
                <a:latin typeface="+mn-lt"/>
                <a:ea typeface="Times New Roman" panose="02020603050405020304" pitchFamily="18" charset="0"/>
              </a:rPr>
              <a:t>Rappresenta la modalità più semplice e rapida per avviare il progetto.</a:t>
            </a:r>
          </a:p>
          <a:p>
            <a:pPr>
              <a:buNone/>
              <a:defRPr/>
            </a:pPr>
            <a:r>
              <a:rPr lang="it-IT" sz="1608">
                <a:effectLst/>
                <a:latin typeface="+mn-lt"/>
                <a:ea typeface="Times New Roman" panose="02020603050405020304" pitchFamily="18" charset="0"/>
              </a:rPr>
              <a:t>IBM Envizi mette a disposizione template standard che consentono di importare grandi quantità di dati in modo controllato e coerente con il modello dati della piattaforma.</a:t>
            </a:r>
          </a:p>
          <a:p>
            <a:pPr>
              <a:buNone/>
            </a:pPr>
            <a:endParaRPr lang="it-IT" sz="18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buNone/>
              <a:defRPr/>
            </a:pPr>
            <a:r>
              <a:rPr lang="it-IT" sz="1608">
                <a:effectLst/>
                <a:latin typeface="+mn-lt"/>
                <a:ea typeface="Times New Roman" panose="02020603050405020304" pitchFamily="18" charset="0"/>
              </a:rPr>
              <a:t>Questa modalità è particolarmente indicata durante le prime fasi di implementazione, quando alcune </a:t>
            </a:r>
            <a:r>
              <a:rPr lang="it-IT" sz="1608" b="1">
                <a:effectLst/>
                <a:latin typeface="+mn-lt"/>
                <a:ea typeface="Times New Roman" panose="02020603050405020304" pitchFamily="18" charset="0"/>
              </a:rPr>
              <a:t>informazioni sono ancora gestite tramite fogli elettronici oppure quando si desidera importare dati storici.</a:t>
            </a:r>
          </a:p>
          <a:p>
            <a:pPr>
              <a:buNone/>
            </a:pPr>
            <a:endParaRPr lang="it-IT" sz="1800" b="1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buNone/>
              <a:defRPr/>
            </a:pPr>
            <a:r>
              <a:rPr lang="it-IT" sz="1608" b="1">
                <a:effectLst/>
                <a:latin typeface="+mn-lt"/>
                <a:ea typeface="Times New Roman" panose="02020603050405020304" pitchFamily="18" charset="0"/>
              </a:rPr>
              <a:t>Principali utilizzi</a:t>
            </a:r>
          </a:p>
          <a:p>
            <a:pPr>
              <a:buNone/>
            </a:pPr>
            <a:endParaRPr lang="it-IT" sz="18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  <a:defRPr/>
            </a:pPr>
            <a:r>
              <a:rPr lang="it-IT" sz="1608">
                <a:effectLst/>
                <a:latin typeface="+mn-lt"/>
                <a:ea typeface="Times New Roman" panose="02020603050405020304" pitchFamily="18" charset="0"/>
              </a:rPr>
              <a:t>consumi energetici;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  <a:defRPr/>
            </a:pPr>
            <a:r>
              <a:rPr lang="it-IT" sz="1608">
                <a:effectLst/>
                <a:latin typeface="+mn-lt"/>
                <a:ea typeface="Times New Roman" panose="02020603050405020304" pitchFamily="18" charset="0"/>
              </a:rPr>
              <a:t>acqua;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  <a:defRPr/>
            </a:pPr>
            <a:r>
              <a:rPr lang="it-IT" sz="1608">
                <a:effectLst/>
                <a:latin typeface="+mn-lt"/>
                <a:ea typeface="Times New Roman" panose="02020603050405020304" pitchFamily="18" charset="0"/>
              </a:rPr>
              <a:t>rifiuti;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  <a:defRPr/>
            </a:pPr>
            <a:r>
              <a:rPr lang="it-IT" sz="1608">
                <a:effectLst/>
                <a:latin typeface="+mn-lt"/>
                <a:ea typeface="Times New Roman" panose="02020603050405020304" pitchFamily="18" charset="0"/>
              </a:rPr>
              <a:t>dati Social e Governance;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  <a:defRPr/>
            </a:pPr>
            <a:r>
              <a:rPr lang="it-IT" sz="1608">
                <a:effectLst/>
                <a:latin typeface="+mn-lt"/>
                <a:ea typeface="Times New Roman" panose="02020603050405020304" pitchFamily="18" charset="0"/>
              </a:rPr>
              <a:t>indicatori ESG;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it-IT" sz="1608">
                <a:effectLst/>
                <a:latin typeface="+mn-lt"/>
                <a:ea typeface="Times New Roman" panose="02020603050405020304" pitchFamily="18" charset="0"/>
              </a:rPr>
              <a:t>dati provenienti da altri sistemi </a:t>
            </a:r>
            <a:br>
              <a:rPr lang="it-IT" sz="1800" dirty="0">
                <a:effectLst/>
                <a:latin typeface="+mn-lt"/>
                <a:ea typeface="Times New Roman" panose="02020603050405020304" pitchFamily="18" charset="0"/>
              </a:rPr>
            </a:br>
            <a:r>
              <a:rPr lang="it-IT" sz="1608">
                <a:effectLst/>
                <a:latin typeface="+mn-lt"/>
                <a:ea typeface="Times New Roman" panose="02020603050405020304" pitchFamily="18" charset="0"/>
              </a:rPr>
              <a:t>(ad esempio Scope 3).</a:t>
            </a:r>
            <a:endParaRPr lang="it-IT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15C07C3D-9B7D-3CA2-2599-EE476940C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977" y="1005840"/>
            <a:ext cx="2528250" cy="79275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EBF69A91-1F31-586C-931B-377442ADAB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50" y="1691148"/>
            <a:ext cx="2980614" cy="1041419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79F815E4-E117-66B5-5307-7FCB7158A3F7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Acquisizione Dati</a:t>
            </a:r>
          </a:p>
        </p:txBody>
      </p:sp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AE488C-3540-3047-B8AD-B1BB623FFF33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Caricamento manuale tramite template Excel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3BB562C-85C3-BEFF-5D2B-FF9CEA752171}"/>
              </a:ext>
            </a:extLst>
          </p:cNvPr>
          <p:cNvSpPr txBox="1"/>
          <p:nvPr/>
        </p:nvSpPr>
        <p:spPr>
          <a:xfrm>
            <a:off x="7983350" y="2528737"/>
            <a:ext cx="3996775" cy="3693319"/>
          </a:xfrm>
          <a:prstGeom prst="rect">
            <a:avLst/>
          </a:prstGeom>
          <a:solidFill>
            <a:schemeClr val="bg1">
              <a:alpha val="99839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endParaRPr lang="it-IT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Consentono il caricamento massivo (</a:t>
            </a:r>
            <a:r>
              <a:rPr lang="it-IT" b="1" dirty="0"/>
              <a:t>bulk upload</a:t>
            </a:r>
            <a:r>
              <a:rPr lang="it-IT" dirty="0"/>
              <a:t>) di dati tramite file </a:t>
            </a:r>
            <a:r>
              <a:rPr lang="it-IT" b="1" dirty="0"/>
              <a:t>Excel</a:t>
            </a:r>
            <a:r>
              <a:rPr lang="it-IT" dirty="0"/>
              <a:t> o </a:t>
            </a:r>
            <a:r>
              <a:rPr lang="it-IT" b="1" dirty="0"/>
              <a:t>CSV</a:t>
            </a:r>
            <a:r>
              <a:rPr lang="it-IT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Ideali per il caricamento iniziale di grandi volumi di dati storici o aggiornamenti periodici.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I template seguono una struttura standard definita da </a:t>
            </a:r>
            <a:r>
              <a:rPr lang="it-IT" b="1" dirty="0" err="1"/>
              <a:t>Envizi</a:t>
            </a:r>
            <a:r>
              <a:rPr lang="it-IT" dirty="0"/>
              <a:t> per garantire qualità e coerenza dei dati.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L’utilizzo è normalmente riservato agli utenti con autorizzazioni a livello  di </a:t>
            </a:r>
            <a:r>
              <a:rPr lang="it-IT" b="1" dirty="0"/>
              <a:t>Group</a:t>
            </a:r>
            <a:r>
              <a:rPr lang="it-IT" dirty="0"/>
              <a:t> o </a:t>
            </a:r>
            <a:r>
              <a:rPr lang="it-IT" b="1" dirty="0"/>
              <a:t>Organization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6407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6479-F78C-A0C7-4D98-DBB583D11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FE853DA-BC4D-BFF3-956E-4AB109CCB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63" y="1005840"/>
            <a:ext cx="4378518" cy="5394959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1D27BAE6-259A-097C-04CE-F96B832D760B}"/>
              </a:ext>
            </a:extLst>
          </p:cNvPr>
          <p:cNvSpPr txBox="1"/>
          <p:nvPr/>
        </p:nvSpPr>
        <p:spPr>
          <a:xfrm>
            <a:off x="751590" y="1399506"/>
            <a:ext cx="5723900" cy="290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IBM Envizi mette a disposizione diversi template Excel per il caricamento manuale dei dati. </a:t>
            </a:r>
          </a:p>
          <a:p>
            <a:endParaRPr lang="it-IT" dirty="0"/>
          </a:p>
          <a:p>
            <a:r>
              <a:rPr lang="it-IT" dirty="0"/>
              <a:t>La scelta dipende principalmente da </a:t>
            </a:r>
            <a:r>
              <a:rPr lang="it-IT" b="1" dirty="0"/>
              <a:t>come è stato modellato l’Account Style</a:t>
            </a:r>
            <a:r>
              <a:rPr lang="it-IT" dirty="0"/>
              <a:t>: alcuni raccolgono </a:t>
            </a:r>
            <a:r>
              <a:rPr lang="it-IT" b="1" dirty="0"/>
              <a:t>più tipologie di misure</a:t>
            </a:r>
            <a:r>
              <a:rPr lang="it-IT" dirty="0"/>
              <a:t> (ad esempio quantità e costo), mentre altri prevedono </a:t>
            </a:r>
            <a:r>
              <a:rPr lang="it-IT" b="1" dirty="0"/>
              <a:t>un’unica tipologia di dato con numerose metriche dedicate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Utilizzare il template corretto semplifica il caricamento e garantisce la corretta acquisizione delle informazioni.</a:t>
            </a:r>
          </a:p>
        </p:txBody>
      </p:sp>
      <p:sp>
        <p:nvSpPr>
          <p:cNvPr id="10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6D7C098-2196-586B-491E-DFCDB8FBB691}"/>
              </a:ext>
            </a:extLst>
          </p:cNvPr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Come ottenere i template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2DE2520-CA86-AE6D-E33F-43A31B3DE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133" y="134897"/>
            <a:ext cx="2374048" cy="81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7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ottotitolo"/>
          <p:cNvSpPr/>
          <p:nvPr/>
        </p:nvSpPr>
        <p:spPr>
          <a:xfrm>
            <a:off x="640080" y="1005840"/>
            <a:ext cx="10908792" cy="35966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0"/>
              </a:spcAft>
              <a:buNone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Tre template Excel generati da Envizi: cambia la copertura dei dati e il livello di automazione.</a:t>
            </a:r>
          </a:p>
        </p:txBody>
      </p:sp>
      <p:sp>
        <p:nvSpPr>
          <p:cNvPr id="112" name="KPI 112"/>
          <p:cNvSpPr/>
          <p:nvPr/>
        </p:nvSpPr>
        <p:spPr>
          <a:xfrm>
            <a:off x="640080" y="1509369"/>
            <a:ext cx="3502152" cy="944118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966" b="1">
                <a:solidFill>
                  <a:srgbClr val="156082"/>
                </a:solidFill>
                <a:latin typeface="+mn-lt"/>
              </a:rPr>
              <a:t>Singolo</a:t>
            </a:r>
          </a:p>
          <a:p>
            <a:pPr>
              <a:spcAft>
                <a:spcPts val="0"/>
              </a:spcAft>
              <a:buNone/>
              <a:defRPr/>
            </a:pPr>
            <a:r>
              <a:rPr lang="it-IT" sz="1376">
                <a:solidFill>
                  <a:srgbClr val="0E2841"/>
                </a:solidFill>
                <a:latin typeface="+mn-lt"/>
              </a:rPr>
              <a:t>un solo Account Style per file</a:t>
            </a:r>
          </a:p>
        </p:txBody>
      </p:sp>
      <p:sp>
        <p:nvSpPr>
          <p:cNvPr id="113" name="KPI 113"/>
          <p:cNvSpPr/>
          <p:nvPr/>
        </p:nvSpPr>
        <p:spPr>
          <a:xfrm>
            <a:off x="4343400" y="1509369"/>
            <a:ext cx="3502152" cy="944118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966" b="1">
                <a:solidFill>
                  <a:srgbClr val="156082"/>
                </a:solidFill>
                <a:latin typeface="+mn-lt"/>
              </a:rPr>
              <a:t>Multiplo</a:t>
            </a:r>
          </a:p>
          <a:p>
            <a:pPr>
              <a:spcAft>
                <a:spcPts val="0"/>
              </a:spcAft>
              <a:buNone/>
              <a:defRPr/>
            </a:pPr>
            <a:r>
              <a:rPr lang="it-IT" sz="1376">
                <a:solidFill>
                  <a:srgbClr val="0E2841"/>
                </a:solidFill>
                <a:latin typeface="+mn-lt"/>
              </a:rPr>
              <a:t>più Account Style in un unico file</a:t>
            </a:r>
          </a:p>
        </p:txBody>
      </p:sp>
      <p:sp>
        <p:nvSpPr>
          <p:cNvPr id="114" name="KPI 114"/>
          <p:cNvSpPr/>
          <p:nvPr/>
        </p:nvSpPr>
        <p:spPr>
          <a:xfrm>
            <a:off x="8046720" y="1509369"/>
            <a:ext cx="3502152" cy="944118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966" b="1">
                <a:solidFill>
                  <a:srgbClr val="156082"/>
                </a:solidFill>
                <a:latin typeface="+mn-lt"/>
              </a:rPr>
              <a:t>Massivo</a:t>
            </a:r>
          </a:p>
          <a:p>
            <a:pPr>
              <a:spcAft>
                <a:spcPts val="0"/>
              </a:spcAft>
              <a:buNone/>
              <a:defRPr/>
            </a:pPr>
            <a:r>
              <a:rPr lang="it-IT" sz="1376">
                <a:solidFill>
                  <a:srgbClr val="0E2841"/>
                </a:solidFill>
                <a:latin typeface="+mn-lt"/>
              </a:rPr>
              <a:t>formato standard per integrazioni</a:t>
            </a:r>
          </a:p>
        </p:txBody>
      </p:sp>
      <p:sp>
        <p:nvSpPr>
          <p:cNvPr id="115" name="Card 115"/>
          <p:cNvSpPr/>
          <p:nvPr/>
        </p:nvSpPr>
        <p:spPr>
          <a:xfrm>
            <a:off x="640080" y="2678277"/>
            <a:ext cx="3502152" cy="2787396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91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Account Setup and Data Load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Template Excel per il caricamento manuale di un singolo Account Style.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Contiene account configurati, periodo di riferimento e campi richiesti.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Quando usarlo: dati di una sola tipologia (elettricità, gas, acqua, rifiuti).</a:t>
            </a:r>
          </a:p>
        </p:txBody>
      </p:sp>
      <p:sp>
        <p:nvSpPr>
          <p:cNvPr id="116" name="Card 116"/>
          <p:cNvSpPr/>
          <p:nvPr/>
        </p:nvSpPr>
        <p:spPr>
          <a:xfrm>
            <a:off x="4343400" y="2678277"/>
            <a:ext cx="3502152" cy="2787396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91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Account Setup and Data Load – PM&amp;C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Template Excel per più Account Style insieme (</a:t>
            </a:r>
            <a:r>
              <a:rPr lang="it-IT" sz="1376" err="1">
                <a:solidFill>
                  <a:srgbClr val="404040"/>
                </a:solidFill>
                <a:latin typeface="+mn-lt"/>
              </a:rPr>
              <a:t>Primary</a:t>
            </a:r>
            <a:r>
              <a:rPr lang="it-IT" sz="1376">
                <a:solidFill>
                  <a:srgbClr val="404040"/>
                </a:solidFill>
                <a:latin typeface="+mn-lt"/>
              </a:rPr>
              <a:t> </a:t>
            </a:r>
            <a:r>
              <a:rPr lang="it-IT" sz="1376" err="1">
                <a:solidFill>
                  <a:srgbClr val="404040"/>
                </a:solidFill>
                <a:latin typeface="+mn-lt"/>
              </a:rPr>
              <a:t>Measure</a:t>
            </a:r>
            <a:r>
              <a:rPr lang="it-IT" sz="1376">
                <a:solidFill>
                  <a:srgbClr val="404040"/>
                </a:solidFill>
                <a:latin typeface="+mn-lt"/>
              </a:rPr>
              <a:t> &amp; Cost).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Consumi, costi e altre misure di tipologie diverse in un unico file.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Quando usarlo: è il più usato nei progetti, per i caricamenti periodici.</a:t>
            </a:r>
          </a:p>
        </p:txBody>
      </p:sp>
      <p:sp>
        <p:nvSpPr>
          <p:cNvPr id="117" name="Card 117"/>
          <p:cNvSpPr/>
          <p:nvPr/>
        </p:nvSpPr>
        <p:spPr>
          <a:xfrm>
            <a:off x="8046720" y="2678277"/>
            <a:ext cx="3502152" cy="2787396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91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Flat File Format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File tabellare standardizzato per importazioni massive e integrazioni.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Layout uniforme, elaborabile da strumenti ETL o programmi di conversione.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Quando usarlo: connettori, flussi automatici, integrazione con ERP e sistemi energetici.</a:t>
            </a:r>
          </a:p>
        </p:txBody>
      </p:sp>
      <p:sp>
        <p:nvSpPr>
          <p:cNvPr id="118" name="Band 118"/>
          <p:cNvSpPr/>
          <p:nvPr/>
        </p:nvSpPr>
        <p:spPr>
          <a:xfrm>
            <a:off x="640080" y="5636514"/>
            <a:ext cx="10908792" cy="764286"/>
          </a:xfrm>
          <a:prstGeom prst="roundRect">
            <a:avLst>
              <a:gd name="adj" fmla="val 12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55448" tIns="91440" rIns="155448" bIns="91440" anchor="ctr">
            <a:normAutofit/>
          </a:bodyPr>
          <a:lstStyle/>
          <a:p>
            <a:pPr>
              <a:spcAft>
                <a:spcPts val="0"/>
              </a:spcAft>
              <a:buNone/>
              <a:defRPr/>
            </a:pPr>
            <a:r>
              <a:rPr lang="it-IT" sz="1376" b="1">
                <a:solidFill>
                  <a:srgbClr val="156082"/>
                </a:solidFill>
                <a:latin typeface="+mn-lt"/>
              </a:rPr>
              <a:t>La scelta: </a:t>
            </a:r>
            <a:r>
              <a:rPr lang="it-IT" sz="1376">
                <a:solidFill>
                  <a:srgbClr val="0E2841"/>
                </a:solidFill>
                <a:latin typeface="+mn-lt"/>
              </a:rPr>
              <a:t>un solo Account Style per volta, più tipologie insieme o un formato pensato per automatizzare il caricamento.</a:t>
            </a:r>
          </a:p>
        </p:txBody>
      </p:sp>
      <p:sp>
        <p:nvSpPr>
          <p:cNvPr id="11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0" name="Titolo"/>
          <p:cNvSpPr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Quale template usare per il caricamento dei dati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431A79A-CD00-1DF7-3546-9DF60F845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133" y="134897"/>
            <a:ext cx="2374048" cy="8160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ottotitolo"/>
          <p:cNvSpPr/>
          <p:nvPr/>
        </p:nvSpPr>
        <p:spPr>
          <a:xfrm>
            <a:off x="640080" y="1005840"/>
            <a:ext cx="10908792" cy="35966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0"/>
              </a:spcAft>
              <a:buNone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Due varianti di Account Setup and Data Load: cambia il numero di Account Style e il dettaglio delle metriche.</a:t>
            </a:r>
          </a:p>
        </p:txBody>
      </p:sp>
      <p:sp>
        <p:nvSpPr>
          <p:cNvPr id="115" name="Card 115"/>
          <p:cNvSpPr/>
          <p:nvPr/>
        </p:nvSpPr>
        <p:spPr>
          <a:xfrm>
            <a:off x="640080" y="1509369"/>
            <a:ext cx="5340096" cy="404622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Account Setup and Data Load – PM&amp;C</a:t>
            </a:r>
          </a:p>
          <a:p>
            <a:pPr>
              <a:spcAft>
                <a:spcPts val="491"/>
              </a:spcAft>
              <a:buNone/>
              <a:defRPr/>
            </a:pPr>
            <a:r>
              <a:rPr lang="it-IT" sz="1376" b="1">
                <a:solidFill>
                  <a:srgbClr val="4EA72E"/>
                </a:solidFill>
                <a:latin typeface="+mn-lt"/>
              </a:rPr>
              <a:t>Più Account Style, due metriche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Da usare quando gli Account Style condividono la stessa struttura: Primary Measure (Quantity) e Total Cost.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Un unico file può contenere gas, acqua, carburanti, rifiuti, refrigeranti, purché solo con queste due metriche.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È il template più indicato per la maggior parte dei caricamenti periodici.</a:t>
            </a:r>
          </a:p>
        </p:txBody>
      </p:sp>
      <p:sp>
        <p:nvSpPr>
          <p:cNvPr id="116" name="Card 116"/>
          <p:cNvSpPr/>
          <p:nvPr/>
        </p:nvSpPr>
        <p:spPr>
          <a:xfrm>
            <a:off x="6208776" y="1509369"/>
            <a:ext cx="5340096" cy="404622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Account Setup and Data Load</a:t>
            </a:r>
          </a:p>
          <a:p>
            <a:pPr>
              <a:spcAft>
                <a:spcPts val="491"/>
              </a:spcAft>
              <a:buNone/>
              <a:defRPr/>
            </a:pPr>
            <a:r>
              <a:rPr lang="it-IT" sz="1376" b="1">
                <a:solidFill>
                  <a:srgbClr val="4EA72E"/>
                </a:solidFill>
                <a:latin typeface="+mn-lt"/>
              </a:rPr>
              <a:t>Un tipo di dato, più metriche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Da usare quando un Account Style prevede metriche specifiche oltre a quantità e costo.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Ad esempio: Total Electricity, Green Power, Renewable Energy, Peak Demand.</a:t>
            </a:r>
          </a:p>
          <a:p>
            <a:pPr marL="190500" indent="-190500">
              <a:spcAft>
                <a:spcPts val="491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È il template ideale per un dettaglio maggiore su una singola tipologia.</a:t>
            </a:r>
          </a:p>
        </p:txBody>
      </p:sp>
      <p:pic>
        <p:nvPicPr>
          <p:cNvPr id="120" name="Immagine PM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766" y="3748278"/>
            <a:ext cx="1366723" cy="1483614"/>
          </a:xfrm>
          <a:prstGeom prst="rect">
            <a:avLst/>
          </a:prstGeom>
          <a:ln w="9525">
            <a:solidFill>
              <a:srgbClr val="156082">
                <a:alpha val="35000"/>
              </a:srgbClr>
            </a:solidFill>
          </a:ln>
        </p:spPr>
      </p:pic>
      <p:pic>
        <p:nvPicPr>
          <p:cNvPr id="121" name="Immagine Multi-metric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470" y="3748278"/>
            <a:ext cx="3524707" cy="1375714"/>
          </a:xfrm>
          <a:prstGeom prst="rect">
            <a:avLst/>
          </a:prstGeom>
          <a:ln w="9525">
            <a:solidFill>
              <a:srgbClr val="156082">
                <a:alpha val="35000"/>
              </a:srgbClr>
            </a:solidFill>
          </a:ln>
        </p:spPr>
      </p:pic>
      <p:sp>
        <p:nvSpPr>
          <p:cNvPr id="118" name="Band 118"/>
          <p:cNvSpPr/>
          <p:nvPr/>
        </p:nvSpPr>
        <p:spPr>
          <a:xfrm>
            <a:off x="640080" y="5636514"/>
            <a:ext cx="10908792" cy="764286"/>
          </a:xfrm>
          <a:prstGeom prst="roundRect">
            <a:avLst>
              <a:gd name="adj" fmla="val 12000"/>
            </a:avLst>
          </a:prstGeom>
          <a:solidFill>
            <a:schemeClr val="bg1">
              <a:alpha val="80990"/>
            </a:schemeClr>
          </a:solidFill>
          <a:ln>
            <a:noFill/>
          </a:ln>
        </p:spPr>
        <p:txBody>
          <a:bodyPr lIns="155448" tIns="91440" rIns="155448" bIns="91440" anchor="ctr">
            <a:normAutofit/>
          </a:bodyPr>
          <a:lstStyle/>
          <a:p>
            <a:pPr>
              <a:spcAft>
                <a:spcPts val="0"/>
              </a:spcAft>
              <a:buNone/>
              <a:defRPr/>
            </a:pPr>
            <a:r>
              <a:rPr lang="it-IT" sz="1376" b="1">
                <a:solidFill>
                  <a:srgbClr val="156082"/>
                </a:solidFill>
                <a:latin typeface="+mn-lt"/>
              </a:rPr>
              <a:t>In pratica: </a:t>
            </a:r>
            <a:r>
              <a:rPr lang="it-IT" sz="1376">
                <a:solidFill>
                  <a:srgbClr val="0E2841"/>
                </a:solidFill>
                <a:latin typeface="+mn-lt"/>
              </a:rPr>
              <a:t>PM&amp;C per i caricamenti periodici multi-utility, la versione standard quando servono metriche di dettaglio su un solo tipo di dato.</a:t>
            </a:r>
          </a:p>
        </p:txBody>
      </p:sp>
      <p:sp>
        <p:nvSpPr>
          <p:cNvPr id="13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0" name="Titolo"/>
          <p:cNvSpPr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Quale template usare per il caricamento dei dati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574A068-C1BF-58E7-7267-62984174BC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133" y="134897"/>
            <a:ext cx="2374048" cy="8160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0752B-D41E-1052-148F-E9440FB4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B61118E-9375-405A-78DC-259BCB9AB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512" y="53308"/>
            <a:ext cx="3377767" cy="154644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A53821C-04F6-93A5-418B-AECCAF8E5369}"/>
              </a:ext>
            </a:extLst>
          </p:cNvPr>
          <p:cNvSpPr txBox="1"/>
          <p:nvPr/>
        </p:nvSpPr>
        <p:spPr>
          <a:xfrm>
            <a:off x="7895063" y="3432600"/>
            <a:ext cx="3755171" cy="265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Automatizzano l’acquisizione dei dati da sistemi esterni (SAP, ERP, HR, database, API, utility, IoT).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Trasformano i dati nel formato standard di IBM </a:t>
            </a:r>
            <a:r>
              <a:rPr lang="it-IT" dirty="0" err="1"/>
              <a:t>Envizi</a:t>
            </a:r>
            <a:r>
              <a:rPr lang="it-IT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Eliminano i caricamenti manuali e riducono il rischio di errore.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Consentono aggiornamenti pianificati e completamente tracciabili.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B4EF73A-A447-E4B8-65E7-8DD1A6428D20}"/>
              </a:ext>
            </a:extLst>
          </p:cNvPr>
          <p:cNvSpPr txBox="1"/>
          <p:nvPr/>
        </p:nvSpPr>
        <p:spPr>
          <a:xfrm>
            <a:off x="660710" y="1426137"/>
            <a:ext cx="7111690" cy="4974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/>
              <a:t>Rappresenta la modalità più evoluta per automatizzare la raccolta dei dati provenienti dai sistemi aziendali.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/>
              <a:t>IBM </a:t>
            </a:r>
            <a:r>
              <a:rPr lang="it-IT" dirty="0" err="1"/>
              <a:t>Envizi</a:t>
            </a:r>
            <a:r>
              <a:rPr lang="it-IT" dirty="0"/>
              <a:t> utilizza connettori e processi di integrazione che acquisiscono i dati dalle sorgenti aziendali, li trasformano nel formato standard della piattaforma e li caricano automaticamente in modo controllato e tracciabile.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/>
              <a:t>Questa modalità è particolarmente indicata quando i dati sono già disponibili in sistemi informativi aziendali e si desidera ridurre le attività manuali, migliorare la qualità del dato e garantire aggiornamenti periodici.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b="1" dirty="0"/>
              <a:t>Principali utilizzi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sistemi ERP (es. SAP);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sistemi HR;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utility e fornitori di energia;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database aziendali;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API e applicazioni cloud;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it-IT" dirty="0"/>
              <a:t>sistemi IoT e piattaforme di monitoraggio energetico.</a:t>
            </a:r>
          </a:p>
        </p:txBody>
      </p:sp>
      <p:sp>
        <p:nvSpPr>
          <p:cNvPr id="12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7F26487-551B-8153-AC37-CFA01A85A4AE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Integrazione e Connettori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13F4E06-773C-CC3E-5A65-A5334CD421B7}"/>
              </a:ext>
            </a:extLst>
          </p:cNvPr>
          <p:cNvSpPr txBox="1"/>
          <p:nvPr/>
        </p:nvSpPr>
        <p:spPr>
          <a:xfrm>
            <a:off x="9717228" y="1056805"/>
            <a:ext cx="144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Integrazione</a:t>
            </a:r>
          </a:p>
        </p:txBody>
      </p:sp>
    </p:spTree>
    <p:extLst>
      <p:ext uri="{BB962C8B-B14F-4D97-AF65-F5344CB8AC3E}">
        <p14:creationId xmlns:p14="http://schemas.microsoft.com/office/powerpoint/2010/main" val="1934544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ottotitolo"/>
          <p:cNvSpPr/>
          <p:nvPr/>
        </p:nvSpPr>
        <p:spPr>
          <a:xfrm>
            <a:off x="640080" y="1005840"/>
            <a:ext cx="10908792" cy="35966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0"/>
              </a:spcAft>
              <a:buNone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Il componente software che porta i dati dai sistemi aziendali dentro IBM Envizi, nel formato richiesto.</a:t>
            </a:r>
          </a:p>
        </p:txBody>
      </p:sp>
      <p:sp>
        <p:nvSpPr>
          <p:cNvPr id="112" name="KPI 112"/>
          <p:cNvSpPr/>
          <p:nvPr/>
        </p:nvSpPr>
        <p:spPr>
          <a:xfrm>
            <a:off x="640080" y="1509369"/>
            <a:ext cx="3502152" cy="944118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966" b="1">
                <a:solidFill>
                  <a:srgbClr val="156082"/>
                </a:solidFill>
                <a:latin typeface="+mn-lt"/>
              </a:rPr>
              <a:t>Metodo standard</a:t>
            </a:r>
          </a:p>
          <a:p>
            <a:pPr>
              <a:spcAft>
                <a:spcPts val="0"/>
              </a:spcAft>
              <a:buNone/>
              <a:defRPr/>
            </a:pPr>
            <a:r>
              <a:rPr lang="it-IT" sz="1376">
                <a:solidFill>
                  <a:srgbClr val="0E2841"/>
                </a:solidFill>
                <a:latin typeface="+mn-lt"/>
              </a:rPr>
              <a:t>tecnologie di integrazione consolidate</a:t>
            </a:r>
          </a:p>
        </p:txBody>
      </p:sp>
      <p:sp>
        <p:nvSpPr>
          <p:cNvPr id="113" name="KPI 113"/>
          <p:cNvSpPr/>
          <p:nvPr/>
        </p:nvSpPr>
        <p:spPr>
          <a:xfrm>
            <a:off x="4343400" y="1509369"/>
            <a:ext cx="3502152" cy="944118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966" b="1">
                <a:solidFill>
                  <a:srgbClr val="156082"/>
                </a:solidFill>
                <a:latin typeface="+mn-lt"/>
              </a:rPr>
              <a:t>Mapping su misura</a:t>
            </a:r>
          </a:p>
          <a:p>
            <a:pPr>
              <a:spcAft>
                <a:spcPts val="0"/>
              </a:spcAft>
              <a:buNone/>
              <a:defRPr/>
            </a:pPr>
            <a:r>
              <a:rPr lang="it-IT" sz="1376">
                <a:solidFill>
                  <a:srgbClr val="0E2841"/>
                </a:solidFill>
                <a:latin typeface="+mn-lt"/>
              </a:rPr>
              <a:t>configurato sul modello dati del cliente</a:t>
            </a:r>
          </a:p>
        </p:txBody>
      </p:sp>
      <p:sp>
        <p:nvSpPr>
          <p:cNvPr id="114" name="KPI 114"/>
          <p:cNvSpPr/>
          <p:nvPr/>
        </p:nvSpPr>
        <p:spPr>
          <a:xfrm>
            <a:off x="8046720" y="1509369"/>
            <a:ext cx="3502152" cy="944118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6"/>
              </a:spcAft>
              <a:buNone/>
              <a:defRPr/>
            </a:pPr>
            <a:r>
              <a:rPr lang="it-IT" sz="1966" b="1">
                <a:solidFill>
                  <a:srgbClr val="156082"/>
                </a:solidFill>
                <a:latin typeface="+mn-lt"/>
              </a:rPr>
              <a:t>3 livelli</a:t>
            </a:r>
          </a:p>
          <a:p>
            <a:pPr>
              <a:spcAft>
                <a:spcPts val="0"/>
              </a:spcAft>
              <a:buNone/>
              <a:defRPr/>
            </a:pPr>
            <a:r>
              <a:rPr lang="it-IT" sz="1376">
                <a:solidFill>
                  <a:srgbClr val="0E2841"/>
                </a:solidFill>
                <a:latin typeface="+mn-lt"/>
              </a:rPr>
              <a:t>Simple, Medium o Complex</a:t>
            </a:r>
          </a:p>
        </p:txBody>
      </p:sp>
      <p:sp>
        <p:nvSpPr>
          <p:cNvPr id="115" name="Card 115"/>
          <p:cNvSpPr/>
          <p:nvPr/>
        </p:nvSpPr>
        <p:spPr>
          <a:xfrm>
            <a:off x="640080" y="2678277"/>
            <a:ext cx="3502152" cy="2877312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 lnSpcReduction="10000"/>
          </a:bodyPr>
          <a:lstStyle/>
          <a:p>
            <a:pPr>
              <a:spcAft>
                <a:spcPts val="491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Che cosa fa il Connector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Acquisisce dati da file, API, database o applicazioni.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Interpreta la struttura delle informazioni.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Applica il mapping verso il modello dati Envizi e produce un flusso pronto per l’import automatico.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Converte codifiche e unità di misura.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Esegue controlli di qualità e validazione dei dati.</a:t>
            </a:r>
          </a:p>
        </p:txBody>
      </p:sp>
      <p:sp>
        <p:nvSpPr>
          <p:cNvPr id="116" name="Card 116"/>
          <p:cNvSpPr/>
          <p:nvPr/>
        </p:nvSpPr>
        <p:spPr>
          <a:xfrm>
            <a:off x="4343400" y="2678277"/>
            <a:ext cx="3502152" cy="2877312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91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Perché non è plug &amp; play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Ogni organizzazione usa i propri sistemi in modo diverso.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Anche con lo stesso ERP (es. SAP) cambiano configurazioni, personalizzazioni e codifiche.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Cambiano anche i processi e la qualità dei dati disponibili.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Serve quindi una fase iniziale di analisi per ogni integrazione.</a:t>
            </a:r>
          </a:p>
        </p:txBody>
      </p:sp>
      <p:sp>
        <p:nvSpPr>
          <p:cNvPr id="117" name="Card 117"/>
          <p:cNvSpPr/>
          <p:nvPr/>
        </p:nvSpPr>
        <p:spPr>
          <a:xfrm>
            <a:off x="8046720" y="2678277"/>
            <a:ext cx="3502152" cy="2877312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91"/>
              </a:spcAft>
              <a:buNone/>
              <a:defRPr/>
            </a:pPr>
            <a:r>
              <a:rPr lang="it-IT" sz="1475" b="1">
                <a:solidFill>
                  <a:srgbClr val="156082"/>
                </a:solidFill>
                <a:latin typeface="+mn-lt"/>
              </a:rPr>
              <a:t>Che cosa si definisce in analisi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Sorgenti dati da utilizzare.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Regole di trasformazione e mapping.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Frequenza di aggiornamento.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Controlli di qualità.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Livello di automazione richiesto.</a:t>
            </a:r>
          </a:p>
          <a:p>
            <a:pPr marL="190500" indent="-190500">
              <a:spcAft>
                <a:spcPts val="393"/>
              </a:spcAft>
              <a:buClr>
                <a:srgbClr val="4EA72E"/>
              </a:buClr>
              <a:buChar char="•"/>
              <a:defRPr/>
            </a:pPr>
            <a:r>
              <a:rPr lang="it-IT" sz="1376">
                <a:solidFill>
                  <a:srgbClr val="404040"/>
                </a:solidFill>
                <a:latin typeface="+mn-lt"/>
              </a:rPr>
              <a:t>Da qui la classificazione Simple, Medium o Complex.</a:t>
            </a:r>
          </a:p>
        </p:txBody>
      </p:sp>
      <p:sp>
        <p:nvSpPr>
          <p:cNvPr id="118" name="Band 118"/>
          <p:cNvSpPr/>
          <p:nvPr/>
        </p:nvSpPr>
        <p:spPr>
          <a:xfrm>
            <a:off x="640080" y="5636514"/>
            <a:ext cx="10908792" cy="764286"/>
          </a:xfrm>
          <a:prstGeom prst="roundRect">
            <a:avLst>
              <a:gd name="adj" fmla="val 12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55448" tIns="91440" rIns="155448" bIns="91440" anchor="ctr">
            <a:normAutofit/>
          </a:bodyPr>
          <a:lstStyle/>
          <a:p>
            <a:pPr>
              <a:spcAft>
                <a:spcPts val="0"/>
              </a:spcAft>
              <a:buNone/>
              <a:defRPr/>
            </a:pPr>
            <a:r>
              <a:rPr lang="it-IT" sz="1376" b="1">
                <a:solidFill>
                  <a:srgbClr val="156082"/>
                </a:solidFill>
                <a:latin typeface="+mn-lt"/>
              </a:rPr>
              <a:t>Il punto: </a:t>
            </a:r>
            <a:r>
              <a:rPr lang="it-IT" sz="1376">
                <a:solidFill>
                  <a:srgbClr val="0E2841"/>
                </a:solidFill>
                <a:latin typeface="+mn-lt"/>
              </a:rPr>
              <a:t>la tecnologia di integrazione è standard; ciò che cambia da cliente a cliente è il modello informativo da collegare.</a:t>
            </a:r>
          </a:p>
        </p:txBody>
      </p:sp>
      <p:sp>
        <p:nvSpPr>
          <p:cNvPr id="13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0" name="Titolo"/>
          <p:cNvSpPr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Integrazione: i Connettori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76918DC-3F58-FD54-FBA3-6060E32E3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586" y="52679"/>
            <a:ext cx="30861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41C4A-2D36-61E3-CE38-652545A3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6BE26BFF-B4BF-7AF9-3FBB-A679C67789F2}"/>
              </a:ext>
            </a:extLst>
          </p:cNvPr>
          <p:cNvSpPr txBox="1"/>
          <p:nvPr/>
        </p:nvSpPr>
        <p:spPr>
          <a:xfrm>
            <a:off x="751589" y="1230061"/>
            <a:ext cx="73603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Molti sistemi aziendali sono in grado di produrre automaticamente file periodici contenenti le informazioni necessarie alla rendicontazione ESG.</a:t>
            </a:r>
          </a:p>
          <a:p>
            <a:pPr>
              <a:buNone/>
            </a:pPr>
            <a:endParaRPr lang="it-IT" sz="18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Quando tali file sono già conformi al formato previsto da IBM </a:t>
            </a:r>
            <a:r>
              <a:rPr lang="it-IT" sz="1800" dirty="0" err="1">
                <a:effectLst/>
                <a:latin typeface="+mn-lt"/>
                <a:ea typeface="Times New Roman" panose="02020603050405020304" pitchFamily="18" charset="0"/>
              </a:rPr>
              <a:t>Envizi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, possono essere trasferiti automaticamente alla piattaforma (ad esempio tramite SFTP, e-mail o altri meccanismi di scambio), eliminando il caricamento manuale.</a:t>
            </a:r>
          </a:p>
          <a:p>
            <a:pPr>
              <a:buNone/>
            </a:pPr>
            <a:endParaRPr lang="it-IT" sz="18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Questa modalità rappresenta un primo livello di automazione ed è particolarmente efficace quando il sistema sorgente è già in grado di generare dati compatibili con il modello di importazione di </a:t>
            </a:r>
            <a:r>
              <a:rPr lang="it-IT" sz="1800" dirty="0" err="1">
                <a:effectLst/>
                <a:latin typeface="+mn-lt"/>
                <a:ea typeface="Times New Roman" panose="02020603050405020304" pitchFamily="18" charset="0"/>
              </a:rPr>
              <a:t>Envizi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it-IT" sz="1800" dirty="0">
              <a:effectLst/>
              <a:latin typeface="+mn-lt"/>
              <a:ea typeface="Times New Roman" panose="02020603050405020304" pitchFamily="18" charset="0"/>
            </a:endParaRPr>
          </a:p>
          <a:p>
            <a:r>
              <a:rPr lang="it-IT" b="1" dirty="0"/>
              <a:t>L’obiettivo del Connector non è adattare </a:t>
            </a:r>
            <a:r>
              <a:rPr lang="it-IT" b="1" dirty="0" err="1"/>
              <a:t>Envizi</a:t>
            </a:r>
            <a:r>
              <a:rPr lang="it-IT" b="1" dirty="0"/>
              <a:t> al sistema sorgente, ma adattare i dati del sistema sorgente al modello dati standard di IBM </a:t>
            </a:r>
            <a:r>
              <a:rPr lang="it-IT" b="1" dirty="0" err="1"/>
              <a:t>Envizi</a:t>
            </a:r>
            <a:r>
              <a:rPr lang="it-IT" b="1" dirty="0"/>
              <a:t>.</a:t>
            </a:r>
            <a:endParaRPr lang="it-IT" dirty="0"/>
          </a:p>
          <a:p>
            <a:pPr>
              <a:buNone/>
            </a:pPr>
            <a:endParaRPr lang="it-IT" sz="1800" dirty="0"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Qualora invece il formato prodotto dal sistema sorgente non sia direttamente compatibile con IBM </a:t>
            </a:r>
            <a:r>
              <a:rPr lang="it-IT" sz="1800" dirty="0" err="1">
                <a:effectLst/>
                <a:latin typeface="+mn-lt"/>
                <a:ea typeface="Times New Roman" panose="02020603050405020304" pitchFamily="18" charset="0"/>
              </a:rPr>
              <a:t>Envizi</a:t>
            </a:r>
            <a:r>
              <a:rPr lang="it-IT" sz="1800" dirty="0">
                <a:effectLst/>
                <a:latin typeface="+mn-lt"/>
                <a:ea typeface="Times New Roman" panose="02020603050405020304" pitchFamily="18" charset="0"/>
              </a:rPr>
              <a:t>, è necessario introdurre un componente di trasformazione (Connector)  che converta automaticamente il file nel formato richiesto dalla piattaforma.</a:t>
            </a:r>
            <a:endParaRPr lang="it-IT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FB48B96-3CCA-90EA-7FA8-DB5D7865CF94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Integrazione: Files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BC8339E-4344-2FF9-FC5B-DD534B047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859" y="210582"/>
            <a:ext cx="30861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40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EB4BB-02F0-CDD0-4AEB-2B32986C3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9C4B9143-FED7-D429-41FF-25D361C890C7}"/>
              </a:ext>
            </a:extLst>
          </p:cNvPr>
          <p:cNvSpPr txBox="1"/>
          <p:nvPr/>
        </p:nvSpPr>
        <p:spPr>
          <a:xfrm>
            <a:off x="660710" y="994266"/>
            <a:ext cx="7668480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it-IT" dirty="0"/>
              <a:t>IBM </a:t>
            </a:r>
            <a:r>
              <a:rPr lang="it-IT" dirty="0" err="1"/>
              <a:t>Envizi</a:t>
            </a:r>
            <a:r>
              <a:rPr lang="it-IT" dirty="0"/>
              <a:t> supporta l’integrazione con sistemi aziendali mediante API e componenti di integrazione che consentono il trasferimento automatico dei dati verso la piattaforma.</a:t>
            </a:r>
          </a:p>
          <a:p>
            <a:endParaRPr lang="it-IT" dirty="0"/>
          </a:p>
          <a:p>
            <a:r>
              <a:rPr lang="it-IT" dirty="0"/>
              <a:t>Questa modalità elimina la gestione manuale dei file ed è particolarmente indicata quando le applicazioni sorgente sono in grado di scambiare dati tramite API o possono essere integrate attraverso middleware dedicati.</a:t>
            </a:r>
          </a:p>
          <a:p>
            <a:endParaRPr lang="it-IT" dirty="0"/>
          </a:p>
          <a:p>
            <a:r>
              <a:rPr lang="it-IT" dirty="0"/>
              <a:t>Gli aggiornamenti possono essere eseguiti automaticamente secondo la frequenza richiesta dal processo aziendale, garantendo tracciabilità, qualità e continuità del flusso informativo.</a:t>
            </a:r>
          </a:p>
          <a:p>
            <a:endParaRPr lang="it-IT" b="1" dirty="0"/>
          </a:p>
          <a:p>
            <a:r>
              <a:rPr lang="it-IT" b="1" dirty="0"/>
              <a:t>L’utilizzo delle API non elimina necessariamente la necessità di un Connector: se il modello dati della sorgente è diverso da quello di </a:t>
            </a:r>
            <a:r>
              <a:rPr lang="it-IT" b="1" dirty="0" err="1"/>
              <a:t>Envizi</a:t>
            </a:r>
            <a:r>
              <a:rPr lang="it-IT" b="1" dirty="0"/>
              <a:t>, è comunque richiesta una trasformazione dei dati.</a:t>
            </a:r>
            <a:endParaRPr lang="it-IT" dirty="0"/>
          </a:p>
          <a:p>
            <a:endParaRPr lang="it-IT" dirty="0"/>
          </a:p>
          <a:p>
            <a:r>
              <a:rPr lang="it-IT" dirty="0"/>
              <a:t>Qualora il modello dati del sistema sorgente sia differente da quello previsto da IBM </a:t>
            </a:r>
            <a:r>
              <a:rPr lang="it-IT" dirty="0" err="1"/>
              <a:t>Envizi</a:t>
            </a:r>
            <a:r>
              <a:rPr lang="it-IT" dirty="0"/>
              <a:t>, è necessario utilizzare un componente di integrazione (Connector, middleware o Integration Platform) che trasformi automaticamente i dati nel formato richiesto dalla piattaforma.</a:t>
            </a: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33D7700-36AD-6D6E-4A44-FAADAC0FD18B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Integrazione: API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E2AD4D2-C004-7FC2-1F4A-D0513BB49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005" y="210582"/>
            <a:ext cx="30861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16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ottotitolo"/>
          <p:cNvSpPr/>
          <p:nvPr/>
        </p:nvSpPr>
        <p:spPr>
          <a:xfrm>
            <a:off x="640080" y="100584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0"/>
              </a:spcAft>
              <a:buNone/>
            </a:pPr>
            <a:r>
              <a:rPr lang="it-IT" sz="1400">
                <a:solidFill>
                  <a:srgbClr val="404040"/>
                </a:solidFill>
                <a:latin typeface="+mn-lt"/>
              </a:rPr>
              <a:t>Cinque modalità di caricamento dei dati e quando serve davvero un Connector.</a:t>
            </a:r>
          </a:p>
        </p:txBody>
      </p:sp>
      <p:sp>
        <p:nvSpPr>
          <p:cNvPr id="115" name="Card 115"/>
          <p:cNvSpPr/>
          <p:nvPr/>
        </p:nvSpPr>
        <p:spPr>
          <a:xfrm>
            <a:off x="640080" y="2057400"/>
            <a:ext cx="2035454" cy="233172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137160" rIns="137160" bIns="118872" anchor="t">
            <a:normAutofit/>
          </a:bodyPr>
          <a:lstStyle/>
          <a:p>
            <a:pPr>
              <a:spcAft>
                <a:spcPts val="300"/>
              </a:spcAft>
              <a:buNone/>
            </a:pPr>
            <a:r>
              <a:rPr lang="it-IT" sz="1500" b="1" dirty="0">
                <a:solidFill>
                  <a:srgbClr val="156082"/>
                </a:solidFill>
                <a:latin typeface="+mn-lt"/>
              </a:rPr>
              <a:t>Excel </a:t>
            </a:r>
            <a:r>
              <a:rPr lang="it-IT" sz="1500" b="1" dirty="0">
                <a:solidFill>
                  <a:srgbClr val="156082"/>
                </a:solidFill>
              </a:rPr>
              <a:t>Template </a:t>
            </a:r>
            <a:r>
              <a:rPr lang="it-IT" sz="1500" b="1" dirty="0" err="1">
                <a:solidFill>
                  <a:srgbClr val="156082"/>
                </a:solidFill>
              </a:rPr>
              <a:t>Envizi</a:t>
            </a:r>
            <a:endParaRPr lang="it-IT" sz="1500" b="1" dirty="0">
              <a:solidFill>
                <a:srgbClr val="156082"/>
              </a:solidFill>
              <a:latin typeface="+mn-lt"/>
            </a:endParaRPr>
          </a:p>
          <a:p>
            <a:pPr>
              <a:spcAft>
                <a:spcPts val="600"/>
              </a:spcAft>
              <a:buNone/>
            </a:pPr>
            <a:r>
              <a:rPr lang="it-IT" sz="1400" dirty="0">
                <a:solidFill>
                  <a:srgbClr val="404040"/>
                </a:solidFill>
                <a:latin typeface="+mn-lt"/>
              </a:rPr>
              <a:t>POC o piccoli </a:t>
            </a:r>
            <a:br>
              <a:rPr lang="it-IT" sz="1400" dirty="0">
                <a:solidFill>
                  <a:srgbClr val="404040"/>
                </a:solidFill>
                <a:latin typeface="+mn-lt"/>
              </a:rPr>
            </a:br>
            <a:r>
              <a:rPr lang="it-IT" sz="1400" dirty="0">
                <a:solidFill>
                  <a:srgbClr val="404040"/>
                </a:solidFill>
                <a:latin typeface="+mn-lt"/>
              </a:rPr>
              <a:t>volumi</a:t>
            </a:r>
          </a:p>
          <a:p>
            <a:pPr>
              <a:spcAft>
                <a:spcPts val="100"/>
              </a:spcAft>
              <a:buNone/>
            </a:pPr>
            <a:r>
              <a:rPr lang="it-IT" sz="1600" b="1" dirty="0">
                <a:solidFill>
                  <a:srgbClr val="595959"/>
                </a:solidFill>
                <a:latin typeface="+mn-lt"/>
              </a:rPr>
              <a:t>Connector</a:t>
            </a:r>
          </a:p>
          <a:p>
            <a:pPr>
              <a:spcAft>
                <a:spcPts val="0"/>
              </a:spcAft>
              <a:buNone/>
            </a:pPr>
            <a:r>
              <a:rPr lang="it-IT" sz="1800" b="1" dirty="0">
                <a:solidFill>
                  <a:srgbClr val="4EA72E"/>
                </a:solidFill>
                <a:latin typeface="+mn-lt"/>
              </a:rPr>
              <a:t>No</a:t>
            </a:r>
          </a:p>
          <a:p>
            <a:pPr>
              <a:spcAft>
                <a:spcPts val="0"/>
              </a:spcAft>
              <a:buNone/>
            </a:pPr>
            <a:r>
              <a:rPr lang="it-IT" sz="1400" dirty="0">
                <a:solidFill>
                  <a:srgbClr val="404040"/>
                </a:solidFill>
                <a:latin typeface="+mn-lt"/>
              </a:rPr>
              <a:t>Caricamento con template Excel, senza integrazione.</a:t>
            </a:r>
          </a:p>
        </p:txBody>
      </p:sp>
      <p:sp>
        <p:nvSpPr>
          <p:cNvPr id="116" name="Card 116"/>
          <p:cNvSpPr/>
          <p:nvPr/>
        </p:nvSpPr>
        <p:spPr>
          <a:xfrm>
            <a:off x="2858414" y="2057400"/>
            <a:ext cx="2035454" cy="233172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137160" rIns="137160" bIns="118872" anchor="t">
            <a:normAutofit/>
          </a:bodyPr>
          <a:lstStyle/>
          <a:p>
            <a:pPr>
              <a:spcAft>
                <a:spcPts val="300"/>
              </a:spcAft>
              <a:buNone/>
            </a:pPr>
            <a:r>
              <a:rPr lang="it-IT" sz="1500" b="1" dirty="0">
                <a:solidFill>
                  <a:srgbClr val="156082"/>
                </a:solidFill>
                <a:latin typeface="+mn-lt"/>
              </a:rPr>
              <a:t>File automatici</a:t>
            </a:r>
          </a:p>
          <a:p>
            <a:pPr>
              <a:spcAft>
                <a:spcPts val="600"/>
              </a:spcAft>
              <a:buNone/>
            </a:pPr>
            <a:r>
              <a:rPr lang="it-IT" sz="1400" dirty="0">
                <a:solidFill>
                  <a:srgbClr val="404040"/>
                </a:solidFill>
                <a:latin typeface="+mn-lt"/>
              </a:rPr>
              <a:t>Il sistema produce già file in formato </a:t>
            </a:r>
            <a:r>
              <a:rPr lang="it-IT" sz="1400" dirty="0" err="1">
                <a:solidFill>
                  <a:srgbClr val="404040"/>
                </a:solidFill>
                <a:latin typeface="+mn-lt"/>
              </a:rPr>
              <a:t>Envizi</a:t>
            </a:r>
            <a:endParaRPr lang="it-IT" sz="1400" dirty="0">
              <a:solidFill>
                <a:srgbClr val="404040"/>
              </a:solidFill>
              <a:latin typeface="+mn-lt"/>
            </a:endParaRPr>
          </a:p>
          <a:p>
            <a:pPr>
              <a:spcAft>
                <a:spcPts val="100"/>
              </a:spcAft>
              <a:buNone/>
            </a:pPr>
            <a:r>
              <a:rPr lang="it-IT" sz="1600" b="1" dirty="0">
                <a:solidFill>
                  <a:srgbClr val="595959"/>
                </a:solidFill>
                <a:latin typeface="+mn-lt"/>
              </a:rPr>
              <a:t>Connector</a:t>
            </a:r>
          </a:p>
          <a:p>
            <a:pPr>
              <a:spcAft>
                <a:spcPts val="0"/>
              </a:spcAft>
              <a:buNone/>
            </a:pPr>
            <a:r>
              <a:rPr lang="it-IT" sz="1800" b="1" dirty="0">
                <a:solidFill>
                  <a:srgbClr val="4EA72E"/>
                </a:solidFill>
                <a:latin typeface="+mn-lt"/>
              </a:rPr>
              <a:t>No</a:t>
            </a:r>
          </a:p>
          <a:p>
            <a:pPr>
              <a:spcAft>
                <a:spcPts val="0"/>
              </a:spcAft>
              <a:buNone/>
            </a:pPr>
            <a:r>
              <a:rPr lang="it-IT" sz="1400" dirty="0">
                <a:solidFill>
                  <a:srgbClr val="404040"/>
                </a:solidFill>
                <a:latin typeface="+mn-lt"/>
              </a:rPr>
              <a:t>Basta programmare la consegna del file. </a:t>
            </a:r>
            <a:br>
              <a:rPr lang="it-IT" sz="1400" dirty="0">
                <a:solidFill>
                  <a:srgbClr val="404040"/>
                </a:solidFill>
                <a:latin typeface="+mn-lt"/>
              </a:rPr>
            </a:br>
            <a:r>
              <a:rPr lang="it-IT" sz="1400" dirty="0">
                <a:solidFill>
                  <a:srgbClr val="404040"/>
                </a:solidFill>
                <a:latin typeface="+mn-lt"/>
              </a:rPr>
              <a:t>SFTP/ Email.</a:t>
            </a:r>
            <a:r>
              <a:rPr lang="it-IT" sz="1400" dirty="0">
                <a:solidFill>
                  <a:srgbClr val="404040"/>
                </a:solidFill>
              </a:rPr>
              <a:t>/Upload</a:t>
            </a:r>
            <a:endParaRPr lang="it-IT" sz="1400" dirty="0">
              <a:solidFill>
                <a:srgbClr val="404040"/>
              </a:solidFill>
              <a:latin typeface="+mn-lt"/>
            </a:endParaRPr>
          </a:p>
        </p:txBody>
      </p:sp>
      <p:sp>
        <p:nvSpPr>
          <p:cNvPr id="117" name="Card 117"/>
          <p:cNvSpPr/>
          <p:nvPr/>
        </p:nvSpPr>
        <p:spPr>
          <a:xfrm>
            <a:off x="5076749" y="2057400"/>
            <a:ext cx="2035454" cy="233172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137160" rIns="137160" bIns="118872" anchor="t">
            <a:normAutofit lnSpcReduction="10000"/>
          </a:bodyPr>
          <a:lstStyle/>
          <a:p>
            <a:pPr>
              <a:spcAft>
                <a:spcPts val="300"/>
              </a:spcAft>
              <a:buNone/>
            </a:pPr>
            <a:r>
              <a:rPr lang="it-IT" sz="1500" b="1" dirty="0">
                <a:solidFill>
                  <a:srgbClr val="156082"/>
                </a:solidFill>
                <a:latin typeface="+mn-lt"/>
              </a:rPr>
              <a:t>File non compatibili</a:t>
            </a:r>
          </a:p>
          <a:p>
            <a:pPr>
              <a:spcAft>
                <a:spcPts val="600"/>
              </a:spcAft>
              <a:buNone/>
            </a:pPr>
            <a:r>
              <a:rPr lang="it-IT" sz="1400" dirty="0">
                <a:solidFill>
                  <a:srgbClr val="404040"/>
                </a:solidFill>
                <a:latin typeface="+mn-lt"/>
              </a:rPr>
              <a:t>File in formato proprietario</a:t>
            </a:r>
          </a:p>
          <a:p>
            <a:pPr>
              <a:spcAft>
                <a:spcPts val="100"/>
              </a:spcAft>
              <a:buNone/>
            </a:pPr>
            <a:r>
              <a:rPr lang="it-IT" sz="1600" b="1" dirty="0">
                <a:solidFill>
                  <a:srgbClr val="595959"/>
                </a:solidFill>
                <a:latin typeface="+mn-lt"/>
              </a:rPr>
              <a:t>Connector</a:t>
            </a:r>
            <a:br>
              <a:rPr lang="it-IT" sz="1600" b="1" dirty="0">
                <a:solidFill>
                  <a:srgbClr val="595959"/>
                </a:solidFill>
                <a:latin typeface="+mn-lt"/>
              </a:rPr>
            </a:br>
            <a:r>
              <a:rPr lang="it-IT" sz="1800" b="1" dirty="0">
                <a:solidFill>
                  <a:srgbClr val="156082"/>
                </a:solidFill>
                <a:latin typeface="+mn-lt"/>
              </a:rPr>
              <a:t>Sì</a:t>
            </a:r>
          </a:p>
          <a:p>
            <a:pPr>
              <a:spcAft>
                <a:spcPts val="0"/>
              </a:spcAft>
              <a:buNone/>
            </a:pPr>
            <a:r>
              <a:rPr lang="it-IT" sz="1400" dirty="0">
                <a:solidFill>
                  <a:srgbClr val="404040"/>
                </a:solidFill>
                <a:latin typeface="+mn-lt"/>
              </a:rPr>
              <a:t>Serve trasformare il formato prima del caricamento via SFTP/email/Upload</a:t>
            </a:r>
          </a:p>
        </p:txBody>
      </p:sp>
      <p:sp>
        <p:nvSpPr>
          <p:cNvPr id="118" name="Card 118"/>
          <p:cNvSpPr/>
          <p:nvPr/>
        </p:nvSpPr>
        <p:spPr>
          <a:xfrm>
            <a:off x="7295083" y="2057400"/>
            <a:ext cx="2035454" cy="233172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137160" rIns="137160" bIns="118872" anchor="t">
            <a:normAutofit/>
          </a:bodyPr>
          <a:lstStyle/>
          <a:p>
            <a:pPr>
              <a:spcAft>
                <a:spcPts val="300"/>
              </a:spcAft>
              <a:buNone/>
            </a:pPr>
            <a:r>
              <a:rPr lang="it-IT" sz="1500" b="1" dirty="0">
                <a:solidFill>
                  <a:srgbClr val="156082"/>
                </a:solidFill>
                <a:latin typeface="+mn-lt"/>
              </a:rPr>
              <a:t>API standard</a:t>
            </a:r>
          </a:p>
          <a:p>
            <a:pPr>
              <a:spcAft>
                <a:spcPts val="600"/>
              </a:spcAft>
              <a:buNone/>
            </a:pPr>
            <a:r>
              <a:rPr lang="it-IT" sz="1400" dirty="0">
                <a:solidFill>
                  <a:srgbClr val="404040"/>
                </a:solidFill>
                <a:latin typeface="+mn-lt"/>
              </a:rPr>
              <a:t>Sistemi con API compatibili</a:t>
            </a:r>
          </a:p>
          <a:p>
            <a:pPr>
              <a:spcAft>
                <a:spcPts val="100"/>
              </a:spcAft>
              <a:buNone/>
            </a:pPr>
            <a:r>
              <a:rPr lang="it-IT" sz="1600" b="1" dirty="0">
                <a:solidFill>
                  <a:srgbClr val="595959"/>
                </a:solidFill>
                <a:latin typeface="+mn-lt"/>
              </a:rPr>
              <a:t>Connector</a:t>
            </a:r>
            <a:br>
              <a:rPr lang="it-IT" sz="1600" b="1" dirty="0">
                <a:solidFill>
                  <a:srgbClr val="595959"/>
                </a:solidFill>
                <a:latin typeface="+mn-lt"/>
              </a:rPr>
            </a:br>
            <a:r>
              <a:rPr lang="it-IT" b="1" dirty="0">
                <a:solidFill>
                  <a:srgbClr val="BF6B04"/>
                </a:solidFill>
              </a:rPr>
              <a:t>Dipende</a:t>
            </a:r>
            <a:endParaRPr lang="it-IT" sz="1800" b="1" dirty="0">
              <a:solidFill>
                <a:srgbClr val="BF6B04"/>
              </a:solidFill>
              <a:latin typeface="+mn-lt"/>
            </a:endParaRPr>
          </a:p>
          <a:p>
            <a:pPr>
              <a:spcAft>
                <a:spcPts val="0"/>
              </a:spcAft>
              <a:buNone/>
            </a:pPr>
            <a:r>
              <a:rPr lang="it-IT" sz="1400" dirty="0">
                <a:solidFill>
                  <a:srgbClr val="404040"/>
                </a:solidFill>
                <a:latin typeface="+mn-lt"/>
              </a:rPr>
              <a:t>Dipende dalla compatibilità dell’API esposta.</a:t>
            </a:r>
          </a:p>
        </p:txBody>
      </p:sp>
      <p:sp>
        <p:nvSpPr>
          <p:cNvPr id="119" name="Card 119"/>
          <p:cNvSpPr/>
          <p:nvPr/>
        </p:nvSpPr>
        <p:spPr>
          <a:xfrm>
            <a:off x="9513418" y="2057400"/>
            <a:ext cx="2035454" cy="233172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137160" rIns="137160" bIns="118872" anchor="t">
            <a:normAutofit/>
          </a:bodyPr>
          <a:lstStyle/>
          <a:p>
            <a:pPr>
              <a:spcAft>
                <a:spcPts val="300"/>
              </a:spcAft>
              <a:buNone/>
            </a:pPr>
            <a:r>
              <a:rPr lang="it-IT" sz="1500" b="1" dirty="0">
                <a:solidFill>
                  <a:srgbClr val="156082"/>
                </a:solidFill>
                <a:latin typeface="+mn-lt"/>
              </a:rPr>
              <a:t>ERP /SAP/Oracle /HR</a:t>
            </a:r>
          </a:p>
          <a:p>
            <a:pPr>
              <a:spcAft>
                <a:spcPts val="600"/>
              </a:spcAft>
              <a:buNone/>
            </a:pPr>
            <a:r>
              <a:rPr lang="it-IT" sz="1400" dirty="0">
                <a:solidFill>
                  <a:srgbClr val="404040"/>
                </a:solidFill>
                <a:latin typeface="+mn-lt"/>
              </a:rPr>
              <a:t>Integrazione </a:t>
            </a:r>
            <a:br>
              <a:rPr lang="it-IT" sz="1400" dirty="0">
                <a:solidFill>
                  <a:srgbClr val="404040"/>
                </a:solidFill>
                <a:latin typeface="+mn-lt"/>
              </a:rPr>
            </a:br>
            <a:r>
              <a:rPr lang="it-IT" sz="1400" dirty="0" err="1">
                <a:solidFill>
                  <a:srgbClr val="404040"/>
                </a:solidFill>
                <a:latin typeface="+mn-lt"/>
              </a:rPr>
              <a:t>enterprise</a:t>
            </a:r>
            <a:endParaRPr lang="it-IT" sz="1400" dirty="0">
              <a:solidFill>
                <a:srgbClr val="404040"/>
              </a:solidFill>
              <a:latin typeface="+mn-lt"/>
            </a:endParaRPr>
          </a:p>
          <a:p>
            <a:pPr>
              <a:spcAft>
                <a:spcPts val="100"/>
              </a:spcAft>
              <a:buNone/>
            </a:pPr>
            <a:r>
              <a:rPr lang="it-IT" sz="1600" b="1" dirty="0">
                <a:solidFill>
                  <a:srgbClr val="595959"/>
                </a:solidFill>
                <a:latin typeface="+mn-lt"/>
              </a:rPr>
              <a:t>Connector</a:t>
            </a:r>
          </a:p>
          <a:p>
            <a:pPr>
              <a:spcAft>
                <a:spcPts val="0"/>
              </a:spcAft>
              <a:buNone/>
            </a:pPr>
            <a:r>
              <a:rPr lang="it-IT" sz="1800" b="1" dirty="0">
                <a:solidFill>
                  <a:srgbClr val="156082"/>
                </a:solidFill>
                <a:latin typeface="+mn-lt"/>
              </a:rPr>
              <a:t>Quasi sempre</a:t>
            </a:r>
          </a:p>
          <a:p>
            <a:pPr>
              <a:spcAft>
                <a:spcPts val="0"/>
              </a:spcAft>
              <a:buNone/>
            </a:pPr>
            <a:r>
              <a:rPr lang="it-IT" sz="1400" dirty="0">
                <a:solidFill>
                  <a:srgbClr val="404040"/>
                </a:solidFill>
                <a:latin typeface="+mn-lt"/>
              </a:rPr>
              <a:t>Configurazioni e codifiche sempre diverse.</a:t>
            </a:r>
          </a:p>
        </p:txBody>
      </p:sp>
      <p:sp>
        <p:nvSpPr>
          <p:cNvPr id="2" name="Band 118"/>
          <p:cNvSpPr/>
          <p:nvPr/>
        </p:nvSpPr>
        <p:spPr>
          <a:xfrm>
            <a:off x="535142" y="4686300"/>
            <a:ext cx="10908792" cy="777240"/>
          </a:xfrm>
          <a:prstGeom prst="roundRect">
            <a:avLst>
              <a:gd name="adj" fmla="val 12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55448" tIns="91440" rIns="155448" bIns="91440" anchor="ctr">
            <a:normAutofit/>
          </a:bodyPr>
          <a:lstStyle/>
          <a:p>
            <a:pPr>
              <a:spcAft>
                <a:spcPts val="0"/>
              </a:spcAft>
              <a:buNone/>
            </a:pPr>
            <a:r>
              <a:rPr lang="it-IT" sz="1600" b="1" dirty="0">
                <a:solidFill>
                  <a:srgbClr val="156082"/>
                </a:solidFill>
                <a:latin typeface="+mn-lt"/>
              </a:rPr>
              <a:t>In sintesi: </a:t>
            </a:r>
            <a:r>
              <a:rPr lang="it-IT" sz="1600" dirty="0">
                <a:solidFill>
                  <a:srgbClr val="0E2841"/>
                </a:solidFill>
                <a:latin typeface="+mn-lt"/>
              </a:rPr>
              <a:t>più i dati sono già strutturati e disponibili in formato standard, meno lavoro di integrazione serve; i sistemi </a:t>
            </a:r>
            <a:r>
              <a:rPr lang="it-IT" sz="1600" dirty="0" err="1">
                <a:solidFill>
                  <a:srgbClr val="0E2841"/>
                </a:solidFill>
                <a:latin typeface="+mn-lt"/>
              </a:rPr>
              <a:t>enterprise</a:t>
            </a:r>
            <a:r>
              <a:rPr lang="it-IT" sz="1600" dirty="0">
                <a:solidFill>
                  <a:srgbClr val="0E2841"/>
                </a:solidFill>
                <a:latin typeface="+mn-lt"/>
              </a:rPr>
              <a:t> richiedono quasi sempre un Connector</a:t>
            </a:r>
            <a:r>
              <a:rPr lang="it-IT" sz="1400" dirty="0">
                <a:solidFill>
                  <a:srgbClr val="0E2841"/>
                </a:solidFill>
                <a:latin typeface="+mn-lt"/>
              </a:rPr>
              <a:t>.</a:t>
            </a:r>
          </a:p>
        </p:txBody>
      </p:sp>
      <p:sp>
        <p:nvSpPr>
          <p:cNvPr id="130" name="Tag"/>
          <p:cNvSpPr/>
          <p:nvPr/>
        </p:nvSpPr>
        <p:spPr>
          <a:xfrm>
            <a:off x="9061704" y="173736"/>
            <a:ext cx="3026664" cy="26517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it-IT" sz="1200">
                <a:solidFill>
                  <a:srgbClr val="FFFFFF"/>
                </a:solidFill>
                <a:latin typeface="+mn-lt"/>
              </a:rPr>
              <a:t>Acquisizione Dati</a:t>
            </a:r>
          </a:p>
        </p:txBody>
      </p:sp>
      <p:sp>
        <p:nvSpPr>
          <p:cNvPr id="13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0" name="Titolo"/>
          <p:cNvSpPr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Acquisizione dati: la vista complessiva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ottotitolo"/>
          <p:cNvSpPr txBox="1"/>
          <p:nvPr/>
        </p:nvSpPr>
        <p:spPr>
          <a:xfrm>
            <a:off x="640080" y="1005840"/>
            <a:ext cx="10908792" cy="500477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r>
              <a:rPr lang="it-IT" sz="1661" b="1"/>
              <a:t>Nella maggior parte dei progetti IBM </a:t>
            </a:r>
            <a:r>
              <a:rPr lang="it-IT" sz="1661" b="1" err="1"/>
              <a:t>Envizi</a:t>
            </a:r>
            <a:r>
              <a:rPr lang="it-IT" sz="1661" b="1"/>
              <a:t>, l’automazione della raccolta dati viene introdotta progressivamente, </a:t>
            </a:r>
            <a:br>
              <a:rPr lang="it-IT" sz="1700" b="1" dirty="0"/>
            </a:br>
            <a:r>
              <a:rPr lang="it-IT" sz="1661" b="1"/>
              <a:t>iniziando dalle sorgenti a maggior valore e ampliando nel tempo il livello di integrazione.</a:t>
            </a:r>
            <a:endParaRPr lang="it-IT" sz="1700" dirty="0"/>
          </a:p>
          <a:p>
            <a:pPr>
              <a:buNone/>
            </a:pPr>
            <a:endParaRPr lang="it-IT" sz="1400" dirty="0">
              <a:solidFill>
                <a:srgbClr val="404040"/>
              </a:solidFill>
              <a:latin typeface="+mn-lt"/>
            </a:endParaRPr>
          </a:p>
        </p:txBody>
      </p:sp>
      <p:sp>
        <p:nvSpPr>
          <p:cNvPr id="112" name="KPI 112"/>
          <p:cNvSpPr/>
          <p:nvPr/>
        </p:nvSpPr>
        <p:spPr>
          <a:xfrm>
            <a:off x="640080" y="1539014"/>
            <a:ext cx="3502152" cy="938396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5"/>
              </a:spcAft>
              <a:buNone/>
              <a:defRPr/>
            </a:pPr>
            <a:r>
              <a:rPr lang="it-IT" sz="1954" b="1">
                <a:solidFill>
                  <a:srgbClr val="156082"/>
                </a:solidFill>
                <a:latin typeface="+mn-lt"/>
              </a:rPr>
              <a:t>Operativa</a:t>
            </a:r>
          </a:p>
          <a:p>
            <a:pPr>
              <a:buNone/>
              <a:defRPr/>
            </a:pPr>
            <a:r>
              <a:rPr lang="it-IT" sz="1368">
                <a:solidFill>
                  <a:srgbClr val="0E2841"/>
                </a:solidFill>
                <a:latin typeface="+mn-lt"/>
              </a:rPr>
              <a:t>piattaforma attiva e prime dashboard</a:t>
            </a:r>
          </a:p>
        </p:txBody>
      </p:sp>
      <p:sp>
        <p:nvSpPr>
          <p:cNvPr id="113" name="KPI 113"/>
          <p:cNvSpPr/>
          <p:nvPr/>
        </p:nvSpPr>
        <p:spPr>
          <a:xfrm>
            <a:off x="4343400" y="1539014"/>
            <a:ext cx="3502152" cy="938396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5"/>
              </a:spcAft>
              <a:buNone/>
              <a:defRPr/>
            </a:pPr>
            <a:r>
              <a:rPr lang="it-IT" sz="1954" b="1">
                <a:solidFill>
                  <a:srgbClr val="156082"/>
                </a:solidFill>
                <a:latin typeface="+mn-lt"/>
              </a:rPr>
              <a:t>Automatizzata</a:t>
            </a:r>
          </a:p>
          <a:p>
            <a:pPr>
              <a:buNone/>
              <a:defRPr/>
            </a:pPr>
            <a:r>
              <a:rPr lang="it-IT" sz="1368">
                <a:solidFill>
                  <a:srgbClr val="0E2841"/>
                </a:solidFill>
                <a:latin typeface="+mn-lt"/>
              </a:rPr>
              <a:t>flussi ricorrenti senza caricamenti manuali</a:t>
            </a:r>
          </a:p>
        </p:txBody>
      </p:sp>
      <p:sp>
        <p:nvSpPr>
          <p:cNvPr id="114" name="KPI 114"/>
          <p:cNvSpPr/>
          <p:nvPr/>
        </p:nvSpPr>
        <p:spPr>
          <a:xfrm>
            <a:off x="8046720" y="1539014"/>
            <a:ext cx="3502152" cy="938396"/>
          </a:xfrm>
          <a:prstGeom prst="roundRect">
            <a:avLst>
              <a:gd name="adj" fmla="val 10000"/>
            </a:avLst>
          </a:prstGeom>
          <a:solidFill>
            <a:srgbClr val="156082">
              <a:alpha val="12000"/>
            </a:srgbClr>
          </a:solidFill>
          <a:ln>
            <a:noFill/>
          </a:ln>
        </p:spPr>
        <p:txBody>
          <a:bodyPr lIns="137160" tIns="91440" rIns="137160" bIns="91440" anchor="ctr">
            <a:normAutofit/>
          </a:bodyPr>
          <a:lstStyle/>
          <a:p>
            <a:pPr>
              <a:spcAft>
                <a:spcPts val="195"/>
              </a:spcAft>
              <a:buNone/>
              <a:defRPr/>
            </a:pPr>
            <a:r>
              <a:rPr lang="it-IT" sz="1954" b="1">
                <a:solidFill>
                  <a:srgbClr val="156082"/>
                </a:solidFill>
                <a:latin typeface="+mn-lt"/>
              </a:rPr>
              <a:t>Integrata</a:t>
            </a:r>
          </a:p>
          <a:p>
            <a:pPr>
              <a:buNone/>
              <a:defRPr/>
            </a:pPr>
            <a:r>
              <a:rPr lang="it-IT" sz="1368">
                <a:solidFill>
                  <a:srgbClr val="0E2841"/>
                </a:solidFill>
                <a:latin typeface="+mn-lt"/>
              </a:rPr>
              <a:t>unica fonte ESG di tutta l'organizzazione</a:t>
            </a:r>
          </a:p>
        </p:txBody>
      </p:sp>
      <p:sp>
        <p:nvSpPr>
          <p:cNvPr id="115" name="Card 115"/>
          <p:cNvSpPr/>
          <p:nvPr/>
        </p:nvSpPr>
        <p:spPr>
          <a:xfrm>
            <a:off x="640080" y="2700837"/>
            <a:ext cx="3502152" cy="2770503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88"/>
              </a:spcAft>
              <a:buNone/>
              <a:defRPr/>
            </a:pPr>
            <a:r>
              <a:rPr lang="it-IT" sz="1466" b="1">
                <a:solidFill>
                  <a:srgbClr val="156082"/>
                </a:solidFill>
                <a:latin typeface="+mn-lt"/>
              </a:rPr>
              <a:t>Fase 1 – Avvio del progetto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Obiettivo: rendere rapidamente operativa la piattaforma.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Configurazione del modello organizzativo e della Data Foundation.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Caricamento dati tramite Template Standard e import dei dati ESG già consolidati.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Prime dashboard e report di monitoraggio disponibili.</a:t>
            </a:r>
          </a:p>
        </p:txBody>
      </p:sp>
      <p:sp>
        <p:nvSpPr>
          <p:cNvPr id="116" name="Card 116"/>
          <p:cNvSpPr/>
          <p:nvPr/>
        </p:nvSpPr>
        <p:spPr>
          <a:xfrm>
            <a:off x="4343400" y="2700837"/>
            <a:ext cx="3502152" cy="2770503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88"/>
              </a:spcAft>
              <a:buNone/>
              <a:defRPr/>
            </a:pPr>
            <a:r>
              <a:rPr lang="it-IT" sz="1466" b="1">
                <a:solidFill>
                  <a:srgbClr val="156082"/>
                </a:solidFill>
                <a:latin typeface="+mn-lt"/>
              </a:rPr>
              <a:t>Fase 2 – Automazione delle sorgenti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Obiettivo: ridurre le attività manuali e aumentare qualità e frequenza dei dati.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Identificazione delle sorgenti prioritarie (ERP, HR, utility, produzione).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Realizzazione dei Connector e delle integrazioni necessarie.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Automazione dei flussi ricorrenti e maggiore affidabilità delle informazioni.</a:t>
            </a:r>
          </a:p>
        </p:txBody>
      </p:sp>
      <p:sp>
        <p:nvSpPr>
          <p:cNvPr id="117" name="Card 117"/>
          <p:cNvSpPr/>
          <p:nvPr/>
        </p:nvSpPr>
        <p:spPr>
          <a:xfrm>
            <a:off x="8046720" y="2700837"/>
            <a:ext cx="3502152" cy="2770503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82880" tIns="155448" rIns="182880" bIns="137160" anchor="t">
            <a:normAutofit/>
          </a:bodyPr>
          <a:lstStyle/>
          <a:p>
            <a:pPr>
              <a:spcAft>
                <a:spcPts val="488"/>
              </a:spcAft>
              <a:buNone/>
              <a:defRPr/>
            </a:pPr>
            <a:r>
              <a:rPr lang="it-IT" sz="1466" b="1">
                <a:solidFill>
                  <a:srgbClr val="156082"/>
                </a:solidFill>
                <a:latin typeface="+mn-lt"/>
              </a:rPr>
              <a:t>Fase 3 – Data Foundation integrata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Obiettivo: una piattaforma unica che raccoglie i dati ESG di tutta l'organizzazione.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Integrazione progressiva con tutti i principali sistemi aziendali.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Automazione completa dei processi di raccolta dati.</a:t>
            </a:r>
          </a:p>
          <a:p>
            <a:pPr marL="190500" indent="-190500">
              <a:spcAft>
                <a:spcPts val="488"/>
              </a:spcAft>
              <a:buClr>
                <a:srgbClr val="4EA72E"/>
              </a:buClr>
              <a:buChar char="•"/>
              <a:defRPr/>
            </a:pPr>
            <a:r>
              <a:rPr lang="it-IT" sz="1368">
                <a:solidFill>
                  <a:srgbClr val="404040"/>
                </a:solidFill>
                <a:latin typeface="+mn-lt"/>
              </a:rPr>
              <a:t>Gestione centralizzata di qualità, validazione e tracciabilità.</a:t>
            </a:r>
          </a:p>
        </p:txBody>
      </p:sp>
      <p:sp>
        <p:nvSpPr>
          <p:cNvPr id="118" name="Band 118"/>
          <p:cNvSpPr/>
          <p:nvPr/>
        </p:nvSpPr>
        <p:spPr>
          <a:xfrm>
            <a:off x="640080" y="5641145"/>
            <a:ext cx="10908792" cy="759654"/>
          </a:xfrm>
          <a:prstGeom prst="roundRect">
            <a:avLst>
              <a:gd name="adj" fmla="val 12000"/>
            </a:avLst>
          </a:prstGeom>
          <a:solidFill>
            <a:schemeClr val="bg1">
              <a:alpha val="99455"/>
            </a:schemeClr>
          </a:solidFill>
          <a:ln>
            <a:noFill/>
          </a:ln>
        </p:spPr>
        <p:txBody>
          <a:bodyPr lIns="155448" tIns="91440" rIns="155448" bIns="91440" anchor="ctr">
            <a:noAutofit/>
          </a:bodyPr>
          <a:lstStyle/>
          <a:p>
            <a:pPr>
              <a:buNone/>
              <a:defRPr/>
            </a:pPr>
            <a:r>
              <a:rPr lang="it-IT" dirty="0">
                <a:solidFill>
                  <a:srgbClr val="0E2841"/>
                </a:solidFill>
                <a:latin typeface="+mn-lt"/>
              </a:rPr>
              <a:t>l'approccio progressivo porta valore fin da subito partendo dalle fonti a maggior impatto, fino a una Data Foundation ESG unica e governata a supporto di management, reporting normativo e Bilancio di Sostenibilità.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C89A364-9EF1-4766-EF07-4464147BB92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Acquisizione Dati</a:t>
            </a:r>
          </a:p>
        </p:txBody>
      </p:sp>
      <p:sp>
        <p:nvSpPr>
          <p:cNvPr id="11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0" name="Titolo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Approccio suggerito per le aziende in fase iniziale</a:t>
            </a:r>
          </a:p>
        </p:txBody>
      </p:sp>
    </p:spTree>
    <p:extLst>
      <p:ext uri="{BB962C8B-B14F-4D97-AF65-F5344CB8AC3E}">
        <p14:creationId xmlns:p14="http://schemas.microsoft.com/office/powerpoint/2010/main" val="78134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IBM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Riferimenti ufficiali</a:t>
            </a: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 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3"/>
              </a:rPr>
              <a:t>Operazioni sui dati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Accesso ai dati e controlli di qualità.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4"/>
              </a:rPr>
              <a:t>Surveys + Assessments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Questionari ESG, workflow e scoring.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5"/>
              </a:rPr>
              <a:t>Caricamento in blocco e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Account Setup and Data Load, PM&amp;C e Flat 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6"/>
              </a:rPr>
              <a:t>Data Flow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Servizi e pipeline per i flussi di dati.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7"/>
              </a:rPr>
              <a:t>Connettori e integrazioni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Trasformazione dati e requisiti dei servizi.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8"/>
              </a:rPr>
              <a:t>Integration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Tutorial IBM per le integrazioni self-service.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1090879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500" b="0">
                <a:solidFill>
                  <a:srgbClr val="333333"/>
                </a:solidFill>
                <a:latin typeface="Calibri"/>
              </a:rPr>
              <a:t>Documentazione e risorse </a:t>
            </a:r>
            <a:r>
              <a:rPr sz="1500" b="0">
                <a:solidFill>
                  <a:srgbClr val="333333"/>
                </a:solidFill>
                <a:latin typeface="Calibri"/>
              </a:rPr>
              <a:t>IBM in inglese. Consultazione: 9 ottobre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3927</Words>
  <Application>Microsoft Macintosh PowerPoint</Application>
  <PresentationFormat>Widescreen</PresentationFormat>
  <Paragraphs>431</Paragraphs>
  <Slides>29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29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IBM Plex Sans</vt:lpstr>
      <vt:lpstr>IBM Plex Sans Light</vt:lpstr>
      <vt:lpstr>Symbol</vt:lpstr>
      <vt:lpstr>Times New Roman</vt:lpstr>
      <vt:lpstr>Wingdings</vt:lpstr>
      <vt:lpstr>Tema di Office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6</cp:revision>
  <dcterms:created xsi:type="dcterms:W3CDTF">2026-10-09T13:31:22Z</dcterms:created>
  <dcterms:modified xsi:type="dcterms:W3CDTF">2026-10-09T14:22:12Z</dcterms:modified>
</cp:coreProperties>
</file>