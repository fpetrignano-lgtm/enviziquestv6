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635" r:id="rId2"/>
    <p:sldId id="260" r:id="rId3"/>
    <p:sldId id="268" r:id="rId4"/>
    <p:sldId id="524" r:id="rId5"/>
    <p:sldId id="647" r:id="rId6"/>
    <p:sldId id="270" r:id="rId7"/>
    <p:sldId id="257" r:id="rId8"/>
    <p:sldId id="648" r:id="rId9"/>
    <p:sldId id="258" r:id="rId10"/>
    <p:sldId id="259" r:id="rId11"/>
    <p:sldId id="261" r:id="rId12"/>
    <p:sldId id="262" r:id="rId13"/>
    <p:sldId id="263" r:id="rId14"/>
    <p:sldId id="649" r:id="rId15"/>
    <p:sldId id="271" r:id="rId16"/>
    <p:sldId id="264" r:id="rId17"/>
    <p:sldId id="265" r:id="rId18"/>
    <p:sldId id="266" r:id="rId19"/>
    <p:sldId id="267" r:id="rId20"/>
    <p:sldId id="650" r:id="rId21"/>
    <p:sldId id="402" r:id="rId2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53"/>
    <p:restoredTop sz="96301"/>
  </p:normalViewPr>
  <p:slideViewPr>
    <p:cSldViewPr snapToGrid="0">
      <p:cViewPr varScale="1">
        <p:scale>
          <a:sx n="138" d="100"/>
          <a:sy n="138" d="100"/>
        </p:scale>
        <p:origin x="208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990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EE89-4BDF-4A13-1CBE-7385029C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PlaceHolder 1">
            <a:extLst>
              <a:ext uri="{FF2B5EF4-FFF2-40B4-BE49-F238E27FC236}">
                <a16:creationId xmlns:a16="http://schemas.microsoft.com/office/drawing/2014/main" id="{0FC1C29E-C31A-687F-CDAF-D242CBC89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4" name="PlaceHolder 2">
            <a:extLst>
              <a:ext uri="{FF2B5EF4-FFF2-40B4-BE49-F238E27FC236}">
                <a16:creationId xmlns:a16="http://schemas.microsoft.com/office/drawing/2014/main" id="{691857AE-C190-C60B-BF49-21FABE8801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5" name="PlaceHolder 3">
            <a:extLst>
              <a:ext uri="{FF2B5EF4-FFF2-40B4-BE49-F238E27FC236}">
                <a16:creationId xmlns:a16="http://schemas.microsoft.com/office/drawing/2014/main" id="{76DF4804-1DC9-30B7-43A0-15FD23AC73A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586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5D1669-B0D6-0564-DE76-FBBAC2016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D1D12C1-E78F-9BAE-921A-C1CC30D50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AE7C66E-75C6-3B28-D40C-6C16E4A2D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9985112-1FC9-D93C-9668-EE743F30A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D8A4E38-5BCD-C8AA-18D2-BA7C6388F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1281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40D8DB-8B53-FF28-ED80-04043120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C9D582-7816-6D50-8116-A3ADF55F5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1075C67-7FE1-CBC2-BCFA-3C7BD3143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18EC86-625A-D53A-A0C6-2D31D7C2C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2E1067-800E-25BD-CC4C-0470EF54E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697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DA9493-FDA2-F3C6-4EC3-98DCD66BE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B31C8FD-7F2C-A60C-12EC-849E86CE5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9D8D130-CF79-DBD0-691B-57B493D61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A12202-21FB-19C4-4465-055DCD358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381E54-D359-2B10-34B2-213F9997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0917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E9F3F3-49DE-828F-A575-14E32E159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F69499-DC69-4660-F9B9-5C795425CA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3970CC2-CD4E-13EB-4674-081FE111D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7D8E76E-9CBB-38C7-0169-3F1ED7617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FC8608A-8D29-E000-77A4-DA965E91C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A7F578D-9D1E-94B8-0AE2-AFC32E0A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795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23918B-225F-779C-7EB9-2186681F3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1211B49-6584-3BAB-8E0D-4936BC8E3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3944681-5BE9-6266-D859-DD86A4D1E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56B6902-3AFF-DCAF-D84A-C2B1F65F8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20208B5-2E59-6914-6E4E-5CAB767C8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A5EED8C-56BD-78B0-5CD0-613F2DECA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634163E-49D4-AFF0-30AD-EC9E54A63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4671C9F-2883-03D8-ED59-5CB112743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5447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5329FA-CA45-C323-F28F-146A13D2D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2381C2C-D20A-E961-1EB0-74E6DFB0E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0790EEC-631F-2A13-940F-CD21BF8BB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B2B6123-C4D3-A0D5-57BF-5F97B4ACC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368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66A70A6-E6B6-1752-0FCF-97895AE52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BA26AF7-1676-04D6-C873-4DE9F744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A487177-534B-FEEA-F63B-0E3757BDA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6190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C264EC-945C-D6AF-0BEF-3C49BE3F4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3401AE8-EF1E-878C-E403-9A954AF75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C2BA7DE-8E87-31C3-52BE-709FCE372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A9808AA-8AC0-0D17-62B5-F629CFF17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36F1916-DE1D-E5CE-CE33-075E7F6A8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90240B8-B710-3DBA-934F-D76BA9A85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4196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FF4185-C14E-B9A2-E03E-B57301190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D9F4607-D7FB-5F3E-0877-7AEBF7BB35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25CEC59-D661-59C9-9E1F-ECDA48032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C076AA7-4992-7D5D-F1A3-DAF640561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678E04B-6EFB-A3AE-CA88-F3CCFCDA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08426C2-F61C-2D23-6EE2-15DEC823F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8531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9380AD-E7F3-669E-081C-C276EDEEE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AE4FDEA-94B2-7A15-E00E-E79184423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8E371D3-432F-1A35-88E6-3A535FE9F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EE37E2E-4BC7-9427-A06A-A88CC434E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C70033C-9A29-B0D8-17C7-B88F2D3DA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7034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1EF2E3F-5F2B-1887-DFB5-14763C433D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BA44605-47E0-A1B0-40BF-864CAE7A0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EEC452-3ACA-613F-B5DB-4480247C6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8FAC22-4DAB-917D-958E-8661AC6F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83BBB29-0B17-8561-5C68-D217F0262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018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609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194BD70-BD9A-74E0-C73E-E2FE116D8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2E61627-B641-0419-DD36-CC6F6F6EA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77EBD8A-2589-6562-BA60-D07D0A26C0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61D1367-0D30-BD61-7ECE-AB7324908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19E0610-7DBA-C458-3AA6-8FA78998C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6258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community.ibm.com/community/user/blogs/jeya-gandhi-rajan-m1/2023/04/04/create-orghierarchy-and-load-data-in-envizi-via-ui" TargetMode="External"/><Relationship Id="rId3" Type="http://schemas.openxmlformats.org/officeDocument/2006/relationships/hyperlink" Target="https://www.ibm.com/docs/en/envizi-esg-suite?topic=configuring-setting-up-locations" TargetMode="External"/><Relationship Id="rId7" Type="http://schemas.openxmlformats.org/officeDocument/2006/relationships/hyperlink" Target="https://www.ibm.com/docs/en/envizi-esg-suite?topic=managing-approving-account-data" TargetMode="External"/><Relationship Id="rId2" Type="http://schemas.openxmlformats.org/officeDocument/2006/relationships/hyperlink" Target="https://www.ibm.com/docs/en/envizi-esg-suite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ibm.com/docs/en/envizi-esg-suite?topic=managing-capturing-account-data" TargetMode="External"/><Relationship Id="rId5" Type="http://schemas.openxmlformats.org/officeDocument/2006/relationships/hyperlink" Target="https://www.ibm.com/docs/en/envizi-esg-suite?topic=configuring" TargetMode="External"/><Relationship Id="rId4" Type="http://schemas.openxmlformats.org/officeDocument/2006/relationships/hyperlink" Target="https://www.ibm.com/docs/en/envizi-esg-suite?topic=locations-modifying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94C1-566C-F582-C817-9E35FF69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K-1-img-2">
            <a:extLst>
              <a:ext uri="{FF2B5EF4-FFF2-40B4-BE49-F238E27FC236}">
                <a16:creationId xmlns:a16="http://schemas.microsoft.com/office/drawing/2014/main" id="{857ED53D-59A7-5D41-890D-F7114A35434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547594" y="1097280"/>
            <a:ext cx="4953008" cy="343810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SK-1-img-6">
            <a:extLst>
              <a:ext uri="{FF2B5EF4-FFF2-40B4-BE49-F238E27FC236}">
                <a16:creationId xmlns:a16="http://schemas.microsoft.com/office/drawing/2014/main" id="{5D56AC93-A688-6ECC-034F-E950D9F4CA2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40080" y="6035040"/>
            <a:ext cx="10881360" cy="914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SK-1-img-7">
            <a:extLst>
              <a:ext uri="{FF2B5EF4-FFF2-40B4-BE49-F238E27FC236}">
                <a16:creationId xmlns:a16="http://schemas.microsoft.com/office/drawing/2014/main" id="{4159CB6A-B84D-80D0-F0A2-0063A85ECD0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010157" y="1097280"/>
            <a:ext cx="5490445" cy="49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K-1-text-11">
            <a:extLst>
              <a:ext uri="{FF2B5EF4-FFF2-40B4-BE49-F238E27FC236}">
                <a16:creationId xmlns:a16="http://schemas.microsoft.com/office/drawing/2014/main" id="{189C8CF6-A3DA-3FE8-27B2-730050E5FCB9}"/>
              </a:ext>
            </a:extLst>
          </p:cNvPr>
          <p:cNvSpPr/>
          <p:nvPr/>
        </p:nvSpPr>
        <p:spPr>
          <a:xfrm>
            <a:off x="640080" y="594360"/>
            <a:ext cx="521208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1">
                <a:solidFill>
                  <a:srgbClr val="2E7D4F"/>
                </a:solidFill>
                <a:latin typeface="Calibri"/>
              </a:rPr>
              <a:t>2026 ESG REPORTING</a:t>
            </a:r>
          </a:p>
        </p:txBody>
      </p:sp>
      <p:sp>
        <p:nvSpPr>
          <p:cNvPr id="23" name="SK-1-text-12">
            <a:extLst>
              <a:ext uri="{FF2B5EF4-FFF2-40B4-BE49-F238E27FC236}">
                <a16:creationId xmlns:a16="http://schemas.microsoft.com/office/drawing/2014/main" id="{8759690C-0B4B-284E-AD9B-87FB5185FDFC}"/>
              </a:ext>
            </a:extLst>
          </p:cNvPr>
          <p:cNvSpPr/>
          <p:nvPr/>
        </p:nvSpPr>
        <p:spPr>
          <a:xfrm>
            <a:off x="640080" y="1234440"/>
            <a:ext cx="5029200" cy="73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4400" b="1">
                <a:solidFill>
                  <a:srgbClr val="14433A"/>
                </a:solidFill>
                <a:latin typeface="Calibri"/>
              </a:rPr>
              <a:t>Envizi</a:t>
            </a:r>
          </a:p>
        </p:txBody>
      </p:sp>
      <p:sp>
        <p:nvSpPr>
          <p:cNvPr id="24" name="SK-1-text-13">
            <a:extLst>
              <a:ext uri="{FF2B5EF4-FFF2-40B4-BE49-F238E27FC236}">
                <a16:creationId xmlns:a16="http://schemas.microsoft.com/office/drawing/2014/main" id="{26CC8673-84D8-87CF-6C96-8DC5FF6EAD58}"/>
              </a:ext>
            </a:extLst>
          </p:cNvPr>
          <p:cNvSpPr/>
          <p:nvPr/>
        </p:nvSpPr>
        <p:spPr>
          <a:xfrm>
            <a:off x="640080" y="2331720"/>
            <a:ext cx="5029200" cy="33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Esempio di aggiornamento configurazione del modello organizzativo in </a:t>
            </a:r>
            <a:r>
              <a:rPr lang="it-IT" sz="2200" b="0" dirty="0" err="1">
                <a:solidFill>
                  <a:srgbClr val="5B6B70"/>
                </a:solidFill>
                <a:latin typeface="Calibri"/>
              </a:rPr>
              <a:t>Envizi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 con l’Interfaccia Utente nativa </a:t>
            </a:r>
            <a:r>
              <a:rPr lang="it-IT" sz="2200" b="0" dirty="0" err="1">
                <a:solidFill>
                  <a:srgbClr val="5B6B70"/>
                </a:solidFill>
                <a:latin typeface="Calibri"/>
              </a:rPr>
              <a:t>Envizi</a:t>
            </a: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Felice Petrignano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SME </a:t>
            </a:r>
            <a:r>
              <a:rPr lang="it-IT" sz="2200" b="0" dirty="0" err="1">
                <a:solidFill>
                  <a:srgbClr val="5B6B70"/>
                </a:solidFill>
                <a:latin typeface="Calibri"/>
              </a:rPr>
              <a:t>Envizi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 IBM Italia</a:t>
            </a:r>
          </a:p>
        </p:txBody>
      </p:sp>
      <p:sp>
        <p:nvSpPr>
          <p:cNvPr id="2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2824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80F8A9A7-20A7-FD31-DED9-EC0EABB50AB7}"/>
              </a:ext>
            </a:extLst>
          </p:cNvPr>
          <p:cNvSpPr txBox="1"/>
          <p:nvPr/>
        </p:nvSpPr>
        <p:spPr>
          <a:xfrm>
            <a:off x="797442" y="325213"/>
            <a:ext cx="10217888" cy="4299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Obiettivi del capitolo</a:t>
            </a:r>
          </a:p>
          <a:p>
            <a:endParaRPr lang="en-US" b="1"/>
          </a:p>
          <a:p>
            <a:r>
              <a:rPr lang="en-US"/>
              <a:t>Questo capitolo mostra agli Amministratori come aggiornare Location e dati degli Account dopo il setup iniziale, tramite l’interfaccia utente di IBM Envizi.</a:t>
            </a:r>
          </a:p>
          <a:p>
            <a:endParaRPr lang="en-US"/>
          </a:p>
          <a:p>
            <a:endParaRPr lang="en-US"/>
          </a:p>
          <a:p>
            <a:r>
              <a:rPr lang="en-US" b="1"/>
              <a:t>Al termine del capitolo il partecipante sarà in grado di:</a:t>
            </a:r>
          </a:p>
          <a:p>
            <a:endParaRPr lang="en-US" b="1"/>
          </a:p>
          <a:p>
            <a:pPr lvl="0"/>
            <a:r>
              <a:rPr lang="en-US"/>
              <a:t>individuare e modificare le </a:t>
            </a:r>
            <a:r>
              <a:rPr lang="en-US" b="1"/>
              <a:t>Location</a:t>
            </a:r>
            <a:r>
              <a:rPr lang="en-US"/>
              <a:t> già configurate</a:t>
            </a:r>
          </a:p>
          <a:p>
            <a:pPr lvl="0">
              <a:lnSpc>
                <a:spcPct val="150000"/>
              </a:lnSpc>
            </a:pPr>
            <a:r>
              <a:rPr lang="en-US"/>
              <a:t>creare nuove Location e associarle ai Group, impostando il Report Percent</a:t>
            </a:r>
          </a:p>
          <a:p>
            <a:pPr lvl="0">
              <a:lnSpc>
                <a:spcPct val="150000"/>
              </a:lnSpc>
            </a:pPr>
            <a:r>
              <a:rPr lang="en-US"/>
              <a:t>consultare l’Audit History delle Location per verificare modifiche e autori</a:t>
            </a:r>
          </a:p>
          <a:p>
            <a:pPr lvl="0">
              <a:lnSpc>
                <a:spcPct val="150000"/>
              </a:lnSpc>
            </a:pPr>
            <a:r>
              <a:rPr lang="en-US"/>
              <a:t>individuare gli Account e correggere i valori dei singoli record</a:t>
            </a:r>
          </a:p>
          <a:p>
            <a:pPr lvl="0">
              <a:lnSpc>
                <a:spcPct val="150000"/>
              </a:lnSpc>
            </a:pPr>
            <a:r>
              <a:rPr lang="en-US"/>
              <a:t>consultare il Record History per distinguere caricamenti e modifiche ai dati</a:t>
            </a:r>
          </a:p>
        </p:txBody>
      </p:sp>
    </p:spTree>
    <p:extLst>
      <p:ext uri="{BB962C8B-B14F-4D97-AF65-F5344CB8AC3E}">
        <p14:creationId xmlns:p14="http://schemas.microsoft.com/office/powerpoint/2010/main" val="1128939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FEDFCF0-D0EA-512A-921C-1CD9FD4A6078}"/>
              </a:ext>
            </a:extLst>
          </p:cNvPr>
          <p:cNvSpPr txBox="1"/>
          <p:nvPr/>
        </p:nvSpPr>
        <p:spPr>
          <a:xfrm>
            <a:off x="542260" y="272878"/>
            <a:ext cx="1115355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Contenuti</a:t>
            </a:r>
          </a:p>
          <a:p>
            <a:endParaRPr lang="en-US" sz="2400" b="1"/>
          </a:p>
          <a:p>
            <a:pPr lvl="0">
              <a:lnSpc>
                <a:spcPct val="150000"/>
              </a:lnSpc>
            </a:pPr>
            <a:r>
              <a:rPr lang="en-US"/>
              <a:t>Ruolo dell’Amministratore e attività dopo il setup iniziale</a:t>
            </a:r>
          </a:p>
          <a:p>
            <a:pPr lvl="0">
              <a:lnSpc>
                <a:spcPct val="150000"/>
              </a:lnSpc>
            </a:pPr>
            <a:r>
              <a:rPr lang="en-US"/>
              <a:t>Ricerca e filtro delle Location nella griglia</a:t>
            </a:r>
          </a:p>
          <a:p>
            <a:pPr lvl="0">
              <a:lnSpc>
                <a:spcPct val="150000"/>
              </a:lnSpc>
            </a:pPr>
            <a:r>
              <a:rPr lang="en-US"/>
              <a:t>Modifica delle Location e controllo dei campi obbligatori</a:t>
            </a:r>
          </a:p>
          <a:p>
            <a:pPr lvl="0">
              <a:lnSpc>
                <a:spcPct val="150000"/>
              </a:lnSpc>
            </a:pPr>
            <a:r>
              <a:rPr lang="en-US"/>
              <a:t>Creazione di nuove Location e assegnazione ai Group</a:t>
            </a:r>
          </a:p>
          <a:p>
            <a:pPr lvl="0">
              <a:lnSpc>
                <a:spcPct val="150000"/>
              </a:lnSpc>
            </a:pPr>
            <a:r>
              <a:rPr lang="en-US"/>
              <a:t>Group Membership e Report Percent</a:t>
            </a:r>
          </a:p>
          <a:p>
            <a:pPr lvl="0">
              <a:lnSpc>
                <a:spcPct val="150000"/>
              </a:lnSpc>
            </a:pPr>
            <a:r>
              <a:rPr lang="en-US"/>
              <a:t>Audit History delle Location: modifiche e autori</a:t>
            </a:r>
          </a:p>
          <a:p>
            <a:pPr lvl="0">
              <a:lnSpc>
                <a:spcPct val="150000"/>
              </a:lnSpc>
            </a:pPr>
            <a:r>
              <a:rPr lang="en-US"/>
              <a:t>Ricerca degli Account e correzione dei Records</a:t>
            </a:r>
          </a:p>
          <a:p>
            <a:pPr lvl="0">
              <a:lnSpc>
                <a:spcPct val="150000"/>
              </a:lnSpc>
            </a:pPr>
            <a:r>
              <a:rPr lang="en-US"/>
              <a:t>Record History: verifica dei caricamenti e delle modifiche</a:t>
            </a:r>
          </a:p>
          <a:p>
            <a:r>
              <a:rPr lang="en-US"/>
              <a:t>Riferimenti alla documentazione ufficiale IBM</a:t>
            </a:r>
          </a:p>
          <a:p>
            <a:endParaRPr lang="en-US"/>
          </a:p>
          <a:p>
            <a:r>
              <a:rPr lang="en-US" b="1"/>
              <a:t>Le procedure mostrano come aggiornare la configurazione e i dati in Envizi e verificare chi ha effettuato le modifiche.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77159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8A2D375A-93C6-74FE-EC20-720C31E7E94A}"/>
              </a:ext>
            </a:extLst>
          </p:cNvPr>
          <p:cNvSpPr txBox="1"/>
          <p:nvPr/>
        </p:nvSpPr>
        <p:spPr>
          <a:xfrm>
            <a:off x="640080" y="126178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Utente: Amministratore di sistema</a:t>
            </a:r>
            <a:endParaRPr lang="en-US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u="sng"/>
              <a:t>Configurazione della struttura organizzativa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b="1" u="sng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Location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Group</a:t>
            </a:r>
            <a:endParaRPr lang="it-IT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453B2D87-94E8-6593-7EBD-F52FA715B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504" y="2163774"/>
            <a:ext cx="3144058" cy="3770671"/>
          </a:xfrm>
          <a:prstGeom prst="rect">
            <a:avLst/>
          </a:prstGeom>
        </p:spPr>
      </p:pic>
      <p:sp>
        <p:nvSpPr>
          <p:cNvPr id="1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48E9DFA-B5A3-01AB-7A53-4C116A5597F1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Configurazione iniziale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2B61D6AD-61ED-7124-3EC3-DCE5389539D9}"/>
              </a:ext>
            </a:extLst>
          </p:cNvPr>
          <p:cNvSpPr/>
          <p:nvPr/>
        </p:nvSpPr>
        <p:spPr>
          <a:xfrm>
            <a:off x="10417579" y="178507"/>
            <a:ext cx="1005841" cy="9675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32631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507D6-6AED-92FE-7674-E07F2DC28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rd 115">
            <a:extLst>
              <a:ext uri="{FF2B5EF4-FFF2-40B4-BE49-F238E27FC236}">
                <a16:creationId xmlns:a16="http://schemas.microsoft.com/office/drawing/2014/main" id="{02FBB2D9-D576-A45D-4FD9-847C9FCA7171}"/>
              </a:ext>
            </a:extLst>
          </p:cNvPr>
          <p:cNvSpPr/>
          <p:nvPr/>
        </p:nvSpPr>
        <p:spPr>
          <a:xfrm>
            <a:off x="640080" y="1554480"/>
            <a:ext cx="2587752" cy="25146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37160" tIns="914400" rIns="137160" bIns="118872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5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/>
                <a:cs typeface="Calibri"/>
              </a:rPr>
              <a:t>Amministratore</a:t>
            </a:r>
            <a:endParaRPr kumimoji="0" lang="it-IT" sz="1500" b="1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Configura la struttura organizzativa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gli utenti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e 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 autorizzazioni secondo i privilegi assegnati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</p:txBody>
      </p:sp>
      <p:pic>
        <p:nvPicPr>
          <p:cNvPr id="4" name="Icona 150">
            <a:extLst>
              <a:ext uri="{FF2B5EF4-FFF2-40B4-BE49-F238E27FC236}">
                <a16:creationId xmlns:a16="http://schemas.microsoft.com/office/drawing/2014/main" id="{63BD4BA0-BD78-5196-11F3-4DA21EF63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737360"/>
            <a:ext cx="566928" cy="566928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261B61FF-E539-66FE-D1E2-B68848BC5423}"/>
              </a:ext>
            </a:extLst>
          </p:cNvPr>
          <p:cNvSpPr txBox="1"/>
          <p:nvPr/>
        </p:nvSpPr>
        <p:spPr>
          <a:xfrm>
            <a:off x="3818299" y="1582340"/>
            <a:ext cx="733556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Nota per il lettore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Questo capitolo presenta le funzionalità avanzate di IBM Envizi destinate agli Amministratori della piattaforma.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Gli Amministratori gestiscono la configurazione e la sicurezza della soluzione. In genere ricevono una formazione dedicata.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Gli utenti operativi accedono invece alle funzionalità necessarie per le attività assegnate.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Solo gli Amministratori di sistema possono creare, modificare ed eliminare Location e Group.</a:t>
            </a: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" name="Titolo">
            <a:extLst>
              <a:ext uri="{FF2B5EF4-FFF2-40B4-BE49-F238E27FC236}">
                <a16:creationId xmlns:a16="http://schemas.microsoft.com/office/drawing/2014/main" id="{64F5BEF3-1DE3-39CD-FBC0-E4E7B552E5B8}"/>
              </a:ext>
            </a:extLst>
          </p:cNvPr>
          <p:cNvSpPr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Il presente capitolo è dedicato agli utenti Amministratori</a:t>
            </a:r>
          </a:p>
        </p:txBody>
      </p:sp>
    </p:spTree>
    <p:extLst>
      <p:ext uri="{BB962C8B-B14F-4D97-AF65-F5344CB8AC3E}">
        <p14:creationId xmlns:p14="http://schemas.microsoft.com/office/powerpoint/2010/main" val="3206342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16"/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sz="2400" b="1">
                <a:solidFill>
                  <a:srgbClr val="073E31"/>
                </a:solidFill>
                <a:latin typeface="Calibri"/>
              </a:rPr>
              <a:t>Gestione delle Location dopo il setup iniziale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38814"/>
            <a:ext cx="5212080" cy="301752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3E31"/>
                </a:solidFill>
                <a:latin typeface="Calibri"/>
              </a:rPr>
              <a:t>Punto di partenza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95044"/>
            <a:ext cx="5212080" cy="1051560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173D39"/>
                </a:solidFill>
                <a:latin typeface="Calibri"/>
              </a:rPr>
              <a:t>La prima struttura organizzativa delle Location è stata caricata tramite il template Envizi Setup Config.</a:t>
            </a:r>
            <a:endParaRPr sz="1600" b="0" dirty="0">
              <a:solidFill>
                <a:srgbClr val="173D39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80760" y="1344168"/>
            <a:ext cx="5276088" cy="301752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3E31"/>
                </a:solidFill>
                <a:latin typeface="Calibri"/>
              </a:rPr>
              <a:t>Verifiche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783080"/>
            <a:ext cx="5166360" cy="1325880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173D39"/>
                </a:solidFill>
                <a:latin typeface="Calibri"/>
              </a:rPr>
              <a:t>Controlla che tutte le Location siano state acquisite.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173D39"/>
                </a:solidFill>
                <a:latin typeface="Calibri"/>
              </a:rPr>
              <a:t>Consulta la cronologia delle modifiche e i relativi autori.</a:t>
            </a:r>
            <a:endParaRPr sz="1600" b="0">
              <a:solidFill>
                <a:srgbClr val="173D39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80760" y="3410712"/>
            <a:ext cx="5276088" cy="301752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3E31"/>
                </a:solidFill>
                <a:latin typeface="Calibri"/>
              </a:rPr>
              <a:t>Aggiornamenti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3858768"/>
            <a:ext cx="5138928" cy="1417320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173D39"/>
                </a:solidFill>
                <a:latin typeface="Calibri"/>
              </a:rPr>
              <a:t>Aggiungi le informazioni assenti nel template.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173D39"/>
                </a:solidFill>
                <a:latin typeface="Calibri"/>
              </a:rPr>
              <a:t>Correggi i dati di una Location, come l’indirizzo.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173D39"/>
                </a:solidFill>
                <a:latin typeface="Calibri"/>
              </a:rPr>
              <a:t>Modifica l’assegnazione ai Group.</a:t>
            </a:r>
            <a:endParaRPr sz="1600" b="0" dirty="0">
              <a:solidFill>
                <a:srgbClr val="173D39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7866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2" descr="Immagine che contiene testo, schermata, software, Pagina Web&#10;&#10;Descrizione generata automaticamente">
            <a:extLst>
              <a:ext uri="{FF2B5EF4-FFF2-40B4-BE49-F238E27FC236}">
                <a16:creationId xmlns:a16="http://schemas.microsoft.com/office/drawing/2014/main" id="{198F656A-78CB-ECB1-0D21-DE67D75CA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2103120"/>
            <a:ext cx="10121031" cy="4606365"/>
          </a:xfrm>
          <a:prstGeom prst="rect">
            <a:avLst/>
          </a:prstGeom>
        </p:spPr>
      </p:pic>
      <p:sp>
        <p:nvSpPr>
          <p:cNvPr id="14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Box 16"/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sz="2400" b="1">
                <a:solidFill>
                  <a:srgbClr val="073E31"/>
                </a:solidFill>
                <a:latin typeface="Calibri"/>
              </a:rPr>
              <a:t>Individuare una Location nella griglia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261872"/>
            <a:ext cx="5257800" cy="301752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rgbClr val="073E31"/>
                </a:solidFill>
                <a:latin typeface="Calibri"/>
              </a:rPr>
              <a:t>1  Apri l’elenco</a:t>
            </a:r>
            <a:endParaRPr sz="1800" b="1">
              <a:solidFill>
                <a:srgbClr val="073E31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1645920"/>
            <a:ext cx="5029200" cy="365760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173D39"/>
                </a:solidFill>
                <a:latin typeface="Calibri"/>
              </a:rPr>
              <a:t>Manage &gt; Locations</a:t>
            </a:r>
            <a:endParaRPr sz="1600" b="0">
              <a:solidFill>
                <a:srgbClr val="173D39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2269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ED702-9177-083D-001A-2C031B76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, schermata&#10;&#10;Il contenuto generato dall'IA potrebbe non essere corretto.">
            <a:extLst>
              <a:ext uri="{FF2B5EF4-FFF2-40B4-BE49-F238E27FC236}">
                <a16:creationId xmlns:a16="http://schemas.microsoft.com/office/drawing/2014/main" id="{9174FC1F-80AA-0529-E574-926321214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99" y="2048137"/>
            <a:ext cx="11492985" cy="4096631"/>
          </a:xfrm>
          <a:prstGeom prst="rect">
            <a:avLst/>
          </a:prstGeom>
        </p:spPr>
      </p:pic>
      <p:sp>
        <p:nvSpPr>
          <p:cNvPr id="14" name="Linea verde titolo">
            <a:extLst>
              <a:ext uri="{FF2B5EF4-FFF2-40B4-BE49-F238E27FC236}">
                <a16:creationId xmlns:a16="http://schemas.microsoft.com/office/drawing/2014/main" id="{AEE254B4-5457-AED5-D9BF-8FA4978A89DA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BFEB4A1E-2944-0CCE-013F-3CAD4A2178A1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sz="2400" b="1">
                <a:solidFill>
                  <a:srgbClr val="073E31"/>
                </a:solidFill>
                <a:latin typeface="Calibri"/>
              </a:rPr>
              <a:t>Individuare una Location nella griglia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90418F-60AA-C6DE-BE7C-B46C677FA805}"/>
              </a:ext>
            </a:extLst>
          </p:cNvPr>
          <p:cNvSpPr txBox="1"/>
          <p:nvPr/>
        </p:nvSpPr>
        <p:spPr>
          <a:xfrm>
            <a:off x="640080" y="1120140"/>
            <a:ext cx="5303520" cy="301752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rgbClr val="073E31"/>
                </a:solidFill>
                <a:latin typeface="Calibri"/>
              </a:rPr>
              <a:t>2  Verifica le Location</a:t>
            </a:r>
            <a:endParaRPr sz="1800" b="1" dirty="0">
              <a:solidFill>
                <a:srgbClr val="073E31"/>
              </a:solidFill>
              <a:latin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A673AE-167F-D3E3-B6F0-633EC55DAF1F}"/>
              </a:ext>
            </a:extLst>
          </p:cNvPr>
          <p:cNvSpPr txBox="1"/>
          <p:nvPr/>
        </p:nvSpPr>
        <p:spPr>
          <a:xfrm>
            <a:off x="640080" y="1505243"/>
            <a:ext cx="5120640" cy="594360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173D39"/>
                </a:solidFill>
                <a:latin typeface="Calibri"/>
              </a:rPr>
              <a:t>La </a:t>
            </a:r>
            <a:r>
              <a:rPr sz="1600" b="0" dirty="0" err="1">
                <a:solidFill>
                  <a:srgbClr val="173D39"/>
                </a:solidFill>
                <a:latin typeface="Calibri"/>
              </a:rPr>
              <a:t>griglia</a:t>
            </a:r>
            <a:r>
              <a:rPr sz="1600" b="0" dirty="0">
                <a:solidFill>
                  <a:srgbClr val="173D39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73D39"/>
                </a:solidFill>
                <a:latin typeface="Calibri"/>
              </a:rPr>
              <a:t>mostra</a:t>
            </a:r>
            <a:r>
              <a:rPr sz="1600" b="0" dirty="0">
                <a:solidFill>
                  <a:srgbClr val="173D39"/>
                </a:solidFill>
                <a:latin typeface="Calibri"/>
              </a:rPr>
              <a:t> tutte le Location configurate in </a:t>
            </a:r>
            <a:r>
              <a:rPr sz="1600" b="0" dirty="0" err="1">
                <a:solidFill>
                  <a:srgbClr val="173D39"/>
                </a:solidFill>
                <a:latin typeface="Calibri"/>
              </a:rPr>
              <a:t>Envizi</a:t>
            </a:r>
            <a:r>
              <a:rPr sz="1600" b="0" dirty="0">
                <a:solidFill>
                  <a:srgbClr val="173D39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4975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33678377-E38A-17C4-13F4-B01ECDF25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52928"/>
            <a:ext cx="3200400" cy="2802340"/>
          </a:xfrm>
          <a:prstGeom prst="rect">
            <a:avLst/>
          </a:prstGeom>
        </p:spPr>
      </p:pic>
      <p:pic>
        <p:nvPicPr>
          <p:cNvPr id="4" name="Immagine 3" descr="Immagine che contiene testo, software, Pagina Web, numero&#10;&#10;Il contenuto generato dall'IA potrebbe non essere corretto.">
            <a:extLst>
              <a:ext uri="{FF2B5EF4-FFF2-40B4-BE49-F238E27FC236}">
                <a16:creationId xmlns:a16="http://schemas.microsoft.com/office/drawing/2014/main" id="{9E8DDC2F-BE06-C796-D7A5-C4690927A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280160"/>
            <a:ext cx="4080228" cy="4882896"/>
          </a:xfrm>
          <a:prstGeom prst="rect">
            <a:avLst/>
          </a:prstGeom>
        </p:spPr>
      </p:pic>
      <p:sp>
        <p:nvSpPr>
          <p:cNvPr id="1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Box 16"/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sz="2400" b="1">
                <a:solidFill>
                  <a:srgbClr val="073E31"/>
                </a:solidFill>
                <a:latin typeface="Calibri"/>
              </a:rPr>
              <a:t>Filtrare e modificare una 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225296"/>
            <a:ext cx="4892040" cy="301752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3E31"/>
                </a:solidFill>
                <a:latin typeface="Calibri"/>
              </a:rPr>
              <a:t>Filtra per nome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636776"/>
            <a:ext cx="4572000" cy="1188720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b="0">
                <a:solidFill>
                  <a:srgbClr val="173D39"/>
                </a:solidFill>
                <a:latin typeface="Calibri"/>
              </a:rPr>
              <a:t>Se la griglia contiene molte Location, usa il filtro su Location Name. Ad esempio, “Impi” restringe la ricerca alle </a:t>
            </a:r>
            <a:r>
              <a:rPr lang="en-US" sz="1500">
                <a:solidFill>
                  <a:srgbClr val="173D39"/>
                </a:solidFill>
                <a:latin typeface="Calibri"/>
              </a:rPr>
              <a:t>Location con “Impianti” nel nome.</a:t>
            </a:r>
            <a:endParaRPr sz="1500" b="0" dirty="0">
              <a:solidFill>
                <a:srgbClr val="173D39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96512" y="2852928"/>
            <a:ext cx="2880360" cy="301752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3E31"/>
                </a:solidFill>
                <a:latin typeface="Calibri"/>
              </a:rPr>
              <a:t>Apri le azioni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6512" y="3264408"/>
            <a:ext cx="2834640" cy="1463040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173D39"/>
                </a:solidFill>
                <a:latin typeface="Calibri"/>
              </a:rPr>
              <a:t>Seleziona la Location e scegli Actions &gt; Edit Location (oppure tasto destro &gt; Edit Location).</a:t>
            </a:r>
            <a:endParaRPr sz="1600" b="0">
              <a:solidFill>
                <a:srgbClr val="173D39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8239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 descr="Immagine che contiene testo, schermata, linea, Carattere&#10;&#10;Descrizione generata automaticamente">
            <a:extLst>
              <a:ext uri="{FF2B5EF4-FFF2-40B4-BE49-F238E27FC236}">
                <a16:creationId xmlns:a16="http://schemas.microsoft.com/office/drawing/2014/main" id="{4D47D535-2A8E-E1DC-AC44-A3917D0EC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5138928"/>
            <a:ext cx="3419856" cy="919886"/>
          </a:xfrm>
          <a:prstGeom prst="rect">
            <a:avLst/>
          </a:prstGeom>
        </p:spPr>
      </p:pic>
      <p:pic>
        <p:nvPicPr>
          <p:cNvPr id="3" name="Immagine 2" descr="Immagine che contiene testo, software, Icona del computer, Pagina Web&#10;&#10;Il contenuto generato dall'IA potrebbe non essere corretto.">
            <a:extLst>
              <a:ext uri="{FF2B5EF4-FFF2-40B4-BE49-F238E27FC236}">
                <a16:creationId xmlns:a16="http://schemas.microsoft.com/office/drawing/2014/main" id="{DBAAA3F8-FDFE-CCF1-2484-BA1E07C53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5908977" cy="4754880"/>
          </a:xfrm>
          <a:prstGeom prst="rect">
            <a:avLst/>
          </a:prstGeom>
        </p:spPr>
      </p:pic>
      <p:sp>
        <p:nvSpPr>
          <p:cNvPr id="1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Box 16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en-US" sz="2400" b="1">
                <a:solidFill>
                  <a:srgbClr val="073E31"/>
                </a:solidFill>
                <a:latin typeface="Calibri"/>
              </a:rPr>
              <a:t>Modificare una Location</a:t>
            </a:r>
            <a:endParaRPr sz="2400" b="1">
              <a:solidFill>
                <a:srgbClr val="073E31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42631" y="1280160"/>
            <a:ext cx="4114800" cy="301752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3E31"/>
                </a:solidFill>
                <a:latin typeface="Calibri"/>
              </a:rPr>
              <a:t>Compilazione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2631" y="1719072"/>
            <a:ext cx="3977639" cy="2103120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173D39"/>
                </a:solidFill>
                <a:latin typeface="Calibri"/>
              </a:rPr>
              <a:t>Aggiorna i campi della Location e seleziona Save. I campi obbligatori sono contrassegnati da un asterisco.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>
                <a:solidFill>
                  <a:srgbClr val="173D39"/>
                </a:solidFill>
                <a:latin typeface="Calibri"/>
              </a:rPr>
              <a:t>*</a:t>
            </a:r>
            <a:endParaRPr lang="en-US" sz="2400" b="0">
              <a:solidFill>
                <a:srgbClr val="173D39"/>
              </a:solidFill>
              <a:latin typeface="Calibri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173D39"/>
                </a:solidFill>
                <a:latin typeface="Calibri"/>
              </a:rPr>
              <a:t>Se la Location è alimentata da un data connector, contatta il supporto IBM: una modifica manuale può interrompere i caricamenti automatici.</a:t>
            </a:r>
            <a:endParaRPr lang="en-US" sz="2400" b="0">
              <a:solidFill>
                <a:srgbClr val="173D39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42631" y="3886200"/>
            <a:ext cx="4114800" cy="301752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3E31"/>
                </a:solidFill>
                <a:latin typeface="Calibri"/>
              </a:rPr>
              <a:t>Verifica degli errori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1" y="4224528"/>
            <a:ext cx="3950208" cy="777240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b="0">
                <a:solidFill>
                  <a:srgbClr val="173D39"/>
                </a:solidFill>
                <a:latin typeface="Calibri"/>
              </a:rPr>
              <a:t>Se manca un valore obbligatorio, Envizi blocca il salvataggio. Nota: la Region determina i fattori di emissione applicati.</a:t>
            </a:r>
            <a:endParaRPr sz="1500" b="0">
              <a:solidFill>
                <a:srgbClr val="173D39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1914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, schermata, software, numero&#10;&#10;Il contenuto generato dall'IA potrebbe non essere corretto.">
            <a:extLst>
              <a:ext uri="{FF2B5EF4-FFF2-40B4-BE49-F238E27FC236}">
                <a16:creationId xmlns:a16="http://schemas.microsoft.com/office/drawing/2014/main" id="{60003791-D506-9608-5405-9A9B3833A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345" y="1428090"/>
            <a:ext cx="8639695" cy="4972710"/>
          </a:xfrm>
          <a:prstGeom prst="rect">
            <a:avLst/>
          </a:prstGeom>
        </p:spPr>
      </p:pic>
      <p:sp>
        <p:nvSpPr>
          <p:cNvPr id="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Box 16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en-US" sz="2400" b="1">
                <a:solidFill>
                  <a:srgbClr val="073E31"/>
                </a:solidFill>
                <a:latin typeface="Calibri"/>
              </a:rPr>
              <a:t>Creare una nuova Location e assegnarla a un Group</a:t>
            </a:r>
            <a:endParaRPr sz="2400" b="1" dirty="0">
              <a:solidFill>
                <a:srgbClr val="073E31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89920" cy="685800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173D39"/>
                </a:solidFill>
                <a:latin typeface="Calibri"/>
              </a:rPr>
              <a:t>Da Manage &gt; Locations, usa Create New, compila i campi, scegli il Group e imposta il Report Percent (default 100%).</a:t>
            </a:r>
            <a:endParaRPr sz="1600" b="0">
              <a:solidFill>
                <a:srgbClr val="173D39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7261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2F475-D89B-517D-75B1-5762B5280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, schermata&#10;&#10;Descrizione generata automaticamente">
            <a:extLst>
              <a:ext uri="{FF2B5EF4-FFF2-40B4-BE49-F238E27FC236}">
                <a16:creationId xmlns:a16="http://schemas.microsoft.com/office/drawing/2014/main" id="{B7A9D8A7-0F0F-DDF7-E6F4-EBADE52ED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3749039"/>
            <a:ext cx="5010912" cy="1472208"/>
          </a:xfrm>
          <a:prstGeom prst="rect">
            <a:avLst/>
          </a:prstGeom>
        </p:spPr>
      </p:pic>
      <p:pic>
        <p:nvPicPr>
          <p:cNvPr id="4" name="Immagine 3" descr="Immagine che contiene testo, schermata, numero, software&#10;&#10;Il contenuto generato dall'IA potrebbe non essere corretto.">
            <a:extLst>
              <a:ext uri="{FF2B5EF4-FFF2-40B4-BE49-F238E27FC236}">
                <a16:creationId xmlns:a16="http://schemas.microsoft.com/office/drawing/2014/main" id="{A49DD3E3-384D-E2C2-F8D8-5F0255D43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7048"/>
            <a:ext cx="2331720" cy="2437707"/>
          </a:xfrm>
          <a:prstGeom prst="rect">
            <a:avLst/>
          </a:prstGeom>
        </p:spPr>
      </p:pic>
      <p:pic>
        <p:nvPicPr>
          <p:cNvPr id="12" name="Immagine 11" descr="Immagine che contiene testo, schermata, linea, ricevuta&#10;&#10;Il contenuto generato dall'IA potrebbe non essere corretto.">
            <a:extLst>
              <a:ext uri="{FF2B5EF4-FFF2-40B4-BE49-F238E27FC236}">
                <a16:creationId xmlns:a16="http://schemas.microsoft.com/office/drawing/2014/main" id="{4CD4140D-BEF9-6EC5-83F0-04FB7B7D1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1572768"/>
            <a:ext cx="5010912" cy="1335645"/>
          </a:xfrm>
          <a:prstGeom prst="rect">
            <a:avLst/>
          </a:prstGeom>
        </p:spPr>
      </p:pic>
      <p:pic>
        <p:nvPicPr>
          <p:cNvPr id="14" name="Immagine 13" descr="Immagine che contiene testo, schermata, software, Sistema operativo&#10;&#10;Il contenuto generato dall'IA potrebbe non essere corretto.">
            <a:extLst>
              <a:ext uri="{FF2B5EF4-FFF2-40B4-BE49-F238E27FC236}">
                <a16:creationId xmlns:a16="http://schemas.microsoft.com/office/drawing/2014/main" id="{C8E5156B-E921-F32C-4EB5-9FD2392BCB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1527048"/>
            <a:ext cx="3400505" cy="4069080"/>
          </a:xfrm>
          <a:prstGeom prst="rect">
            <a:avLst/>
          </a:prstGeom>
        </p:spPr>
      </p:pic>
      <p:sp>
        <p:nvSpPr>
          <p:cNvPr id="1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Box 16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en-US" sz="2400" b="1">
                <a:solidFill>
                  <a:srgbClr val="073E31"/>
                </a:solidFill>
                <a:latin typeface="Calibri"/>
              </a:rPr>
              <a:t>Assegnare una Location a un altro Group</a:t>
            </a:r>
            <a:endParaRPr sz="2400" b="1" dirty="0">
              <a:solidFill>
                <a:srgbClr val="073E31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1115568"/>
            <a:ext cx="5394960" cy="301752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3E31"/>
                </a:solidFill>
                <a:latin typeface="Calibri"/>
              </a:rPr>
              <a:t>1  Apri Group Membership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1115568"/>
            <a:ext cx="5394960" cy="301752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3E31"/>
                </a:solidFill>
                <a:latin typeface="Calibri"/>
              </a:rPr>
              <a:t>2  Crea una nuova associazione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5285232"/>
            <a:ext cx="4965192" cy="475488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73D39"/>
                </a:solidFill>
                <a:latin typeface="Calibri"/>
              </a:rPr>
              <a:t>Seleziona il Group e il Report Percent, salva e verifica. Nei Group di classificazione il totale deve essere 100%.</a:t>
            </a:r>
            <a:endParaRPr sz="1400" b="0">
              <a:solidFill>
                <a:srgbClr val="173D39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4844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E5949-1F9A-179F-5B59-8E7477ADD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schermata, testo, ricevuta&#10;&#10;Il contenuto generato dall'IA potrebbe non essere corretto.">
            <a:extLst>
              <a:ext uri="{FF2B5EF4-FFF2-40B4-BE49-F238E27FC236}">
                <a16:creationId xmlns:a16="http://schemas.microsoft.com/office/drawing/2014/main" id="{7659444F-39C0-0D85-B49C-D1AF17E4A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95" y="1381182"/>
            <a:ext cx="11566467" cy="4342962"/>
          </a:xfrm>
          <a:prstGeom prst="rect">
            <a:avLst/>
          </a:prstGeom>
        </p:spPr>
      </p:pic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Box 16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en-US" sz="2400" b="1">
                <a:solidFill>
                  <a:srgbClr val="073E31"/>
                </a:solidFill>
                <a:latin typeface="Calibri"/>
              </a:rPr>
              <a:t>Aprire l’Audit History di una Location</a:t>
            </a:r>
            <a:endParaRPr sz="2400" b="1">
              <a:solidFill>
                <a:srgbClr val="073E31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1133856"/>
            <a:ext cx="10899648" cy="475488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173D39"/>
                </a:solidFill>
                <a:latin typeface="Calibri"/>
              </a:rPr>
              <a:t>Manage &gt; Locations  ·  Seleziona la Location  ·  Actions &gt; Audit History</a:t>
            </a:r>
            <a:endParaRPr sz="1600" b="0">
              <a:solidFill>
                <a:srgbClr val="173D39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5509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F4E39-CC9B-D0EE-F621-FFDA809B4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, ricevuta, schermata&#10;&#10;Il contenuto generato dall'IA potrebbe non essere corretto.">
            <a:extLst>
              <a:ext uri="{FF2B5EF4-FFF2-40B4-BE49-F238E27FC236}">
                <a16:creationId xmlns:a16="http://schemas.microsoft.com/office/drawing/2014/main" id="{5ECEBCE2-A5EC-2B61-FA05-BCC824F73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55" y="1742485"/>
            <a:ext cx="11567329" cy="4660827"/>
          </a:xfrm>
          <a:prstGeom prst="rect">
            <a:avLst/>
          </a:prstGeom>
        </p:spPr>
      </p:pic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42936296-C719-A8DD-A919-0BB491DFD840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E9F97524-750F-F739-F895-65DBA60BD2FF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en-US" sz="2400" b="1">
                <a:solidFill>
                  <a:srgbClr val="073E31"/>
                </a:solidFill>
                <a:latin typeface="Calibri"/>
              </a:rPr>
              <a:t>Leggere l’Audit History: modifiche, date e autori</a:t>
            </a:r>
            <a:endParaRPr sz="2400" b="1">
              <a:solidFill>
                <a:srgbClr val="073E31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8E918F-9713-C130-F334-E8210356E8A4}"/>
              </a:ext>
            </a:extLst>
          </p:cNvPr>
          <p:cNvSpPr txBox="1"/>
          <p:nvPr/>
        </p:nvSpPr>
        <p:spPr>
          <a:xfrm>
            <a:off x="640080" y="953589"/>
            <a:ext cx="10899648" cy="475488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173D39"/>
                </a:solidFill>
                <a:latin typeface="Calibri"/>
              </a:rPr>
              <a:t>Manage &gt; Locations  ·  Seleziona la Location  ·  Actions &gt; Audit History</a:t>
            </a:r>
            <a:endParaRPr sz="1600" b="0" dirty="0">
              <a:solidFill>
                <a:srgbClr val="173D39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B6DC14-A378-86C6-CAC0-C7557E565750}"/>
              </a:ext>
            </a:extLst>
          </p:cNvPr>
          <p:cNvSpPr txBox="1"/>
          <p:nvPr/>
        </p:nvSpPr>
        <p:spPr>
          <a:xfrm>
            <a:off x="640080" y="1316736"/>
            <a:ext cx="10698480" cy="530352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dirty="0" err="1">
                <a:solidFill>
                  <a:srgbClr val="173D39"/>
                </a:solidFill>
                <a:latin typeface="Calibri"/>
              </a:rPr>
              <a:t>L’Audit</a:t>
            </a:r>
            <a:r>
              <a:rPr sz="1700" b="0" dirty="0">
                <a:solidFill>
                  <a:srgbClr val="173D39"/>
                </a:solidFill>
                <a:latin typeface="Calibri"/>
              </a:rPr>
              <a:t> History </a:t>
            </a:r>
            <a:r>
              <a:rPr sz="1700" b="0" dirty="0" err="1">
                <a:solidFill>
                  <a:srgbClr val="173D39"/>
                </a:solidFill>
                <a:latin typeface="Calibri"/>
              </a:rPr>
              <a:t>mostra</a:t>
            </a:r>
            <a:r>
              <a:rPr sz="1700" b="0" dirty="0">
                <a:solidFill>
                  <a:srgbClr val="173D39"/>
                </a:solidFill>
                <a:latin typeface="Calibri"/>
              </a:rPr>
              <a:t> le </a:t>
            </a:r>
            <a:r>
              <a:rPr sz="1700" b="0" dirty="0" err="1">
                <a:solidFill>
                  <a:srgbClr val="173D39"/>
                </a:solidFill>
                <a:latin typeface="Calibri"/>
              </a:rPr>
              <a:t>modifiche</a:t>
            </a:r>
            <a:r>
              <a:rPr sz="1700" b="0" dirty="0">
                <a:solidFill>
                  <a:srgbClr val="173D39"/>
                </a:solidFill>
                <a:latin typeface="Calibri"/>
              </a:rPr>
              <a:t> alla </a:t>
            </a:r>
            <a:r>
              <a:rPr sz="1700" b="0" dirty="0" err="1">
                <a:solidFill>
                  <a:srgbClr val="173D39"/>
                </a:solidFill>
                <a:latin typeface="Calibri"/>
              </a:rPr>
              <a:t>configurazione</a:t>
            </a:r>
            <a:r>
              <a:rPr sz="1700" b="0" dirty="0">
                <a:solidFill>
                  <a:srgbClr val="173D39"/>
                </a:solidFill>
                <a:latin typeface="Calibri"/>
              </a:rPr>
              <a:t>, con data e </a:t>
            </a:r>
            <a:r>
              <a:rPr sz="1700" b="0" dirty="0" err="1">
                <a:solidFill>
                  <a:srgbClr val="173D39"/>
                </a:solidFill>
                <a:latin typeface="Calibri"/>
              </a:rPr>
              <a:t>autore</a:t>
            </a:r>
            <a:r>
              <a:rPr sz="1700" b="0" dirty="0">
                <a:solidFill>
                  <a:srgbClr val="173D39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6721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BB406-3FCA-72D5-0A8E-8C6170E70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16"/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sz="2400" b="1">
                <a:solidFill>
                  <a:srgbClr val="073E31"/>
                </a:solidFill>
                <a:latin typeface="Calibri"/>
              </a:rPr>
              <a:t>Correggere i dati caricati per un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789920" cy="301752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73E31"/>
                </a:solidFill>
                <a:latin typeface="Calibri"/>
              </a:rPr>
              <a:t>Dopo il caricamento iniziale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01952"/>
            <a:ext cx="10424160" cy="658368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173D39"/>
                </a:solidFill>
                <a:latin typeface="Calibri"/>
              </a:rPr>
              <a:t>La struttura degli Account è stata creata con il template Account Setup.</a:t>
            </a:r>
            <a:endParaRPr b="0">
              <a:solidFill>
                <a:srgbClr val="173D39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072384"/>
            <a:ext cx="10789920" cy="301752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73E31"/>
                </a:solidFill>
                <a:latin typeface="Calibri"/>
              </a:rPr>
              <a:t>Esigenza operativa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47872"/>
            <a:ext cx="10424160" cy="1051560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73D39"/>
                </a:solidFill>
                <a:latin typeface="Calibri"/>
              </a:rPr>
              <a:t>Correggere il valore di un record specifico, ad esempio una bolletta di febbraio relativa a una Location.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87952"/>
            <a:ext cx="10424160" cy="822960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173D39"/>
                </a:solidFill>
                <a:latin typeface="Calibri"/>
              </a:rPr>
              <a:t>Le </a:t>
            </a:r>
            <a:r>
              <a:rPr b="0" dirty="0" err="1">
                <a:solidFill>
                  <a:srgbClr val="173D39"/>
                </a:solidFill>
                <a:latin typeface="Calibri"/>
              </a:rPr>
              <a:t>schermate</a:t>
            </a:r>
            <a:r>
              <a:rPr b="0" dirty="0">
                <a:solidFill>
                  <a:srgbClr val="173D39"/>
                </a:solidFill>
                <a:latin typeface="Calibri"/>
              </a:rPr>
              <a:t> successive </a:t>
            </a:r>
            <a:r>
              <a:rPr b="0" dirty="0" err="1">
                <a:solidFill>
                  <a:srgbClr val="173D39"/>
                </a:solidFill>
                <a:latin typeface="Calibri"/>
              </a:rPr>
              <a:t>mostrano</a:t>
            </a:r>
            <a:r>
              <a:rPr b="0" dirty="0">
                <a:solidFill>
                  <a:srgbClr val="173D39"/>
                </a:solidFill>
                <a:latin typeface="Calibri"/>
              </a:rPr>
              <a:t> come </a:t>
            </a:r>
            <a:r>
              <a:rPr b="0" dirty="0" err="1">
                <a:solidFill>
                  <a:srgbClr val="173D39"/>
                </a:solidFill>
                <a:latin typeface="Calibri"/>
              </a:rPr>
              <a:t>individuare</a:t>
            </a:r>
            <a:r>
              <a:rPr b="0" dirty="0">
                <a:solidFill>
                  <a:srgbClr val="173D39"/>
                </a:solidFill>
                <a:latin typeface="Calibri"/>
              </a:rPr>
              <a:t> </a:t>
            </a:r>
            <a:r>
              <a:rPr b="0" dirty="0" err="1">
                <a:solidFill>
                  <a:srgbClr val="173D39"/>
                </a:solidFill>
                <a:latin typeface="Calibri"/>
              </a:rPr>
              <a:t>l’Account</a:t>
            </a:r>
            <a:r>
              <a:rPr b="0" dirty="0">
                <a:solidFill>
                  <a:srgbClr val="173D39"/>
                </a:solidFill>
                <a:latin typeface="Calibri"/>
              </a:rPr>
              <a:t>, </a:t>
            </a:r>
            <a:r>
              <a:rPr b="0" dirty="0" err="1">
                <a:solidFill>
                  <a:srgbClr val="173D39"/>
                </a:solidFill>
                <a:latin typeface="Calibri"/>
              </a:rPr>
              <a:t>aprire</a:t>
            </a:r>
            <a:r>
              <a:rPr b="0" dirty="0">
                <a:solidFill>
                  <a:srgbClr val="173D39"/>
                </a:solidFill>
                <a:latin typeface="Calibri"/>
              </a:rPr>
              <a:t> </a:t>
            </a:r>
            <a:r>
              <a:rPr b="0" dirty="0" err="1">
                <a:solidFill>
                  <a:srgbClr val="173D39"/>
                </a:solidFill>
                <a:latin typeface="Calibri"/>
              </a:rPr>
              <a:t>i</a:t>
            </a:r>
            <a:r>
              <a:rPr b="0" dirty="0">
                <a:solidFill>
                  <a:srgbClr val="173D39"/>
                </a:solidFill>
                <a:latin typeface="Calibri"/>
              </a:rPr>
              <a:t> Records, </a:t>
            </a:r>
            <a:r>
              <a:rPr b="0" dirty="0" err="1">
                <a:solidFill>
                  <a:srgbClr val="173D39"/>
                </a:solidFill>
                <a:latin typeface="Calibri"/>
              </a:rPr>
              <a:t>aggiornare</a:t>
            </a:r>
            <a:r>
              <a:rPr b="0" dirty="0">
                <a:solidFill>
                  <a:srgbClr val="173D39"/>
                </a:solidFill>
                <a:latin typeface="Calibri"/>
              </a:rPr>
              <a:t> il </a:t>
            </a:r>
            <a:r>
              <a:rPr b="0" dirty="0" err="1">
                <a:solidFill>
                  <a:srgbClr val="173D39"/>
                </a:solidFill>
                <a:latin typeface="Calibri"/>
              </a:rPr>
              <a:t>dato</a:t>
            </a:r>
            <a:r>
              <a:rPr b="0" dirty="0">
                <a:solidFill>
                  <a:srgbClr val="173D39"/>
                </a:solidFill>
                <a:latin typeface="Calibri"/>
              </a:rPr>
              <a:t> e </a:t>
            </a:r>
            <a:r>
              <a:rPr b="0" dirty="0" err="1">
                <a:solidFill>
                  <a:srgbClr val="173D39"/>
                </a:solidFill>
                <a:latin typeface="Calibri"/>
              </a:rPr>
              <a:t>consultarne</a:t>
            </a:r>
            <a:r>
              <a:rPr b="0" dirty="0">
                <a:solidFill>
                  <a:srgbClr val="173D39"/>
                </a:solidFill>
                <a:latin typeface="Calibri"/>
              </a:rPr>
              <a:t> lo storico.</a:t>
            </a:r>
          </a:p>
        </p:txBody>
      </p:sp>
    </p:spTree>
    <p:extLst>
      <p:ext uri="{BB962C8B-B14F-4D97-AF65-F5344CB8AC3E}">
        <p14:creationId xmlns:p14="http://schemas.microsoft.com/office/powerpoint/2010/main" val="1510559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schermata, testo&#10;&#10;Il contenuto generato dall'IA potrebbe non essere corretto.">
            <a:extLst>
              <a:ext uri="{FF2B5EF4-FFF2-40B4-BE49-F238E27FC236}">
                <a16:creationId xmlns:a16="http://schemas.microsoft.com/office/drawing/2014/main" id="{13D057B4-E21D-AEBF-FE39-D160DF0F6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92807"/>
            <a:ext cx="10149840" cy="4234932"/>
          </a:xfrm>
          <a:prstGeom prst="rect">
            <a:avLst/>
          </a:prstGeom>
        </p:spPr>
      </p:pic>
      <p:sp>
        <p:nvSpPr>
          <p:cNvPr id="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Box 16"/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sz="2400" b="1">
                <a:solidFill>
                  <a:srgbClr val="073E31"/>
                </a:solidFill>
                <a:latin typeface="Calibri"/>
              </a:rPr>
              <a:t>Trovare un Account e aprire i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15568"/>
            <a:ext cx="10652760" cy="640080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D39"/>
                </a:solidFill>
                <a:latin typeface="Calibri"/>
              </a:rPr>
              <a:t>Manage &gt; Accounts. Applica i filtri, seleziona l’Account interessato e apri Records dal menu contestuale.</a:t>
            </a:r>
          </a:p>
        </p:txBody>
      </p:sp>
    </p:spTree>
    <p:extLst>
      <p:ext uri="{BB962C8B-B14F-4D97-AF65-F5344CB8AC3E}">
        <p14:creationId xmlns:p14="http://schemas.microsoft.com/office/powerpoint/2010/main" val="3661113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schermata, testo&#10;&#10;Il contenuto generato dall'IA potrebbe non essere corretto.">
            <a:extLst>
              <a:ext uri="{FF2B5EF4-FFF2-40B4-BE49-F238E27FC236}">
                <a16:creationId xmlns:a16="http://schemas.microsoft.com/office/drawing/2014/main" id="{3AE66A74-095A-C626-F82C-2FBD476C1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472" y="1901952"/>
            <a:ext cx="9171432" cy="4547607"/>
          </a:xfrm>
          <a:prstGeom prst="rect">
            <a:avLst/>
          </a:prstGeom>
        </p:spPr>
      </p:pic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Box 16"/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sz="2400" b="1">
                <a:solidFill>
                  <a:srgbClr val="073E31"/>
                </a:solidFill>
                <a:latin typeface="Calibri"/>
              </a:rPr>
              <a:t>Verificare e aggiornare un record dell’Account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33856"/>
            <a:ext cx="10698480" cy="640080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173D39"/>
                </a:solidFill>
                <a:latin typeface="Calibri"/>
              </a:rPr>
              <a:t>Visualizza i Records dell’Account e i rispettivi valori. Per correggerne uno, seleziona il record e scegli Edit Record dal menu contestuale (tasto destro).</a:t>
            </a:r>
            <a:endParaRPr sz="1600" b="0">
              <a:solidFill>
                <a:srgbClr val="173D39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4858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schermata, software, Icona del computer&#10;&#10;Il contenuto generato dall'IA potrebbe non essere corretto.">
            <a:extLst>
              <a:ext uri="{FF2B5EF4-FFF2-40B4-BE49-F238E27FC236}">
                <a16:creationId xmlns:a16="http://schemas.microsoft.com/office/drawing/2014/main" id="{87CA4EA4-256A-E9A6-378B-A9F93E910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52144"/>
            <a:ext cx="4935077" cy="5001768"/>
          </a:xfrm>
          <a:prstGeom prst="rect">
            <a:avLst/>
          </a:prstGeom>
        </p:spPr>
      </p:pic>
      <p:sp>
        <p:nvSpPr>
          <p:cNvPr id="4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Box 16"/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sz="2400" b="1">
                <a:solidFill>
                  <a:srgbClr val="073E31"/>
                </a:solidFill>
                <a:latin typeface="Calibri"/>
              </a:rPr>
              <a:t>Correggere i valori del record e salvare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0472"/>
            <a:ext cx="3291840" cy="301752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73E31"/>
                </a:solidFill>
                <a:latin typeface="Calibri"/>
              </a:rPr>
              <a:t>Edit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38528"/>
            <a:ext cx="3227832" cy="1097280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173D39"/>
                </a:solidFill>
                <a:latin typeface="Calibri"/>
              </a:rPr>
              <a:t>Aggiorna i valori del record nel modulo Edit Record.</a:t>
            </a:r>
            <a:endParaRPr b="0">
              <a:solidFill>
                <a:srgbClr val="173D39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3227832" cy="1225296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173D39"/>
                </a:solidFill>
                <a:latin typeface="Calibri"/>
              </a:rPr>
              <a:t>Controlla periodo e Account, quindi seleziona Save. Se l’approvazione dei dati è attiva, il record segue il workflow previsto.</a:t>
            </a:r>
            <a:endParaRPr b="0">
              <a:solidFill>
                <a:srgbClr val="173D39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6584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 descr="Immagine che contiene schermata, testo&#10;&#10;Il contenuto generato dall'IA potrebbe non essere corretto.">
            <a:extLst>
              <a:ext uri="{FF2B5EF4-FFF2-40B4-BE49-F238E27FC236}">
                <a16:creationId xmlns:a16="http://schemas.microsoft.com/office/drawing/2014/main" id="{4B001333-1817-9BB0-068E-798B071BD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943" y="2057400"/>
            <a:ext cx="8522208" cy="4294722"/>
          </a:xfrm>
          <a:prstGeom prst="rect">
            <a:avLst/>
          </a:prstGeom>
        </p:spPr>
      </p:pic>
      <p:sp>
        <p:nvSpPr>
          <p:cNvPr id="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Box 16"/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sz="2400" b="1">
                <a:solidFill>
                  <a:srgbClr val="073E31"/>
                </a:solidFill>
                <a:latin typeface="Calibri"/>
              </a:rPr>
              <a:t>Verificare lo storico delle modifiche dell’Account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06424"/>
            <a:ext cx="10753344" cy="804672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D39"/>
                </a:solidFill>
                <a:latin typeface="Calibri"/>
              </a:rPr>
              <a:t>Torna in Accounts. Dal menu dell’Account, scegli Record History per distinguere i caricamenti da file dal record aggiornato e vedere chi ha effettuato la modifica.</a:t>
            </a:r>
          </a:p>
        </p:txBody>
      </p:sp>
    </p:spTree>
    <p:extLst>
      <p:ext uri="{BB962C8B-B14F-4D97-AF65-F5344CB8AC3E}">
        <p14:creationId xmlns:p14="http://schemas.microsoft.com/office/powerpoint/2010/main" val="69240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18570-11BC-4E40-93F7-FBAE5E6C9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a verde titolo">
            <a:extLst>
              <a:ext uri="{FF2B5EF4-FFF2-40B4-BE49-F238E27FC236}">
                <a16:creationId xmlns:a16="http://schemas.microsoft.com/office/drawing/2014/main" id="{6A42E293-9AB6-44CB-A852-B7702E4136D3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16"/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en-US" sz="2400" b="1">
                <a:solidFill>
                  <a:srgbClr val="073E31"/>
                </a:solidFill>
                <a:latin typeface="Calibri"/>
              </a:rPr>
              <a:t>Riferimenti: documentazione ufficiale IBM Envizi</a:t>
            </a:r>
            <a:endParaRPr sz="2400" b="1">
              <a:solidFill>
                <a:srgbClr val="073E31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789920" cy="301752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>
                <a:solidFill>
                  <a:srgbClr val="073E31"/>
                </a:solidFill>
                <a:latin typeface="Calibri"/>
              </a:rPr>
              <a:t>Location e Group</a:t>
            </a:r>
            <a:endParaRPr b="1">
              <a:solidFill>
                <a:srgbClr val="073E3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901952"/>
            <a:ext cx="10424160" cy="658368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 u="sng">
                <a:solidFill>
                  <a:srgbClr val="0F62FE"/>
                </a:solidFill>
                <a:latin typeface="Calibri"/>
                <a:hlinkClick r:id="rId2"/>
              </a:rPr>
              <a:t>ibm.com/docs/en/envizi-esg-suite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 u="sng">
                <a:solidFill>
                  <a:srgbClr val="0F62FE"/>
                </a:solidFill>
                <a:latin typeface="Calibri"/>
                <a:hlinkClick r:id="rId3"/>
              </a:rPr>
              <a:t>Setting up locations</a:t>
            </a:r>
            <a:r>
              <a:rPr lang="en-US" b="0" dirty="0">
                <a:solidFill>
                  <a:srgbClr val="173D39"/>
                </a:solidFill>
                <a:latin typeface="Calibri"/>
              </a:rPr>
              <a:t> · </a:t>
            </a:r>
            <a:r>
              <a:rPr lang="en-US" b="0" u="sng">
                <a:solidFill>
                  <a:srgbClr val="0F62FE"/>
                </a:solidFill>
                <a:latin typeface="Calibri"/>
                <a:hlinkClick r:id="rId4"/>
              </a:rPr>
              <a:t>Modifying locations</a:t>
            </a:r>
            <a:r>
              <a:rPr lang="en-US" b="0" dirty="0">
                <a:solidFill>
                  <a:srgbClr val="173D39"/>
                </a:solidFill>
                <a:latin typeface="Calibri"/>
              </a:rPr>
              <a:t> · </a:t>
            </a:r>
            <a:r>
              <a:rPr lang="en-US" b="0" u="sng">
                <a:solidFill>
                  <a:srgbClr val="0F62FE"/>
                </a:solidFill>
                <a:latin typeface="Calibri"/>
                <a:hlinkClick r:id="rId5"/>
              </a:rPr>
              <a:t>Setting up groups</a:t>
            </a:r>
            <a:endParaRPr b="0" dirty="0">
              <a:solidFill>
                <a:srgbClr val="173D39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072384"/>
            <a:ext cx="10789920" cy="301752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>
                <a:solidFill>
                  <a:srgbClr val="073E31"/>
                </a:solidFill>
                <a:latin typeface="Calibri"/>
              </a:rPr>
              <a:t>Account e Records</a:t>
            </a:r>
            <a:endParaRPr b="1">
              <a:solidFill>
                <a:srgbClr val="073E31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547872"/>
            <a:ext cx="10424160" cy="1051560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 u="sng">
                <a:solidFill>
                  <a:srgbClr val="0F62FE"/>
                </a:solidFill>
                <a:latin typeface="Calibri"/>
                <a:hlinkClick r:id="rId2"/>
              </a:rPr>
              <a:t>ibm.com/docs/en/envizi-esg-suite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 u="sng">
                <a:solidFill>
                  <a:srgbClr val="0F62FE"/>
                </a:solidFill>
                <a:latin typeface="Calibri"/>
                <a:hlinkClick r:id="rId6"/>
              </a:rPr>
              <a:t>Capturing account data</a:t>
            </a:r>
            <a:r>
              <a:rPr lang="en-US" b="0">
                <a:solidFill>
                  <a:srgbClr val="173D39"/>
                </a:solidFill>
                <a:latin typeface="Calibri"/>
              </a:rPr>
              <a:t> · </a:t>
            </a:r>
            <a:r>
              <a:rPr lang="en-US" b="0" u="sng">
                <a:solidFill>
                  <a:srgbClr val="0F62FE"/>
                </a:solidFill>
                <a:latin typeface="Calibri"/>
                <a:hlinkClick r:id="rId7"/>
              </a:rPr>
              <a:t>Approving account data</a:t>
            </a:r>
            <a:endParaRPr b="0">
              <a:solidFill>
                <a:srgbClr val="173D39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4187952"/>
            <a:ext cx="10424160" cy="822960"/>
          </a:xfrm>
          <a:prstGeom prst="rect">
            <a:avLst/>
          </a:prstGeom>
          <a:noFill/>
        </p:spPr>
        <p:txBody>
          <a:bodyPr wrap="square" lIns="18288" tIns="0" rIns="18288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 dirty="0" err="1">
                <a:solidFill>
                  <a:srgbClr val="173D39"/>
                </a:solidFill>
                <a:latin typeface="Calibri"/>
              </a:rPr>
              <a:t>Approfondimento</a:t>
            </a:r>
            <a:r>
              <a:rPr lang="en-US" b="0" dirty="0">
                <a:solidFill>
                  <a:srgbClr val="173D39"/>
                </a:solidFill>
                <a:latin typeface="Calibri"/>
              </a:rPr>
              <a:t>: IBM Community, </a:t>
            </a:r>
            <a:r>
              <a:rPr lang="en-US" b="0" u="sng">
                <a:solidFill>
                  <a:srgbClr val="0F62FE"/>
                </a:solidFill>
                <a:latin typeface="Calibri"/>
                <a:hlinkClick r:id="rId8"/>
              </a:rPr>
              <a:t>“Create Org Hierarchy and load data in Envizi via UI”</a:t>
            </a:r>
            <a:r>
              <a:rPr lang="en-US" b="0" dirty="0">
                <a:solidFill>
                  <a:srgbClr val="173D39"/>
                </a:solidFill>
                <a:latin typeface="Calibri"/>
              </a:rPr>
              <a:t>.</a:t>
            </a:r>
            <a:endParaRPr b="0" dirty="0">
              <a:solidFill>
                <a:srgbClr val="173D39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3809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" name="Testo originale sotto il titolo"/>
          <p:cNvSpPr txBox="1"/>
          <p:nvPr/>
        </p:nvSpPr>
        <p:spPr>
          <a:xfrm>
            <a:off x="548640" y="5641848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>
                <a:solidFill>
                  <a:srgbClr val="073E31"/>
                </a:solidFill>
              </a:defRPr>
            </a:pPr>
            <a:r>
              <a:rPr sz="2000" b="0" i="0" dirty="0">
                <a:solidFill>
                  <a:srgbClr val="073E31"/>
                </a:solidFill>
                <a:latin typeface="Calibri"/>
              </a:rPr>
              <a:t> </a:t>
            </a:r>
            <a:endParaRPr sz="2400" b="0" i="0" dirty="0">
              <a:solidFill>
                <a:srgbClr val="D8E8DC"/>
              </a:solidFill>
              <a:latin typeface="Calibri"/>
            </a:endParaRP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>
              <a:defRPr sz="2000">
                <a:solidFill>
                  <a:srgbClr val="073E31"/>
                </a:solidFill>
              </a:defRPr>
            </a:pPr>
            <a:endParaRPr lang="it-IT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Grazie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EF24286-BAAB-56CB-EE5D-375D369C0873}"/>
              </a:ext>
            </a:extLst>
          </p:cNvPr>
          <p:cNvSpPr txBox="1"/>
          <p:nvPr/>
        </p:nvSpPr>
        <p:spPr>
          <a:xfrm>
            <a:off x="10058400" y="219456"/>
            <a:ext cx="27432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ENVIZI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8CDF11D0-1C53-0547-9873-8FB7E1E39671}"/>
              </a:ext>
            </a:extLst>
          </p:cNvPr>
          <p:cNvSpPr txBox="1"/>
          <p:nvPr/>
        </p:nvSpPr>
        <p:spPr>
          <a:xfrm>
            <a:off x="640080" y="1280160"/>
            <a:ext cx="62179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Thank you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CC8070-723C-29F9-6B8C-870A277CC8CE}"/>
              </a:ext>
            </a:extLst>
          </p:cNvPr>
          <p:cNvSpPr/>
          <p:nvPr/>
        </p:nvSpPr>
        <p:spPr>
          <a:xfrm>
            <a:off x="640080" y="2084831"/>
            <a:ext cx="10058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5511781-77E8-AB51-35E5-D1D2C2451BA2}"/>
              </a:ext>
            </a:extLst>
          </p:cNvPr>
          <p:cNvSpPr txBox="1"/>
          <p:nvPr/>
        </p:nvSpPr>
        <p:spPr>
          <a:xfrm>
            <a:off x="640080" y="2423160"/>
            <a:ext cx="589788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5B687A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Sustainability data that supports reporting, decisions and business value.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8CE9F074-FDBC-705B-960A-8459F4BC17DE}"/>
              </a:ext>
            </a:extLst>
          </p:cNvPr>
          <p:cNvSpPr txBox="1"/>
          <p:nvPr/>
        </p:nvSpPr>
        <p:spPr>
          <a:xfrm>
            <a:off x="640080" y="3822191"/>
            <a:ext cx="4206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Felice Petrignano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434EFB8C-0790-AAB3-DB53-C9B2F350C225}"/>
              </a:ext>
            </a:extLst>
          </p:cNvPr>
          <p:cNvSpPr txBox="1"/>
          <p:nvPr/>
        </p:nvSpPr>
        <p:spPr>
          <a:xfrm>
            <a:off x="640080" y="4206240"/>
            <a:ext cx="512064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Senior Technology Specialist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6BEDC525-C44E-79D2-F7A4-4D024636405B}"/>
              </a:ext>
            </a:extLst>
          </p:cNvPr>
          <p:cNvSpPr txBox="1"/>
          <p:nvPr/>
        </p:nvSpPr>
        <p:spPr>
          <a:xfrm>
            <a:off x="640080" y="4517136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Italy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F621139D-38E0-2953-A093-2FC128265975}"/>
              </a:ext>
            </a:extLst>
          </p:cNvPr>
          <p:cNvSpPr txBox="1"/>
          <p:nvPr/>
        </p:nvSpPr>
        <p:spPr>
          <a:xfrm>
            <a:off x="640080" y="5047488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linkedin.com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/in/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fpetrignano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306529D3-89C5-8762-7A9F-5369BAAECD79}"/>
              </a:ext>
            </a:extLst>
          </p:cNvPr>
          <p:cNvSpPr/>
          <p:nvPr/>
        </p:nvSpPr>
        <p:spPr>
          <a:xfrm>
            <a:off x="7635240" y="640080"/>
            <a:ext cx="3794760" cy="544068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9DED0332-C7E5-AB26-11BC-B0241C7CD2B4}"/>
              </a:ext>
            </a:extLst>
          </p:cNvPr>
          <p:cNvSpPr txBox="1"/>
          <p:nvPr/>
        </p:nvSpPr>
        <p:spPr>
          <a:xfrm>
            <a:off x="8001000" y="1078992"/>
            <a:ext cx="3063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LET’S CONNECT</a:t>
            </a:r>
          </a:p>
        </p:txBody>
      </p:sp>
      <p:pic>
        <p:nvPicPr>
          <p:cNvPr id="15" name="Picture 13" descr="linkedin_qr_original.png">
            <a:extLst>
              <a:ext uri="{FF2B5EF4-FFF2-40B4-BE49-F238E27FC236}">
                <a16:creationId xmlns:a16="http://schemas.microsoft.com/office/drawing/2014/main" id="{5488A219-564D-1AA5-DC0B-80CAF2A9B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35" y="1600200"/>
            <a:ext cx="2529767" cy="3154680"/>
          </a:xfrm>
          <a:prstGeom prst="rect">
            <a:avLst/>
          </a:prstGeom>
        </p:spPr>
      </p:pic>
      <p:sp>
        <p:nvSpPr>
          <p:cNvPr id="16" name="TextBox 14">
            <a:extLst>
              <a:ext uri="{FF2B5EF4-FFF2-40B4-BE49-F238E27FC236}">
                <a16:creationId xmlns:a16="http://schemas.microsoft.com/office/drawing/2014/main" id="{D4866AE4-DC69-6812-12BF-9F23A0B9733F}"/>
              </a:ext>
            </a:extLst>
          </p:cNvPr>
          <p:cNvSpPr txBox="1"/>
          <p:nvPr/>
        </p:nvSpPr>
        <p:spPr>
          <a:xfrm>
            <a:off x="8001000" y="5074920"/>
            <a:ext cx="306324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Scan the QR code to connect on LinkedIn</a:t>
            </a:r>
          </a:p>
        </p:txBody>
      </p:sp>
    </p:spTree>
    <p:extLst>
      <p:ext uri="{BB962C8B-B14F-4D97-AF65-F5344CB8AC3E}">
        <p14:creationId xmlns:p14="http://schemas.microsoft.com/office/powerpoint/2010/main" val="3904177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962</Words>
  <Application>Microsoft Macintosh PowerPoint</Application>
  <PresentationFormat>Widescreen</PresentationFormat>
  <Paragraphs>127</Paragraphs>
  <Slides>21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IBM Plex Sans</vt:lpstr>
      <vt:lpstr>Times New Roman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Felice Petrignano</dc:creator>
  <cp:lastModifiedBy>Felice Petrignano</cp:lastModifiedBy>
  <cp:revision>9</cp:revision>
  <dcterms:created xsi:type="dcterms:W3CDTF">2026-10-08T15:34:04Z</dcterms:created>
  <dcterms:modified xsi:type="dcterms:W3CDTF">2026-10-09T15:14:35Z</dcterms:modified>
</cp:coreProperties>
</file>