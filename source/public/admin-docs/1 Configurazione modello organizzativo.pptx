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635" r:id="rId2"/>
    <p:sldId id="260" r:id="rId3"/>
    <p:sldId id="268" r:id="rId4"/>
    <p:sldId id="524" r:id="rId5"/>
    <p:sldId id="647" r:id="rId6"/>
    <p:sldId id="619" r:id="rId7"/>
    <p:sldId id="302" r:id="rId8"/>
    <p:sldId id="299" r:id="rId9"/>
    <p:sldId id="300" r:id="rId10"/>
    <p:sldId id="301" r:id="rId11"/>
    <p:sldId id="303" r:id="rId12"/>
    <p:sldId id="2147483634" r:id="rId13"/>
    <p:sldId id="2147483635" r:id="rId14"/>
    <p:sldId id="2147483647" r:id="rId15"/>
    <p:sldId id="2147479532" r:id="rId16"/>
    <p:sldId id="410" r:id="rId17"/>
    <p:sldId id="447" r:id="rId18"/>
    <p:sldId id="445" r:id="rId19"/>
    <p:sldId id="622" r:id="rId20"/>
    <p:sldId id="490" r:id="rId21"/>
    <p:sldId id="504" r:id="rId22"/>
    <p:sldId id="448" r:id="rId23"/>
    <p:sldId id="402" r:id="rId24"/>
    <p:sldId id="256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/>
    <p:restoredTop sz="96301"/>
  </p:normalViewPr>
  <p:slideViewPr>
    <p:cSldViewPr snapToGrid="0">
      <p:cViewPr varScale="1">
        <p:scale>
          <a:sx n="92" d="100"/>
          <a:sy n="92" d="100"/>
        </p:scale>
        <p:origin x="17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48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[Sources]</a:t>
            </a:r>
          </a:p>
          <a:p>
            <a:r>
              <a:t>Configuring</a:t>
            </a:r>
          </a:p>
          <a:p>
            <a:r>
              <a:t>https://www.ibm.com/docs/en/envizi-esg-suite?topic=configuring</a:t>
            </a:r>
          </a:p>
          <a:p>
            <a:r>
              <a:t>Setting up groups</a:t>
            </a:r>
          </a:p>
          <a:p>
            <a:r>
              <a:t>https://www.ibm.com/docs/en/envizi-esg-suite?topic=configuring-setting-up-groups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[Sources]</a:t>
            </a:r>
          </a:p>
          <a:p>
            <a:r>
              <a:t>Configuring</a:t>
            </a:r>
          </a:p>
          <a:p>
            <a:r>
              <a:t>https://www.ibm.com/docs/en/envizi-esg-suite?topic=configuring</a:t>
            </a:r>
          </a:p>
          <a:p>
            <a:r>
              <a:t>Setting up groups</a:t>
            </a:r>
          </a:p>
          <a:p>
            <a:r>
              <a:t>https://www.ibm.com/docs/en/envizi-esg-suite?topic=configuring-setting-up-groups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[Sources]</a:t>
            </a:r>
          </a:p>
          <a:p>
            <a:r>
              <a:t>Configuring</a:t>
            </a:r>
          </a:p>
          <a:p>
            <a:r>
              <a:t>https://www.ibm.com/docs/en/envizi-esg-suite?topic=configuring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[Sources]</a:t>
            </a:r>
          </a:p>
          <a:p>
            <a:r>
              <a:t>Getting started for administrators</a:t>
            </a:r>
          </a:p>
          <a:p>
            <a:r>
              <a:t>https://www.ibm.com/docs/en/envizi-esg-suite?topic=started-getting-administrators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Setting up locations</a:t>
            </a:r>
          </a:p>
          <a:p>
            <a:r>
              <a:rPr lang="it-IT"/>
              <a:t>https://www.ibm.com/docs/en/envizi-esg-suite?topic=configuring-setting-up-locations</a:t>
            </a:r>
          </a:p>
          <a:p>
            <a:r>
              <a:rPr lang="it-IT"/>
              <a:t>Glossary</a:t>
            </a:r>
          </a:p>
          <a:p>
            <a:r>
              <a:rPr lang="it-IT"/>
              <a:t>https://www.ibm.com/docs/en/envizi-esg-suite?topic=glossary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860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Gli upload Account sono tipicamente mensili o trimestrali, ma i record possono coprire qualsiasi periodo. I Service Point collegano i Meter alle Location. Configurare i tag per evitare di sommare due fonti che rappresentano lo stesso consumo.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Setting up meters</a:t>
            </a:r>
          </a:p>
          <a:p>
            <a:r>
              <a:rPr lang="it-IT"/>
              <a:t>https://www.ibm.com/docs/en/envizi-esg-suite?topic=analytics-setting-up-meters</a:t>
            </a:r>
          </a:p>
          <a:p>
            <a:r>
              <a:rPr lang="it-IT"/>
              <a:t>Applying a consolidation tag</a:t>
            </a:r>
          </a:p>
          <a:p>
            <a:r>
              <a:rPr lang="it-IT"/>
              <a:t>https://www.ibm.com/docs/en/envizi-esg-suite?topic=data-applying-consolidation-tag</a:t>
            </a:r>
          </a:p>
          <a:p>
            <a:r>
              <a:rPr lang="it-IT"/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locations</a:t>
            </a:r>
          </a:p>
          <a:p>
            <a:r>
              <a:rPr lang="it-IT"/>
              <a:t>https://www.ibm.com/docs/en/envizi-esg-suite?topic=configuring-setting-up-locations</a:t>
            </a:r>
          </a:p>
          <a:p>
            <a:r>
              <a:rPr lang="it-IT"/>
              <a:t>Setting up meters</a:t>
            </a:r>
          </a:p>
          <a:p>
            <a:r>
              <a:rPr lang="it-IT"/>
              <a:t>https://www.ibm.com/docs/en/envizi-esg-suite?topic=analytics-setting-up-meters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71AAB4-4AF7-4A40-8B4D-113FB2F32F4C}" type="slidenum">
              <a:rPr kumimoji="0" lang="en-AU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1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13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71AAB4-4AF7-4A40-8B4D-113FB2F32F4C}" type="slidenum">
              <a:rPr kumimoji="0" lang="en-AU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1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17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La somma delle quote nella gerarchia Classification deve essere 100% per includere interamente una Location. Per le appartenenze si possono impostare date di efficacia.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Adding locations to a group</a:t>
            </a:r>
          </a:p>
          <a:p>
            <a:r>
              <a:rPr lang="it-IT"/>
              <a:t>https://www.ibm.com/docs/en/envizi-esg-suite?topic=group-adding-locations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71AAB4-4AF7-4A40-8B4D-113FB2F32F4C}" type="slidenum">
              <a:rPr kumimoji="0" lang="en-AU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1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452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9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71AAB4-4AF7-4A40-8B4D-113FB2F32F4C}" type="slidenum">
              <a:rPr kumimoji="0" lang="en-AU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10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68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locations</a:t>
            </a:r>
          </a:p>
          <a:p>
            <a:r>
              <a:rPr lang="it-IT"/>
              <a:t>https://www.ibm.com/docs/en/envizi-esg-suite?topic=configuring-setting-up-locations</a:t>
            </a:r>
          </a:p>
          <a:p>
            <a:r>
              <a:rPr lang="it-IT"/>
              <a:t>[/Sources]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</a:t>
            </a:r>
            <a:r>
              <a:t>, </a:t>
            </a:r>
            <a:r>
              <a:rPr lang="it-IT"/>
              <a:t>consultati </a:t>
            </a:r>
            <a:r>
              <a:t>il </a:t>
            </a:r>
            <a:r>
              <a:rPr lang="it-IT"/>
              <a:t>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Adding locations to a group</a:t>
            </a:r>
          </a:p>
          <a:p>
            <a:r>
              <a:rPr lang="it-IT"/>
              <a:t>https://www.ibm.com/docs/en/envizi-esg-suite?topic=group-adding-locations</a:t>
            </a:r>
          </a:p>
          <a:p>
            <a:r>
              <a:rPr lang="it-IT"/>
              <a:t>[/Sources]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</a:t>
            </a:r>
            <a:r>
              <a:t>Envizi </a:t>
            </a:r>
            <a:r>
              <a:rPr lang="it-IT"/>
              <a:t>ESG Suite, consultati il 9 ottobre 2026.</a:t>
            </a:r>
            <a:endParaRPr/>
          </a:p>
          <a:p>
            <a:endParaRPr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  <a:endParaRPr/>
          </a:p>
          <a:p>
            <a:endParaRPr/>
          </a:p>
          <a:p>
            <a:r>
              <a:rPr lang="it-IT"/>
              <a:t>La documentazione pubblica richiede il coinvolgimento del team </a:t>
            </a:r>
            <a:r>
              <a:t>Envizi</a:t>
            </a:r>
            <a:r>
              <a:rPr lang="it-IT"/>
              <a:t> per il setup massivo</a:t>
            </a:r>
            <a:r>
              <a:t>.</a:t>
            </a:r>
            <a:r>
              <a:rPr lang="it-IT"/>
              <a:t> Non conferma come regole generali il prefisso Envizi_SetupConfig, la colonna P o la facoltatività di tutti gli altri campi. Verificare la versione del template e il canale di caricamento concordati.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Getting started for administrators</a:t>
            </a:r>
          </a:p>
          <a:p>
            <a:r>
              <a:rPr lang="it-IT"/>
              <a:t>https://www.ibm.com/docs/en/envizi-esg-suite?topic=started-getting-administrators</a:t>
            </a:r>
          </a:p>
          <a:p>
            <a:r>
              <a:rPr lang="it-IT"/>
              <a:t>[/Sources]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</a:t>
            </a:r>
            <a:r>
              <a:t>Envizi </a:t>
            </a:r>
            <a:r>
              <a:rPr lang="it-IT"/>
              <a:t>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[/Sources]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Setting up locations</a:t>
            </a:r>
          </a:p>
          <a:p>
            <a:r>
              <a:rPr lang="it-IT"/>
              <a:t>https://www.ibm.com/docs/en/envizi-esg-suite?topic=configuring-setting-up-locations</a:t>
            </a:r>
          </a:p>
          <a:p>
            <a:r>
              <a:rPr lang="it-IT"/>
              <a:t>Product overview</a:t>
            </a:r>
          </a:p>
          <a:p>
            <a:r>
              <a:rPr lang="it-IT"/>
              <a:t>https://www.ibm.com/docs/en/envizi-esg-suite?topic=product-overview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8753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La documentazione pubblica richiede il coinvolgimento del team Envizi per il setup massivo. Non conferma come regole generali il prefisso Envizi_SetupConfig, la colonna P o la facoltatività di tutti gli altri campi. Verificare la versione del template e il canale di caricamento concordati.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Getting started for administrators</a:t>
            </a:r>
          </a:p>
          <a:p>
            <a:r>
              <a:rPr lang="it-IT"/>
              <a:t>https://www.ibm.com/docs/en/envizi-esg-suite?topic=started-getting-administrators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9806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/>
          </a:p>
          <a:p>
            <a:r>
              <a:t>La documentazione pubblica richiede il coinvolgimento del team Envizi per il setup massivo. Non conferma come regole generali il prefisso Envizi_SetupConfig, la colonna P o la facoltatività di tutti gli altri campi. Verificare la versione del template e il canale di caricamento concordati.</a:t>
            </a:r>
          </a:p>
          <a:p>
            <a:endParaRPr/>
          </a:p>
          <a:p>
            <a:r>
              <a:t>[Sources]</a:t>
            </a:r>
          </a:p>
          <a:p>
            <a:r>
              <a:t>Setting up groups</a:t>
            </a:r>
          </a:p>
          <a:p>
            <a:r>
              <a:t>https://www.ibm.com/docs/en/envizi-esg-suite?topic=configuring-setting-up-groups</a:t>
            </a:r>
          </a:p>
          <a:p>
            <a:r>
              <a:t>Setting up locations</a:t>
            </a:r>
          </a:p>
          <a:p>
            <a:r>
              <a:t>https://www.ibm.com/docs/en/envizi-esg-suite?topic=configuring-setting-up-locations</a:t>
            </a:r>
          </a:p>
          <a:p>
            <a:r>
              <a:t>Product overview</a:t>
            </a:r>
          </a:p>
          <a:p>
            <a:r>
              <a:t>https://www.ibm.com/docs/en/envizi-esg-suite?topic=product-overview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/>
          </a:p>
          <a:p>
            <a:r>
              <a:t>[Sources]</a:t>
            </a:r>
          </a:p>
          <a:p>
            <a:r>
              <a:t>Setting up locations</a:t>
            </a:r>
          </a:p>
          <a:p>
            <a:r>
              <a:t>https://www.ibm.com/docs/en/envizi-esg-suite?topic=configuring-setting-up-locations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Setting up locations</a:t>
            </a:r>
          </a:p>
          <a:p>
            <a:r>
              <a:rPr lang="it-IT"/>
              <a:t>https://www.ibm.com/docs/en/envizi-esg-suite?topic=configuring-setting-up-locations</a:t>
            </a:r>
          </a:p>
          <a:p>
            <a:r>
              <a:rPr lang="it-IT"/>
              <a:t>[/Sources]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Riferimenti IBM Envizi ESG Suite, consultati il 9 ottobre 2026.</a:t>
            </a:r>
          </a:p>
          <a:p>
            <a:endParaRPr lang="it-IT"/>
          </a:p>
          <a:p>
            <a:r>
              <a:rPr lang="it-IT"/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Configuring</a:t>
            </a:r>
          </a:p>
          <a:p>
            <a:r>
              <a:rPr lang="it-IT"/>
              <a:t>https://www.ibm.com/docs/en/envizi-esg-suite?topic=configuring</a:t>
            </a:r>
          </a:p>
          <a:p>
            <a:r>
              <a:rPr lang="it-IT"/>
              <a:t>Setting up groups</a:t>
            </a:r>
          </a:p>
          <a:p>
            <a:r>
              <a:rPr lang="it-IT"/>
              <a:t>https://www.ibm.com/docs/en/envizi-esg-suite?topic=configuring-setting-up-groups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2528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Riferimenti IBM Envizi ESG Suite, consultati il 9 ottobre 2026.</a:t>
            </a:r>
          </a:p>
          <a:p>
            <a:endParaRPr/>
          </a:p>
          <a:p>
            <a:r>
              <a:t>Esempi e schermate provengono dalla presentazione del POC. Nomi, struttura e template illustrano il progetto e non costituiscono uno standard universale IBM. Il contenuto delle schermate originali resta invariato.</a:t>
            </a:r>
          </a:p>
          <a:p>
            <a:endParaRPr/>
          </a:p>
          <a:p>
            <a:r>
              <a:t>[Sources]</a:t>
            </a:r>
          </a:p>
          <a:p>
            <a:r>
              <a:t>Setting up groups</a:t>
            </a:r>
          </a:p>
          <a:p>
            <a:r>
              <a:t>https://www.ibm.com/docs/en/envizi-esg-suite?topic=configuring-setting-up-groups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D9BF92F-7982-3E4C-9254-ED9B0294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Documentazione ufficiale IBM Envizi ESG Suite. I titoli sottolineati contengono collegamenti attivi. Consultata il 9 ottobre 2026.</a:t>
            </a:r>
          </a:p>
          <a:p>
            <a:r>
              <a:t>[Sources]</a:t>
            </a:r>
          </a:p>
          <a:p>
            <a:r>
              <a:t>Getting started for administrators</a:t>
            </a:r>
          </a:p>
          <a:p>
            <a:r>
              <a:t>https://www.ibm.com/docs/en/envizi-esg-suite?topic=started-getting-administrators</a:t>
            </a:r>
          </a:p>
          <a:p>
            <a:r>
              <a:t>Setting up groups</a:t>
            </a:r>
          </a:p>
          <a:p>
            <a:r>
              <a:t>https://www.ibm.com/docs/en/envizi-esg-suite?topic=configuring-setting-up-groups</a:t>
            </a:r>
          </a:p>
          <a:p>
            <a:r>
              <a:t>Setting up locations</a:t>
            </a:r>
          </a:p>
          <a:p>
            <a:r>
              <a:t>https://www.ibm.com/docs/en/envizi-esg-suite?topic=configuring-setting-up-locations</a:t>
            </a:r>
          </a:p>
          <a:p>
            <a:r>
              <a:t>Glossary</a:t>
            </a:r>
          </a:p>
          <a:p>
            <a:r>
              <a:t>https://www.ibm.com/docs/en/envizi-esg-suite?topic=glossary</a:t>
            </a:r>
          </a:p>
          <a:p>
            <a:r>
              <a:t>Setting up meters</a:t>
            </a:r>
          </a:p>
          <a:p>
            <a:r>
              <a:t>https://www.ibm.com/docs/en/envizi-esg-suite?topic=analytics-setting-up-meters</a:t>
            </a:r>
          </a:p>
          <a:p>
            <a:r>
              <a:t>Applying a consolidation tag</a:t>
            </a:r>
          </a:p>
          <a:p>
            <a:r>
              <a:t>https://www.ibm.com/docs/en/envizi-esg-suite?topic=data-applying-consolidation-tag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5D1669-B0D6-0564-DE76-FBBAC2016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1D12C1-E78F-9BAE-921A-C1CC30D50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E7C66E-75C6-3B28-D40C-6C16E4A2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985112-1FC9-D93C-9668-EE743F30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8A4E38-5BCD-C8AA-18D2-BA7C6388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128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0D8DB-8B53-FF28-ED80-04043120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9D582-7816-6D50-8116-A3ADF5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075C67-7FE1-CBC2-BCFA-3C7BD314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18EC86-625A-D53A-A0C6-2D31D7C2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2E1067-800E-25BD-CC4C-0470EF54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697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DA9493-FDA2-F3C6-4EC3-98DCD66B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31C8FD-7F2C-A60C-12EC-849E86CE5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D8D130-CF79-DBD0-691B-57B493D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A12202-21FB-19C4-4465-055DCD35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81E54-D359-2B10-34B2-213F9997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91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E9F3F3-49DE-828F-A575-14E32E15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F69499-DC69-4660-F9B9-5C795425C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3970CC2-CD4E-13EB-4674-081FE111D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7D8E76E-9CBB-38C7-0169-3F1ED761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C8608A-8D29-E000-77A4-DA965E91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A7F578D-9D1E-94B8-0AE2-AFC32E0A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795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3918B-225F-779C-7EB9-2186681F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1211B49-6584-3BAB-8E0D-4936BC8E3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944681-5BE9-6266-D859-DD86A4D1E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56B6902-3AFF-DCAF-D84A-C2B1F65F8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20208B5-2E59-6914-6E4E-5CAB767C8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A5EED8C-56BD-78B0-5CD0-613F2DEC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634163E-49D4-AFF0-30AD-EC9E54A6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671C9F-2883-03D8-ED59-5CB11274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44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5329FA-CA45-C323-F28F-146A13D2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381C2C-D20A-E961-1EB0-74E6DFB0E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0790EEC-631F-2A13-940F-CD21BF8B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B2B6123-C4D3-A0D5-57BF-5F97B4AC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368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66A70A6-E6B6-1752-0FCF-97895AE5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BA26AF7-1676-04D6-C873-4DE9F744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487177-534B-FEEA-F63B-0E3757BD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619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C264EC-945C-D6AF-0BEF-3C49BE3F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401AE8-EF1E-878C-E403-9A954AF7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2BA7DE-8E87-31C3-52BE-709FCE372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9808AA-8AC0-0D17-62B5-F629CFF1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6F1916-DE1D-E5CE-CE33-075E7F6A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90240B8-B710-3DBA-934F-D76BA9A8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19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FF4185-C14E-B9A2-E03E-B5730119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9F4607-D7FB-5F3E-0877-7AEBF7BB3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25CEC59-D661-59C9-9E1F-ECDA48032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076AA7-4992-7D5D-F1A3-DAF64056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78E04B-6EFB-A3AE-CA88-F3CCFCDA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8426C2-F61C-2D23-6EE2-15DEC823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53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9380AD-E7F3-669E-081C-C276EDEE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AE4FDEA-94B2-7A15-E00E-E79184423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E371D3-432F-1A35-88E6-3A535FE9F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EE37E2E-4BC7-9427-A06A-A88CC434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0033C-9A29-B0D8-17C7-B88F2D3D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03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1EF2E3F-5F2B-1887-DFB5-14763C433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A44605-47E0-A1B0-40BF-864CAE7A0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EEC452-3ACA-613F-B5DB-4480247C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8FAC22-4DAB-917D-958E-8661AC6F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3BBB29-0B17-8561-5C68-D217F0262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018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60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194BD70-BD9A-74E0-C73E-E2FE116D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2E61627-B641-0419-DD36-CC6F6F6EA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7EBD8A-2589-6562-BA60-D07D0A26C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24B3D-501E-0649-BAE7-FC90349EC259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1D1367-0D30-BD61-7ECE-AB7324908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9E0610-7DBA-C458-3AA6-8FA78998C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1DC05-2A00-F145-BD64-6D32476ADC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625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7.sv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emf"/><Relationship Id="rId4" Type="http://schemas.openxmlformats.org/officeDocument/2006/relationships/package" Target="../embeddings/Foglio_di_lavoro_di_Microsoft_Excel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data-applying-consolidation-tag" TargetMode="External"/><Relationship Id="rId3" Type="http://schemas.openxmlformats.org/officeDocument/2006/relationships/hyperlink" Target="https://www.ibm.com/docs/en/envizi-esg-suite?topic=started-getting-administrators" TargetMode="External"/><Relationship Id="rId7" Type="http://schemas.openxmlformats.org/officeDocument/2006/relationships/hyperlink" Target="https://www.ibm.com/docs/en/envizi-esg-suite?topic=analytics-setting-up-meter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ibm.com/docs/en/envizi-esg-suite?topic=glossary" TargetMode="External"/><Relationship Id="rId5" Type="http://schemas.openxmlformats.org/officeDocument/2006/relationships/hyperlink" Target="https://www.ibm.com/docs/en/envizi-esg-suite?topic=configuring-setting-up-locations" TargetMode="External"/><Relationship Id="rId4" Type="http://schemas.openxmlformats.org/officeDocument/2006/relationships/hyperlink" Target="https://www.ibm.com/docs/en/envizi-esg-suite?topic=configuring-setting-up-group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Esempio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di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configurazione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del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modello organizzativo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 in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Obiettivi del capitolo</a:t>
            </a:r>
          </a:p>
          <a:p>
            <a:endParaRPr lang="it-IT" b="1" dirty="0"/>
          </a:p>
          <a:p>
            <a:r>
              <a:rPr lang="it-IT"/>
              <a:t>Questo </a:t>
            </a:r>
            <a:r>
              <a:rPr lang="it-IT" dirty="0"/>
              <a:t>capitolo </a:t>
            </a:r>
            <a:r>
              <a:rPr lang="it-IT"/>
              <a:t>mostra </a:t>
            </a:r>
            <a:r>
              <a:rPr lang="it-IT" dirty="0"/>
              <a:t>come progettare e configurare il modello organizzativo di </a:t>
            </a:r>
            <a:r>
              <a:rPr lang="it-IT"/>
              <a:t>IBM Envizi</a:t>
            </a:r>
            <a:r>
              <a:rPr lang="it-IT" dirty="0"/>
              <a:t>, dalla struttura aziendale alla raccolta dei dati ESG.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b="1" dirty="0"/>
              <a:t>Al termine del capitolo il partecipante sarà in grado di:</a:t>
            </a:r>
          </a:p>
          <a:p>
            <a:endParaRPr lang="it-IT" b="1" dirty="0"/>
          </a:p>
          <a:p>
            <a:pPr lvl="0"/>
            <a:r>
              <a:rPr lang="it-IT" dirty="0"/>
              <a:t>comprendere </a:t>
            </a:r>
            <a:r>
              <a:rPr lang="it-IT"/>
              <a:t>il ruolo di Organization, Groups, Locations, Accounts e Meter.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progettare </a:t>
            </a:r>
            <a:r>
              <a:rPr lang="it-IT"/>
              <a:t>una gerarchia </a:t>
            </a:r>
            <a:r>
              <a:rPr lang="it-IT" dirty="0"/>
              <a:t>coerente con </a:t>
            </a:r>
            <a:r>
              <a:rPr lang="it-IT"/>
              <a:t>le esigenze di reporting </a:t>
            </a:r>
            <a:r>
              <a:rPr lang="it-IT" dirty="0"/>
              <a:t>aziendale</a:t>
            </a:r>
            <a:r>
              <a:rPr lang="it-IT"/>
              <a:t>.</a:t>
            </a:r>
          </a:p>
          <a:p>
            <a:pPr lvl="0">
              <a:lnSpc>
                <a:spcPct val="150000"/>
              </a:lnSpc>
            </a:pPr>
            <a:r>
              <a:rPr lang="it-IT"/>
              <a:t>distinguere i gruppi Classification dai gruppi Portfolio.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configurare </a:t>
            </a:r>
            <a:r>
              <a:rPr lang="it-IT"/>
              <a:t>appartenenze</a:t>
            </a:r>
            <a:r>
              <a:rPr lang="it-IT" dirty="0"/>
              <a:t>, </a:t>
            </a:r>
            <a:r>
              <a:rPr lang="it-IT"/>
              <a:t>percentuali </a:t>
            </a:r>
            <a:r>
              <a:rPr lang="it-IT" dirty="0"/>
              <a:t>di reporting e accessi </a:t>
            </a:r>
            <a:r>
              <a:rPr lang="it-IT"/>
              <a:t>ai gruppi.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predisporre la configurazione iniziale </a:t>
            </a:r>
            <a:r>
              <a:rPr lang="it-IT"/>
              <a:t>con il supporto del team IBM Envizi</a:t>
            </a:r>
            <a:r>
              <a:rPr lang="it-IT" dirty="0"/>
              <a:t>.</a:t>
            </a:r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Contenuti</a:t>
            </a:r>
          </a:p>
          <a:p>
            <a:endParaRPr lang="it-IT" sz="2400" b="1" dirty="0"/>
          </a:p>
          <a:p>
            <a:pPr lvl="0">
              <a:lnSpc>
                <a:spcPct val="150000"/>
              </a:lnSpc>
            </a:pPr>
            <a:r>
              <a:rPr lang="it-IT" dirty="0"/>
              <a:t>Il modello dati di IBM </a:t>
            </a:r>
            <a:r>
              <a:rPr lang="it-IT" dirty="0" err="1"/>
              <a:t>Envizi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Organization, Groups, Locations</a:t>
            </a:r>
            <a:r>
              <a:rPr lang="it-IT"/>
              <a:t>, Accounts</a:t>
            </a:r>
            <a:r>
              <a:rPr lang="it-IT" dirty="0"/>
              <a:t> e </a:t>
            </a:r>
            <a:r>
              <a:rPr lang="it-IT"/>
              <a:t>Meter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/>
              <a:t>Account, </a:t>
            </a:r>
            <a:r>
              <a:rPr lang="it-IT" dirty="0"/>
              <a:t>Meter e </a:t>
            </a:r>
            <a:r>
              <a:rPr lang="it-IT"/>
              <a:t>tag di consolidamento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/>
              <a:t>Gruppi Classification </a:t>
            </a:r>
            <a:r>
              <a:rPr lang="it-IT" dirty="0"/>
              <a:t>e </a:t>
            </a:r>
            <a:r>
              <a:rPr lang="it-IT"/>
              <a:t>Portfolio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Configurazione di Group e Location</a:t>
            </a:r>
          </a:p>
          <a:p>
            <a:pPr lvl="0">
              <a:lnSpc>
                <a:spcPct val="150000"/>
              </a:lnSpc>
            </a:pPr>
            <a:r>
              <a:rPr lang="it-IT"/>
              <a:t>Template </a:t>
            </a:r>
            <a:r>
              <a:rPr lang="it-IT" dirty="0"/>
              <a:t>di configurazione</a:t>
            </a:r>
            <a:r>
              <a:rPr lang="it-IT"/>
              <a:t> del POC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Esempio </a:t>
            </a:r>
            <a:r>
              <a:rPr lang="it-IT"/>
              <a:t>applicativo</a:t>
            </a:r>
            <a:r>
              <a:rPr lang="it-IT" dirty="0"/>
              <a:t>: caso </a:t>
            </a:r>
            <a:r>
              <a:rPr lang="it-IT"/>
              <a:t>Alfafood</a:t>
            </a:r>
            <a:endParaRPr lang="it-IT" dirty="0"/>
          </a:p>
          <a:p>
            <a:pPr lvl="0">
              <a:lnSpc>
                <a:spcPct val="150000"/>
              </a:lnSpc>
            </a:pPr>
            <a:r>
              <a:rPr lang="it-IT" dirty="0"/>
              <a:t>Location fisiche e virtuali</a:t>
            </a:r>
          </a:p>
          <a:p>
            <a:r>
              <a:rPr lang="it-IT" b="1"/>
              <a:t>La struttura organizzativa definisce il perimetro di raccolta, gli accessi e il consolidamento </a:t>
            </a:r>
            <a:r>
              <a:rPr lang="it-IT" b="1" dirty="0"/>
              <a:t>dei dati</a:t>
            </a:r>
            <a:r>
              <a:rPr lang="it-IT" b="1"/>
              <a:t> ESG</a:t>
            </a:r>
            <a:r>
              <a:rPr lang="it-IT" b="1" dirty="0"/>
              <a:t>.</a:t>
            </a:r>
            <a:endParaRPr lang="it-IT" b="1"/>
          </a:p>
          <a:p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640080" y="126178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Utente: Amministratore di sistema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b="1" u="sng" dirty="0"/>
              <a:t>Configurazione della struttura organizzativa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it-IT" b="1" u="sng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dirty="0"/>
              <a:t>Location</a:t>
            </a:r>
            <a:r>
              <a:rPr lang="it-IT"/>
              <a:t> e Accounts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dirty="0"/>
              <a:t>Gruppi</a:t>
            </a:r>
            <a:r>
              <a:rPr lang="it-IT"/>
              <a:t> Classification e Portfolio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Configurazione iniziale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07D6-6AED-92FE-7674-E07F2DC2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115">
            <a:extLst>
              <a:ext uri="{FF2B5EF4-FFF2-40B4-BE49-F238E27FC236}">
                <a16:creationId xmlns:a16="http://schemas.microsoft.com/office/drawing/2014/main" id="{02FBB2D9-D576-A45D-4FD9-847C9FCA7171}"/>
              </a:ext>
            </a:extLst>
          </p:cNvPr>
          <p:cNvSpPr/>
          <p:nvPr/>
        </p:nvSpPr>
        <p:spPr>
          <a:xfrm>
            <a:off x="640080" y="1554480"/>
            <a:ext cx="2587752" cy="25146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914400" rIns="137160" bIns="118872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/>
                <a:cs typeface="Calibri"/>
              </a:rPr>
              <a:t>Amministratore</a:t>
            </a:r>
            <a:endParaRPr kumimoji="0" lang="it-IT" sz="1500" b="1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Configura la struttura organizzativa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gli utenti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 autorizzazioni secondo i privilegi assegnati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pic>
        <p:nvPicPr>
          <p:cNvPr id="4" name="Icona 150">
            <a:extLst>
              <a:ext uri="{FF2B5EF4-FFF2-40B4-BE49-F238E27FC236}">
                <a16:creationId xmlns:a16="http://schemas.microsoft.com/office/drawing/2014/main" id="{63BD4BA0-BD78-5196-11F3-4DA21EF6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566928" cy="5669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1B61FF-E539-66FE-D1E2-B68848BC5423}"/>
              </a:ext>
            </a:extLst>
          </p:cNvPr>
          <p:cNvSpPr txBox="1"/>
          <p:nvPr/>
        </p:nvSpPr>
        <p:spPr>
          <a:xfrm>
            <a:off x="3818299" y="1582340"/>
            <a:ext cx="73355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Nota per il lettore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Questo capitolo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presenta la configurazione iniziale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di IBM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 gli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Amministratori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di sistema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Amministratori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configurano gerarchia, utenti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accessi. Per il caricamento massivo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della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struttura collaborano con il team IBM Envizi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operativi accedono invece alle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funzionalità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necessarie per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le attività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assegnate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funzioni disponibili dipendono dai ruoli e dai moduli abilitati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64F5BEF3-1DE3-39CD-FBC0-E4E7B552E5B8}"/>
              </a:ext>
            </a:extLst>
          </p:cNvPr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presente capitolo è dedicato agli utenti Amministratori</a:t>
            </a:r>
          </a:p>
        </p:txBody>
      </p:sp>
    </p:spTree>
    <p:extLst>
      <p:ext uri="{BB962C8B-B14F-4D97-AF65-F5344CB8AC3E}">
        <p14:creationId xmlns:p14="http://schemas.microsoft.com/office/powerpoint/2010/main" val="32063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/>
          <p:nvPr/>
        </p:nvSpPr>
        <p:spPr>
          <a:xfrm>
            <a:off x="640080" y="1005840"/>
            <a:ext cx="10908792" cy="67437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Organization comprende Groups e Locations. Le Location raccolgono Account e Meter. I gruppi definiscono le strutture di reporting e possono limitare gli accessi.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1949958"/>
            <a:ext cx="2587752" cy="3506724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640080" rIns="137160" bIns="118872" anchor="t">
            <a:normAutofit/>
          </a:bodyPr>
          <a:lstStyle/>
          <a:p>
            <a:pPr>
              <a:spcAft>
                <a:spcPts val="147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Calibri"/>
              </a:rPr>
              <a:t>Organization</a:t>
            </a:r>
          </a:p>
          <a:p>
            <a:pPr>
              <a:spcAft>
                <a:spcPts val="393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Calibri"/>
              </a:rPr>
              <a:t>L’azienda nel suo complesso.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Livello più alto della struttura dati.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Rappresenta il perimetro organizzativo della piattaforma.</a:t>
            </a:r>
          </a:p>
        </p:txBody>
      </p:sp>
      <p:sp>
        <p:nvSpPr>
          <p:cNvPr id="140" name="Badge 1"/>
          <p:cNvSpPr/>
          <p:nvPr/>
        </p:nvSpPr>
        <p:spPr>
          <a:xfrm>
            <a:off x="795528" y="2102815"/>
            <a:ext cx="411480" cy="40462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  <a:defRPr/>
            </a:pPr>
            <a:r>
              <a:rPr lang="it-IT" sz="118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6" name="Card 116"/>
          <p:cNvSpPr/>
          <p:nvPr/>
        </p:nvSpPr>
        <p:spPr>
          <a:xfrm>
            <a:off x="3410712" y="1949958"/>
            <a:ext cx="2587752" cy="3506724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640080" rIns="137160" bIns="118872" anchor="t">
            <a:normAutofit/>
          </a:bodyPr>
          <a:lstStyle/>
          <a:p>
            <a:pPr>
              <a:spcAft>
                <a:spcPts val="147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Calibri"/>
              </a:rPr>
              <a:t>Groups</a:t>
            </a:r>
          </a:p>
          <a:p>
            <a:pPr>
              <a:spcAft>
                <a:spcPts val="393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Calibri"/>
              </a:rPr>
              <a:t>Raggruppamenti di Location.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Classification: struttura principale per il reporting aziendale.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Portfolio: viste secondarie per esigenze specifiche.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Supportano aggregazione e accessi.</a:t>
            </a:r>
          </a:p>
        </p:txBody>
      </p:sp>
      <p:sp>
        <p:nvSpPr>
          <p:cNvPr id="141" name="Badge 2"/>
          <p:cNvSpPr/>
          <p:nvPr/>
        </p:nvSpPr>
        <p:spPr>
          <a:xfrm>
            <a:off x="3566160" y="2102815"/>
            <a:ext cx="411480" cy="40462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  <a:defRPr/>
            </a:pPr>
            <a:r>
              <a:rPr lang="it-IT" sz="118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7" name="Card 117"/>
          <p:cNvSpPr/>
          <p:nvPr/>
        </p:nvSpPr>
        <p:spPr>
          <a:xfrm>
            <a:off x="6181344" y="1949958"/>
            <a:ext cx="2587752" cy="3506724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640080" rIns="137160" bIns="118872" anchor="t">
            <a:normAutofit/>
          </a:bodyPr>
          <a:lstStyle/>
          <a:p>
            <a:pPr>
              <a:spcAft>
                <a:spcPts val="147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Calibri"/>
              </a:rPr>
              <a:t>Locations</a:t>
            </a:r>
          </a:p>
          <a:p>
            <a:pPr>
              <a:spcAft>
                <a:spcPts val="393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Calibri"/>
              </a:rPr>
              <a:t>Siti, beni o raccolte virtuali.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Edifici, proprietà, impianti o raccolte di dati Account.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Ogni Location ha un Paese e una regione.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La regione influisce sui fattori di emissione.</a:t>
            </a:r>
          </a:p>
        </p:txBody>
      </p:sp>
      <p:sp>
        <p:nvSpPr>
          <p:cNvPr id="142" name="Badge 3"/>
          <p:cNvSpPr/>
          <p:nvPr/>
        </p:nvSpPr>
        <p:spPr>
          <a:xfrm>
            <a:off x="6336792" y="2102815"/>
            <a:ext cx="411480" cy="40462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  <a:defRPr/>
            </a:pPr>
            <a:r>
              <a:rPr lang="it-IT" sz="118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8" name="Card 118"/>
          <p:cNvSpPr/>
          <p:nvPr/>
        </p:nvSpPr>
        <p:spPr>
          <a:xfrm>
            <a:off x="8951976" y="1949958"/>
            <a:ext cx="2587752" cy="3506724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640080" rIns="137160" bIns="118872" anchor="t">
            <a:normAutofit/>
          </a:bodyPr>
          <a:lstStyle/>
          <a:p>
            <a:pPr>
              <a:spcAft>
                <a:spcPts val="147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Calibri"/>
              </a:rPr>
              <a:t>Accounts</a:t>
            </a:r>
          </a:p>
          <a:p>
            <a:pPr>
              <a:spcAft>
                <a:spcPts val="393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Calibri"/>
              </a:rPr>
              <a:t>Contenitori di record di dati.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Raccolgono consumi, costi, attività, KPI e dati di spesa Scope 3.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I record possono coprire qualsiasi periodo.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Calibri"/>
              </a:rPr>
              <a:t>L’Account Style definisce campi e regole di acquisizione.</a:t>
            </a:r>
          </a:p>
        </p:txBody>
      </p:sp>
      <p:sp>
        <p:nvSpPr>
          <p:cNvPr id="143" name="Badge 4"/>
          <p:cNvSpPr/>
          <p:nvPr/>
        </p:nvSpPr>
        <p:spPr>
          <a:xfrm>
            <a:off x="9107424" y="2102815"/>
            <a:ext cx="411480" cy="404622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  <a:defRPr/>
            </a:pPr>
            <a:r>
              <a:rPr lang="it-IT" sz="118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" name="Band 118"/>
          <p:cNvSpPr/>
          <p:nvPr/>
        </p:nvSpPr>
        <p:spPr>
          <a:xfrm>
            <a:off x="640080" y="5636514"/>
            <a:ext cx="10908792" cy="764286"/>
          </a:xfrm>
          <a:prstGeom prst="roundRect">
            <a:avLst>
              <a:gd name="adj" fmla="val 12000"/>
            </a:avLst>
          </a:prstGeom>
          <a:solidFill>
            <a:schemeClr val="bg2">
              <a:alpha val="87323"/>
            </a:scheme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 b="1">
                <a:solidFill>
                  <a:srgbClr val="156082"/>
                </a:solidFill>
                <a:latin typeface="Calibri"/>
              </a:rPr>
              <a:t>Ogni Location deve contribuire al 100% attraverso la gerarchia Classification per rientrare interamente nel reporting aziendale.</a:t>
            </a:r>
          </a:p>
        </p:txBody>
      </p:sp>
      <p:sp>
        <p:nvSpPr>
          <p:cNvPr id="130" name="Tag"/>
          <p:cNvSpPr/>
          <p:nvPr/>
        </p:nvSpPr>
        <p:spPr>
          <a:xfrm>
            <a:off x="9061704" y="173736"/>
            <a:ext cx="3026664" cy="2651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it-IT" sz="1200">
                <a:solidFill>
                  <a:srgbClr val="FFFFFF"/>
                </a:solidFill>
                <a:latin typeface="Calibri"/>
              </a:rPr>
              <a:t>Modello dati Envizi</a:t>
            </a:r>
          </a:p>
        </p:txBody>
      </p:sp>
      <p:sp>
        <p:nvSpPr>
          <p:cNvPr id="14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modello dati di IBM Envizi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/>
          <p:cNvGrpSpPr/>
          <p:nvPr/>
        </p:nvGrpSpPr>
        <p:grpSpPr>
          <a:xfrm>
            <a:off x="3116222" y="2554337"/>
            <a:ext cx="470767" cy="410022"/>
            <a:chOff x="1131564" y="2598211"/>
            <a:chExt cx="342900" cy="3429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2598211"/>
              <a:ext cx="342900" cy="342900"/>
            </a:xfrm>
            <a:prstGeom prst="ellipse">
              <a:avLst/>
            </a:prstGeom>
            <a:solidFill>
              <a:srgbClr val="2E7D4F">
                <a:alpha val="32157"/>
              </a:srgbClr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72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2635272"/>
              <a:ext cx="270000" cy="270000"/>
            </a:xfrm>
            <a:prstGeom prst="rect">
              <a:avLst/>
            </a:prstGeom>
          </p:spPr>
        </p:pic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4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1543" y="2738158"/>
            <a:ext cx="284210" cy="28421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2610" y="2636551"/>
            <a:ext cx="1095684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Redfern Office 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4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1543" y="3376919"/>
            <a:ext cx="284210" cy="2842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2610" y="3275313"/>
            <a:ext cx="1095684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367" err="1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Ashfield</a:t>
            </a:r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 Branch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4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1543" y="5293202"/>
            <a:ext cx="284210" cy="2842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82610" y="5191595"/>
            <a:ext cx="1095684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Manly Branch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4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0080" y="4654441"/>
            <a:ext cx="284210" cy="28421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71145" y="4552834"/>
            <a:ext cx="1095684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London Branch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0080" y="4015678"/>
            <a:ext cx="284210" cy="2842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1145" y="3914074"/>
            <a:ext cx="1095684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London</a:t>
            </a:r>
            <a:r>
              <a:rPr lang="en-US" sz="1367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1367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Office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28818" y="3179073"/>
            <a:ext cx="470767" cy="410022"/>
            <a:chOff x="1131564" y="3102130"/>
            <a:chExt cx="342900" cy="3429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3102130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36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3148212"/>
              <a:ext cx="270000" cy="270000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2416426" y="3179073"/>
            <a:ext cx="470767" cy="410022"/>
            <a:chOff x="1739209" y="2590856"/>
            <a:chExt cx="342900" cy="34290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39209" y="2590856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42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72512" y="2627306"/>
              <a:ext cx="270000" cy="270000"/>
            </a:xfrm>
            <a:prstGeom prst="rect">
              <a:avLst/>
            </a:prstGeom>
          </p:spPr>
        </p:pic>
      </p:grpSp>
      <p:sp>
        <p:nvSpPr>
          <p:cNvPr id="98" name="Oval 97">
            <a:extLst>
              <a:ext uri="{FF2B5EF4-FFF2-40B4-BE49-F238E27FC236}">
                <a16:creationId xmlns:a16="http://schemas.microsoft.com/office/drawing/2014/main" id="{292B76D4-ED31-43B4-9DBE-3223F4D16AA4}"/>
              </a:ext>
            </a:extLst>
          </p:cNvPr>
          <p:cNvSpPr>
            <a:spLocks noChangeAspect="1"/>
          </p:cNvSpPr>
          <p:nvPr/>
        </p:nvSpPr>
        <p:spPr>
          <a:xfrm>
            <a:off x="1903911" y="1666227"/>
            <a:ext cx="383846" cy="334318"/>
          </a:xfrm>
          <a:prstGeom prst="ellipse">
            <a:avLst/>
          </a:prstGeom>
          <a:solidFill>
            <a:srgbClr val="2E7D4F">
              <a:alpha val="32157"/>
            </a:srgbClr>
          </a:solidFill>
          <a:ln>
            <a:solidFill>
              <a:srgbClr val="2E7D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3"/>
            <a:endParaRPr lang="en-AU" sz="1350">
              <a:solidFill>
                <a:srgbClr val="14433A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92B76D4-ED31-43B4-9DBE-3223F4D16AA4}"/>
              </a:ext>
            </a:extLst>
          </p:cNvPr>
          <p:cNvSpPr>
            <a:spLocks noChangeAspect="1"/>
          </p:cNvSpPr>
          <p:nvPr/>
        </p:nvSpPr>
        <p:spPr>
          <a:xfrm>
            <a:off x="3636720" y="1666227"/>
            <a:ext cx="383846" cy="334318"/>
          </a:xfrm>
          <a:prstGeom prst="ellipse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3"/>
            <a:endParaRPr lang="en-AU" sz="1350">
              <a:solidFill>
                <a:srgbClr val="14433A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2313797" y="1638970"/>
            <a:ext cx="127288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AU" sz="2052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= Meter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4096339" y="1627051"/>
            <a:ext cx="178797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AU" sz="2052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=Account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28818" y="2554337"/>
            <a:ext cx="470767" cy="410022"/>
            <a:chOff x="1081848" y="2099042"/>
            <a:chExt cx="342900" cy="3429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1848" y="2099042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64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8298" y="2135492"/>
              <a:ext cx="270000" cy="270000"/>
            </a:xfrm>
            <a:prstGeom prst="rect">
              <a:avLst/>
            </a:prstGeom>
          </p:spPr>
        </p:pic>
      </p:grpSp>
      <p:grpSp>
        <p:nvGrpSpPr>
          <p:cNvPr id="65" name="Group 64"/>
          <p:cNvGrpSpPr/>
          <p:nvPr/>
        </p:nvGrpSpPr>
        <p:grpSpPr>
          <a:xfrm>
            <a:off x="2416426" y="2554337"/>
            <a:ext cx="470767" cy="410022"/>
            <a:chOff x="1131564" y="3102130"/>
            <a:chExt cx="342900" cy="3429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3102130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69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3148212"/>
              <a:ext cx="270000" cy="270000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3808244" y="2554337"/>
            <a:ext cx="470767" cy="410022"/>
            <a:chOff x="2799747" y="2091248"/>
            <a:chExt cx="342900" cy="342900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9747" y="2091248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73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38357" y="2128049"/>
              <a:ext cx="270000" cy="27000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4500265" y="2554337"/>
            <a:ext cx="470767" cy="410022"/>
            <a:chOff x="3355808" y="2091248"/>
            <a:chExt cx="342900" cy="3429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5808" y="2091248"/>
              <a:ext cx="342900" cy="342900"/>
            </a:xfrm>
            <a:prstGeom prst="ellipse">
              <a:avLst/>
            </a:prstGeom>
            <a:solidFill>
              <a:srgbClr val="2E7D4F">
                <a:alpha val="32157"/>
              </a:srgbClr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74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92258" y="2127698"/>
              <a:ext cx="270000" cy="270000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5884312" y="2554337"/>
            <a:ext cx="470767" cy="410022"/>
            <a:chOff x="4398669" y="2096837"/>
            <a:chExt cx="342900" cy="3429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8669" y="2096837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77" name="Graphic 44">
              <a:extLst>
                <a:ext uri="{FF2B5EF4-FFF2-40B4-BE49-F238E27FC236}">
                  <a16:creationId xmlns:a16="http://schemas.microsoft.com/office/drawing/2014/main" id="{AB625FC1-4164-C046-B56C-DABA2F5BD48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35119" y="2133287"/>
              <a:ext cx="270000" cy="270000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5192286" y="2554337"/>
            <a:ext cx="470767" cy="410022"/>
            <a:chOff x="3911869" y="2091248"/>
            <a:chExt cx="342900" cy="342900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11869" y="2091248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78" name="Graphic 12">
              <a:extLst>
                <a:ext uri="{FF2B5EF4-FFF2-40B4-BE49-F238E27FC236}">
                  <a16:creationId xmlns:a16="http://schemas.microsoft.com/office/drawing/2014/main" id="{59A99E50-D4D3-1F40-9A08-8C6F0090D2B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48319" y="2127698"/>
              <a:ext cx="270000" cy="270000"/>
            </a:xfrm>
            <a:prstGeom prst="rect">
              <a:avLst/>
            </a:prstGeom>
          </p:spPr>
        </p:pic>
      </p:grpSp>
      <p:grpSp>
        <p:nvGrpSpPr>
          <p:cNvPr id="79" name="Group 78"/>
          <p:cNvGrpSpPr/>
          <p:nvPr/>
        </p:nvGrpSpPr>
        <p:grpSpPr>
          <a:xfrm>
            <a:off x="2416426" y="3796239"/>
            <a:ext cx="470767" cy="410022"/>
            <a:chOff x="1131564" y="2598211"/>
            <a:chExt cx="342900" cy="3429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2598211"/>
              <a:ext cx="342900" cy="342900"/>
            </a:xfrm>
            <a:prstGeom prst="ellipse">
              <a:avLst/>
            </a:prstGeom>
            <a:solidFill>
              <a:srgbClr val="2E7D4F">
                <a:alpha val="32157"/>
              </a:srgbClr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81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2635272"/>
              <a:ext cx="270000" cy="270000"/>
            </a:xfrm>
            <a:prstGeom prst="rect">
              <a:avLst/>
            </a:prstGeom>
          </p:spPr>
        </p:pic>
      </p:grpSp>
      <p:grpSp>
        <p:nvGrpSpPr>
          <p:cNvPr id="82" name="Group 81"/>
          <p:cNvGrpSpPr/>
          <p:nvPr/>
        </p:nvGrpSpPr>
        <p:grpSpPr>
          <a:xfrm>
            <a:off x="1728818" y="3796239"/>
            <a:ext cx="470767" cy="410022"/>
            <a:chOff x="1131564" y="3102130"/>
            <a:chExt cx="342900" cy="3429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3102130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84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3148212"/>
              <a:ext cx="270000" cy="270000"/>
            </a:xfrm>
            <a:prstGeom prst="rect">
              <a:avLst/>
            </a:prstGeom>
          </p:spPr>
        </p:pic>
      </p:grpSp>
      <p:grpSp>
        <p:nvGrpSpPr>
          <p:cNvPr id="85" name="Group 84"/>
          <p:cNvGrpSpPr/>
          <p:nvPr/>
        </p:nvGrpSpPr>
        <p:grpSpPr>
          <a:xfrm>
            <a:off x="3115910" y="3796239"/>
            <a:ext cx="470767" cy="410022"/>
            <a:chOff x="2799747" y="2091248"/>
            <a:chExt cx="342900" cy="3429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9747" y="2091248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87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38357" y="2128049"/>
              <a:ext cx="270000" cy="270000"/>
            </a:xfrm>
            <a:prstGeom prst="rect">
              <a:avLst/>
            </a:prstGeom>
          </p:spPr>
        </p:pic>
      </p:grpSp>
      <p:grpSp>
        <p:nvGrpSpPr>
          <p:cNvPr id="88" name="Group 87"/>
          <p:cNvGrpSpPr/>
          <p:nvPr/>
        </p:nvGrpSpPr>
        <p:grpSpPr>
          <a:xfrm>
            <a:off x="3815394" y="3796239"/>
            <a:ext cx="470767" cy="410022"/>
            <a:chOff x="3911869" y="2091248"/>
            <a:chExt cx="342900" cy="34290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11869" y="2091248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90" name="Graphic 12">
              <a:extLst>
                <a:ext uri="{FF2B5EF4-FFF2-40B4-BE49-F238E27FC236}">
                  <a16:creationId xmlns:a16="http://schemas.microsoft.com/office/drawing/2014/main" id="{59A99E50-D4D3-1F40-9A08-8C6F0090D2B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48319" y="2127698"/>
              <a:ext cx="270000" cy="270000"/>
            </a:xfrm>
            <a:prstGeom prst="rect">
              <a:avLst/>
            </a:prstGeom>
          </p:spPr>
        </p:pic>
      </p:grpSp>
      <p:grpSp>
        <p:nvGrpSpPr>
          <p:cNvPr id="92" name="Group 91"/>
          <p:cNvGrpSpPr/>
          <p:nvPr/>
        </p:nvGrpSpPr>
        <p:grpSpPr>
          <a:xfrm>
            <a:off x="1728818" y="4496156"/>
            <a:ext cx="470767" cy="410022"/>
            <a:chOff x="1131564" y="3102130"/>
            <a:chExt cx="342900" cy="342900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3102130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94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3148212"/>
              <a:ext cx="270000" cy="270000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2416426" y="4496156"/>
            <a:ext cx="470767" cy="410022"/>
            <a:chOff x="1706265" y="3643581"/>
            <a:chExt cx="342900" cy="342900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6265" y="3643581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95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9568" y="3680031"/>
              <a:ext cx="270000" cy="270000"/>
            </a:xfrm>
            <a:prstGeom prst="rect">
              <a:avLst/>
            </a:prstGeom>
          </p:spPr>
        </p:pic>
      </p:grpSp>
      <p:grpSp>
        <p:nvGrpSpPr>
          <p:cNvPr id="97" name="Group 96"/>
          <p:cNvGrpSpPr/>
          <p:nvPr/>
        </p:nvGrpSpPr>
        <p:grpSpPr>
          <a:xfrm>
            <a:off x="1728818" y="5183390"/>
            <a:ext cx="470767" cy="410022"/>
            <a:chOff x="1131564" y="3102130"/>
            <a:chExt cx="342900" cy="3429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1564" y="3102130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00" name="Graphic 10">
              <a:extLst>
                <a:ext uri="{FF2B5EF4-FFF2-40B4-BE49-F238E27FC236}">
                  <a16:creationId xmlns:a16="http://schemas.microsoft.com/office/drawing/2014/main" id="{44983DFF-AD57-C842-A57D-5272E3EAC31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8014" y="3148212"/>
              <a:ext cx="270000" cy="270000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2412107" y="5183390"/>
            <a:ext cx="470767" cy="410022"/>
            <a:chOff x="1702475" y="4192878"/>
            <a:chExt cx="342900" cy="3429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92B76D4-ED31-43B4-9DBE-3223F4D16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2475" y="4192878"/>
              <a:ext cx="342900" cy="342900"/>
            </a:xfrm>
            <a:prstGeom prst="ellipse">
              <a:avLst/>
            </a:prstGeom>
            <a:solidFill>
              <a:srgbClr val="2E7D4F"/>
            </a:solidFill>
            <a:ln>
              <a:solidFill>
                <a:srgbClr val="2E7D4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AU" sz="135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01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778" y="4229328"/>
              <a:ext cx="270000" cy="270000"/>
            </a:xfrm>
            <a:prstGeom prst="rect">
              <a:avLst/>
            </a:prstGeom>
          </p:spPr>
        </p:pic>
      </p:grpSp>
      <p:sp>
        <p:nvSpPr>
          <p:cNvPr id="155" name="TextBox 15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Account e Meter misurano i consumi su scale temporali diverse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812280" y="1874519"/>
            <a:ext cx="4617720" cy="228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Gli Account raccolgono record su qualsiasi periodo, normalizzati per mese.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I Meter raccolgono serie temporali di consumo a intervalli.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I tag di consolidamento evitano il doppio conteggio.</a:t>
            </a:r>
          </a:p>
        </p:txBody>
      </p:sp>
      <p:sp>
        <p:nvSpPr>
          <p:cNvPr id="157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5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566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54">
            <a:extLst>
              <a:ext uri="{FF2B5EF4-FFF2-40B4-BE49-F238E27FC236}">
                <a16:creationId xmlns:a16="http://schemas.microsoft.com/office/drawing/2014/main" id="{B81E5DF3-0415-4AD0-AE40-1D4DF4111B08}"/>
              </a:ext>
            </a:extLst>
          </p:cNvPr>
          <p:cNvSpPr/>
          <p:nvPr/>
        </p:nvSpPr>
        <p:spPr>
          <a:xfrm>
            <a:off x="1214832" y="2428736"/>
            <a:ext cx="4281430" cy="3377703"/>
          </a:xfrm>
          <a:prstGeom prst="roundRect">
            <a:avLst>
              <a:gd name="adj" fmla="val 2965"/>
            </a:avLst>
          </a:prstGeom>
          <a:solidFill>
            <a:schemeClr val="bg1"/>
          </a:solidFill>
          <a:ln w="60325">
            <a:solidFill>
              <a:srgbClr val="2E7D4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3"/>
            <a:endParaRPr lang="en-US" sz="1350">
              <a:solidFill>
                <a:srgbClr val="2E7D4F"/>
              </a:solidFill>
              <a:latin typeface="IBM Plex Sans Light"/>
              <a:ea typeface="Calibri" charset="0"/>
              <a:cs typeface="Calibri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500396" y="1646171"/>
            <a:ext cx="1343992" cy="12122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3"/>
            <a:endParaRPr lang="en-US" sz="2400">
              <a:solidFill>
                <a:srgbClr val="14433A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56130" y="1371600"/>
            <a:ext cx="2232527" cy="2232527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031679" y="3374620"/>
            <a:ext cx="4281430" cy="105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3" fontAlgn="base"/>
            <a:r>
              <a:rPr lang="en-AU" sz="2843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Office</a:t>
            </a:r>
          </a:p>
          <a:p>
            <a:pPr algn="ctr" defTabSz="914383" fontAlgn="base"/>
            <a:r>
              <a:rPr lang="en-AU" sz="1706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4 Cornwallis Avenue</a:t>
            </a:r>
          </a:p>
          <a:p>
            <a:pPr algn="ctr" defTabSz="914383" fontAlgn="base"/>
            <a:r>
              <a:rPr lang="en-AU" sz="1706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Redfern, NSW, 2015 Australia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1679" y="4550014"/>
            <a:ext cx="4794640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3" fontAlgn="base"/>
            <a:r>
              <a:rPr lang="en-AU" sz="2134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Dati </a:t>
            </a:r>
            <a:r>
              <a:rPr lang="en-AU" sz="2134" b="1" err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raccolti</a:t>
            </a:r>
            <a:r>
              <a:rPr lang="en-AU" sz="2134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 in </a:t>
            </a:r>
            <a:r>
              <a:rPr lang="en-AU" sz="2134" b="1" err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questa</a:t>
            </a:r>
            <a:r>
              <a:rPr lang="en-AU" sz="2134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 location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85263" y="5100970"/>
            <a:ext cx="3574267" cy="328058"/>
            <a:chOff x="1040478" y="2091512"/>
            <a:chExt cx="3369688" cy="342900"/>
          </a:xfrm>
        </p:grpSpPr>
        <p:grpSp>
          <p:nvGrpSpPr>
            <p:cNvPr id="28" name="Group 27"/>
            <p:cNvGrpSpPr/>
            <p:nvPr/>
          </p:nvGrpSpPr>
          <p:grpSpPr>
            <a:xfrm>
              <a:off x="2051039" y="2091512"/>
              <a:ext cx="342900" cy="342900"/>
              <a:chOff x="1131564" y="2598211"/>
              <a:chExt cx="342900" cy="3429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2598211"/>
                <a:ext cx="342900" cy="342900"/>
              </a:xfrm>
              <a:prstGeom prst="ellipse">
                <a:avLst/>
              </a:prstGeom>
              <a:solidFill>
                <a:srgbClr val="2E7D4F">
                  <a:alpha val="32157"/>
                </a:srgbClr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30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68014" y="263527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31" name="Group 30"/>
            <p:cNvGrpSpPr/>
            <p:nvPr/>
          </p:nvGrpSpPr>
          <p:grpSpPr>
            <a:xfrm>
              <a:off x="1040478" y="2091512"/>
              <a:ext cx="342900" cy="342900"/>
              <a:chOff x="1081848" y="2099042"/>
              <a:chExt cx="342900" cy="3429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1848" y="2099042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33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18298" y="213549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34" name="Group 33"/>
            <p:cNvGrpSpPr/>
            <p:nvPr/>
          </p:nvGrpSpPr>
          <p:grpSpPr>
            <a:xfrm>
              <a:off x="1541321" y="2091512"/>
              <a:ext cx="342900" cy="342900"/>
              <a:chOff x="1131564" y="3102130"/>
              <a:chExt cx="342900" cy="342900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36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37" name="Group 36"/>
            <p:cNvGrpSpPr/>
            <p:nvPr/>
          </p:nvGrpSpPr>
          <p:grpSpPr>
            <a:xfrm>
              <a:off x="2555095" y="2091512"/>
              <a:ext cx="342900" cy="342900"/>
              <a:chOff x="2799747" y="2091248"/>
              <a:chExt cx="342900" cy="34290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99747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58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838357" y="2128049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59" name="Group 58"/>
            <p:cNvGrpSpPr/>
            <p:nvPr/>
          </p:nvGrpSpPr>
          <p:grpSpPr>
            <a:xfrm>
              <a:off x="3059151" y="2091512"/>
              <a:ext cx="342900" cy="342900"/>
              <a:chOff x="3355808" y="2091248"/>
              <a:chExt cx="342900" cy="342900"/>
            </a:xfrm>
          </p:grpSpPr>
          <p:sp>
            <p:nvSpPr>
              <p:cNvPr id="2" name="Oval 61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55808" y="2091248"/>
                <a:ext cx="342900" cy="342900"/>
              </a:xfrm>
              <a:prstGeom prst="ellipse">
                <a:avLst/>
              </a:prstGeom>
              <a:solidFill>
                <a:srgbClr val="2E7D4F">
                  <a:alpha val="32157"/>
                </a:srgbClr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4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92258" y="2127698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5" name="Group 63"/>
            <p:cNvGrpSpPr/>
            <p:nvPr/>
          </p:nvGrpSpPr>
          <p:grpSpPr>
            <a:xfrm>
              <a:off x="4067266" y="2091512"/>
              <a:ext cx="342900" cy="342900"/>
              <a:chOff x="4398669" y="2096837"/>
              <a:chExt cx="342900" cy="3429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8669" y="2096837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68" name="Graphic 44">
                <a:extLst>
                  <a:ext uri="{FF2B5EF4-FFF2-40B4-BE49-F238E27FC236}">
                    <a16:creationId xmlns:a16="http://schemas.microsoft.com/office/drawing/2014/main" id="{AB625FC1-4164-C046-B56C-DABA2F5BD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35119" y="2133287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69" name="Group 68"/>
            <p:cNvGrpSpPr/>
            <p:nvPr/>
          </p:nvGrpSpPr>
          <p:grpSpPr>
            <a:xfrm>
              <a:off x="3563207" y="2091512"/>
              <a:ext cx="342900" cy="342900"/>
              <a:chOff x="3911869" y="2091248"/>
              <a:chExt cx="342900" cy="3429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11869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71" name="Graphic 12">
                <a:extLst>
                  <a:ext uri="{FF2B5EF4-FFF2-40B4-BE49-F238E27FC236}">
                    <a16:creationId xmlns:a16="http://schemas.microsoft.com/office/drawing/2014/main" id="{59A99E50-D4D3-1F40-9A08-8C6F0090D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48319" y="2127698"/>
                <a:ext cx="270000" cy="270000"/>
              </a:xfrm>
              <a:prstGeom prst="rect">
                <a:avLst/>
              </a:prstGeom>
            </p:spPr>
          </p:pic>
        </p:grpSp>
      </p:grpSp>
      <p:sp>
        <p:nvSpPr>
          <p:cNvPr id="72" name="TextBox 7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Una Location raccoglie i dati di una sede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0" y="2103120"/>
            <a:ext cx="4846320" cy="1475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Una Location raccoglie Account e Meter. I Service Point collegano i Meter alla Location.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Più Account dello stesso tipo possono contribuire al totale del sito.</a:t>
            </a:r>
          </a:p>
        </p:txBody>
      </p:sp>
      <p:sp>
        <p:nvSpPr>
          <p:cNvPr id="74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7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65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88090" y="1371601"/>
            <a:ext cx="5301665" cy="4480562"/>
            <a:chOff x="644128" y="1355969"/>
            <a:chExt cx="3154943" cy="2878409"/>
          </a:xfrm>
        </p:grpSpPr>
        <p:sp>
          <p:nvSpPr>
            <p:cNvPr id="7" name="Rounded Rectangle 6"/>
            <p:cNvSpPr/>
            <p:nvPr/>
          </p:nvSpPr>
          <p:spPr>
            <a:xfrm>
              <a:off x="644128" y="1355970"/>
              <a:ext cx="1433917" cy="1285600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443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2365154" y="1355969"/>
              <a:ext cx="1433917" cy="1285600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443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644128" y="2948778"/>
              <a:ext cx="1433917" cy="1285600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443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2365154" y="2948777"/>
              <a:ext cx="1433917" cy="1285600"/>
            </a:xfrm>
            <a:prstGeom prst="roundRect">
              <a:avLst>
                <a:gd name="adj" fmla="val 3499"/>
              </a:avLst>
            </a:prstGeom>
            <a:solidFill>
              <a:schemeClr val="bg1"/>
            </a:solidFill>
            <a:ln>
              <a:solidFill>
                <a:srgbClr val="1443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pic>
        <p:nvPicPr>
          <p:cNvPr id="151" name="Picture 150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0847" y="1827420"/>
            <a:ext cx="330757" cy="3307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83571" y="1815538"/>
            <a:ext cx="1705403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 err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Ashfield</a:t>
            </a:r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 Branch</a:t>
            </a:r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0847" y="2181936"/>
            <a:ext cx="330757" cy="330757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4283571" y="2170059"/>
            <a:ext cx="1705403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Office</a:t>
            </a:r>
          </a:p>
        </p:txBody>
      </p:sp>
      <p:pic>
        <p:nvPicPr>
          <p:cNvPr id="128" name="Picture 127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0847" y="2536456"/>
            <a:ext cx="330757" cy="330757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4283569" y="2524577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Rose Bay Branch</a:t>
            </a:r>
          </a:p>
        </p:txBody>
      </p:sp>
      <p:pic>
        <p:nvPicPr>
          <p:cNvPr id="130" name="Picture 129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0847" y="2879093"/>
            <a:ext cx="330757" cy="33075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4283569" y="2867215"/>
            <a:ext cx="1530812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Branch</a:t>
            </a:r>
          </a:p>
        </p:txBody>
      </p:sp>
      <p:pic>
        <p:nvPicPr>
          <p:cNvPr id="165" name="Picture 164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1827420"/>
            <a:ext cx="330757" cy="330757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433860" y="1815538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New York Office</a:t>
            </a:r>
          </a:p>
        </p:txBody>
      </p:sp>
      <p:pic>
        <p:nvPicPr>
          <p:cNvPr id="167" name="Picture 166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2181936"/>
            <a:ext cx="330757" cy="330757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433859" y="2170059"/>
            <a:ext cx="1660443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London Office</a:t>
            </a:r>
          </a:p>
        </p:txBody>
      </p:sp>
      <p:pic>
        <p:nvPicPr>
          <p:cNvPr id="169" name="Picture 168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2536456"/>
            <a:ext cx="330757" cy="330757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433860" y="2524577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office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3780156" y="1406234"/>
            <a:ext cx="240960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83"/>
            <a:r>
              <a:rPr lang="en-AU" sz="1898" b="1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NSW Locations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888088" y="1406234"/>
            <a:ext cx="240959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83"/>
            <a:r>
              <a:rPr lang="en-AU" sz="1898" b="1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All Offices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3679955" y="3909076"/>
            <a:ext cx="2609996" cy="329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83"/>
            <a:r>
              <a:rPr lang="en-AU" sz="1542" b="1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International Locations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263C6DE-8D48-407C-B2FB-F2BAB2E27CE4}"/>
              </a:ext>
            </a:extLst>
          </p:cNvPr>
          <p:cNvSpPr txBox="1"/>
          <p:nvPr/>
        </p:nvSpPr>
        <p:spPr>
          <a:xfrm>
            <a:off x="888088" y="3949165"/>
            <a:ext cx="2409598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83"/>
            <a:r>
              <a:rPr lang="en-AU" sz="1898" b="1">
                <a:solidFill>
                  <a:srgbClr val="14433A"/>
                </a:solidFill>
                <a:latin typeface="Calibri"/>
                <a:ea typeface="Calibri" charset="0"/>
                <a:cs typeface="Calibri" charset="0"/>
              </a:rPr>
              <a:t>All Branches</a:t>
            </a:r>
          </a:p>
        </p:txBody>
      </p:sp>
      <p:pic>
        <p:nvPicPr>
          <p:cNvPr id="177" name="Picture 176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4310165"/>
            <a:ext cx="330757" cy="33075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433862" y="4298284"/>
            <a:ext cx="1660442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Branch</a:t>
            </a:r>
          </a:p>
        </p:txBody>
      </p:sp>
      <p:pic>
        <p:nvPicPr>
          <p:cNvPr id="179" name="Picture 178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4664682"/>
            <a:ext cx="330757" cy="330757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1411119" y="4664827"/>
            <a:ext cx="1660443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 err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Ashfield</a:t>
            </a:r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 Branch</a:t>
            </a:r>
          </a:p>
        </p:txBody>
      </p:sp>
      <p:pic>
        <p:nvPicPr>
          <p:cNvPr id="181" name="Picture 180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5019200"/>
            <a:ext cx="330757" cy="330757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1433860" y="5007323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London Branch</a:t>
            </a:r>
          </a:p>
        </p:txBody>
      </p:sp>
      <p:pic>
        <p:nvPicPr>
          <p:cNvPr id="185" name="Picture 184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1135" y="5371833"/>
            <a:ext cx="330757" cy="330757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1433860" y="5359955"/>
            <a:ext cx="1786127" cy="31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424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Vancouver Branch</a:t>
            </a:r>
          </a:p>
        </p:txBody>
      </p:sp>
      <p:pic>
        <p:nvPicPr>
          <p:cNvPr id="192" name="Picture 191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65805" y="4346513"/>
            <a:ext cx="330757" cy="330757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4346411" y="4391202"/>
            <a:ext cx="1660443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London Office</a:t>
            </a:r>
          </a:p>
        </p:txBody>
      </p:sp>
      <p:pic>
        <p:nvPicPr>
          <p:cNvPr id="194" name="Picture 193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65805" y="4701031"/>
            <a:ext cx="330757" cy="33075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4328530" y="4689151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London Branch</a:t>
            </a:r>
          </a:p>
        </p:txBody>
      </p:sp>
      <p:pic>
        <p:nvPicPr>
          <p:cNvPr id="196" name="Picture 195"/>
          <p:cNvPicPr>
            <a:picLocks noChangeAspect="1"/>
          </p:cNvPicPr>
          <p:nvPr/>
        </p:nvPicPr>
        <p:blipFill>
          <a:blip r:embed="rId3" cstate="print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65805" y="5053664"/>
            <a:ext cx="330757" cy="330757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4328530" y="5041784"/>
            <a:ext cx="1786127" cy="335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83"/>
            <a:r>
              <a:rPr lang="en-US" sz="158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Los Angeles Branch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 Group aggregano le Location secondo diverse esigenze di reporting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49440" y="2011680"/>
            <a:ext cx="4526280" cy="2165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I gruppi Classification definiscono la struttura principale. I Portfolio offrono viste secondarie.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Le Location possono comparire in più gruppi. Gli accessi dipendono dalle autorizzazioni.</a:t>
            </a:r>
          </a:p>
        </p:txBody>
      </p:sp>
      <p:sp>
        <p:nvSpPr>
          <p:cNvPr id="200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20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9077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0EFAD93-7E34-4990-832A-4822DC4342F7}"/>
              </a:ext>
            </a:extLst>
          </p:cNvPr>
          <p:cNvGrpSpPr/>
          <p:nvPr/>
        </p:nvGrpSpPr>
        <p:grpSpPr>
          <a:xfrm>
            <a:off x="640080" y="1662552"/>
            <a:ext cx="10881360" cy="3578617"/>
            <a:chOff x="499509" y="1335998"/>
            <a:chExt cx="8071895" cy="2805168"/>
          </a:xfrm>
        </p:grpSpPr>
        <p:grpSp>
          <p:nvGrpSpPr>
            <p:cNvPr id="131" name="Group 130"/>
            <p:cNvGrpSpPr/>
            <p:nvPr/>
          </p:nvGrpSpPr>
          <p:grpSpPr>
            <a:xfrm>
              <a:off x="1488116" y="1335998"/>
              <a:ext cx="6167769" cy="505968"/>
              <a:chOff x="1329168" y="1410409"/>
              <a:chExt cx="6167769" cy="505968"/>
            </a:xfrm>
          </p:grpSpPr>
          <p:sp>
            <p:nvSpPr>
              <p:cNvPr id="3" name="Rounded Rectangle 2"/>
              <p:cNvSpPr/>
              <p:nvPr/>
            </p:nvSpPr>
            <p:spPr>
              <a:xfrm>
                <a:off x="1329168" y="1410409"/>
                <a:ext cx="1433917" cy="505968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443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r>
                  <a:rPr lang="en-US" sz="1800">
                    <a:solidFill>
                      <a:srgbClr val="14433A"/>
                    </a:solidFill>
                    <a:latin typeface="Calibri"/>
                    <a:ea typeface="Calibri" charset="0"/>
                    <a:cs typeface="Calibri" charset="0"/>
                  </a:rPr>
                  <a:t>Office Buildings</a:t>
                </a:r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2907119" y="1410409"/>
                <a:ext cx="1433917" cy="505968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443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r>
                  <a:rPr lang="en-US" sz="1800">
                    <a:solidFill>
                      <a:srgbClr val="14433A"/>
                    </a:solidFill>
                    <a:latin typeface="Calibri"/>
                    <a:ea typeface="Calibri" charset="0"/>
                    <a:cs typeface="Calibri" charset="0"/>
                  </a:rPr>
                  <a:t>Bank Branches</a:t>
                </a: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4485070" y="1410409"/>
                <a:ext cx="1433917" cy="505968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443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r>
                  <a:rPr lang="en-US" sz="1800">
                    <a:solidFill>
                      <a:srgbClr val="14433A"/>
                    </a:solidFill>
                    <a:latin typeface="Calibri"/>
                    <a:ea typeface="Calibri" charset="0"/>
                    <a:cs typeface="Calibri" charset="0"/>
                  </a:rPr>
                  <a:t>International Locations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6063020" y="1410409"/>
                <a:ext cx="1433917" cy="505968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4433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r>
                  <a:rPr lang="en-US" sz="1800">
                    <a:solidFill>
                      <a:srgbClr val="14433A"/>
                    </a:solidFill>
                    <a:latin typeface="Calibri"/>
                    <a:ea typeface="Calibri" charset="0"/>
                    <a:cs typeface="Calibri" charset="0"/>
                  </a:rPr>
                  <a:t>NSW Locations</a:t>
                </a:r>
              </a:p>
            </p:txBody>
          </p:sp>
        </p:grpSp>
        <p:cxnSp>
          <p:nvCxnSpPr>
            <p:cNvPr id="182" name="Straight Connector 181"/>
            <p:cNvCxnSpPr>
              <a:stCxn id="7" idx="2"/>
              <a:endCxn id="249" idx="0"/>
            </p:cNvCxnSpPr>
            <p:nvPr/>
          </p:nvCxnSpPr>
          <p:spPr>
            <a:xfrm>
              <a:off x="6938927" y="1841966"/>
              <a:ext cx="933153" cy="763713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231" idx="0"/>
              <a:endCxn id="6" idx="2"/>
            </p:cNvCxnSpPr>
            <p:nvPr/>
          </p:nvCxnSpPr>
          <p:spPr>
            <a:xfrm flipH="1" flipV="1">
              <a:off x="5360977" y="1841966"/>
              <a:ext cx="842790" cy="789543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>
              <a:endCxn id="6" idx="2"/>
            </p:cNvCxnSpPr>
            <p:nvPr/>
          </p:nvCxnSpPr>
          <p:spPr>
            <a:xfrm flipV="1">
              <a:off x="4679487" y="1841966"/>
              <a:ext cx="681490" cy="825067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>
              <a:stCxn id="169" idx="0"/>
              <a:endCxn id="3" idx="2"/>
            </p:cNvCxnSpPr>
            <p:nvPr/>
          </p:nvCxnSpPr>
          <p:spPr>
            <a:xfrm flipV="1">
              <a:off x="1198828" y="1841966"/>
              <a:ext cx="1006247" cy="789543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>
              <a:cxnSpLocks/>
              <a:stCxn id="191" idx="0"/>
              <a:endCxn id="69" idx="2"/>
            </p:cNvCxnSpPr>
            <p:nvPr/>
          </p:nvCxnSpPr>
          <p:spPr>
            <a:xfrm flipV="1">
              <a:off x="2867141" y="1841966"/>
              <a:ext cx="915885" cy="789543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>
              <a:stCxn id="3" idx="2"/>
            </p:cNvCxnSpPr>
            <p:nvPr/>
          </p:nvCxnSpPr>
          <p:spPr>
            <a:xfrm>
              <a:off x="2205075" y="1841966"/>
              <a:ext cx="2211533" cy="834268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A79A549-E913-D94F-8E78-AB6DF0D5BFA8}"/>
                </a:ext>
              </a:extLst>
            </p:cNvPr>
            <p:cNvCxnSpPr>
              <a:endCxn id="69" idx="2"/>
            </p:cNvCxnSpPr>
            <p:nvPr/>
          </p:nvCxnSpPr>
          <p:spPr>
            <a:xfrm flipH="1" flipV="1">
              <a:off x="3783026" y="1841966"/>
              <a:ext cx="2294909" cy="839157"/>
            </a:xfrm>
            <a:prstGeom prst="line">
              <a:avLst/>
            </a:prstGeom>
            <a:ln w="12700">
              <a:solidFill>
                <a:srgbClr val="14433A">
                  <a:alpha val="67000"/>
                </a:srgbClr>
              </a:solidFill>
              <a:prstDash val="sysDot"/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Rounded Rectangle 54">
              <a:extLst>
                <a:ext uri="{FF2B5EF4-FFF2-40B4-BE49-F238E27FC236}">
                  <a16:creationId xmlns:a16="http://schemas.microsoft.com/office/drawing/2014/main" id="{B81E5DF3-0415-4AD0-AE40-1D4DF4111B08}"/>
                </a:ext>
              </a:extLst>
            </p:cNvPr>
            <p:cNvSpPr/>
            <p:nvPr/>
          </p:nvSpPr>
          <p:spPr>
            <a:xfrm>
              <a:off x="499509" y="3066192"/>
              <a:ext cx="1398641" cy="1074973"/>
            </a:xfrm>
            <a:prstGeom prst="roundRect">
              <a:avLst>
                <a:gd name="adj" fmla="val 2965"/>
              </a:avLst>
            </a:prstGeom>
            <a:solidFill>
              <a:schemeClr val="bg1"/>
            </a:solidFill>
            <a:ln w="38100">
              <a:solidFill>
                <a:srgbClr val="2E7D4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1350">
                <a:solidFill>
                  <a:srgbClr val="2E7D4F"/>
                </a:solidFill>
                <a:latin typeface="IBM Plex Sans Light"/>
                <a:ea typeface="Calibri" charset="0"/>
                <a:cs typeface="Calibri" charset="0"/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938957" y="2682885"/>
              <a:ext cx="519742" cy="5197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69" name="Picture 168"/>
            <p:cNvPicPr>
              <a:picLocks noChangeAspect="1"/>
            </p:cNvPicPr>
            <p:nvPr/>
          </p:nvPicPr>
          <p:blipFill>
            <a:blip r:embed="rId3"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65763" y="2631509"/>
              <a:ext cx="866129" cy="883281"/>
            </a:xfrm>
            <a:prstGeom prst="rect">
              <a:avLst/>
            </a:prstGeom>
          </p:spPr>
        </p:pic>
        <p:sp>
          <p:nvSpPr>
            <p:cNvPr id="170" name="Rectangle 169"/>
            <p:cNvSpPr/>
            <p:nvPr/>
          </p:nvSpPr>
          <p:spPr>
            <a:xfrm>
              <a:off x="499509" y="3456517"/>
              <a:ext cx="1398641" cy="2737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83" fontAlgn="base"/>
              <a:r>
                <a:rPr lang="en-AU" sz="1697" b="1">
                  <a:solidFill>
                    <a:srgbClr val="2E7D4F"/>
                  </a:solidFill>
                  <a:latin typeface="Calibri"/>
                  <a:ea typeface="Calibri" charset="0"/>
                  <a:cs typeface="Calibri" charset="0"/>
                </a:rPr>
                <a:t>Redfern Office</a:t>
              </a:r>
            </a:p>
          </p:txBody>
        </p:sp>
        <p:grpSp>
          <p:nvGrpSpPr>
            <p:cNvPr id="187" name="Group 186"/>
            <p:cNvGrpSpPr/>
            <p:nvPr/>
          </p:nvGrpSpPr>
          <p:grpSpPr>
            <a:xfrm>
              <a:off x="2069644" y="2631511"/>
              <a:ext cx="1594998" cy="1509655"/>
              <a:chOff x="1261741" y="1470626"/>
              <a:chExt cx="2203263" cy="2085374"/>
            </a:xfrm>
          </p:grpSpPr>
          <p:sp>
            <p:nvSpPr>
              <p:cNvPr id="189" name="Rounded Rectangle 54">
                <a:extLst>
                  <a:ext uri="{FF2B5EF4-FFF2-40B4-BE49-F238E27FC236}">
                    <a16:creationId xmlns:a16="http://schemas.microsoft.com/office/drawing/2014/main" id="{B81E5DF3-0415-4AD0-AE40-1D4DF4111B08}"/>
                  </a:ext>
                </a:extLst>
              </p:cNvPr>
              <p:cNvSpPr/>
              <p:nvPr/>
            </p:nvSpPr>
            <p:spPr>
              <a:xfrm>
                <a:off x="1397360" y="2071078"/>
                <a:ext cx="1932024" cy="1484922"/>
              </a:xfrm>
              <a:prstGeom prst="roundRect">
                <a:avLst>
                  <a:gd name="adj" fmla="val 2965"/>
                </a:avLst>
              </a:prstGeom>
              <a:solidFill>
                <a:schemeClr val="bg1"/>
              </a:solidFill>
              <a:ln w="38100">
                <a:solidFill>
                  <a:srgbClr val="2E7D4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1350">
                  <a:solidFill>
                    <a:srgbClr val="2E7D4F"/>
                  </a:solidFill>
                  <a:latin typeface="IBM Plex Sans Light"/>
                  <a:ea typeface="Calibri" charset="0"/>
                  <a:cs typeface="Calibri" charset="0"/>
                </a:endParaRPr>
              </a:p>
            </p:txBody>
          </p:sp>
          <p:sp>
            <p:nvSpPr>
              <p:cNvPr id="190" name="Oval 189"/>
              <p:cNvSpPr/>
              <p:nvPr/>
            </p:nvSpPr>
            <p:spPr>
              <a:xfrm>
                <a:off x="2004395" y="1541595"/>
                <a:ext cx="717950" cy="71795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240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91" name="Picture 190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765153" y="1470626"/>
                <a:ext cx="1196434" cy="1220126"/>
              </a:xfrm>
              <a:prstGeom prst="rect">
                <a:avLst/>
              </a:prstGeom>
            </p:spPr>
          </p:pic>
          <p:sp>
            <p:nvSpPr>
              <p:cNvPr id="192" name="Rectangle 191"/>
              <p:cNvSpPr/>
              <p:nvPr/>
            </p:nvSpPr>
            <p:spPr>
              <a:xfrm>
                <a:off x="1261741" y="2610257"/>
                <a:ext cx="2203263" cy="3780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4383" fontAlgn="base"/>
                <a:r>
                  <a:rPr lang="en-AU" sz="1697" b="1">
                    <a:solidFill>
                      <a:srgbClr val="2E7D4F"/>
                    </a:solidFill>
                    <a:latin typeface="Calibri"/>
                    <a:ea typeface="Calibri" charset="0"/>
                    <a:cs typeface="Calibri" charset="0"/>
                  </a:rPr>
                  <a:t>Ashfield Branch</a:t>
                </a:r>
              </a:p>
            </p:txBody>
          </p:sp>
        </p:grpSp>
        <p:sp>
          <p:nvSpPr>
            <p:cNvPr id="210" name="Rounded Rectangle 54">
              <a:extLst>
                <a:ext uri="{FF2B5EF4-FFF2-40B4-BE49-F238E27FC236}">
                  <a16:creationId xmlns:a16="http://schemas.microsoft.com/office/drawing/2014/main" id="{B81E5DF3-0415-4AD0-AE40-1D4DF4111B08}"/>
                </a:ext>
              </a:extLst>
            </p:cNvPr>
            <p:cNvSpPr/>
            <p:nvPr/>
          </p:nvSpPr>
          <p:spPr>
            <a:xfrm>
              <a:off x="3836135" y="3066192"/>
              <a:ext cx="1398641" cy="1074973"/>
            </a:xfrm>
            <a:prstGeom prst="roundRect">
              <a:avLst>
                <a:gd name="adj" fmla="val 2965"/>
              </a:avLst>
            </a:prstGeom>
            <a:solidFill>
              <a:schemeClr val="bg1"/>
            </a:solidFill>
            <a:ln w="38100">
              <a:solidFill>
                <a:srgbClr val="2E7D4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1350">
                <a:solidFill>
                  <a:srgbClr val="2E7D4F"/>
                </a:solidFill>
                <a:latin typeface="IBM Plex Sans Light"/>
                <a:ea typeface="Calibri" charset="0"/>
                <a:cs typeface="Calibri" charset="0"/>
              </a:endParaRPr>
            </a:p>
          </p:txBody>
        </p:sp>
        <p:sp>
          <p:nvSpPr>
            <p:cNvPr id="211" name="Oval 210"/>
            <p:cNvSpPr/>
            <p:nvPr/>
          </p:nvSpPr>
          <p:spPr>
            <a:xfrm>
              <a:off x="4275583" y="2682885"/>
              <a:ext cx="519742" cy="5197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212" name="Picture 211"/>
            <p:cNvPicPr>
              <a:picLocks noChangeAspect="1"/>
            </p:cNvPicPr>
            <p:nvPr/>
          </p:nvPicPr>
          <p:blipFill>
            <a:blip r:embed="rId3"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102389" y="2631509"/>
              <a:ext cx="866129" cy="883281"/>
            </a:xfrm>
            <a:prstGeom prst="rect">
              <a:avLst/>
            </a:prstGeom>
          </p:spPr>
        </p:pic>
        <p:sp>
          <p:nvSpPr>
            <p:cNvPr id="214" name="Rectangle 213"/>
            <p:cNvSpPr/>
            <p:nvPr/>
          </p:nvSpPr>
          <p:spPr>
            <a:xfrm>
              <a:off x="3836135" y="3456517"/>
              <a:ext cx="1398641" cy="2737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83" fontAlgn="base"/>
              <a:r>
                <a:rPr lang="en-AU" sz="1697" b="1">
                  <a:solidFill>
                    <a:srgbClr val="2E7D4F"/>
                  </a:solidFill>
                  <a:latin typeface="Calibri"/>
                  <a:ea typeface="Calibri" charset="0"/>
                  <a:cs typeface="Calibri" charset="0"/>
                </a:rPr>
                <a:t>London Office</a:t>
              </a:r>
            </a:p>
          </p:txBody>
        </p:sp>
        <p:sp>
          <p:nvSpPr>
            <p:cNvPr id="229" name="Rounded Rectangle 54">
              <a:extLst>
                <a:ext uri="{FF2B5EF4-FFF2-40B4-BE49-F238E27FC236}">
                  <a16:creationId xmlns:a16="http://schemas.microsoft.com/office/drawing/2014/main" id="{B81E5DF3-0415-4AD0-AE40-1D4DF4111B08}"/>
                </a:ext>
              </a:extLst>
            </p:cNvPr>
            <p:cNvSpPr/>
            <p:nvPr/>
          </p:nvSpPr>
          <p:spPr>
            <a:xfrm>
              <a:off x="5504448" y="3066192"/>
              <a:ext cx="1398641" cy="1074973"/>
            </a:xfrm>
            <a:prstGeom prst="roundRect">
              <a:avLst>
                <a:gd name="adj" fmla="val 2965"/>
              </a:avLst>
            </a:prstGeom>
            <a:solidFill>
              <a:schemeClr val="bg1"/>
            </a:solidFill>
            <a:ln w="38100">
              <a:solidFill>
                <a:srgbClr val="2E7D4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1350">
                <a:solidFill>
                  <a:srgbClr val="2E7D4F"/>
                </a:solidFill>
                <a:latin typeface="IBM Plex Sans Light"/>
                <a:ea typeface="Calibri" charset="0"/>
                <a:cs typeface="Calibri" charset="0"/>
              </a:endParaRPr>
            </a:p>
          </p:txBody>
        </p:sp>
        <p:sp>
          <p:nvSpPr>
            <p:cNvPr id="230" name="Oval 229"/>
            <p:cNvSpPr/>
            <p:nvPr/>
          </p:nvSpPr>
          <p:spPr>
            <a:xfrm>
              <a:off x="5943896" y="2682885"/>
              <a:ext cx="519742" cy="5197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231" name="Picture 230"/>
            <p:cNvPicPr>
              <a:picLocks noChangeAspect="1"/>
            </p:cNvPicPr>
            <p:nvPr/>
          </p:nvPicPr>
          <p:blipFill>
            <a:blip r:embed="rId3"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770702" y="2631509"/>
              <a:ext cx="866129" cy="883281"/>
            </a:xfrm>
            <a:prstGeom prst="rect">
              <a:avLst/>
            </a:prstGeom>
          </p:spPr>
        </p:pic>
        <p:sp>
          <p:nvSpPr>
            <p:cNvPr id="232" name="Rectangle 231"/>
            <p:cNvSpPr/>
            <p:nvPr/>
          </p:nvSpPr>
          <p:spPr>
            <a:xfrm>
              <a:off x="5406269" y="3456517"/>
              <a:ext cx="1595000" cy="2737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83" fontAlgn="base"/>
              <a:r>
                <a:rPr lang="en-AU" sz="1697" b="1">
                  <a:solidFill>
                    <a:srgbClr val="2E7D4F"/>
                  </a:solidFill>
                  <a:latin typeface="Calibri"/>
                  <a:ea typeface="Calibri" charset="0"/>
                  <a:cs typeface="Calibri" charset="0"/>
                </a:rPr>
                <a:t>London Branch</a:t>
              </a:r>
            </a:p>
          </p:txBody>
        </p:sp>
        <p:sp>
          <p:nvSpPr>
            <p:cNvPr id="247" name="Rounded Rectangle 54">
              <a:extLst>
                <a:ext uri="{FF2B5EF4-FFF2-40B4-BE49-F238E27FC236}">
                  <a16:creationId xmlns:a16="http://schemas.microsoft.com/office/drawing/2014/main" id="{B81E5DF3-0415-4AD0-AE40-1D4DF4111B08}"/>
                </a:ext>
              </a:extLst>
            </p:cNvPr>
            <p:cNvSpPr/>
            <p:nvPr/>
          </p:nvSpPr>
          <p:spPr>
            <a:xfrm>
              <a:off x="7172763" y="3066192"/>
              <a:ext cx="1398641" cy="1074973"/>
            </a:xfrm>
            <a:prstGeom prst="roundRect">
              <a:avLst>
                <a:gd name="adj" fmla="val 2965"/>
              </a:avLst>
            </a:prstGeom>
            <a:solidFill>
              <a:schemeClr val="bg1"/>
            </a:solidFill>
            <a:ln w="38100">
              <a:solidFill>
                <a:srgbClr val="2E7D4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1350">
                <a:solidFill>
                  <a:srgbClr val="2E7D4F"/>
                </a:solidFill>
                <a:latin typeface="IBM Plex Sans Light"/>
                <a:ea typeface="Calibri" charset="0"/>
                <a:cs typeface="Calibri" charset="0"/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7612211" y="2682885"/>
              <a:ext cx="519742" cy="5197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249" name="Picture 248"/>
            <p:cNvPicPr>
              <a:picLocks noChangeAspect="1"/>
            </p:cNvPicPr>
            <p:nvPr/>
          </p:nvPicPr>
          <p:blipFill>
            <a:blip r:embed="rId3"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439015" y="2605679"/>
              <a:ext cx="866129" cy="883281"/>
            </a:xfrm>
            <a:prstGeom prst="rect">
              <a:avLst/>
            </a:prstGeom>
          </p:spPr>
        </p:pic>
        <p:sp>
          <p:nvSpPr>
            <p:cNvPr id="250" name="Rectangle 249"/>
            <p:cNvSpPr/>
            <p:nvPr/>
          </p:nvSpPr>
          <p:spPr>
            <a:xfrm>
              <a:off x="7172763" y="3456517"/>
              <a:ext cx="1398641" cy="2737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83" fontAlgn="base"/>
              <a:r>
                <a:rPr lang="en-AU" sz="1697" b="1">
                  <a:solidFill>
                    <a:srgbClr val="2E7D4F"/>
                  </a:solidFill>
                  <a:latin typeface="Calibri"/>
                  <a:ea typeface="Calibri" charset="0"/>
                  <a:cs typeface="Calibri" charset="0"/>
                </a:rPr>
                <a:t>Manly Branch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579695" y="3857650"/>
              <a:ext cx="1226158" cy="124774"/>
              <a:chOff x="1040478" y="2091512"/>
              <a:chExt cx="3369688" cy="342900"/>
            </a:xfrm>
          </p:grpSpPr>
          <p:grpSp>
            <p:nvGrpSpPr>
              <p:cNvPr id="122" name="Group 121"/>
              <p:cNvGrpSpPr/>
              <p:nvPr/>
            </p:nvGrpSpPr>
            <p:grpSpPr>
              <a:xfrm>
                <a:off x="2051039" y="2091512"/>
                <a:ext cx="342900" cy="342900"/>
                <a:chOff x="1131564" y="2598211"/>
                <a:chExt cx="342900" cy="342900"/>
              </a:xfrm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2598211"/>
                  <a:ext cx="342900" cy="342900"/>
                </a:xfrm>
                <a:prstGeom prst="ellipse">
                  <a:avLst/>
                </a:prstGeom>
                <a:solidFill>
                  <a:srgbClr val="2E7D4F">
                    <a:alpha val="32157"/>
                  </a:srgbClr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24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263527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25" name="Group 124"/>
              <p:cNvGrpSpPr/>
              <p:nvPr/>
            </p:nvGrpSpPr>
            <p:grpSpPr>
              <a:xfrm>
                <a:off x="1040478" y="2091512"/>
                <a:ext cx="342900" cy="342900"/>
                <a:chOff x="1081848" y="2099042"/>
                <a:chExt cx="342900" cy="342900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1848" y="2099042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27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8298" y="213549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/>
              <p:cNvGrpSpPr/>
              <p:nvPr/>
            </p:nvGrpSpPr>
            <p:grpSpPr>
              <a:xfrm>
                <a:off x="1541321" y="2091512"/>
                <a:ext cx="342900" cy="342900"/>
                <a:chOff x="1131564" y="3102130"/>
                <a:chExt cx="342900" cy="342900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3102130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30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314821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32" name="Group 131"/>
              <p:cNvGrpSpPr/>
              <p:nvPr/>
            </p:nvGrpSpPr>
            <p:grpSpPr>
              <a:xfrm>
                <a:off x="2555095" y="2091512"/>
                <a:ext cx="342900" cy="342900"/>
                <a:chOff x="2799747" y="2091248"/>
                <a:chExt cx="342900" cy="342900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99747" y="2091248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34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8357" y="2128049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35" name="Group 134"/>
              <p:cNvGrpSpPr/>
              <p:nvPr/>
            </p:nvGrpSpPr>
            <p:grpSpPr>
              <a:xfrm>
                <a:off x="3059151" y="2091512"/>
                <a:ext cx="342900" cy="342900"/>
                <a:chOff x="3355808" y="2091248"/>
                <a:chExt cx="342900" cy="342900"/>
              </a:xfrm>
            </p:grpSpPr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355808" y="2091248"/>
                  <a:ext cx="342900" cy="342900"/>
                </a:xfrm>
                <a:prstGeom prst="ellipse">
                  <a:avLst/>
                </a:prstGeom>
                <a:solidFill>
                  <a:srgbClr val="2E7D4F">
                    <a:alpha val="32157"/>
                  </a:srgbClr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37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2258" y="2127698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38" name="Group 137"/>
              <p:cNvGrpSpPr/>
              <p:nvPr/>
            </p:nvGrpSpPr>
            <p:grpSpPr>
              <a:xfrm>
                <a:off x="4067266" y="2091512"/>
                <a:ext cx="342900" cy="342900"/>
                <a:chOff x="4398669" y="2096837"/>
                <a:chExt cx="342900" cy="342900"/>
              </a:xfrm>
            </p:grpSpPr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98669" y="2096837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40" name="Graphic 44">
                  <a:extLst>
                    <a:ext uri="{FF2B5EF4-FFF2-40B4-BE49-F238E27FC236}">
                      <a16:creationId xmlns:a16="http://schemas.microsoft.com/office/drawing/2014/main" id="{AB625FC1-4164-C046-B56C-DABA2F5BD4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35119" y="2133287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41" name="Group 140"/>
              <p:cNvGrpSpPr/>
              <p:nvPr/>
            </p:nvGrpSpPr>
            <p:grpSpPr>
              <a:xfrm>
                <a:off x="3563207" y="2091512"/>
                <a:ext cx="342900" cy="342900"/>
                <a:chOff x="3911869" y="2091248"/>
                <a:chExt cx="342900" cy="342900"/>
              </a:xfrm>
            </p:grpSpPr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11869" y="2091248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43" name="Graphic 12">
                  <a:extLst>
                    <a:ext uri="{FF2B5EF4-FFF2-40B4-BE49-F238E27FC236}">
                      <a16:creationId xmlns:a16="http://schemas.microsoft.com/office/drawing/2014/main" id="{59A99E50-D4D3-1F40-9A08-8C6F0090D2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48319" y="2127698"/>
                  <a:ext cx="270000" cy="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" name="Group 3"/>
            <p:cNvGrpSpPr/>
            <p:nvPr/>
          </p:nvGrpSpPr>
          <p:grpSpPr>
            <a:xfrm>
              <a:off x="2713632" y="3857650"/>
              <a:ext cx="307020" cy="124774"/>
              <a:chOff x="1040478" y="2590856"/>
              <a:chExt cx="843743" cy="342900"/>
            </a:xfrm>
          </p:grpSpPr>
          <p:grpSp>
            <p:nvGrpSpPr>
              <p:cNvPr id="144" name="Group 143"/>
              <p:cNvGrpSpPr/>
              <p:nvPr/>
            </p:nvGrpSpPr>
            <p:grpSpPr>
              <a:xfrm>
                <a:off x="1040478" y="2590856"/>
                <a:ext cx="342900" cy="342900"/>
                <a:chOff x="1131564" y="3102130"/>
                <a:chExt cx="342900" cy="342900"/>
              </a:xfrm>
            </p:grpSpPr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3102130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46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314821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47" name="Group 146"/>
              <p:cNvGrpSpPr/>
              <p:nvPr/>
            </p:nvGrpSpPr>
            <p:grpSpPr>
              <a:xfrm>
                <a:off x="1541321" y="2590856"/>
                <a:ext cx="342900" cy="342900"/>
                <a:chOff x="1739209" y="2590856"/>
                <a:chExt cx="342900" cy="342900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39209" y="2590856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49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2512" y="2627306"/>
                  <a:ext cx="270000" cy="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" name="Group 4"/>
            <p:cNvGrpSpPr/>
            <p:nvPr/>
          </p:nvGrpSpPr>
          <p:grpSpPr>
            <a:xfrm>
              <a:off x="4196553" y="3857650"/>
              <a:ext cx="677806" cy="124774"/>
              <a:chOff x="1040478" y="3084148"/>
              <a:chExt cx="1862725" cy="342900"/>
            </a:xfrm>
          </p:grpSpPr>
          <p:grpSp>
            <p:nvGrpSpPr>
              <p:cNvPr id="150" name="Group 149"/>
              <p:cNvGrpSpPr/>
              <p:nvPr/>
            </p:nvGrpSpPr>
            <p:grpSpPr>
              <a:xfrm>
                <a:off x="1541321" y="3084148"/>
                <a:ext cx="342900" cy="342900"/>
                <a:chOff x="1131564" y="2598211"/>
                <a:chExt cx="342900" cy="342900"/>
              </a:xfrm>
            </p:grpSpPr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2598211"/>
                  <a:ext cx="342900" cy="342900"/>
                </a:xfrm>
                <a:prstGeom prst="ellipse">
                  <a:avLst/>
                </a:prstGeom>
                <a:solidFill>
                  <a:srgbClr val="2E7D4F">
                    <a:alpha val="32157"/>
                  </a:srgbClr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52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263527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53" name="Group 152"/>
              <p:cNvGrpSpPr/>
              <p:nvPr/>
            </p:nvGrpSpPr>
            <p:grpSpPr>
              <a:xfrm>
                <a:off x="1040478" y="3084148"/>
                <a:ext cx="342900" cy="342900"/>
                <a:chOff x="1131564" y="3102130"/>
                <a:chExt cx="342900" cy="342900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3102130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55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314821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56" name="Group 155"/>
              <p:cNvGrpSpPr/>
              <p:nvPr/>
            </p:nvGrpSpPr>
            <p:grpSpPr>
              <a:xfrm>
                <a:off x="2050812" y="3084148"/>
                <a:ext cx="342900" cy="342900"/>
                <a:chOff x="2799747" y="2091248"/>
                <a:chExt cx="342900" cy="342900"/>
              </a:xfrm>
            </p:grpSpPr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99747" y="2091248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58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38357" y="2128049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59" name="Group 158"/>
              <p:cNvGrpSpPr/>
              <p:nvPr/>
            </p:nvGrpSpPr>
            <p:grpSpPr>
              <a:xfrm>
                <a:off x="2560303" y="3084148"/>
                <a:ext cx="342900" cy="342900"/>
                <a:chOff x="3911869" y="2091248"/>
                <a:chExt cx="342900" cy="342900"/>
              </a:xfrm>
            </p:grpSpPr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11869" y="2091248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61" name="Graphic 12">
                  <a:extLst>
                    <a:ext uri="{FF2B5EF4-FFF2-40B4-BE49-F238E27FC236}">
                      <a16:creationId xmlns:a16="http://schemas.microsoft.com/office/drawing/2014/main" id="{59A99E50-D4D3-1F40-9A08-8C6F0090D2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48319" y="2127698"/>
                  <a:ext cx="270000" cy="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63" name="Group 162"/>
            <p:cNvGrpSpPr/>
            <p:nvPr/>
          </p:nvGrpSpPr>
          <p:grpSpPr>
            <a:xfrm>
              <a:off x="7718573" y="3857650"/>
              <a:ext cx="307020" cy="124774"/>
              <a:chOff x="1040478" y="2590856"/>
              <a:chExt cx="843743" cy="342900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1040478" y="2590856"/>
                <a:ext cx="342900" cy="342900"/>
                <a:chOff x="1131564" y="3102130"/>
                <a:chExt cx="342900" cy="342900"/>
              </a:xfrm>
            </p:grpSpPr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3102130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95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314821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/>
              <p:cNvGrpSpPr/>
              <p:nvPr/>
            </p:nvGrpSpPr>
            <p:grpSpPr>
              <a:xfrm>
                <a:off x="1541321" y="2590856"/>
                <a:ext cx="342900" cy="342900"/>
                <a:chOff x="1739209" y="2590856"/>
                <a:chExt cx="342900" cy="342900"/>
              </a:xfrm>
            </p:grpSpPr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39209" y="2590856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93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2512" y="2627306"/>
                  <a:ext cx="270000" cy="270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6" name="Group 195"/>
            <p:cNvGrpSpPr/>
            <p:nvPr/>
          </p:nvGrpSpPr>
          <p:grpSpPr>
            <a:xfrm>
              <a:off x="6050258" y="3857650"/>
              <a:ext cx="307020" cy="124774"/>
              <a:chOff x="1040478" y="2590856"/>
              <a:chExt cx="843743" cy="342900"/>
            </a:xfrm>
          </p:grpSpPr>
          <p:grpSp>
            <p:nvGrpSpPr>
              <p:cNvPr id="197" name="Group 196"/>
              <p:cNvGrpSpPr/>
              <p:nvPr/>
            </p:nvGrpSpPr>
            <p:grpSpPr>
              <a:xfrm>
                <a:off x="1040478" y="2590856"/>
                <a:ext cx="342900" cy="342900"/>
                <a:chOff x="1131564" y="3102130"/>
                <a:chExt cx="342900" cy="342900"/>
              </a:xfrm>
            </p:grpSpPr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31564" y="3102130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205" name="Graphic 10">
                  <a:extLst>
                    <a:ext uri="{FF2B5EF4-FFF2-40B4-BE49-F238E27FC236}">
                      <a16:creationId xmlns:a16="http://schemas.microsoft.com/office/drawing/2014/main" id="{44983DFF-AD57-C842-A57D-5272E3EAC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8014" y="3148212"/>
                  <a:ext cx="270000" cy="270000"/>
                </a:xfrm>
                <a:prstGeom prst="rect">
                  <a:avLst/>
                </a:prstGeom>
              </p:spPr>
            </p:pic>
          </p:grpSp>
          <p:grpSp>
            <p:nvGrpSpPr>
              <p:cNvPr id="199" name="Group 198"/>
              <p:cNvGrpSpPr/>
              <p:nvPr/>
            </p:nvGrpSpPr>
            <p:grpSpPr>
              <a:xfrm>
                <a:off x="1541321" y="2590856"/>
                <a:ext cx="342900" cy="342900"/>
                <a:chOff x="1739209" y="2590856"/>
                <a:chExt cx="342900" cy="342900"/>
              </a:xfrm>
            </p:grpSpPr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292B76D4-ED31-43B4-9DBE-3223F4D16A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39209" y="2590856"/>
                  <a:ext cx="342900" cy="342900"/>
                </a:xfrm>
                <a:prstGeom prst="ellipse">
                  <a:avLst/>
                </a:prstGeom>
                <a:solidFill>
                  <a:srgbClr val="2E7D4F"/>
                </a:solidFill>
                <a:ln>
                  <a:solidFill>
                    <a:srgbClr val="2E7D4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AU" sz="1350">
                    <a:solidFill>
                      <a:srgbClr val="14433A"/>
                    </a:solidFill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203" name="Graphic 14">
                  <a:extLst>
                    <a:ext uri="{FF2B5EF4-FFF2-40B4-BE49-F238E27FC236}">
                      <a16:creationId xmlns:a16="http://schemas.microsoft.com/office/drawing/2014/main" id="{ACF9E6C1-E3E1-EF45-BAE5-EB164ECAD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2512" y="2627306"/>
                  <a:ext cx="270000" cy="270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51" name="TextBox 250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Una Location può appartenere a più Group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85800" y="5532120"/>
            <a:ext cx="10789920" cy="326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Le appartenenze ai gruppi definiscono percentuali di reporting e date di efficacia.</a:t>
            </a:r>
          </a:p>
        </p:txBody>
      </p:sp>
      <p:sp>
        <p:nvSpPr>
          <p:cNvPr id="253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25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279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Straight Connector 110"/>
          <p:cNvCxnSpPr>
            <a:cxnSpLocks/>
          </p:cNvCxnSpPr>
          <p:nvPr/>
        </p:nvCxnSpPr>
        <p:spPr>
          <a:xfrm flipH="1" flipV="1">
            <a:off x="3532188" y="1772044"/>
            <a:ext cx="917681" cy="2154984"/>
          </a:xfrm>
          <a:prstGeom prst="line">
            <a:avLst/>
          </a:prstGeom>
          <a:ln w="12700">
            <a:solidFill>
              <a:srgbClr val="14433A">
                <a:alpha val="67000"/>
              </a:srgbClr>
            </a:solidFill>
            <a:prstDash val="sysDot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cxnSpLocks/>
          </p:cNvCxnSpPr>
          <p:nvPr/>
        </p:nvCxnSpPr>
        <p:spPr>
          <a:xfrm flipV="1">
            <a:off x="1511964" y="1776182"/>
            <a:ext cx="2021741" cy="290375"/>
          </a:xfrm>
          <a:prstGeom prst="line">
            <a:avLst/>
          </a:prstGeom>
          <a:ln w="12700">
            <a:solidFill>
              <a:srgbClr val="14433A">
                <a:alpha val="67000"/>
              </a:srgbClr>
            </a:solidFill>
            <a:prstDash val="sysDot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cxnSpLocks/>
          </p:cNvCxnSpPr>
          <p:nvPr/>
        </p:nvCxnSpPr>
        <p:spPr>
          <a:xfrm flipV="1">
            <a:off x="3524507" y="1776095"/>
            <a:ext cx="0" cy="290462"/>
          </a:xfrm>
          <a:prstGeom prst="line">
            <a:avLst/>
          </a:prstGeom>
          <a:ln w="12700">
            <a:solidFill>
              <a:srgbClr val="14433A">
                <a:alpha val="67000"/>
              </a:srgbClr>
            </a:solidFill>
            <a:prstDash val="sysDot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cxnSpLocks/>
          </p:cNvCxnSpPr>
          <p:nvPr/>
        </p:nvCxnSpPr>
        <p:spPr>
          <a:xfrm flipH="1" flipV="1">
            <a:off x="3527536" y="1772044"/>
            <a:ext cx="1988403" cy="294513"/>
          </a:xfrm>
          <a:prstGeom prst="line">
            <a:avLst/>
          </a:prstGeom>
          <a:ln w="12700">
            <a:solidFill>
              <a:srgbClr val="14433A">
                <a:alpha val="67000"/>
              </a:srgbClr>
            </a:solidFill>
            <a:prstDash val="sysDot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cxnSpLocks/>
          </p:cNvCxnSpPr>
          <p:nvPr/>
        </p:nvCxnSpPr>
        <p:spPr>
          <a:xfrm flipV="1">
            <a:off x="2460824" y="1772044"/>
            <a:ext cx="1068400" cy="2158495"/>
          </a:xfrm>
          <a:prstGeom prst="line">
            <a:avLst/>
          </a:prstGeom>
          <a:ln w="12700">
            <a:solidFill>
              <a:srgbClr val="14433A">
                <a:alpha val="67000"/>
              </a:srgbClr>
            </a:solidFill>
            <a:prstDash val="sysDot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731520" y="2066558"/>
            <a:ext cx="1574714" cy="1509352"/>
            <a:chOff x="499510" y="2998442"/>
            <a:chExt cx="1074166" cy="1142723"/>
          </a:xfrm>
        </p:grpSpPr>
        <p:sp>
          <p:nvSpPr>
            <p:cNvPr id="69" name="Rounded Rectangle 54">
              <a:extLst>
                <a:ext uri="{FF2B5EF4-FFF2-40B4-BE49-F238E27FC236}">
                  <a16:creationId xmlns:a16="http://schemas.microsoft.com/office/drawing/2014/main" id="{B81E5DF3-0415-4AD0-AE40-1D4DF4111B08}"/>
                </a:ext>
              </a:extLst>
            </p:cNvPr>
            <p:cNvSpPr/>
            <p:nvPr/>
          </p:nvSpPr>
          <p:spPr>
            <a:xfrm>
              <a:off x="499510" y="3315578"/>
              <a:ext cx="1074166" cy="825587"/>
            </a:xfrm>
            <a:prstGeom prst="roundRect">
              <a:avLst>
                <a:gd name="adj" fmla="val 2965"/>
              </a:avLst>
            </a:prstGeom>
            <a:solidFill>
              <a:schemeClr val="bg1"/>
            </a:solidFill>
            <a:ln w="38100">
              <a:solidFill>
                <a:srgbClr val="2E7D4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1350">
                <a:solidFill>
                  <a:srgbClr val="2E7D4F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704095" y="2998442"/>
              <a:ext cx="655566" cy="655568"/>
              <a:chOff x="1007287" y="2981739"/>
              <a:chExt cx="618452" cy="618454"/>
            </a:xfrm>
          </p:grpSpPr>
          <p:sp>
            <p:nvSpPr>
              <p:cNvPr id="70" name="Oval 69"/>
              <p:cNvSpPr/>
              <p:nvPr/>
            </p:nvSpPr>
            <p:spPr>
              <a:xfrm>
                <a:off x="1153193" y="3057459"/>
                <a:ext cx="326640" cy="326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240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07287" y="2981739"/>
                <a:ext cx="618452" cy="618454"/>
              </a:xfrm>
              <a:prstGeom prst="rect">
                <a:avLst/>
              </a:prstGeom>
            </p:spPr>
          </p:pic>
        </p:grpSp>
      </p:grpSp>
      <p:sp>
        <p:nvSpPr>
          <p:cNvPr id="72" name="Rectangle 71"/>
          <p:cNvSpPr/>
          <p:nvPr/>
        </p:nvSpPr>
        <p:spPr>
          <a:xfrm>
            <a:off x="731520" y="2881396"/>
            <a:ext cx="1574714" cy="33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3" fontAlgn="base"/>
            <a:r>
              <a:rPr lang="en-AU" sz="1596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Redfern Office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626617" y="2066554"/>
            <a:ext cx="1795786" cy="1515683"/>
            <a:chOff x="2069644" y="2993650"/>
            <a:chExt cx="1224969" cy="1147516"/>
          </a:xfrm>
        </p:grpSpPr>
        <p:grpSp>
          <p:nvGrpSpPr>
            <p:cNvPr id="5" name="Group 4"/>
            <p:cNvGrpSpPr/>
            <p:nvPr/>
          </p:nvGrpSpPr>
          <p:grpSpPr>
            <a:xfrm>
              <a:off x="2069644" y="2993650"/>
              <a:ext cx="1224969" cy="1147516"/>
              <a:chOff x="2069644" y="2993650"/>
              <a:chExt cx="1224969" cy="1147516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2069644" y="3315579"/>
                <a:ext cx="1224969" cy="825587"/>
                <a:chOff x="1261741" y="2071078"/>
                <a:chExt cx="2203263" cy="1484922"/>
              </a:xfrm>
            </p:grpSpPr>
            <p:sp>
              <p:nvSpPr>
                <p:cNvPr id="101" name="Rounded Rectangle 54">
                  <a:extLst>
                    <a:ext uri="{FF2B5EF4-FFF2-40B4-BE49-F238E27FC236}">
                      <a16:creationId xmlns:a16="http://schemas.microsoft.com/office/drawing/2014/main" id="{B81E5DF3-0415-4AD0-AE40-1D4DF4111B08}"/>
                    </a:ext>
                  </a:extLst>
                </p:cNvPr>
                <p:cNvSpPr/>
                <p:nvPr/>
              </p:nvSpPr>
              <p:spPr>
                <a:xfrm>
                  <a:off x="1397360" y="2071078"/>
                  <a:ext cx="1932024" cy="1484922"/>
                </a:xfrm>
                <a:prstGeom prst="roundRect">
                  <a:avLst>
                    <a:gd name="adj" fmla="val 2965"/>
                  </a:avLst>
                </a:prstGeom>
                <a:solidFill>
                  <a:schemeClr val="bg1"/>
                </a:solidFill>
                <a:ln w="38100">
                  <a:solidFill>
                    <a:srgbClr val="2E7D4F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US" sz="1350">
                    <a:solidFill>
                      <a:srgbClr val="2E7D4F"/>
                    </a:solidFill>
                    <a:latin typeface="IBM Plex Sans Light"/>
                    <a:ea typeface="Calibri" charset="0"/>
                    <a:cs typeface="Calibri" charset="0"/>
                  </a:endParaRPr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1261741" y="2610257"/>
                  <a:ext cx="2203263" cy="42895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defTabSz="914383" fontAlgn="base"/>
                  <a:r>
                    <a:rPr lang="en-AU" sz="1466" b="1">
                      <a:solidFill>
                        <a:srgbClr val="2E7D4F"/>
                      </a:solidFill>
                      <a:latin typeface="Calibri"/>
                      <a:ea typeface="Calibri" charset="0"/>
                      <a:cs typeface="Calibri" charset="0"/>
                    </a:rPr>
                    <a:t>Ashfield Branch</a:t>
                  </a:r>
                </a:p>
              </p:txBody>
            </p:sp>
          </p:grpSp>
          <p:grpSp>
            <p:nvGrpSpPr>
              <p:cNvPr id="150" name="Group 149"/>
              <p:cNvGrpSpPr/>
              <p:nvPr/>
            </p:nvGrpSpPr>
            <p:grpSpPr>
              <a:xfrm>
                <a:off x="2354345" y="2993650"/>
                <a:ext cx="655566" cy="655568"/>
                <a:chOff x="1007287" y="2981739"/>
                <a:chExt cx="618452" cy="618454"/>
              </a:xfrm>
            </p:grpSpPr>
            <p:sp>
              <p:nvSpPr>
                <p:cNvPr id="151" name="Oval 150"/>
                <p:cNvSpPr/>
                <p:nvPr/>
              </p:nvSpPr>
              <p:spPr>
                <a:xfrm>
                  <a:off x="1153193" y="3057459"/>
                  <a:ext cx="326640" cy="3266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383"/>
                  <a:endParaRPr lang="en-US" sz="2400">
                    <a:solidFill>
                      <a:srgbClr val="14433A"/>
                    </a:solidFill>
                    <a:latin typeface="IBM Plex Sans Light"/>
                    <a:ea typeface="Calibri" charset="0"/>
                    <a:cs typeface="Calibri" charset="0"/>
                  </a:endParaRPr>
                </a:p>
              </p:txBody>
            </p:sp>
            <p:pic>
              <p:nvPicPr>
                <p:cNvPr id="152" name="Picture 151"/>
                <p:cNvPicPr>
                  <a:picLocks noChangeAspect="1"/>
                </p:cNvPicPr>
                <p:nvPr/>
              </p:nvPicPr>
              <p:blipFill>
                <a:blip r:embed="rId3" cstate="print">
                  <a:duotone>
                    <a:srgbClr val="2E7D4F"/>
                    <a:srgbClr val="FFFFFF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07287" y="2981739"/>
                  <a:ext cx="618452" cy="618454"/>
                </a:xfrm>
                <a:prstGeom prst="rect">
                  <a:avLst/>
                </a:prstGeom>
              </p:spPr>
            </p:pic>
          </p:grpSp>
        </p:grpSp>
        <p:pic>
          <p:nvPicPr>
            <p:cNvPr id="98" name="Graphic 14">
              <a:extLst>
                <a:ext uri="{FF2B5EF4-FFF2-40B4-BE49-F238E27FC236}">
                  <a16:creationId xmlns:a16="http://schemas.microsoft.com/office/drawing/2014/main" id="{ACF9E6C1-E3E1-EF45-BAE5-EB164ECADD0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2569906" y="3891524"/>
              <a:ext cx="91030" cy="91029"/>
            </a:xfrm>
            <a:prstGeom prst="rect">
              <a:avLst/>
            </a:prstGeom>
          </p:spPr>
        </p:pic>
      </p:grpSp>
      <p:sp>
        <p:nvSpPr>
          <p:cNvPr id="117" name="Rounded Rectangle 54">
            <a:extLst>
              <a:ext uri="{FF2B5EF4-FFF2-40B4-BE49-F238E27FC236}">
                <a16:creationId xmlns:a16="http://schemas.microsoft.com/office/drawing/2014/main" id="{B81E5DF3-0415-4AD0-AE40-1D4DF4111B08}"/>
              </a:ext>
            </a:extLst>
          </p:cNvPr>
          <p:cNvSpPr/>
          <p:nvPr/>
        </p:nvSpPr>
        <p:spPr>
          <a:xfrm>
            <a:off x="4734645" y="2489593"/>
            <a:ext cx="1574714" cy="1090466"/>
          </a:xfrm>
          <a:prstGeom prst="roundRect">
            <a:avLst>
              <a:gd name="adj" fmla="val 2965"/>
            </a:avLst>
          </a:prstGeom>
          <a:solidFill>
            <a:schemeClr val="bg1"/>
          </a:solidFill>
          <a:ln w="38100">
            <a:solidFill>
              <a:srgbClr val="2E7D4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3"/>
            <a:endParaRPr lang="en-US" sz="1350">
              <a:solidFill>
                <a:srgbClr val="2E7D4F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4734645" y="2885545"/>
            <a:ext cx="1574714" cy="33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83" fontAlgn="base"/>
            <a:r>
              <a:rPr lang="en-AU" sz="1596" b="1">
                <a:solidFill>
                  <a:srgbClr val="2E7D4F"/>
                </a:solidFill>
                <a:latin typeface="Calibri"/>
                <a:ea typeface="Calibri" charset="0"/>
                <a:cs typeface="Calibri" charset="0"/>
              </a:rPr>
              <a:t>London Office</a:t>
            </a:r>
          </a:p>
        </p:txBody>
      </p:sp>
      <p:grpSp>
        <p:nvGrpSpPr>
          <p:cNvPr id="153" name="Group 152"/>
          <p:cNvGrpSpPr/>
          <p:nvPr/>
        </p:nvGrpSpPr>
        <p:grpSpPr>
          <a:xfrm>
            <a:off x="5035414" y="2066558"/>
            <a:ext cx="961051" cy="865900"/>
            <a:chOff x="1007287" y="2981739"/>
            <a:chExt cx="618452" cy="618454"/>
          </a:xfrm>
        </p:grpSpPr>
        <p:sp>
          <p:nvSpPr>
            <p:cNvPr id="154" name="Oval 153"/>
            <p:cNvSpPr/>
            <p:nvPr/>
          </p:nvSpPr>
          <p:spPr>
            <a:xfrm>
              <a:off x="1153193" y="3057459"/>
              <a:ext cx="326640" cy="3266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83"/>
              <a:endParaRPr lang="en-US" sz="2400">
                <a:solidFill>
                  <a:srgbClr val="14433A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pic>
          <p:nvPicPr>
            <p:cNvPr id="155" name="Picture 154"/>
            <p:cNvPicPr>
              <a:picLocks noChangeAspect="1"/>
            </p:cNvPicPr>
            <p:nvPr/>
          </p:nvPicPr>
          <p:blipFill>
            <a:blip r:embed="rId3" cstate="print">
              <a:duotone>
                <a:srgbClr val="2E7D4F"/>
                <a:srgbClr val="FFFFFF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07287" y="2981739"/>
              <a:ext cx="618452" cy="618454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1564219" y="3930540"/>
            <a:ext cx="1795789" cy="1521174"/>
            <a:chOff x="5406269" y="2989494"/>
            <a:chExt cx="1224971" cy="1151673"/>
          </a:xfrm>
        </p:grpSpPr>
        <p:grpSp>
          <p:nvGrpSpPr>
            <p:cNvPr id="122" name="Group 121"/>
            <p:cNvGrpSpPr/>
            <p:nvPr/>
          </p:nvGrpSpPr>
          <p:grpSpPr>
            <a:xfrm>
              <a:off x="5406269" y="3315580"/>
              <a:ext cx="1224971" cy="825587"/>
              <a:chOff x="5406269" y="3066192"/>
              <a:chExt cx="1595000" cy="1074973"/>
            </a:xfrm>
          </p:grpSpPr>
          <p:sp>
            <p:nvSpPr>
              <p:cNvPr id="123" name="Rounded Rectangle 54">
                <a:extLst>
                  <a:ext uri="{FF2B5EF4-FFF2-40B4-BE49-F238E27FC236}">
                    <a16:creationId xmlns:a16="http://schemas.microsoft.com/office/drawing/2014/main" id="{B81E5DF3-0415-4AD0-AE40-1D4DF4111B08}"/>
                  </a:ext>
                </a:extLst>
              </p:cNvPr>
              <p:cNvSpPr/>
              <p:nvPr/>
            </p:nvSpPr>
            <p:spPr>
              <a:xfrm>
                <a:off x="5504448" y="3066192"/>
                <a:ext cx="1398641" cy="1074973"/>
              </a:xfrm>
              <a:prstGeom prst="roundRect">
                <a:avLst>
                  <a:gd name="adj" fmla="val 2965"/>
                </a:avLst>
              </a:prstGeom>
              <a:solidFill>
                <a:schemeClr val="bg1"/>
              </a:solidFill>
              <a:ln w="38100">
                <a:solidFill>
                  <a:srgbClr val="2E7D4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1350">
                  <a:solidFill>
                    <a:srgbClr val="2E7D4F"/>
                  </a:solidFill>
                  <a:latin typeface="IBM Plex Sans Light"/>
                  <a:ea typeface="Calibri" charset="0"/>
                  <a:cs typeface="Calibri" charset="0"/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5406269" y="3456515"/>
                <a:ext cx="1595000" cy="310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4383" fontAlgn="base"/>
                <a:r>
                  <a:rPr lang="en-AU" sz="1466" b="1">
                    <a:solidFill>
                      <a:srgbClr val="2E7D4F"/>
                    </a:solidFill>
                    <a:latin typeface="Calibri"/>
                    <a:ea typeface="Calibri" charset="0"/>
                    <a:cs typeface="Calibri" charset="0"/>
                  </a:rPr>
                  <a:t>London Branch</a:t>
                </a:r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5690093" y="2989494"/>
              <a:ext cx="655566" cy="655568"/>
              <a:chOff x="1007287" y="2981739"/>
              <a:chExt cx="618452" cy="618454"/>
            </a:xfrm>
          </p:grpSpPr>
          <p:sp>
            <p:nvSpPr>
              <p:cNvPr id="162" name="Oval 161"/>
              <p:cNvSpPr/>
              <p:nvPr/>
            </p:nvSpPr>
            <p:spPr>
              <a:xfrm>
                <a:off x="1153193" y="3057459"/>
                <a:ext cx="326640" cy="326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2400">
                  <a:solidFill>
                    <a:srgbClr val="14433A"/>
                  </a:solidFill>
                  <a:latin typeface="IBM Plex Sans Light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07287" y="2981739"/>
                <a:ext cx="618452" cy="618454"/>
              </a:xfrm>
              <a:prstGeom prst="rect">
                <a:avLst/>
              </a:prstGeom>
            </p:spPr>
          </p:pic>
        </p:grpSp>
      </p:grpSp>
      <p:grpSp>
        <p:nvGrpSpPr>
          <p:cNvPr id="18" name="Group 17"/>
          <p:cNvGrpSpPr/>
          <p:nvPr/>
        </p:nvGrpSpPr>
        <p:grpSpPr>
          <a:xfrm>
            <a:off x="3662512" y="3927030"/>
            <a:ext cx="1574714" cy="1523421"/>
            <a:chOff x="7172764" y="2987794"/>
            <a:chExt cx="1074166" cy="1153373"/>
          </a:xfrm>
        </p:grpSpPr>
        <p:grpSp>
          <p:nvGrpSpPr>
            <p:cNvPr id="137" name="Group 136"/>
            <p:cNvGrpSpPr/>
            <p:nvPr/>
          </p:nvGrpSpPr>
          <p:grpSpPr>
            <a:xfrm>
              <a:off x="7172764" y="3315580"/>
              <a:ext cx="1074166" cy="825587"/>
              <a:chOff x="7172763" y="3066192"/>
              <a:chExt cx="1398641" cy="1074973"/>
            </a:xfrm>
          </p:grpSpPr>
          <p:sp>
            <p:nvSpPr>
              <p:cNvPr id="138" name="Rounded Rectangle 54">
                <a:extLst>
                  <a:ext uri="{FF2B5EF4-FFF2-40B4-BE49-F238E27FC236}">
                    <a16:creationId xmlns:a16="http://schemas.microsoft.com/office/drawing/2014/main" id="{B81E5DF3-0415-4AD0-AE40-1D4DF4111B08}"/>
                  </a:ext>
                </a:extLst>
              </p:cNvPr>
              <p:cNvSpPr/>
              <p:nvPr/>
            </p:nvSpPr>
            <p:spPr>
              <a:xfrm>
                <a:off x="7172763" y="3066192"/>
                <a:ext cx="1398641" cy="1074973"/>
              </a:xfrm>
              <a:prstGeom prst="roundRect">
                <a:avLst>
                  <a:gd name="adj" fmla="val 2965"/>
                </a:avLst>
              </a:prstGeom>
              <a:solidFill>
                <a:schemeClr val="bg1"/>
              </a:solidFill>
              <a:ln w="38100">
                <a:solidFill>
                  <a:srgbClr val="2E7D4F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1350">
                  <a:solidFill>
                    <a:srgbClr val="2E7D4F"/>
                  </a:solidFill>
                  <a:latin typeface="IBM Plex Sans Light"/>
                  <a:ea typeface="Calibri" charset="0"/>
                  <a:cs typeface="Calibri" charset="0"/>
                </a:endParaRPr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7172763" y="3456516"/>
                <a:ext cx="1398641" cy="310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4383" fontAlgn="base"/>
                <a:r>
                  <a:rPr lang="en-AU" sz="1466" b="1">
                    <a:solidFill>
                      <a:srgbClr val="2E7D4F"/>
                    </a:solidFill>
                    <a:latin typeface="Calibri"/>
                    <a:ea typeface="Calibri" charset="0"/>
                    <a:cs typeface="Calibri" charset="0"/>
                  </a:rPr>
                  <a:t>Manly Branch</a:t>
                </a:r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7382064" y="2987794"/>
              <a:ext cx="655566" cy="655568"/>
              <a:chOff x="1007287" y="2981739"/>
              <a:chExt cx="618452" cy="618454"/>
            </a:xfrm>
          </p:grpSpPr>
          <p:sp>
            <p:nvSpPr>
              <p:cNvPr id="166" name="Oval 165"/>
              <p:cNvSpPr/>
              <p:nvPr/>
            </p:nvSpPr>
            <p:spPr>
              <a:xfrm>
                <a:off x="1153193" y="3057459"/>
                <a:ext cx="326640" cy="326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US" sz="2400">
                  <a:solidFill>
                    <a:srgbClr val="14433A"/>
                  </a:solidFill>
                  <a:latin typeface="IBM Plex Sans Light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67" name="Picture 166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07287" y="2981739"/>
                <a:ext cx="618452" cy="618454"/>
              </a:xfrm>
              <a:prstGeom prst="rect">
                <a:avLst/>
              </a:prstGeom>
            </p:spPr>
          </p:pic>
        </p:grpSp>
      </p:grpSp>
      <p:grpSp>
        <p:nvGrpSpPr>
          <p:cNvPr id="102" name="Group 101"/>
          <p:cNvGrpSpPr/>
          <p:nvPr/>
        </p:nvGrpSpPr>
        <p:grpSpPr>
          <a:xfrm>
            <a:off x="817087" y="3260571"/>
            <a:ext cx="1418072" cy="130015"/>
            <a:chOff x="1040478" y="2091512"/>
            <a:chExt cx="3369688" cy="342900"/>
          </a:xfrm>
        </p:grpSpPr>
        <p:grpSp>
          <p:nvGrpSpPr>
            <p:cNvPr id="103" name="Group 102"/>
            <p:cNvGrpSpPr/>
            <p:nvPr/>
          </p:nvGrpSpPr>
          <p:grpSpPr>
            <a:xfrm>
              <a:off x="2051039" y="2091512"/>
              <a:ext cx="342900" cy="342900"/>
              <a:chOff x="1131564" y="2598211"/>
              <a:chExt cx="342900" cy="342900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2598211"/>
                <a:ext cx="342900" cy="342900"/>
              </a:xfrm>
              <a:prstGeom prst="ellipse">
                <a:avLst/>
              </a:prstGeom>
              <a:solidFill>
                <a:srgbClr val="2E7D4F">
                  <a:alpha val="32157"/>
                </a:srgbClr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74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263527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18" name="Group 117"/>
            <p:cNvGrpSpPr/>
            <p:nvPr/>
          </p:nvGrpSpPr>
          <p:grpSpPr>
            <a:xfrm>
              <a:off x="1040478" y="2091512"/>
              <a:ext cx="342900" cy="342900"/>
              <a:chOff x="1081848" y="2099042"/>
              <a:chExt cx="342900" cy="342900"/>
            </a:xfrm>
          </p:grpSpPr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1848" y="2099042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72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18298" y="213549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19" name="Group 118"/>
            <p:cNvGrpSpPr/>
            <p:nvPr/>
          </p:nvGrpSpPr>
          <p:grpSpPr>
            <a:xfrm>
              <a:off x="1541321" y="2091512"/>
              <a:ext cx="342900" cy="342900"/>
              <a:chOff x="1131564" y="3102130"/>
              <a:chExt cx="342900" cy="342900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70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24" name="Group 123"/>
            <p:cNvGrpSpPr/>
            <p:nvPr/>
          </p:nvGrpSpPr>
          <p:grpSpPr>
            <a:xfrm>
              <a:off x="2555095" y="2091512"/>
              <a:ext cx="342900" cy="342900"/>
              <a:chOff x="2799747" y="2091248"/>
              <a:chExt cx="342900" cy="342900"/>
            </a:xfrm>
          </p:grpSpPr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99747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68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38357" y="2128049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25" name="Group 124"/>
            <p:cNvGrpSpPr/>
            <p:nvPr/>
          </p:nvGrpSpPr>
          <p:grpSpPr>
            <a:xfrm>
              <a:off x="3059151" y="2091512"/>
              <a:ext cx="342900" cy="342900"/>
              <a:chOff x="3355808" y="2091248"/>
              <a:chExt cx="342900" cy="3429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55808" y="2091248"/>
                <a:ext cx="342900" cy="342900"/>
              </a:xfrm>
              <a:prstGeom prst="ellipse">
                <a:avLst/>
              </a:prstGeom>
              <a:solidFill>
                <a:srgbClr val="2E7D4F">
                  <a:alpha val="32157"/>
                </a:srgbClr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60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392258" y="2127698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39" name="Group 138"/>
            <p:cNvGrpSpPr/>
            <p:nvPr/>
          </p:nvGrpSpPr>
          <p:grpSpPr>
            <a:xfrm>
              <a:off x="4067266" y="2091512"/>
              <a:ext cx="342900" cy="342900"/>
              <a:chOff x="4398669" y="2096837"/>
              <a:chExt cx="342900" cy="3429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8669" y="2096837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58" name="Graphic 44">
                <a:extLst>
                  <a:ext uri="{FF2B5EF4-FFF2-40B4-BE49-F238E27FC236}">
                    <a16:creationId xmlns:a16="http://schemas.microsoft.com/office/drawing/2014/main" id="{AB625FC1-4164-C046-B56C-DABA2F5BD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35119" y="2133287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40" name="Group 139"/>
            <p:cNvGrpSpPr/>
            <p:nvPr/>
          </p:nvGrpSpPr>
          <p:grpSpPr>
            <a:xfrm>
              <a:off x="3563207" y="2091512"/>
              <a:ext cx="342900" cy="342900"/>
              <a:chOff x="3911869" y="2091248"/>
              <a:chExt cx="342900" cy="342900"/>
            </a:xfrm>
          </p:grpSpPr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11869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56" name="Graphic 12">
                <a:extLst>
                  <a:ext uri="{FF2B5EF4-FFF2-40B4-BE49-F238E27FC236}">
                    <a16:creationId xmlns:a16="http://schemas.microsoft.com/office/drawing/2014/main" id="{59A99E50-D4D3-1F40-9A08-8C6F0090D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48319" y="2127698"/>
                <a:ext cx="270000" cy="270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/>
          <p:cNvGrpSpPr/>
          <p:nvPr/>
        </p:nvGrpSpPr>
        <p:grpSpPr>
          <a:xfrm>
            <a:off x="3304522" y="3259235"/>
            <a:ext cx="450082" cy="164806"/>
            <a:chOff x="1040478" y="2590856"/>
            <a:chExt cx="843743" cy="342900"/>
          </a:xfrm>
        </p:grpSpPr>
        <p:grpSp>
          <p:nvGrpSpPr>
            <p:cNvPr id="176" name="Group 175"/>
            <p:cNvGrpSpPr/>
            <p:nvPr/>
          </p:nvGrpSpPr>
          <p:grpSpPr>
            <a:xfrm>
              <a:off x="1040478" y="2590856"/>
              <a:ext cx="342900" cy="342900"/>
              <a:chOff x="1131564" y="3102130"/>
              <a:chExt cx="342900" cy="342900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81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77" name="Group 176"/>
            <p:cNvGrpSpPr/>
            <p:nvPr/>
          </p:nvGrpSpPr>
          <p:grpSpPr>
            <a:xfrm>
              <a:off x="1541321" y="2590856"/>
              <a:ext cx="342900" cy="342900"/>
              <a:chOff x="1739209" y="2590856"/>
              <a:chExt cx="342900" cy="342900"/>
            </a:xfrm>
          </p:grpSpPr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39209" y="2590856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79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2512" y="2627306"/>
                <a:ext cx="270000" cy="270000"/>
              </a:xfrm>
              <a:prstGeom prst="rect">
                <a:avLst/>
              </a:prstGeom>
            </p:spPr>
          </p:pic>
        </p:grpSp>
      </p:grpSp>
      <p:grpSp>
        <p:nvGrpSpPr>
          <p:cNvPr id="182" name="Group 181"/>
          <p:cNvGrpSpPr/>
          <p:nvPr/>
        </p:nvGrpSpPr>
        <p:grpSpPr>
          <a:xfrm>
            <a:off x="5019113" y="3259235"/>
            <a:ext cx="993653" cy="164806"/>
            <a:chOff x="1040478" y="3084148"/>
            <a:chExt cx="1862725" cy="342900"/>
          </a:xfrm>
        </p:grpSpPr>
        <p:grpSp>
          <p:nvGrpSpPr>
            <p:cNvPr id="183" name="Group 182"/>
            <p:cNvGrpSpPr/>
            <p:nvPr/>
          </p:nvGrpSpPr>
          <p:grpSpPr>
            <a:xfrm>
              <a:off x="1541321" y="3084148"/>
              <a:ext cx="342900" cy="342900"/>
              <a:chOff x="1131564" y="2598211"/>
              <a:chExt cx="342900" cy="342900"/>
            </a:xfrm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2598211"/>
                <a:ext cx="342900" cy="342900"/>
              </a:xfrm>
              <a:prstGeom prst="ellipse">
                <a:avLst/>
              </a:prstGeom>
              <a:solidFill>
                <a:srgbClr val="2E7D4F">
                  <a:alpha val="32157"/>
                </a:srgbClr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94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263527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84" name="Group 183"/>
            <p:cNvGrpSpPr/>
            <p:nvPr/>
          </p:nvGrpSpPr>
          <p:grpSpPr>
            <a:xfrm>
              <a:off x="1040478" y="3084148"/>
              <a:ext cx="342900" cy="342900"/>
              <a:chOff x="1131564" y="3102130"/>
              <a:chExt cx="342900" cy="342900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92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85" name="Group 184"/>
            <p:cNvGrpSpPr/>
            <p:nvPr/>
          </p:nvGrpSpPr>
          <p:grpSpPr>
            <a:xfrm>
              <a:off x="2050812" y="3084148"/>
              <a:ext cx="342900" cy="342900"/>
              <a:chOff x="2799747" y="2091248"/>
              <a:chExt cx="342900" cy="342900"/>
            </a:xfrm>
          </p:grpSpPr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99747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90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838357" y="2128049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186" name="Group 185"/>
            <p:cNvGrpSpPr/>
            <p:nvPr/>
          </p:nvGrpSpPr>
          <p:grpSpPr>
            <a:xfrm>
              <a:off x="2560303" y="3084148"/>
              <a:ext cx="342900" cy="342900"/>
              <a:chOff x="3911869" y="2091248"/>
              <a:chExt cx="342900" cy="342900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11869" y="2091248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188" name="Graphic 12">
                <a:extLst>
                  <a:ext uri="{FF2B5EF4-FFF2-40B4-BE49-F238E27FC236}">
                    <a16:creationId xmlns:a16="http://schemas.microsoft.com/office/drawing/2014/main" id="{59A99E50-D4D3-1F40-9A08-8C6F0090D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48319" y="2127698"/>
                <a:ext cx="270000" cy="270000"/>
              </a:xfrm>
              <a:prstGeom prst="rect">
                <a:avLst/>
              </a:prstGeom>
            </p:spPr>
          </p:pic>
        </p:grpSp>
      </p:grpSp>
      <p:grpSp>
        <p:nvGrpSpPr>
          <p:cNvPr id="202" name="Group 201"/>
          <p:cNvGrpSpPr/>
          <p:nvPr/>
        </p:nvGrpSpPr>
        <p:grpSpPr>
          <a:xfrm>
            <a:off x="2241495" y="5171430"/>
            <a:ext cx="450082" cy="164806"/>
            <a:chOff x="1040478" y="2590856"/>
            <a:chExt cx="843743" cy="342900"/>
          </a:xfrm>
        </p:grpSpPr>
        <p:grpSp>
          <p:nvGrpSpPr>
            <p:cNvPr id="203" name="Group 202"/>
            <p:cNvGrpSpPr/>
            <p:nvPr/>
          </p:nvGrpSpPr>
          <p:grpSpPr>
            <a:xfrm>
              <a:off x="1040478" y="2590856"/>
              <a:ext cx="342900" cy="342900"/>
              <a:chOff x="1131564" y="3102130"/>
              <a:chExt cx="342900" cy="342900"/>
            </a:xfrm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208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204" name="Group 203"/>
            <p:cNvGrpSpPr/>
            <p:nvPr/>
          </p:nvGrpSpPr>
          <p:grpSpPr>
            <a:xfrm>
              <a:off x="1541321" y="2590856"/>
              <a:ext cx="342900" cy="342900"/>
              <a:chOff x="1739209" y="2590856"/>
              <a:chExt cx="342900" cy="342900"/>
            </a:xfrm>
          </p:grpSpPr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39209" y="2590856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206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2512" y="2627306"/>
                <a:ext cx="270000" cy="270000"/>
              </a:xfrm>
              <a:prstGeom prst="rect">
                <a:avLst/>
              </a:prstGeom>
            </p:spPr>
          </p:pic>
        </p:grpSp>
      </p:grpSp>
      <p:grpSp>
        <p:nvGrpSpPr>
          <p:cNvPr id="209" name="Group 208"/>
          <p:cNvGrpSpPr/>
          <p:nvPr/>
        </p:nvGrpSpPr>
        <p:grpSpPr>
          <a:xfrm>
            <a:off x="4231593" y="5171430"/>
            <a:ext cx="450082" cy="164806"/>
            <a:chOff x="1040478" y="2590856"/>
            <a:chExt cx="843743" cy="342900"/>
          </a:xfrm>
        </p:grpSpPr>
        <p:grpSp>
          <p:nvGrpSpPr>
            <p:cNvPr id="2" name="Group 209"/>
            <p:cNvGrpSpPr/>
            <p:nvPr/>
          </p:nvGrpSpPr>
          <p:grpSpPr>
            <a:xfrm>
              <a:off x="1040478" y="2590856"/>
              <a:ext cx="342900" cy="342900"/>
              <a:chOff x="1131564" y="3102130"/>
              <a:chExt cx="342900" cy="342900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564" y="3102130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215" name="Graphic 10">
                <a:extLst>
                  <a:ext uri="{FF2B5EF4-FFF2-40B4-BE49-F238E27FC236}">
                    <a16:creationId xmlns:a16="http://schemas.microsoft.com/office/drawing/2014/main" id="{44983DFF-AD57-C842-A57D-5272E3EAC3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68014" y="3148212"/>
                <a:ext cx="270000" cy="270000"/>
              </a:xfrm>
              <a:prstGeom prst="rect">
                <a:avLst/>
              </a:prstGeom>
            </p:spPr>
          </p:pic>
        </p:grpSp>
        <p:grpSp>
          <p:nvGrpSpPr>
            <p:cNvPr id="3" name="Group 210"/>
            <p:cNvGrpSpPr/>
            <p:nvPr/>
          </p:nvGrpSpPr>
          <p:grpSpPr>
            <a:xfrm>
              <a:off x="1541321" y="2590856"/>
              <a:ext cx="342900" cy="342900"/>
              <a:chOff x="1739209" y="2590856"/>
              <a:chExt cx="342900" cy="342900"/>
            </a:xfrm>
          </p:grpSpPr>
          <p:sp>
            <p:nvSpPr>
              <p:cNvPr id="7" name="Oval 211">
                <a:extLst>
                  <a:ext uri="{FF2B5EF4-FFF2-40B4-BE49-F238E27FC236}">
                    <a16:creationId xmlns:a16="http://schemas.microsoft.com/office/drawing/2014/main" id="{292B76D4-ED31-43B4-9DBE-3223F4D16A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39209" y="2590856"/>
                <a:ext cx="342900" cy="342900"/>
              </a:xfrm>
              <a:prstGeom prst="ellipse">
                <a:avLst/>
              </a:prstGeom>
              <a:solidFill>
                <a:srgbClr val="2E7D4F"/>
              </a:solidFill>
              <a:ln>
                <a:solidFill>
                  <a:srgbClr val="2E7D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83"/>
                <a:endParaRPr lang="en-AU" sz="1350">
                  <a:solidFill>
                    <a:srgbClr val="14433A"/>
                  </a:solidFill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pic>
            <p:nvPicPr>
              <p:cNvPr id="213" name="Graphic 14">
                <a:extLst>
                  <a:ext uri="{FF2B5EF4-FFF2-40B4-BE49-F238E27FC236}">
                    <a16:creationId xmlns:a16="http://schemas.microsoft.com/office/drawing/2014/main" id="{ACF9E6C1-E3E1-EF45-BAE5-EB164ECADD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duotone>
                  <a:srgbClr val="2E7D4F"/>
                  <a:srgbClr val="FFFFFF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2512" y="2627306"/>
                <a:ext cx="270000" cy="270000"/>
              </a:xfrm>
              <a:prstGeom prst="rect">
                <a:avLst/>
              </a:prstGeom>
            </p:spPr>
          </p:pic>
        </p:grpSp>
      </p:grpSp>
      <p:sp>
        <p:nvSpPr>
          <p:cNvPr id="216" name="TextBox 215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Organization consolida i dati delle Location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766560" y="2194560"/>
            <a:ext cx="4709160" cy="1360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Il reporting aziendale usa la gerarchia Classification. Le Location senza Classification restano escluse dalla maggior parte di report e dashboard.</a:t>
            </a:r>
          </a:p>
        </p:txBody>
      </p:sp>
      <p:sp>
        <p:nvSpPr>
          <p:cNvPr id="21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21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65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C736-8F65-ECEC-EB46-D733C19F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cation - Wikipedia">
            <a:extLst>
              <a:ext uri="{FF2B5EF4-FFF2-40B4-BE49-F238E27FC236}">
                <a16:creationId xmlns:a16="http://schemas.microsoft.com/office/drawing/2014/main" id="{70EBEF0C-2937-603E-17BD-5DC291A02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8308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cation - Wikipedia">
            <a:extLst>
              <a:ext uri="{FF2B5EF4-FFF2-40B4-BE49-F238E27FC236}">
                <a16:creationId xmlns:a16="http://schemas.microsoft.com/office/drawing/2014/main" id="{D4BD2EA9-2E74-7DF9-9579-431EFAE3C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7063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cation - Wikipedia">
            <a:extLst>
              <a:ext uri="{FF2B5EF4-FFF2-40B4-BE49-F238E27FC236}">
                <a16:creationId xmlns:a16="http://schemas.microsoft.com/office/drawing/2014/main" id="{5D7C4C32-86FB-0060-732D-F9D2B217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5818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B2324B-A9FE-4086-3818-05A4EFAAA892}"/>
              </a:ext>
            </a:extLst>
          </p:cNvPr>
          <p:cNvSpPr txBox="1"/>
          <p:nvPr/>
        </p:nvSpPr>
        <p:spPr>
          <a:xfrm>
            <a:off x="1691640" y="3803904"/>
            <a:ext cx="914400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14433A"/>
                </a:solidFill>
                <a:latin typeface="Calibri"/>
              </a:rPr>
              <a:t>Impianto produttivo di Sesto SG, Italia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B4ED15A-88A5-1145-E3D4-2F6D7A505BB9}"/>
              </a:ext>
            </a:extLst>
          </p:cNvPr>
          <p:cNvSpPr txBox="1"/>
          <p:nvPr/>
        </p:nvSpPr>
        <p:spPr>
          <a:xfrm>
            <a:off x="1691640" y="2816352"/>
            <a:ext cx="914400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14433A"/>
                </a:solidFill>
                <a:latin typeface="Calibri"/>
              </a:rPr>
              <a:t>Uffici Amministrativi, Roma, Italia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04FB51-5BF6-5C94-E1B0-499705A3814B}"/>
              </a:ext>
            </a:extLst>
          </p:cNvPr>
          <p:cNvSpPr txBox="1"/>
          <p:nvPr/>
        </p:nvSpPr>
        <p:spPr>
          <a:xfrm>
            <a:off x="1691640" y="1828800"/>
            <a:ext cx="914400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14433A"/>
                </a:solidFill>
                <a:latin typeface="Calibri"/>
              </a:rPr>
              <a:t>Sede Ricerca, Firenze, Italia</a:t>
            </a:r>
          </a:p>
        </p:txBody>
      </p:sp>
      <p:pic>
        <p:nvPicPr>
          <p:cNvPr id="9" name="Picture 2" descr="Location - Wikipedia">
            <a:extLst>
              <a:ext uri="{FF2B5EF4-FFF2-40B4-BE49-F238E27FC236}">
                <a16:creationId xmlns:a16="http://schemas.microsoft.com/office/drawing/2014/main" id="{6D13DE25-A806-02B8-262A-EAD5DF18B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45736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A05846A-A6EB-E9A9-2A31-2D12A3B57FEA}"/>
              </a:ext>
            </a:extLst>
          </p:cNvPr>
          <p:cNvSpPr txBox="1"/>
          <p:nvPr/>
        </p:nvSpPr>
        <p:spPr>
          <a:xfrm>
            <a:off x="1691640" y="4791456"/>
            <a:ext cx="914400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14433A"/>
                </a:solidFill>
                <a:latin typeface="Calibri"/>
              </a:rPr>
              <a:t>Impianto produttivo di Bologna, Italia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Individuare le Location rilevanti per l’azienda</a:t>
            </a:r>
          </a:p>
        </p:txBody>
      </p:sp>
      <p:sp>
        <p:nvSpPr>
          <p:cNvPr id="102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2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52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9E461-817E-3D3E-1F1D-CFA4B9CD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cation - Wikipedia">
            <a:extLst>
              <a:ext uri="{FF2B5EF4-FFF2-40B4-BE49-F238E27FC236}">
                <a16:creationId xmlns:a16="http://schemas.microsoft.com/office/drawing/2014/main" id="{A3011F72-09C3-D49A-EE31-654B1CF54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960" y="1965960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cation - Wikipedia">
            <a:extLst>
              <a:ext uri="{FF2B5EF4-FFF2-40B4-BE49-F238E27FC236}">
                <a16:creationId xmlns:a16="http://schemas.microsoft.com/office/drawing/2014/main" id="{D14E6B46-E1D8-7019-2B04-19EA5FFD7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960" y="3474720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cation - Wikipedia">
            <a:extLst>
              <a:ext uri="{FF2B5EF4-FFF2-40B4-BE49-F238E27FC236}">
                <a16:creationId xmlns:a16="http://schemas.microsoft.com/office/drawing/2014/main" id="{7DD75C29-88FC-4873-7E62-44C931154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960" y="4434840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F60C33-EF6E-9BE6-17AE-9ABE859C95DC}"/>
              </a:ext>
            </a:extLst>
          </p:cNvPr>
          <p:cNvSpPr txBox="1"/>
          <p:nvPr/>
        </p:nvSpPr>
        <p:spPr>
          <a:xfrm>
            <a:off x="8503920" y="4370832"/>
            <a:ext cx="237744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4433A"/>
                </a:solidFill>
                <a:latin typeface="Calibri"/>
              </a:rPr>
              <a:t>Impianto produttivo di Sesto SG, Italia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5CA36C-E610-D073-87EF-E2358F754E67}"/>
              </a:ext>
            </a:extLst>
          </p:cNvPr>
          <p:cNvSpPr txBox="1"/>
          <p:nvPr/>
        </p:nvSpPr>
        <p:spPr>
          <a:xfrm>
            <a:off x="8503920" y="3429000"/>
            <a:ext cx="237744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4433A"/>
                </a:solidFill>
                <a:latin typeface="Calibri"/>
              </a:rPr>
              <a:t>Uffici Amministrativi, Roma, Italia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674E28-E07A-C602-4539-E485F192778D}"/>
              </a:ext>
            </a:extLst>
          </p:cNvPr>
          <p:cNvSpPr txBox="1"/>
          <p:nvPr/>
        </p:nvSpPr>
        <p:spPr>
          <a:xfrm>
            <a:off x="8503920" y="1965960"/>
            <a:ext cx="237744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4433A"/>
                </a:solidFill>
                <a:latin typeface="Calibri"/>
              </a:rPr>
              <a:t>Sede Ricerca, Firenze, Italia</a:t>
            </a:r>
          </a:p>
        </p:txBody>
      </p:sp>
      <p:pic>
        <p:nvPicPr>
          <p:cNvPr id="9" name="Picture 2" descr="Location - Wikipedia">
            <a:extLst>
              <a:ext uri="{FF2B5EF4-FFF2-40B4-BE49-F238E27FC236}">
                <a16:creationId xmlns:a16="http://schemas.microsoft.com/office/drawing/2014/main" id="{7EB5EB69-3922-CDC4-9E41-4380571DC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960" y="5166360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FD54A42-E13D-A4B4-157C-6F2B4DF5F0FA}"/>
              </a:ext>
            </a:extLst>
          </p:cNvPr>
          <p:cNvSpPr txBox="1"/>
          <p:nvPr/>
        </p:nvSpPr>
        <p:spPr>
          <a:xfrm>
            <a:off x="8503920" y="5084064"/>
            <a:ext cx="237744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4433A"/>
                </a:solidFill>
                <a:latin typeface="Calibri"/>
              </a:rPr>
              <a:t>Impianto produttivo di Bologna, Italia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96E8758-B8B0-1A77-9392-03D22C3604DF}"/>
              </a:ext>
            </a:extLst>
          </p:cNvPr>
          <p:cNvSpPr txBox="1"/>
          <p:nvPr/>
        </p:nvSpPr>
        <p:spPr>
          <a:xfrm>
            <a:off x="5623560" y="4535424"/>
            <a:ext cx="219456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Produzione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ABF3E95-2622-C590-79F6-4390EE67B15E}"/>
              </a:ext>
            </a:extLst>
          </p:cNvPr>
          <p:cNvSpPr txBox="1"/>
          <p:nvPr/>
        </p:nvSpPr>
        <p:spPr>
          <a:xfrm>
            <a:off x="5623560" y="3291840"/>
            <a:ext cx="22860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Amministrazione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C2B3679-C91D-4650-8545-E062E8E8BDB3}"/>
              </a:ext>
            </a:extLst>
          </p:cNvPr>
          <p:cNvSpPr txBox="1"/>
          <p:nvPr/>
        </p:nvSpPr>
        <p:spPr>
          <a:xfrm>
            <a:off x="5623560" y="2039112"/>
            <a:ext cx="219456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R&amp;D</a:t>
            </a:r>
          </a:p>
        </p:txBody>
      </p:sp>
      <p:pic>
        <p:nvPicPr>
          <p:cNvPr id="15" name="Picture 2" descr="Location - Wikipedia">
            <a:extLst>
              <a:ext uri="{FF2B5EF4-FFF2-40B4-BE49-F238E27FC236}">
                <a16:creationId xmlns:a16="http://schemas.microsoft.com/office/drawing/2014/main" id="{475BBC1A-E7CA-FC9E-438A-2BFE38FF3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2E7D4F"/>
              <a:srgbClr val="FFFFFF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960" y="2697480"/>
            <a:ext cx="347472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A57407F-9A3D-C497-CB33-F9BC27E9FED4}"/>
              </a:ext>
            </a:extLst>
          </p:cNvPr>
          <p:cNvSpPr txBox="1"/>
          <p:nvPr/>
        </p:nvSpPr>
        <p:spPr>
          <a:xfrm>
            <a:off x="8503920" y="2651760"/>
            <a:ext cx="237744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4433A"/>
                </a:solidFill>
                <a:latin typeface="Calibri"/>
              </a:rPr>
              <a:t>Sede Innovation Center, Bologna, Italia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4ABE78E-6404-A431-C0C5-42B8910139C3}"/>
              </a:ext>
            </a:extLst>
          </p:cNvPr>
          <p:cNvSpPr txBox="1"/>
          <p:nvPr/>
        </p:nvSpPr>
        <p:spPr>
          <a:xfrm>
            <a:off x="5623560" y="1417320"/>
            <a:ext cx="219456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4F"/>
                </a:solidFill>
                <a:latin typeface="Georgia"/>
              </a:rPr>
              <a:t>Gruppo Livello 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4DC85A4-438C-FCF7-D149-AE308CA01306}"/>
              </a:ext>
            </a:extLst>
          </p:cNvPr>
          <p:cNvSpPr txBox="1"/>
          <p:nvPr/>
        </p:nvSpPr>
        <p:spPr>
          <a:xfrm>
            <a:off x="2971800" y="1417320"/>
            <a:ext cx="224028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4F"/>
                </a:solidFill>
                <a:latin typeface="Georgia"/>
              </a:rPr>
              <a:t>Gruppo Livello 2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F78DFE2-114B-BEC0-649C-7E19F468CFD2}"/>
              </a:ext>
            </a:extLst>
          </p:cNvPr>
          <p:cNvSpPr txBox="1"/>
          <p:nvPr/>
        </p:nvSpPr>
        <p:spPr>
          <a:xfrm>
            <a:off x="640080" y="1417320"/>
            <a:ext cx="210312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>
                <a:solidFill>
                  <a:srgbClr val="2E7D4F"/>
                </a:solidFill>
                <a:latin typeface="Georgia"/>
              </a:rPr>
              <a:t>Gruppo Livello 1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C32D837-A4EF-22A8-4B61-32A997EC661B}"/>
              </a:ext>
            </a:extLst>
          </p:cNvPr>
          <p:cNvSpPr txBox="1"/>
          <p:nvPr/>
        </p:nvSpPr>
        <p:spPr>
          <a:xfrm>
            <a:off x="2971800" y="3182112"/>
            <a:ext cx="224028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Azienda Manifatture Italia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4FD8D2F-E015-7859-5A33-B7CB69317CE0}"/>
              </a:ext>
            </a:extLst>
          </p:cNvPr>
          <p:cNvSpPr txBox="1"/>
          <p:nvPr/>
        </p:nvSpPr>
        <p:spPr>
          <a:xfrm>
            <a:off x="640080" y="3429000"/>
            <a:ext cx="1783080" cy="640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Gruppo holding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5A555980-7895-5EA2-161E-B356597ED01E}"/>
              </a:ext>
            </a:extLst>
          </p:cNvPr>
          <p:cNvCxnSpPr/>
          <p:nvPr/>
        </p:nvCxnSpPr>
        <p:spPr bwMode="auto">
          <a:xfrm flipH="1">
            <a:off x="6217920" y="2176272"/>
            <a:ext cx="2176272" cy="0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05D5D6DB-E6F0-A5E4-EF5B-E4C955B7597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217920" y="2176272"/>
            <a:ext cx="2176272" cy="676656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0510ED85-4428-927F-C538-3BD7D65948F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05472" y="3447288"/>
            <a:ext cx="1188719" cy="210311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21FE0500-695C-70AE-4014-93F477F2EDCE}"/>
              </a:ext>
            </a:extLst>
          </p:cNvPr>
          <p:cNvCxnSpPr>
            <a:cxnSpLocks/>
          </p:cNvCxnSpPr>
          <p:nvPr/>
        </p:nvCxnSpPr>
        <p:spPr bwMode="auto">
          <a:xfrm flipH="1">
            <a:off x="6675120" y="4599432"/>
            <a:ext cx="1719072" cy="82295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D08940FB-9096-5045-57D2-F45120A468E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675120" y="4681728"/>
            <a:ext cx="1719072" cy="640080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27722D07-0A67-5496-CCD3-3CC0A7748FC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12080" y="3337560"/>
            <a:ext cx="320039" cy="1344168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587E9B6-A566-6448-CA50-2A52D4B0F22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12080" y="3337560"/>
            <a:ext cx="320039" cy="109728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C0F42CDF-15EF-0476-CD39-92BA840BE869}"/>
              </a:ext>
            </a:extLst>
          </p:cNvPr>
          <p:cNvCxnSpPr>
            <a:cxnSpLocks/>
          </p:cNvCxnSpPr>
          <p:nvPr/>
        </p:nvCxnSpPr>
        <p:spPr bwMode="auto">
          <a:xfrm flipH="1">
            <a:off x="5212080" y="2176272"/>
            <a:ext cx="320039" cy="1161288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19BCC35-6803-71B6-DABA-1E57F99ECFE5}"/>
              </a:ext>
            </a:extLst>
          </p:cNvPr>
          <p:cNvSpPr txBox="1"/>
          <p:nvPr/>
        </p:nvSpPr>
        <p:spPr>
          <a:xfrm>
            <a:off x="2971800" y="4736592"/>
            <a:ext cx="224028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Azienda Servizi</a:t>
            </a:r>
          </a:p>
        </p:txBody>
      </p:sp>
      <p:cxnSp>
        <p:nvCxnSpPr>
          <p:cNvPr id="24" name="Connettore 2 35">
            <a:extLst>
              <a:ext uri="{FF2B5EF4-FFF2-40B4-BE49-F238E27FC236}">
                <a16:creationId xmlns:a16="http://schemas.microsoft.com/office/drawing/2014/main" id="{E927C899-85C5-B192-E341-DA383A9F290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965960" y="3584448"/>
            <a:ext cx="914400" cy="1289304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ttore 2 35">
            <a:extLst>
              <a:ext uri="{FF2B5EF4-FFF2-40B4-BE49-F238E27FC236}">
                <a16:creationId xmlns:a16="http://schemas.microsoft.com/office/drawing/2014/main" id="{00EE2ED0-93DB-059F-540B-D1767BE871E1}"/>
              </a:ext>
            </a:extLst>
          </p:cNvPr>
          <p:cNvCxnSpPr>
            <a:cxnSpLocks/>
          </p:cNvCxnSpPr>
          <p:nvPr/>
        </p:nvCxnSpPr>
        <p:spPr bwMode="auto">
          <a:xfrm flipH="1">
            <a:off x="1965960" y="3328416"/>
            <a:ext cx="914400" cy="256031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Gruppi Classification: da uno a tre livelli</a:t>
            </a:r>
          </a:p>
        </p:txBody>
      </p:sp>
      <p:sp>
        <p:nvSpPr>
          <p:cNvPr id="43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4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F5BBA5-5CF0-DB9B-8641-A5F22D6D8EC1}"/>
              </a:ext>
            </a:extLst>
          </p:cNvPr>
          <p:cNvSpPr txBox="1"/>
          <p:nvPr/>
        </p:nvSpPr>
        <p:spPr>
          <a:xfrm>
            <a:off x="457200" y="5166360"/>
            <a:ext cx="1783080" cy="640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433A"/>
                </a:solidFill>
                <a:latin typeface="Calibri"/>
              </a:rPr>
              <a:t>Gruppo </a:t>
            </a:r>
            <a:r>
              <a:rPr lang="it-IT" sz="1500" b="1">
                <a:solidFill>
                  <a:srgbClr val="14433A"/>
                </a:solidFill>
                <a:latin typeface="Calibri"/>
              </a:rPr>
              <a:t>Fondazione</a:t>
            </a:r>
            <a:endParaRPr sz="1500" b="1">
              <a:solidFill>
                <a:srgbClr val="14433A"/>
              </a:solidFill>
              <a:latin typeface="Calibri"/>
            </a:endParaRPr>
          </a:p>
        </p:txBody>
      </p:sp>
      <p:cxnSp>
        <p:nvCxnSpPr>
          <p:cNvPr id="11" name="Connettore 2 35">
            <a:extLst>
              <a:ext uri="{FF2B5EF4-FFF2-40B4-BE49-F238E27FC236}">
                <a16:creationId xmlns:a16="http://schemas.microsoft.com/office/drawing/2014/main" id="{B70286B5-DE24-E65B-2A39-1DA9AD0830A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148840" y="5285232"/>
            <a:ext cx="3794760" cy="548640"/>
          </a:xfrm>
          <a:prstGeom prst="straightConnector1">
            <a:avLst/>
          </a:prstGeom>
          <a:ln w="12700">
            <a:solidFill>
              <a:srgbClr val="6A998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A2D73A7-407B-E4F4-C63C-758916D8E0CF}"/>
              </a:ext>
            </a:extLst>
          </p:cNvPr>
          <p:cNvSpPr txBox="1"/>
          <p:nvPr/>
        </p:nvSpPr>
        <p:spPr>
          <a:xfrm>
            <a:off x="5954548" y="5775918"/>
            <a:ext cx="224028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1500" b="1">
                <a:solidFill>
                  <a:srgbClr val="14433A"/>
                </a:solidFill>
                <a:latin typeface="Calibri"/>
              </a:rPr>
              <a:t>Gruppo editoria</a:t>
            </a:r>
            <a:endParaRPr sz="1500" b="1">
              <a:solidFill>
                <a:srgbClr val="14433A"/>
              </a:solidFill>
              <a:latin typeface="Calibri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7191D7C-7B26-E03B-D433-1F2F92B4BEA1}"/>
              </a:ext>
            </a:extLst>
          </p:cNvPr>
          <p:cNvSpPr txBox="1"/>
          <p:nvPr/>
        </p:nvSpPr>
        <p:spPr>
          <a:xfrm>
            <a:off x="8503920" y="5743205"/>
            <a:ext cx="2240280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1500" b="1">
                <a:solidFill>
                  <a:srgbClr val="14433A"/>
                </a:solidFill>
                <a:latin typeface="Calibri"/>
              </a:rPr>
              <a:t>Sede di Roma Alfa</a:t>
            </a:r>
            <a:endParaRPr sz="1500" b="1">
              <a:solidFill>
                <a:srgbClr val="14433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9717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0152-694D-0119-CF0B-AF066D08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8A64FE0-0A23-F4C7-0264-695EEB7BA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866469"/>
            <a:ext cx="2697480" cy="942181"/>
          </a:xfrm>
          <a:prstGeom prst="rect">
            <a:avLst/>
          </a:prstGeom>
        </p:spPr>
      </p:pic>
      <p:pic>
        <p:nvPicPr>
          <p:cNvPr id="5" name="Immagine 4" descr="Immagine che contiene testo, Carattere, numero, schermata&#10;&#10;Descrizione generata automaticamente">
            <a:extLst>
              <a:ext uri="{FF2B5EF4-FFF2-40B4-BE49-F238E27FC236}">
                <a16:creationId xmlns:a16="http://schemas.microsoft.com/office/drawing/2014/main" id="{377E0E86-B621-AEB6-556A-CC6D3C4CE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40336"/>
            <a:ext cx="7909560" cy="265164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691604-6351-0262-E00E-CB96DBF67358}"/>
              </a:ext>
            </a:extLst>
          </p:cNvPr>
          <p:cNvSpPr txBox="1"/>
          <p:nvPr/>
        </p:nvSpPr>
        <p:spPr>
          <a:xfrm>
            <a:off x="640080" y="1298448"/>
            <a:ext cx="8229600" cy="36576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2E7D4F"/>
                </a:solidFill>
                <a:latin typeface="Calibri"/>
              </a:rPr>
              <a:t>Esempio POC: Envizi_SetupConfig POCAzienda.xls. Specifiche da concordare con IBM Envizi.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gerarchia del POC nel template di configurazione</a:t>
            </a:r>
          </a:p>
        </p:txBody>
      </p:sp>
      <p:sp>
        <p:nvSpPr>
          <p:cNvPr id="8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2110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C28A7D1-9468-C122-CD37-354BBDA40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" t="-2253" r="14566" b="2253"/>
          <a:stretch>
            <a:fillRect/>
          </a:stretch>
        </p:blipFill>
        <p:spPr bwMode="auto">
          <a:xfrm>
            <a:off x="1898802" y="1261872"/>
            <a:ext cx="8409635" cy="438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gerarchia collega Group, SubGroup, Location e Account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640080" y="5779008"/>
            <a:ext cx="10881360" cy="326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Schema di esempio per la configurazione massiva, da concordare con il team IBM Envizi.</a:t>
            </a:r>
          </a:p>
        </p:txBody>
      </p:sp>
      <p:sp>
        <p:nvSpPr>
          <p:cNvPr id="1029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Modello dati </a:t>
            </a:r>
            <a:r>
              <a:rPr lang="it-IT" err="1"/>
              <a:t>Envizi</a:t>
            </a:r>
            <a:endParaRPr lang="it-IT"/>
          </a:p>
        </p:txBody>
      </p:sp>
      <p:sp>
        <p:nvSpPr>
          <p:cNvPr id="103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4632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Rounded Rectangle 3"/>
          <p:cNvSpPr/>
          <p:nvPr/>
        </p:nvSpPr>
        <p:spPr>
          <a:xfrm>
            <a:off x="626225" y="1974279"/>
            <a:ext cx="1481328" cy="56692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Mangimifici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8993" y="1974279"/>
            <a:ext cx="1481328" cy="566928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Riproduttori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71760" y="1974279"/>
            <a:ext cx="1481328" cy="56692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Incubatoi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4529" y="1974279"/>
            <a:ext cx="1481328" cy="566928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Allevamenti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7297" y="1974279"/>
            <a:ext cx="1481328" cy="56692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Trasformazione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0064" y="1974279"/>
            <a:ext cx="1481328" cy="566928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Logistica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2833" y="1974279"/>
            <a:ext cx="1481328" cy="56692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Distribuzione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716" y="1214520"/>
            <a:ext cx="855416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700" b="1" dirty="0">
                <a:solidFill>
                  <a:srgbClr val="2E7D4F"/>
                </a:solidFill>
                <a:latin typeface="Georgia"/>
              </a:rPr>
              <a:t>Group: consolidamento delle Location per funzione, geografia o altro criterio</a:t>
            </a:r>
            <a:endParaRPr sz="1700" b="1" dirty="0">
              <a:solidFill>
                <a:srgbClr val="2E7D4F"/>
              </a:solidFill>
              <a:latin typeface="Georgi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2894215"/>
            <a:ext cx="2606040" cy="205740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icon-location-cdf671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647" y="3304087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1986" y="3464298"/>
            <a:ext cx="4657914" cy="5608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it-IT" sz="2000" b="0" dirty="0">
                <a:solidFill>
                  <a:srgbClr val="5B6B70"/>
                </a:solidFill>
                <a:latin typeface="Calibri"/>
              </a:rPr>
              <a:t>Siti fisici</a:t>
            </a:r>
            <a:r>
              <a:rPr lang="it-IT" sz="2000" b="0">
                <a:solidFill>
                  <a:srgbClr val="5B6B70"/>
                </a:solidFill>
                <a:latin typeface="Calibri"/>
              </a:rPr>
              <a:t>: centri</a:t>
            </a:r>
            <a:r>
              <a:rPr lang="it-IT" sz="2000" b="0" dirty="0">
                <a:solidFill>
                  <a:srgbClr val="5B6B70"/>
                </a:solidFill>
                <a:latin typeface="Calibri"/>
              </a:rPr>
              <a:t> di responsabilità ESG</a:t>
            </a:r>
            <a:endParaRPr sz="2000" b="0" dirty="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899248" y="4560125"/>
            <a:ext cx="2606040" cy="205740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icon-flash-644d37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309" y="450171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78309" y="5141791"/>
            <a:ext cx="2148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600" b="1" dirty="0" err="1">
                <a:solidFill>
                  <a:srgbClr val="14433A"/>
                </a:solidFill>
                <a:latin typeface="Georgia"/>
              </a:rPr>
              <a:t>Environmental</a:t>
            </a:r>
            <a:r>
              <a:rPr lang="it-IT" sz="1600" b="1" dirty="0">
                <a:solidFill>
                  <a:srgbClr val="14433A"/>
                </a:solidFill>
                <a:latin typeface="Georgia"/>
              </a:rPr>
              <a:t> </a:t>
            </a:r>
            <a:r>
              <a:rPr sz="1600" b="1" dirty="0">
                <a:solidFill>
                  <a:srgbClr val="14433A"/>
                </a:solidFill>
                <a:latin typeface="Georgia"/>
              </a:rPr>
              <a:t>Account</a:t>
            </a:r>
            <a:r>
              <a:rPr lang="it-IT" sz="1600" b="1" dirty="0" err="1">
                <a:solidFill>
                  <a:srgbClr val="14433A"/>
                </a:solidFill>
                <a:latin typeface="Georgia"/>
              </a:rPr>
              <a:t>s</a:t>
            </a:r>
            <a:endParaRPr sz="1600" b="1" dirty="0">
              <a:solidFill>
                <a:srgbClr val="14433A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78309" y="5741975"/>
            <a:ext cx="2148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>
                <a:solidFill>
                  <a:srgbClr val="5B6B70"/>
                </a:solidFill>
                <a:latin typeface="Calibri"/>
              </a:rPr>
              <a:t>Energia </a:t>
            </a:r>
            <a:r>
              <a:rPr lang="it-IT" b="0">
                <a:solidFill>
                  <a:srgbClr val="5B6B70"/>
                </a:solidFill>
                <a:latin typeface="Calibri"/>
              </a:rPr>
              <a:t>elettrica</a:t>
            </a:r>
            <a:r>
              <a:rPr b="0" dirty="0">
                <a:solidFill>
                  <a:srgbClr val="5B6B70"/>
                </a:solidFill>
                <a:latin typeface="Calibri"/>
              </a:rPr>
              <a:t>, gas, </a:t>
            </a:r>
            <a:r>
              <a:rPr lang="it-IT" b="0">
                <a:solidFill>
                  <a:srgbClr val="5B6B70"/>
                </a:solidFill>
                <a:latin typeface="Calibri"/>
              </a:rPr>
              <a:t>acqua</a:t>
            </a:r>
            <a:r>
              <a:rPr b="0" dirty="0">
                <a:solidFill>
                  <a:srgbClr val="5B6B70"/>
                </a:solidFill>
                <a:latin typeface="Calibri"/>
              </a:rPr>
              <a:t> e </a:t>
            </a:r>
            <a:r>
              <a:rPr lang="it-IT" b="0">
                <a:solidFill>
                  <a:srgbClr val="5B6B70"/>
                </a:solidFill>
                <a:latin typeface="Calibri"/>
              </a:rPr>
              <a:t>altre</a:t>
            </a:r>
            <a:r>
              <a:rPr b="0" dirty="0">
                <a:solidFill>
                  <a:srgbClr val="5B6B70"/>
                </a:solidFill>
                <a:latin typeface="Calibri"/>
              </a:rPr>
              <a:t> </a:t>
            </a:r>
            <a:r>
              <a:rPr lang="it-IT" b="0">
                <a:solidFill>
                  <a:srgbClr val="5B6B70"/>
                </a:solidFill>
                <a:latin typeface="Calibri"/>
              </a:rPr>
              <a:t>utenze</a:t>
            </a:r>
            <a:endParaRPr b="0" dirty="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08888" y="4570291"/>
            <a:ext cx="2740221" cy="205740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" name="Picture 20" descr="icon-data-bar-vertical-0348ac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797" y="4501712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39797" y="5141791"/>
            <a:ext cx="21488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4433A"/>
                </a:solidFill>
                <a:latin typeface="Georgia"/>
              </a:rPr>
              <a:t>Business Driver</a:t>
            </a:r>
            <a:br>
              <a:rPr lang="it-IT" sz="1600" b="1" dirty="0">
                <a:solidFill>
                  <a:srgbClr val="14433A"/>
                </a:solidFill>
                <a:latin typeface="Georgia"/>
              </a:rPr>
            </a:br>
            <a:r>
              <a:rPr lang="it-IT" sz="1600" b="1" dirty="0">
                <a:solidFill>
                  <a:srgbClr val="14433A"/>
                </a:solidFill>
                <a:latin typeface="Georgia"/>
              </a:rPr>
              <a:t>KPI Accounts</a:t>
            </a:r>
            <a:endParaRPr sz="1600" b="1" dirty="0">
              <a:solidFill>
                <a:srgbClr val="14433A"/>
              </a:solidFill>
              <a:latin typeface="Georgi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39797" y="5741975"/>
            <a:ext cx="214884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0" dirty="0" err="1">
                <a:solidFill>
                  <a:srgbClr val="5B6B70"/>
                </a:solidFill>
                <a:latin typeface="Calibri"/>
              </a:rPr>
              <a:t>Produzione</a:t>
            </a:r>
            <a:r>
              <a:rPr b="0" dirty="0">
                <a:solidFill>
                  <a:srgbClr val="5B6B70"/>
                </a:solidFill>
                <a:latin typeface="Calibri"/>
              </a:rPr>
              <a:t>, </a:t>
            </a:r>
            <a:r>
              <a:rPr b="0" dirty="0" err="1">
                <a:solidFill>
                  <a:srgbClr val="5B6B70"/>
                </a:solidFill>
                <a:latin typeface="Calibri"/>
              </a:rPr>
              <a:t>personale</a:t>
            </a:r>
            <a:r>
              <a:rPr b="0" dirty="0">
                <a:solidFill>
                  <a:srgbClr val="5B6B70"/>
                </a:solidFill>
                <a:latin typeface="Calibri"/>
              </a:rPr>
              <a:t>, </a:t>
            </a:r>
            <a:r>
              <a:rPr b="0" dirty="0" err="1">
                <a:solidFill>
                  <a:srgbClr val="5B6B70"/>
                </a:solidFill>
                <a:latin typeface="Calibri"/>
              </a:rPr>
              <a:t>superficie</a:t>
            </a:r>
            <a:endParaRPr b="0" dirty="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20971" y="4570291"/>
            <a:ext cx="2770493" cy="205740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icon-target-fecf90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1285" y="4501712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01285" y="5141791"/>
            <a:ext cx="21488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600" b="1" dirty="0">
                <a:solidFill>
                  <a:srgbClr val="14433A"/>
                </a:solidFill>
                <a:latin typeface="Georgia"/>
              </a:rPr>
              <a:t>Social</a:t>
            </a:r>
            <a:r>
              <a:rPr lang="it-IT" sz="1600" b="1">
                <a:solidFill>
                  <a:srgbClr val="14433A"/>
                </a:solidFill>
                <a:latin typeface="Georgia"/>
              </a:rPr>
              <a:t> e </a:t>
            </a:r>
            <a:r>
              <a:rPr lang="it-IT" sz="1600" b="1" dirty="0">
                <a:solidFill>
                  <a:srgbClr val="14433A"/>
                </a:solidFill>
                <a:latin typeface="Georgia"/>
              </a:rPr>
              <a:t>Governance Accounts</a:t>
            </a:r>
            <a:br>
              <a:rPr lang="it-IT" sz="1600" b="1">
                <a:solidFill>
                  <a:srgbClr val="14433A"/>
                </a:solidFill>
                <a:latin typeface="Georgia"/>
              </a:rPr>
            </a:br>
            <a:endParaRPr sz="1600" b="1" dirty="0">
              <a:solidFill>
                <a:srgbClr val="14433A"/>
              </a:solidFill>
              <a:latin typeface="Georgi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01285" y="5728120"/>
            <a:ext cx="214884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it-IT" b="0">
                <a:solidFill>
                  <a:srgbClr val="5B6B70"/>
                </a:solidFill>
                <a:latin typeface="Calibri"/>
              </a:rPr>
              <a:t>Ore di </a:t>
            </a:r>
            <a:r>
              <a:rPr lang="it-IT" b="0" dirty="0">
                <a:solidFill>
                  <a:srgbClr val="5B6B70"/>
                </a:solidFill>
                <a:latin typeface="Calibri"/>
              </a:rPr>
              <a:t>formazione</a:t>
            </a:r>
            <a:r>
              <a:rPr lang="it-IT" b="0">
                <a:solidFill>
                  <a:srgbClr val="5B6B70"/>
                </a:solidFill>
                <a:latin typeface="Calibri"/>
              </a:rPr>
              <a:t> e numero di </a:t>
            </a:r>
            <a:r>
              <a:rPr lang="it-IT" b="0" dirty="0">
                <a:solidFill>
                  <a:srgbClr val="5B6B70"/>
                </a:solidFill>
                <a:latin typeface="Calibri"/>
              </a:rPr>
              <a:t>manager per genere</a:t>
            </a:r>
            <a:endParaRPr b="0" dirty="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ADC1D000-BEB3-D6A9-585E-E0F98FAADA3F}"/>
              </a:ext>
            </a:extLst>
          </p:cNvPr>
          <p:cNvSpPr txBox="1"/>
          <p:nvPr/>
        </p:nvSpPr>
        <p:spPr>
          <a:xfrm>
            <a:off x="6497766" y="3436007"/>
            <a:ext cx="4657914" cy="53427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it-IT" sz="2000" b="0">
                <a:solidFill>
                  <a:srgbClr val="5B6B70"/>
                </a:solidFill>
                <a:latin typeface="Calibri"/>
              </a:rPr>
              <a:t>Location virtuali: </a:t>
            </a:r>
            <a:r>
              <a:rPr lang="it-IT" sz="2000" b="0" dirty="0">
                <a:solidFill>
                  <a:srgbClr val="5B6B70"/>
                </a:solidFill>
                <a:latin typeface="Calibri"/>
              </a:rPr>
              <a:t>dati corporate</a:t>
            </a:r>
            <a:r>
              <a:rPr lang="it-IT" sz="2000" b="0">
                <a:solidFill>
                  <a:srgbClr val="5B6B70"/>
                </a:solidFill>
                <a:latin typeface="Calibri"/>
              </a:rPr>
              <a:t> nel POC</a:t>
            </a:r>
            <a:endParaRPr sz="2000" b="0" dirty="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ABE7D604-C41B-A18C-9569-65C263F9C222}"/>
              </a:ext>
            </a:extLst>
          </p:cNvPr>
          <p:cNvSpPr txBox="1"/>
          <p:nvPr/>
        </p:nvSpPr>
        <p:spPr>
          <a:xfrm>
            <a:off x="651986" y="2857802"/>
            <a:ext cx="855416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700" b="1">
                <a:solidFill>
                  <a:srgbClr val="2E7D4F"/>
                </a:solidFill>
                <a:latin typeface="Georgia"/>
              </a:rPr>
              <a:t>Location: attribuzione dei </a:t>
            </a:r>
            <a:r>
              <a:rPr lang="it-IT" sz="1700" b="1" dirty="0">
                <a:solidFill>
                  <a:srgbClr val="2E7D4F"/>
                </a:solidFill>
                <a:latin typeface="Georgia"/>
              </a:rPr>
              <a:t>dati ESG quantitativi</a:t>
            </a:r>
            <a:endParaRPr sz="1700" b="1" dirty="0">
              <a:solidFill>
                <a:srgbClr val="2E7D4F"/>
              </a:solidFill>
              <a:latin typeface="Georgia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D50A5F2-4135-2945-D931-03B60C58DE17}"/>
              </a:ext>
            </a:extLst>
          </p:cNvPr>
          <p:cNvSpPr txBox="1"/>
          <p:nvPr/>
        </p:nvSpPr>
        <p:spPr>
          <a:xfrm>
            <a:off x="676566" y="4119012"/>
            <a:ext cx="855416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700" b="1" dirty="0">
                <a:solidFill>
                  <a:srgbClr val="2E7D4F"/>
                </a:solidFill>
                <a:latin typeface="Georgia"/>
              </a:rPr>
              <a:t>Account</a:t>
            </a:r>
            <a:r>
              <a:rPr lang="it-IT" sz="1700" b="1">
                <a:solidFill>
                  <a:srgbClr val="2E7D4F"/>
                </a:solidFill>
                <a:latin typeface="Georgia"/>
              </a:rPr>
              <a:t>: </a:t>
            </a:r>
            <a:r>
              <a:rPr lang="it-IT" sz="1700" b="1" dirty="0">
                <a:solidFill>
                  <a:srgbClr val="2E7D4F"/>
                </a:solidFill>
                <a:latin typeface="Georgia"/>
              </a:rPr>
              <a:t>registrazione </a:t>
            </a:r>
            <a:r>
              <a:rPr lang="it-IT" sz="1700" b="1">
                <a:solidFill>
                  <a:srgbClr val="2E7D4F"/>
                </a:solidFill>
                <a:latin typeface="Georgia"/>
              </a:rPr>
              <a:t>dei </a:t>
            </a:r>
            <a:r>
              <a:rPr lang="it-IT" sz="1700" b="1" dirty="0">
                <a:solidFill>
                  <a:srgbClr val="2E7D4F"/>
                </a:solidFill>
                <a:latin typeface="Georgia"/>
              </a:rPr>
              <a:t>dati ESG quantitativi</a:t>
            </a:r>
            <a:endParaRPr sz="1700" b="1" dirty="0">
              <a:solidFill>
                <a:srgbClr val="2E7D4F"/>
              </a:solidFill>
              <a:latin typeface="Georgia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Modello dati </a:t>
            </a:r>
            <a:r>
              <a:rPr lang="it-IT" dirty="0" err="1"/>
              <a:t>Envizi</a:t>
            </a:r>
            <a:endParaRPr lang="it-IT" dirty="0"/>
          </a:p>
        </p:txBody>
      </p:sp>
      <p:sp>
        <p:nvSpPr>
          <p:cNvPr id="3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Caso </a:t>
            </a:r>
            <a:r>
              <a:rPr lang="it-IT" sz="2400" b="1">
                <a:solidFill>
                  <a:srgbClr val="073E31"/>
                </a:solidFill>
                <a:latin typeface="Calibri"/>
              </a:rPr>
              <a:t>Alfafood: esempio di configurazione</a:t>
            </a:r>
            <a:endParaRPr lang="it-IT" sz="2400" b="1" dirty="0">
              <a:solidFill>
                <a:srgbClr val="073E3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9047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97B3604-D1A7-7A96-7C5D-F0D858333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16" y="1441498"/>
            <a:ext cx="7072105" cy="399416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EC0B09-0CFD-B011-3336-36076C71798B}"/>
              </a:ext>
            </a:extLst>
          </p:cNvPr>
          <p:cNvSpPr txBox="1"/>
          <p:nvPr/>
        </p:nvSpPr>
        <p:spPr>
          <a:xfrm>
            <a:off x="8500905" y="1353312"/>
            <a:ext cx="25383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Setup massivo: concordare template e caricamento con il </a:t>
            </a:r>
            <a:r>
              <a:rPr lang="it-IT" dirty="0"/>
              <a:t>team </a:t>
            </a:r>
            <a:r>
              <a:rPr lang="it-IT"/>
              <a:t>IBM Envizi</a:t>
            </a:r>
            <a:r>
              <a:rPr lang="it-IT" dirty="0"/>
              <a:t>.</a:t>
            </a:r>
          </a:p>
          <a:p>
            <a:r>
              <a:rPr lang="it-IT"/>
              <a:t>L’Amministratore può poi gestire Group e Location dall’interfaccia</a:t>
            </a:r>
            <a:r>
              <a:rPr lang="it-IT" dirty="0"/>
              <a:t>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39FEFF-4F98-DA41-4AD5-8E7929BC7860}"/>
              </a:ext>
            </a:extLst>
          </p:cNvPr>
          <p:cNvSpPr txBox="1"/>
          <p:nvPr/>
        </p:nvSpPr>
        <p:spPr>
          <a:xfrm>
            <a:off x="1700784" y="5477256"/>
            <a:ext cx="9692640" cy="7132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it-IT" sz="1400"/>
              <a:t>Caricamento: usare il percorso e il formato previsti per il template abilitato nell’istanza.</a:t>
            </a:r>
          </a:p>
          <a:p>
            <a:endParaRPr lang="it-IT" sz="1400" dirty="0"/>
          </a:p>
          <a:p>
            <a:pPr>
              <a:defRPr/>
            </a:pPr>
            <a:r>
              <a:rPr lang="it-IT" sz="1250"/>
              <a:t>Nome file e versioni: seguire le specifiche concordate per il POC, senza assumere una regola generale.</a:t>
            </a:r>
          </a:p>
        </p:txBody>
      </p:sp>
      <p:graphicFrame>
        <p:nvGraphicFramePr>
          <p:cNvPr id="7" name="Oggetto 6">
            <a:extLst>
              <a:ext uri="{FF2B5EF4-FFF2-40B4-BE49-F238E27FC236}">
                <a16:creationId xmlns:a16="http://schemas.microsoft.com/office/drawing/2014/main" id="{E2F9D60B-8D19-1E64-CA03-828C22DDE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726396"/>
              </p:ext>
            </p:extLst>
          </p:nvPr>
        </p:nvGraphicFramePr>
        <p:xfrm>
          <a:off x="9062519" y="4880988"/>
          <a:ext cx="965200" cy="554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showAsIcon="1" r:id="rId4" imgW="965200" imgH="609600" progId="Excel.Sheet.12">
                  <p:embed/>
                </p:oleObj>
              </mc:Choice>
              <mc:Fallback>
                <p:oleObj name="Foglio di lavoro" showAsIcon="1" r:id="rId4" imgW="965200" imgH="609600" progId="Excel.Sheet.12">
                  <p:embed/>
                  <p:pic>
                    <p:nvPicPr>
                      <p:cNvPr id="7" name="Oggetto 6">
                        <a:extLst>
                          <a:ext uri="{FF2B5EF4-FFF2-40B4-BE49-F238E27FC236}">
                            <a16:creationId xmlns:a16="http://schemas.microsoft.com/office/drawing/2014/main" id="{E2F9D60B-8D19-1E64-CA03-828C22DDE2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62519" y="4880988"/>
                        <a:ext cx="965200" cy="554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D8634F0B-E1A6-AF5B-D331-64D4F31C3B9A}"/>
              </a:ext>
            </a:extLst>
          </p:cNvPr>
          <p:cNvSpPr/>
          <p:nvPr/>
        </p:nvSpPr>
        <p:spPr>
          <a:xfrm>
            <a:off x="9062519" y="29336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Modello dati </a:t>
            </a:r>
            <a:r>
              <a:rPr lang="it-IT" dirty="0" err="1"/>
              <a:t>Envizi</a:t>
            </a:r>
            <a:endParaRPr lang="it-IT" dirty="0"/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020D5A2F-89A3-06D5-D334-2D4430BF376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Demo: template per Location e Group di primo livello</a:t>
            </a:r>
          </a:p>
        </p:txBody>
      </p:sp>
    </p:spTree>
    <p:extLst>
      <p:ext uri="{BB962C8B-B14F-4D97-AF65-F5344CB8AC3E}">
        <p14:creationId xmlns:p14="http://schemas.microsoft.com/office/powerpoint/2010/main" val="2060281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7111A8C-938B-ECD4-8F6D-D984EFDC6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63" y="1005840"/>
            <a:ext cx="2715937" cy="5394960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E55034F0-9177-38C3-A9CC-F3FD5E6D78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417" y="1005840"/>
            <a:ext cx="6939900" cy="171385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2C0B402-18FF-5C60-F407-DE1CBD4CC7D9}"/>
              </a:ext>
            </a:extLst>
          </p:cNvPr>
          <p:cNvSpPr txBox="1"/>
          <p:nvPr/>
        </p:nvSpPr>
        <p:spPr>
          <a:xfrm>
            <a:off x="3877056" y="2843784"/>
            <a:ext cx="7543800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it-IT" sz="1250"/>
              <a:t>Compilazione del template specifico del POC</a:t>
            </a:r>
          </a:p>
          <a:p>
            <a:pPr marL="342900" indent="-342900">
              <a:buAutoNum type="alphaLcParenR"/>
              <a:defRPr/>
            </a:pPr>
            <a:r>
              <a:rPr lang="it-IT" sz="1250"/>
              <a:t>Instance Name: usare il valore concordato per l’istanza.</a:t>
            </a:r>
          </a:p>
          <a:p>
            <a:pPr marL="342900" indent="-342900">
              <a:buAutoNum type="alphaLcParenR"/>
              <a:defRPr/>
            </a:pPr>
            <a:r>
              <a:rPr lang="it-IT" sz="1250"/>
              <a:t>Group Type: Classification per la struttura principale, Portfolio per viste secondarie.</a:t>
            </a:r>
          </a:p>
          <a:p>
            <a:pPr marL="342900" indent="-342900">
              <a:buAutoNum type="alphaLcParenR"/>
              <a:defRPr/>
            </a:pPr>
            <a:r>
              <a:rPr lang="it-IT" sz="1250"/>
              <a:t>Group Hierarchy Name: usare la denominazione concordata con il team di progetto.</a:t>
            </a:r>
          </a:p>
          <a:p>
            <a:pPr marL="342900" indent="-342900">
              <a:buAutoNum type="alphaLcParenR"/>
              <a:defRPr/>
            </a:pPr>
            <a:r>
              <a:rPr lang="it-IT" sz="1250"/>
              <a:t>Definire da uno a tre livelli di Group. Assegnare le Location al livello più basso di ciascun ramo.</a:t>
            </a:r>
          </a:p>
          <a:p>
            <a:pPr marL="342900" indent="-342900">
              <a:buAutoNum type="alphaLcParenR"/>
              <a:defRPr/>
            </a:pPr>
            <a:r>
              <a:rPr lang="it-IT" sz="1250"/>
              <a:t>Campi obbligatori e ordine delle colonne dipendono dalla versione del template. Verificarli con IBM Envizi.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21AD777-816E-6B94-EBE1-C9524A5CE673}"/>
              </a:ext>
            </a:extLst>
          </p:cNvPr>
          <p:cNvSpPr/>
          <p:nvPr/>
        </p:nvSpPr>
        <p:spPr>
          <a:xfrm>
            <a:off x="1130968" y="1344483"/>
            <a:ext cx="1419727" cy="221598"/>
          </a:xfrm>
          <a:prstGeom prst="ellipse">
            <a:avLst/>
          </a:prstGeom>
          <a:noFill/>
          <a:ln w="635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F7C0B920-D035-9EA8-9416-77C8CEBE4CC4}"/>
              </a:ext>
            </a:extLst>
          </p:cNvPr>
          <p:cNvCxnSpPr>
            <a:cxnSpLocks/>
          </p:cNvCxnSpPr>
          <p:nvPr/>
        </p:nvCxnSpPr>
        <p:spPr>
          <a:xfrm>
            <a:off x="2456329" y="1438010"/>
            <a:ext cx="14178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magine 19">
            <a:extLst>
              <a:ext uri="{FF2B5EF4-FFF2-40B4-BE49-F238E27FC236}">
                <a16:creationId xmlns:a16="http://schemas.microsoft.com/office/drawing/2014/main" id="{DB2BE97E-AF8C-185A-BEC0-5183EF3F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125" y="2285958"/>
            <a:ext cx="1547202" cy="867469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328F422-4812-44F1-5E1C-908F5B542932}"/>
              </a:ext>
            </a:extLst>
          </p:cNvPr>
          <p:cNvSpPr txBox="1"/>
          <p:nvPr/>
        </p:nvSpPr>
        <p:spPr>
          <a:xfrm>
            <a:off x="3794760" y="5248656"/>
            <a:ext cx="7315200" cy="4770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1250"/>
              <a:t>Paese e regione della Location influiscono sui fattori applicabili. La selezione considera anche tipo di dato, set di fattori e periodo. Country da solo non determina l’uso dei fattori IEA.</a:t>
            </a:r>
            <a:endParaRPr lang="it-IT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BC0C8410-E95D-B885-0A99-B70E39198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524" y="2177634"/>
            <a:ext cx="2823586" cy="66904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E06B8B7-F1F8-CBAC-1A44-12A5A867A0D5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Modello dati </a:t>
            </a:r>
            <a:r>
              <a:rPr lang="it-IT" dirty="0" err="1"/>
              <a:t>Envizi</a:t>
            </a:r>
            <a:endParaRPr lang="it-IT" dirty="0"/>
          </a:p>
        </p:txBody>
      </p:sp>
      <p:sp>
        <p:nvSpPr>
          <p:cNvPr id="2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872ECAF0-9F93-BF48-4C5B-FB402B556E78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Template del POC: campi e verifiche</a:t>
            </a:r>
          </a:p>
        </p:txBody>
      </p:sp>
    </p:spTree>
    <p:extLst>
      <p:ext uri="{BB962C8B-B14F-4D97-AF65-F5344CB8AC3E}">
        <p14:creationId xmlns:p14="http://schemas.microsoft.com/office/powerpoint/2010/main" val="413761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7264B6-68F6-6CC7-A1BD-1AE3F006D35F}"/>
              </a:ext>
            </a:extLst>
          </p:cNvPr>
          <p:cNvSpPr txBox="1"/>
          <p:nvPr/>
        </p:nvSpPr>
        <p:spPr>
          <a:xfrm>
            <a:off x="640080" y="1389888"/>
            <a:ext cx="1060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Le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Location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 rappresentano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edifici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proprietà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beni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o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siti dell’organizzazione. Possono anche raccogliere virtualmente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dati di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Account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non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associati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a un singolo sito fisico.</a:t>
            </a:r>
          </a:p>
          <a:p>
            <a:pPr>
              <a:buNone/>
            </a:pPr>
            <a:endParaRPr lang="it-IT" sz="180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Nel POC Alfafood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le Location virtuali raccolgono alcuni dati corporate e Scope 3. Questa scelta progettuale richiede coerenza con il perimetro di reporting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il Paese e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la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regione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dei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dati.</a:t>
            </a:r>
          </a:p>
          <a:p>
            <a:pPr>
              <a:buNone/>
            </a:pPr>
            <a:endParaRPr lang="it-IT"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Per i dati di spesa Scope 3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IBM consiglia una Location 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di </a:t>
            </a:r>
            <a:r>
              <a:rPr lang="it-IT" sz="1800">
                <a:effectLst/>
                <a:latin typeface="+mn-lt"/>
                <a:ea typeface="Times New Roman" panose="02020603050405020304" pitchFamily="18" charset="0"/>
              </a:rPr>
              <a:t>tipo Supplier per ogni Paese in cui hanno sede i fornitori. La regione della Location determina i fattori geografici applicabili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965D1E2-2FB5-802B-B0B0-F12200549BAD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Location fisiche e virtuali</a:t>
            </a:r>
          </a:p>
        </p:txBody>
      </p:sp>
    </p:spTree>
    <p:extLst>
      <p:ext uri="{BB962C8B-B14F-4D97-AF65-F5344CB8AC3E}">
        <p14:creationId xmlns:p14="http://schemas.microsoft.com/office/powerpoint/2010/main" val="2626408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966960" y="109728"/>
            <a:ext cx="2011680" cy="256032"/>
          </a:xfrm>
          <a:prstGeom prst="line">
            <a:avLst/>
          </a:prstGeom>
          <a:ln w="10160">
            <a:solidFill>
              <a:srgbClr val="DC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966960" y="201168"/>
            <a:ext cx="2011680" cy="256032"/>
          </a:xfrm>
          <a:prstGeom prst="line">
            <a:avLst/>
          </a:prstGeom>
          <a:ln w="10160">
            <a:solidFill>
              <a:srgbClr val="DC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966960" y="292608"/>
            <a:ext cx="2011680" cy="256032"/>
          </a:xfrm>
          <a:prstGeom prst="line">
            <a:avLst/>
          </a:prstGeom>
          <a:ln w="10160">
            <a:solidFill>
              <a:srgbClr val="DC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966960" y="384048"/>
            <a:ext cx="2011680" cy="256032"/>
          </a:xfrm>
          <a:prstGeom prst="line">
            <a:avLst/>
          </a:prstGeom>
          <a:ln w="10160">
            <a:solidFill>
              <a:srgbClr val="DC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66960" y="1005840"/>
            <a:ext cx="2011680" cy="256032"/>
          </a:xfrm>
          <a:prstGeom prst="line">
            <a:avLst/>
          </a:prstGeom>
          <a:ln w="10160">
            <a:solidFill>
              <a:srgbClr val="DCE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E8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6547104"/>
            <a:ext cx="42062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B6B70"/>
                </a:solidFill>
                <a:latin typeface="Aptos"/>
              </a:defRPr>
            </a:pPr>
            <a:r>
              <a:t>IBM Envizi · Alfafood POC · Modello organizzativo</a:t>
            </a:r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B6BC289E-B284-7203-683B-4A4EB2C7F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92" y="1343272"/>
            <a:ext cx="11773748" cy="3948415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4A9EF723-22C4-CF17-D223-B5480790F3FC}"/>
              </a:ext>
            </a:extLst>
          </p:cNvPr>
          <p:cNvSpPr/>
          <p:nvPr/>
        </p:nvSpPr>
        <p:spPr>
          <a:xfrm>
            <a:off x="9034272" y="173736"/>
            <a:ext cx="3026664" cy="265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Modello dati </a:t>
            </a:r>
            <a:r>
              <a:rPr lang="it-IT" dirty="0" err="1"/>
              <a:t>Envizi</a:t>
            </a:r>
            <a:endParaRPr lang="it-IT" dirty="0"/>
          </a:p>
        </p:txBody>
      </p:sp>
      <p:sp>
        <p:nvSpPr>
          <p:cNvPr id="5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Nel POC, le Location virtuali raccolgono i dati corporate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3F4CC1D-584E-2E76-83CC-0FB2C853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535" y="1795162"/>
            <a:ext cx="3577593" cy="460563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81CBC3A-E1C2-BC51-929C-979DFBAE2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67" y="2079042"/>
            <a:ext cx="3949393" cy="40209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33A10C8-CC02-CECB-0A7F-A1C67369A8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73" y="1005840"/>
            <a:ext cx="7302202" cy="1073202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BC6BACC-2292-BE4A-4799-278CAB429325}"/>
              </a:ext>
            </a:extLst>
          </p:cNvPr>
          <p:cNvSpPr/>
          <p:nvPr/>
        </p:nvSpPr>
        <p:spPr>
          <a:xfrm>
            <a:off x="9162439" y="140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Modello dati </a:t>
            </a:r>
            <a:r>
              <a:rPr lang="it-IT" dirty="0" err="1"/>
              <a:t>Envizi</a:t>
            </a:r>
            <a:endParaRPr lang="it-IT" dirty="0"/>
          </a:p>
        </p:txBody>
      </p:sp>
      <p:sp>
        <p:nvSpPr>
          <p:cNvPr id="1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4A9C3BB3-2172-0D07-7635-B15B4844006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Esempio POC: la gerarchia configurata in Envizi</a:t>
            </a:r>
          </a:p>
        </p:txBody>
      </p:sp>
    </p:spTree>
    <p:extLst>
      <p:ext uri="{BB962C8B-B14F-4D97-AF65-F5344CB8AC3E}">
        <p14:creationId xmlns:p14="http://schemas.microsoft.com/office/powerpoint/2010/main" val="377470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52C37DE3-C589-8A2B-F43D-8BF976E10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633" y="1060704"/>
            <a:ext cx="2452244" cy="520293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7DA7332-68C5-5BB6-ED9F-41DFD3752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817" y="1060704"/>
            <a:ext cx="2549880" cy="520293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D99F513-E3D3-58CC-F5B2-8161962D5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668" y="1060704"/>
            <a:ext cx="2603967" cy="5202936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DF2CEF33-F1B3-5BE0-4232-67298F14B95E}"/>
              </a:ext>
            </a:extLst>
          </p:cNvPr>
          <p:cNvSpPr/>
          <p:nvPr/>
        </p:nvSpPr>
        <p:spPr>
          <a:xfrm>
            <a:off x="1791524" y="3915294"/>
            <a:ext cx="2698376" cy="1882002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5483CA0-60DB-6641-85A9-BF84F301D622}"/>
              </a:ext>
            </a:extLst>
          </p:cNvPr>
          <p:cNvSpPr/>
          <p:nvPr/>
        </p:nvSpPr>
        <p:spPr>
          <a:xfrm>
            <a:off x="4746812" y="3855002"/>
            <a:ext cx="2698376" cy="1458378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E828341-87CF-AA21-4E50-7DE65DE3702F}"/>
              </a:ext>
            </a:extLst>
          </p:cNvPr>
          <p:cNvSpPr/>
          <p:nvPr/>
        </p:nvSpPr>
        <p:spPr>
          <a:xfrm>
            <a:off x="8151001" y="4589841"/>
            <a:ext cx="2698376" cy="91669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Esempio POC: i</a:t>
            </a:r>
            <a:r>
              <a:rPr sz="2400" b="1" dirty="0">
                <a:solidFill>
                  <a:srgbClr val="073E31"/>
                </a:solidFill>
                <a:latin typeface="Calibri"/>
              </a:rPr>
              <a:t> </a:t>
            </a:r>
            <a:r>
              <a:rPr lang="it-IT" sz="2400" b="1">
                <a:solidFill>
                  <a:srgbClr val="073E31"/>
                </a:solidFill>
                <a:latin typeface="Calibri"/>
              </a:rPr>
              <a:t>gruppi</a:t>
            </a:r>
            <a:r>
              <a:rPr sz="2400" b="1" dirty="0">
                <a:solidFill>
                  <a:srgbClr val="073E31"/>
                </a:solidFill>
                <a:latin typeface="Calibri"/>
              </a:rPr>
              <a:t> </a:t>
            </a:r>
            <a:r>
              <a:rPr lang="it-IT" sz="2400" b="1">
                <a:solidFill>
                  <a:srgbClr val="073E31"/>
                </a:solidFill>
                <a:latin typeface="Calibri"/>
              </a:rPr>
              <a:t>Alfafood </a:t>
            </a:r>
            <a:r>
              <a:rPr sz="2400" b="1" dirty="0">
                <a:solidFill>
                  <a:srgbClr val="073E31"/>
                </a:solidFill>
                <a:latin typeface="Calibri"/>
              </a:rPr>
              <a:t>in </a:t>
            </a:r>
            <a:r>
              <a:rPr lang="it-IT" sz="2400" b="1">
                <a:solidFill>
                  <a:srgbClr val="073E31"/>
                </a:solidFill>
                <a:latin typeface="Calibri"/>
              </a:rPr>
              <a:t>Envizi</a:t>
            </a:r>
            <a:endParaRPr sz="2400" b="1" dirty="0">
              <a:solidFill>
                <a:srgbClr val="073E3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8494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r>
              <a:rPr lang="it-IT" sz="2000" b="0" i="0" dirty="0" err="1">
                <a:solidFill>
                  <a:srgbClr val="073E31"/>
                </a:solidFill>
                <a:latin typeface="Calibri"/>
              </a:rPr>
              <a:t>felice_petrignano</a:t>
            </a:r>
            <a:r>
              <a:rPr sz="2000" b="0" i="0" dirty="0">
                <a:solidFill>
                  <a:srgbClr val="073E31"/>
                </a:solidFill>
                <a:latin typeface="Calibri"/>
              </a:rPr>
              <a:t>@</a:t>
            </a:r>
            <a:r>
              <a:rPr lang="it-IT" sz="2000" b="0" i="0" dirty="0" err="1">
                <a:solidFill>
                  <a:srgbClr val="073E31"/>
                </a:solidFill>
                <a:latin typeface="Calibri"/>
              </a:rPr>
              <a:t>it.ibm.com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27264B6-68F6-6CC7-A1BD-1AE3F006D35F}"/>
              </a:ext>
            </a:extLst>
          </p:cNvPr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900" b="1" u="sng">
                <a:solidFill>
                  <a:srgbClr val="006B50"/>
                </a:solidFill>
                <a:latin typeface="Calibri"/>
                <a:hlinkClick r:id="rId3"/>
              </a:rPr>
              <a:t>Configurazione e avvio per gli amministratori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Gerarchia organizzativa e setup massivo con il team IBM Envizi.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900" b="1" u="sng">
                <a:solidFill>
                  <a:srgbClr val="006B50"/>
                </a:solidFill>
                <a:latin typeface="Calibri"/>
                <a:hlinkClick r:id="rId4"/>
              </a:rPr>
              <a:t>Gruppi Classification e Portfolio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Struttura principale, viste secondarie e percentuali di reporting.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900" b="1" u="sng">
                <a:solidFill>
                  <a:srgbClr val="006B50"/>
                </a:solidFill>
                <a:latin typeface="Calibri"/>
                <a:hlinkClick r:id="rId5"/>
              </a:rPr>
              <a:t>Configurazione delle Location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Paese, regione e Location di tipo Supplier per dati di spesa Scope 3.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900" b="1" u="sng">
                <a:solidFill>
                  <a:srgbClr val="006B50"/>
                </a:solidFill>
                <a:latin typeface="Calibri"/>
                <a:hlinkClick r:id="rId6"/>
              </a:rPr>
              <a:t>Account e Account Style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Record, normalizzazione mensile e regole di acquisizione.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900" b="1" u="sng">
                <a:solidFill>
                  <a:srgbClr val="006B50"/>
                </a:solidFill>
                <a:latin typeface="Calibri"/>
                <a:hlinkClick r:id="rId7"/>
              </a:rPr>
              <a:t>Configurazione dei Meter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Service Point, serie temporali e acquisizione dei consumi.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900" b="1" u="sng">
                <a:solidFill>
                  <a:srgbClr val="006B50"/>
                </a:solidFill>
                <a:latin typeface="Calibri"/>
                <a:hlinkClick r:id="rId8"/>
              </a:rPr>
              <a:t>Tag di consolidamento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06671"/>
                </a:solidFill>
                <a:latin typeface="Calibri"/>
              </a:rPr>
              <a:t>Quote e date di efficacia per controllare il contributo ai report.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965D1E2-2FB5-802B-B0B0-F12200549BAD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Documentazione ufficiale IBM Envizi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3322</Words>
  <Application>Microsoft Macintosh PowerPoint</Application>
  <PresentationFormat>Widescreen</PresentationFormat>
  <Paragraphs>475</Paragraphs>
  <Slides>24</Slides>
  <Notes>23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Georgia</vt:lpstr>
      <vt:lpstr>IBM Plex Sans</vt:lpstr>
      <vt:lpstr>IBM Plex Sans Light</vt:lpstr>
      <vt:lpstr>Times New Roman</vt:lpstr>
      <vt:lpstr>Tema di Office</vt:lpstr>
      <vt:lpstr>Foglio di lavoro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2026-10-08T15:34:04Z</dcterms:created>
  <dcterms:modified xsi:type="dcterms:W3CDTF">2026-10-09T12:57:52Z</dcterms:modified>
</cp:coreProperties>
</file>