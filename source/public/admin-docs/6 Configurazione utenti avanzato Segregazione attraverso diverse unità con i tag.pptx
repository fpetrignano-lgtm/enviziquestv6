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1"/>
  </p:notesMasterIdLst>
  <p:sldIdLst>
    <p:sldId id="635" r:id="rId3"/>
    <p:sldId id="260" r:id="rId4"/>
    <p:sldId id="268" r:id="rId5"/>
    <p:sldId id="524" r:id="rId6"/>
    <p:sldId id="298" r:id="rId7"/>
    <p:sldId id="274" r:id="rId8"/>
    <p:sldId id="440" r:id="rId9"/>
    <p:sldId id="583" r:id="rId10"/>
    <p:sldId id="584" r:id="rId11"/>
    <p:sldId id="585" r:id="rId12"/>
    <p:sldId id="586" r:id="rId13"/>
    <p:sldId id="587" r:id="rId14"/>
    <p:sldId id="588" r:id="rId15"/>
    <p:sldId id="589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402" r:id="rId29"/>
    <p:sldId id="2147472656" r:id="rId3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877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EE89-4BDF-4A13-1CBE-7385029C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PlaceHolder 1">
            <a:extLst>
              <a:ext uri="{FF2B5EF4-FFF2-40B4-BE49-F238E27FC236}">
                <a16:creationId xmlns:a16="http://schemas.microsoft.com/office/drawing/2014/main" id="{0FC1C29E-C31A-687F-CDAF-D242CBC89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4" name="PlaceHolder 2">
            <a:extLst>
              <a:ext uri="{FF2B5EF4-FFF2-40B4-BE49-F238E27FC236}">
                <a16:creationId xmlns:a16="http://schemas.microsoft.com/office/drawing/2014/main" id="{691857AE-C190-C60B-BF49-21FABE8801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endParaRPr lang="it-IT"/>
          </a:p>
          <a:p>
            <a:r>
              <a:rPr lang="it-IT"/>
              <a:t>[Sources]</a:t>
            </a:r>
          </a:p>
          <a:p>
            <a:r>
              <a:rPr lang="it-IT"/>
              <a:t>https://www.ibm.com/docs/en/envizi-esg-suite?topic=administering-setting-up-custom-tags</a:t>
            </a:r>
          </a:p>
          <a:p>
            <a:r>
              <a:rPr lang="it-IT"/>
              <a:t>https://www.ibm.com/docs/en/envizi-esg-suite?topic=data-tag-options</a:t>
            </a:r>
          </a:p>
          <a:p>
            <a:r>
              <a:rPr lang="it-IT"/>
              <a:t>https://www.ibm.com/docs/en/envizi-esg-suite?topic=administering-setting-up-users</a:t>
            </a:r>
          </a:p>
          <a:p>
            <a:r>
              <a:rPr lang="it-IT"/>
              <a:t>Consultazione: 9 ottobre 2026</a:t>
            </a:r>
          </a:p>
          <a:p>
            <a:r>
              <a:rPr lang="it-IT"/>
              <a:t>[/Sources]</a:t>
            </a:r>
          </a:p>
        </p:txBody>
      </p:sp>
      <p:sp>
        <p:nvSpPr>
          <p:cNvPr id="4255" name="PlaceHolder 3">
            <a:extLst>
              <a:ext uri="{FF2B5EF4-FFF2-40B4-BE49-F238E27FC236}">
                <a16:creationId xmlns:a16="http://schemas.microsoft.com/office/drawing/2014/main" id="{76DF4804-1DC9-30B7-43A0-15FD23AC73A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586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administering-setting-up-custom-tags</a:t>
            </a:r>
          </a:p>
          <a:p>
            <a:r>
              <a:t>https://www.ibm.com/docs/en/envizi-esg-suite?topic=</a:t>
            </a:r>
            <a:r>
              <a:rPr lang="it-IT"/>
              <a:t>data-tag-options</a:t>
            </a:r>
          </a:p>
          <a:p>
            <a:r>
              <a:t>https://www.ibm.com/docs/en/envizi-esg-suite?topic=</a:t>
            </a:r>
            <a:r>
              <a:rPr lang="it-IT"/>
              <a:t>administering-setting-up-users</a:t>
            </a:r>
            <a:endParaRPr/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administering-setting-up-custom-tags</a:t>
            </a:r>
          </a:p>
          <a:p>
            <a:r>
              <a:rPr lang="it-IT"/>
              <a:t>https://www.ibm.com/docs/en/envizi-esg-suite?topic=data-tag-options</a:t>
            </a:r>
          </a:p>
          <a:p>
            <a:r>
              <a:t>https://www.ibm.com/docs/en/envizi-esg-suite?topic=</a:t>
            </a:r>
            <a:r>
              <a:rPr lang="it-IT"/>
              <a:t>administering-setting-up-users</a:t>
            </a:r>
            <a:endParaRPr/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administering-setting-up-custom-tags</a:t>
            </a:r>
          </a:p>
          <a:p>
            <a:r>
              <a:rPr lang="it-IT"/>
              <a:t>https://www.ibm.com/docs/en/envizi-esg-suite?topic=data-tag-options</a:t>
            </a:r>
          </a:p>
          <a:p>
            <a:r>
              <a:t>https://www.ibm.com/docs/en/envizi-esg-suite?topic=</a:t>
            </a:r>
            <a:r>
              <a:rPr lang="it-IT"/>
              <a:t>administering-setting-up-users</a:t>
            </a:r>
            <a:endParaRPr/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administering-setting-up-custom-tags</a:t>
            </a:r>
          </a:p>
          <a:p>
            <a:r>
              <a:t>https://www.ibm.com/docs/en/envizi-esg-suite?topic=</a:t>
            </a:r>
            <a:r>
              <a:rPr lang="it-IT"/>
              <a:t>data-tag-options</a:t>
            </a:r>
          </a:p>
          <a:p>
            <a:r>
              <a:t>https://www.ibm.com/docs/en/envizi-esg-suite?topic=</a:t>
            </a:r>
            <a:r>
              <a:rPr lang="it-IT"/>
              <a:t>managing-tagging-data</a:t>
            </a:r>
            <a:endParaRPr/>
          </a:p>
          <a:p>
            <a:r>
              <a:t>https://www.ibm.com/docs/en/envizi-esg-suite?topic=</a:t>
            </a:r>
            <a:r>
              <a:rPr lang="it-IT"/>
              <a:t>administering-setting-up-users</a:t>
            </a:r>
            <a:endParaRPr/>
          </a:p>
          <a:p>
            <a:r>
              <a:t>https://www.ibm.com/docs/en/envizi-esg-suite?topic=</a:t>
            </a:r>
            <a:r>
              <a:rPr lang="it-IT"/>
              <a:t>users-creating-contacts-logins</a:t>
            </a:r>
            <a:endParaRPr/>
          </a:p>
          <a:p>
            <a:r>
              <a:t>https://www.ibm.com/docs/en/envizi-esg-suite?topic=</a:t>
            </a:r>
            <a:r>
              <a:rPr lang="it-IT"/>
              <a:t>users-creating-in-single-form</a:t>
            </a:r>
          </a:p>
          <a:p>
            <a:r>
              <a:rPr lang="it-IT"/>
              <a:t>Consultazione: 9 ottobre 2026</a:t>
            </a:r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2CD5BE-E354-EA96-E64F-F0AC23732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881D665-4F2A-B398-CF3B-E36463680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2C9EF8-4D18-94A5-2298-F4CF4888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BB4CE8-49F6-D42C-4392-EC366D96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9CD48A-D0E6-FB05-1933-269EA049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051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A41227-707B-840F-C5B6-326D4E78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13DBE6-D642-FCBA-19A1-752B14C47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BFD7EA-1030-8813-65B5-7A81C8D3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140446-FFF6-17E5-ACF8-AAF75FF37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5132EE-4F7E-3128-8E7B-30843F245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085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166E11-7E16-C139-0F93-275D6EDC7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CBA044-A369-C235-DB9D-AE5A05E5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10939B-4D64-4D30-014F-39C4CA451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4D1C52-4AE4-F41A-A00D-1D788256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A93982-01C2-35D3-029E-EC975C6E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3967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F5A6AE-11FD-5A63-2E08-DF2C2B7D9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0F067A-E360-CAC1-1F32-DB72D71F4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EBBD238-8593-B0CD-DBC2-CB69E6475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8770B1B-0690-0BEC-B058-B0DBC7FD3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8806F3C-4249-4004-F93C-27862B6F6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0CB48D6-B592-58F5-C76E-CF741432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530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EDDB3F-EF4D-C16F-E98B-FD693A6D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8E7AE9-A7F7-0347-42AB-8AD7BCE1C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D4C9A04-81F9-74C1-DB8D-1D5CDA681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4057E23-D517-E2C4-48F8-812427F10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194130F-0369-F665-444A-1AEEB290D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19CB378-0BBE-7A6A-9A27-16938700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98C14BD-DCA0-E70E-E566-FB849B7E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3FE4936-13E5-3E5A-A8E0-8497C7CD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5921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CAA408-E97E-B094-5112-817B204B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4FDFA8E-07AC-4B21-B497-CC9ADDF1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A25898B-B35D-550D-EDEB-B7534B4A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A0BEA91-934D-06ED-D3B7-5F4ED0DF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5608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898587A-16A6-8E53-EDC2-DC408C31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84954C8-60E0-744B-BED1-4574E591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05B2A9-ACC0-F125-6C44-B9F7C50E6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650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4EE919-3668-774A-93E4-D3767B1E8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4AB452-9D05-AE91-C6D4-1413437E1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02CAF97-D7AC-F7AE-3B0D-5E4E1A230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D7664DB-3F60-869A-293D-E15D1FC2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85D03E-D3B8-FA59-A614-971B4252B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D5BD76F-4DE0-6325-2725-EDF82A93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197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8C9AA3-452A-D8E6-4056-46533132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0485C4C-21FC-0A89-3F11-52803FA7FB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F56574D-7784-A7EF-A94D-ABE692421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DD79D49-DC4F-7E47-0AF0-00AA8919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2482D1F-24A5-E115-5D77-0E0A4D3C4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E02F41-E34F-5DA7-77B2-B33D4704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026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D44DA4-C384-685E-B6DE-4F509B83F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8DBF331-686A-90F4-5621-81D1DA54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11B76D-A486-90B4-2B90-E9613066C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E2F5F2-2D4D-B5C2-57AC-629A1285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FE253B1-35A4-6615-4536-77EA6DEC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678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BFDDA5C-3BB3-197C-3EBF-81F1DF4FB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641F594-5469-2400-E613-EF1DC0705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906D95-E722-D35C-CA9C-77DBD694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D9CC98-F182-27F0-9D6F-D6D2310C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FA1D40-3A3E-B9DF-413C-78DFEA3B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803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210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129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61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89028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09EA-57CA-9A71-E391-10854E664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35E42-6EB0-A758-C7D1-BC518D2AF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EA591-A2B3-4B14-0740-EE8764D7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BF0D-213E-F34D-93C6-37AB37C29CA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7C6F-92F8-28B6-9CB9-837A1375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5189C-1C89-B914-D8D5-484BDDB2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04AF-6D8B-754A-9FED-073057245C1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64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1" cy="76279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67910" y="6452316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8000" y="1714500"/>
            <a:ext cx="2477765" cy="4286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7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95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92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4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122327299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1" cy="76279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67910" y="6452316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8000" y="1714500"/>
            <a:ext cx="2477765" cy="4286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7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95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92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8" y="282576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8809784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, 3 callouts,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192600"/>
            <a:ext cx="2474590" cy="9532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192600"/>
            <a:ext cx="2474590" cy="95170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600"/>
            <a:ext cx="2475384" cy="95395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142954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73137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46275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19412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036756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ESG Data &amp; Environmental Intelligence / © 2023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218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842210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550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3722028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00195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390B64A-8642-221E-07D5-D63664D4F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4BC928-42BA-37B4-95A8-700FD0BA9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7F09F2-0C7B-17C9-10BD-51D64AC05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ABCAB8-7CC0-5919-3A46-44261402D6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1454EC-0176-B6DB-9F4C-489697EF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449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278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bm.com/docs/en/envizi-esg-suite?topic=users-creating-in-single-form" TargetMode="External"/><Relationship Id="rId3" Type="http://schemas.openxmlformats.org/officeDocument/2006/relationships/hyperlink" Target="https://www.ibm.com/docs/en/envizi-esg-suite?topic=administering-setting-up-custom-tags" TargetMode="External"/><Relationship Id="rId7" Type="http://schemas.openxmlformats.org/officeDocument/2006/relationships/hyperlink" Target="https://www.ibm.com/docs/en/envizi-esg-suite?topic=users-creating-contacts-login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ibm.com/docs/en/envizi-esg-suite?topic=administering-setting-up-users" TargetMode="External"/><Relationship Id="rId5" Type="http://schemas.openxmlformats.org/officeDocument/2006/relationships/hyperlink" Target="https://www.ibm.com/docs/en/envizi-esg-suite?topic=managing-tagging-data" TargetMode="External"/><Relationship Id="rId4" Type="http://schemas.openxmlformats.org/officeDocument/2006/relationships/hyperlink" Target="https://www.ibm.com/docs/en/envizi-esg-suite?topic=data-tag-op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94C1-566C-F582-C817-9E35FF69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K-1-img-2">
            <a:extLst>
              <a:ext uri="{FF2B5EF4-FFF2-40B4-BE49-F238E27FC236}">
                <a16:creationId xmlns:a16="http://schemas.microsoft.com/office/drawing/2014/main" id="{857ED53D-59A7-5D41-890D-F7114A35434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47594" y="1097280"/>
            <a:ext cx="4953008" cy="343810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SK-1-img-6">
            <a:extLst>
              <a:ext uri="{FF2B5EF4-FFF2-40B4-BE49-F238E27FC236}">
                <a16:creationId xmlns:a16="http://schemas.microsoft.com/office/drawing/2014/main" id="{5D56AC93-A688-6ECC-034F-E950D9F4CA2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40080" y="6035040"/>
            <a:ext cx="10881360" cy="914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SK-1-img-7">
            <a:extLst>
              <a:ext uri="{FF2B5EF4-FFF2-40B4-BE49-F238E27FC236}">
                <a16:creationId xmlns:a16="http://schemas.microsoft.com/office/drawing/2014/main" id="{4159CB6A-B84D-80D0-F0A2-0063A85ECD0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10157" y="1097280"/>
            <a:ext cx="5490445" cy="49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K-1-text-11">
            <a:extLst>
              <a:ext uri="{FF2B5EF4-FFF2-40B4-BE49-F238E27FC236}">
                <a16:creationId xmlns:a16="http://schemas.microsoft.com/office/drawing/2014/main" id="{189C8CF6-A3DA-3FE8-27B2-730050E5FCB9}"/>
              </a:ext>
            </a:extLst>
          </p:cNvPr>
          <p:cNvSpPr/>
          <p:nvPr/>
        </p:nvSpPr>
        <p:spPr>
          <a:xfrm>
            <a:off x="640080" y="594360"/>
            <a:ext cx="521208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2E7D4F"/>
                </a:solidFill>
                <a:latin typeface="Calibri"/>
              </a:rPr>
              <a:t>2026 ESG REPORTING</a:t>
            </a:r>
          </a:p>
        </p:txBody>
      </p:sp>
      <p:sp>
        <p:nvSpPr>
          <p:cNvPr id="23" name="SK-1-text-12">
            <a:extLst>
              <a:ext uri="{FF2B5EF4-FFF2-40B4-BE49-F238E27FC236}">
                <a16:creationId xmlns:a16="http://schemas.microsoft.com/office/drawing/2014/main" id="{8759690C-0B4B-284E-AD9B-87FB5185FDFC}"/>
              </a:ext>
            </a:extLst>
          </p:cNvPr>
          <p:cNvSpPr/>
          <p:nvPr/>
        </p:nvSpPr>
        <p:spPr>
          <a:xfrm>
            <a:off x="640080" y="1234440"/>
            <a:ext cx="5029200" cy="7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4400" b="1">
                <a:solidFill>
                  <a:srgbClr val="14433A"/>
                </a:solidFill>
                <a:latin typeface="Calibri"/>
              </a:rPr>
              <a:t>Envizi</a:t>
            </a:r>
          </a:p>
        </p:txBody>
      </p:sp>
      <p:sp>
        <p:nvSpPr>
          <p:cNvPr id="24" name="SK-1-text-13">
            <a:extLst>
              <a:ext uri="{FF2B5EF4-FFF2-40B4-BE49-F238E27FC236}">
                <a16:creationId xmlns:a16="http://schemas.microsoft.com/office/drawing/2014/main" id="{26CC8673-84D8-87CF-6C96-8DC5FF6EAD58}"/>
              </a:ext>
            </a:extLst>
          </p:cNvPr>
          <p:cNvSpPr/>
          <p:nvPr/>
        </p:nvSpPr>
        <p:spPr>
          <a:xfrm>
            <a:off x="640080" y="2331720"/>
            <a:ext cx="5029200" cy="33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Accesso ai dati tramite tag: il programma Elettricità Lumen</a:t>
            </a: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Felice Petrignano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SME </a:t>
            </a:r>
            <a:r>
              <a:rPr lang="it-IT" sz="2200" b="0" dirty="0" err="1">
                <a:solidFill>
                  <a:srgbClr val="5B6B70"/>
                </a:solidFill>
                <a:latin typeface="Calibri"/>
              </a:rPr>
              <a:t>Envizi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 IBM Italia</a:t>
            </a:r>
          </a:p>
        </p:txBody>
      </p:sp>
      <p:sp>
        <p:nvSpPr>
          <p:cNvPr id="2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2824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0F8A9A7-20A7-FD31-DED9-EC0EABB50AB7}"/>
              </a:ext>
            </a:extLst>
          </p:cNvPr>
          <p:cNvSpPr txBox="1"/>
          <p:nvPr/>
        </p:nvSpPr>
        <p:spPr>
          <a:xfrm>
            <a:off x="797442" y="325213"/>
            <a:ext cx="10217888" cy="4299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Obiettivi del capitolo</a:t>
            </a:r>
          </a:p>
          <a:p>
            <a:endParaRPr lang="en-US" b="1"/>
          </a:p>
          <a:p>
            <a:r>
              <a:rPr lang="en-US"/>
              <a:t>Questo approfondimento mostra come l’Amministratore configura l’accesso di Luca ai conti del programma Elettricità Lumen, anche quando appartengono a sedi e gruppi diversi.</a:t>
            </a:r>
          </a:p>
          <a:p>
            <a:endParaRPr lang="en-US"/>
          </a:p>
          <a:p>
            <a:endParaRPr lang="en-US"/>
          </a:p>
          <a:p>
            <a:r>
              <a:rPr lang="en-US" b="1"/>
              <a:t>Al termine del capitolo il partecipante sarà in grado di:</a:t>
            </a:r>
          </a:p>
          <a:p>
            <a:endParaRPr lang="en-US" b="1"/>
          </a:p>
          <a:p>
            <a:pPr lvl="0"/>
            <a:r>
              <a:rPr lang="en-US"/>
              <a:t>riconoscere quando usare un accesso per tag anziché per Location o gruppo</a:t>
            </a:r>
          </a:p>
          <a:p>
            <a:pPr lvl="0">
              <a:lnSpc>
                <a:spcPct val="150000"/>
              </a:lnSpc>
            </a:pPr>
            <a:r>
              <a:rPr lang="en-US"/>
              <a:t>distinguere il tipo di tag dal singolo tag e crearli in Custom Tags</a:t>
            </a:r>
          </a:p>
          <a:p>
            <a:pPr lvl="0">
              <a:lnSpc>
                <a:spcPct val="150000"/>
              </a:lnSpc>
            </a:pPr>
            <a:r>
              <a:rPr lang="en-US"/>
              <a:t>associare il tag Elettricità Lumen agli Account del programma</a:t>
            </a:r>
          </a:p>
          <a:p>
            <a:pPr lvl="0">
              <a:lnSpc>
                <a:spcPct val="150000"/>
              </a:lnSpc>
            </a:pPr>
            <a:r>
              <a:rPr lang="en-US"/>
              <a:t>configurare l’utente come Tag User e selezionare tipo di tag e tag nel login</a:t>
            </a:r>
          </a:p>
          <a:p>
            <a:pPr lvl="0">
              <a:lnSpc>
                <a:spcPct val="150000"/>
              </a:lnSpc>
            </a:pPr>
            <a:r>
              <a:rPr lang="en-US"/>
              <a:t>verificare che Luca visualizzi il perimetro di dati previsto</a:t>
            </a:r>
          </a:p>
        </p:txBody>
      </p:sp>
    </p:spTree>
    <p:extLst>
      <p:ext uri="{BB962C8B-B14F-4D97-AF65-F5344CB8AC3E}">
        <p14:creationId xmlns:p14="http://schemas.microsoft.com/office/powerpoint/2010/main" val="1128939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FEDFCF0-D0EA-512A-921C-1CD9FD4A6078}"/>
              </a:ext>
            </a:extLst>
          </p:cNvPr>
          <p:cNvSpPr txBox="1"/>
          <p:nvPr/>
        </p:nvSpPr>
        <p:spPr>
          <a:xfrm>
            <a:off x="542260" y="272878"/>
            <a:ext cx="1115355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Contenuti</a:t>
            </a:r>
          </a:p>
          <a:p>
            <a:endParaRPr lang="en-US" sz="2400" b="1"/>
          </a:p>
          <a:p>
            <a:pPr lvl="0">
              <a:lnSpc>
                <a:spcPct val="150000"/>
              </a:lnSpc>
            </a:pPr>
            <a:r>
              <a:rPr lang="en-US"/>
              <a:t>Scenario: Luca, Energy Manager del programma Elettricità Lumen</a:t>
            </a:r>
          </a:p>
          <a:p>
            <a:pPr lvl="0">
              <a:lnSpc>
                <a:spcPct val="150000"/>
              </a:lnSpc>
            </a:pPr>
            <a:r>
              <a:rPr lang="en-US"/>
              <a:t>Accesso Tag Level a dati distribuiti tra sedi e gruppi</a:t>
            </a:r>
          </a:p>
          <a:p>
            <a:pPr lvl="0">
              <a:lnSpc>
                <a:spcPct val="150000"/>
              </a:lnSpc>
            </a:pPr>
            <a:r>
              <a:rPr lang="en-US"/>
              <a:t>Creazione della famiglia di tag da Admin &gt; Custom Tags</a:t>
            </a:r>
          </a:p>
          <a:p>
            <a:pPr lvl="0">
              <a:lnSpc>
                <a:spcPct val="150000"/>
              </a:lnSpc>
            </a:pPr>
            <a:r>
              <a:rPr lang="en-US"/>
              <a:t>Creazione del tag Elettricità Lumen nella famiglia scelta</a:t>
            </a:r>
          </a:p>
          <a:p>
            <a:pPr lvl="0">
              <a:lnSpc>
                <a:spcPct val="150000"/>
              </a:lnSpc>
            </a:pPr>
            <a:r>
              <a:rPr lang="en-US"/>
              <a:t>Visualizzazione dei tag nella griglia Accounts</a:t>
            </a:r>
          </a:p>
          <a:p>
            <a:pPr lvl="0">
              <a:lnSpc>
                <a:spcPct val="150000"/>
              </a:lnSpc>
            </a:pPr>
            <a:r>
              <a:rPr lang="en-US"/>
              <a:t>Associazione del tag agli Account del programma</a:t>
            </a:r>
          </a:p>
          <a:p>
            <a:pPr lvl="0">
              <a:lnSpc>
                <a:spcPct val="150000"/>
              </a:lnSpc>
            </a:pPr>
            <a:r>
              <a:rPr lang="en-US"/>
              <a:t>Configurazione dell’utente da Contacts &amp; Logins</a:t>
            </a:r>
          </a:p>
          <a:p>
            <a:pPr lvl="0">
              <a:lnSpc>
                <a:spcPct val="150000"/>
              </a:lnSpc>
            </a:pPr>
            <a:r>
              <a:rPr lang="en-US"/>
              <a:t>Scelta di Tag Type e Tag nel modulo Edit Login</a:t>
            </a:r>
          </a:p>
          <a:p>
            <a:r>
              <a:rPr lang="en-US"/>
              <a:t>Verifica dell’accesso di Luca e riferimenti alla documentazione IBM</a:t>
            </a:r>
          </a:p>
          <a:p>
            <a:endParaRPr lang="en-US"/>
          </a:p>
          <a:p>
            <a:r>
              <a:rPr lang="en-US" b="1"/>
              <a:t>Approfondimento avanzato e opzionale. Il perimetro Tag Level riguarda gli Account e i Meter associati al tag. Le schermate mostrano un ambiente demo.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77159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8A2D375A-93C6-74FE-EC20-720C31E7E94A}"/>
              </a:ext>
            </a:extLst>
          </p:cNvPr>
          <p:cNvSpPr txBox="1"/>
          <p:nvPr/>
        </p:nvSpPr>
        <p:spPr>
          <a:xfrm>
            <a:off x="353961" y="1058095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Scenario: accesso di Luca a Elettricità Lumen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Preparazione dei dati</a:t>
            </a:r>
            <a:endParaRPr kumimoji="0" lang="it-IT" sz="18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t-IT" sz="18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Creazione del tipo di tag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Creazione del tag Elettricità Lumen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Associazione del tag agli Account scelti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Configurazione dell’accesso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Impostazione dell’utente come Tag User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Selezione del tipo di tag e del tag nel login</a:t>
            </a:r>
            <a:br>
              <a:rPr lang="it-IT"/>
            </a:br>
            <a:r>
              <a:rPr lang="it-IT"/>
              <a:t>Verifica dei dati visibili al nuovo accesso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453B2D87-94E8-6593-7EBD-F52FA715B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504" y="2163774"/>
            <a:ext cx="3144058" cy="3770671"/>
          </a:xfrm>
          <a:prstGeom prst="rect">
            <a:avLst/>
          </a:prstGeom>
        </p:spPr>
      </p:pic>
      <p:sp>
        <p:nvSpPr>
          <p:cNvPr id="1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48E9DFA-B5A3-01AB-7A53-4C116A5597F1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L’Amministratore configura il perimetro per tag</a:t>
            </a:r>
            <a:endParaRPr kumimoji="0" lang="it-IT" sz="2400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2B61D6AD-61ED-7124-3EC3-DCE5389539D9}"/>
              </a:ext>
            </a:extLst>
          </p:cNvPr>
          <p:cNvSpPr/>
          <p:nvPr/>
        </p:nvSpPr>
        <p:spPr>
          <a:xfrm>
            <a:off x="10417579" y="178507"/>
            <a:ext cx="1005841" cy="9675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32631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6B1B63D0-E362-5C32-A17C-E3A57FCCC90D}"/>
              </a:ext>
            </a:extLst>
          </p:cNvPr>
          <p:cNvSpPr txBox="1"/>
          <p:nvPr/>
        </p:nvSpPr>
        <p:spPr>
          <a:xfrm>
            <a:off x="2975020" y="2099256"/>
            <a:ext cx="5486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Gestione utenti</a:t>
            </a:r>
          </a:p>
          <a:p>
            <a:pPr algn="ctr"/>
            <a:endParaRPr lang="it-IT" sz="3200" dirty="0"/>
          </a:p>
          <a:p>
            <a:pPr algn="ctr"/>
            <a:r>
              <a:rPr lang="it-IT" sz="3200" dirty="0"/>
              <a:t>Approfondimenti livello avanzato - opzionale</a:t>
            </a:r>
          </a:p>
        </p:txBody>
      </p:sp>
    </p:spTree>
    <p:extLst>
      <p:ext uri="{BB962C8B-B14F-4D97-AF65-F5344CB8AC3E}">
        <p14:creationId xmlns:p14="http://schemas.microsoft.com/office/powerpoint/2010/main" val="2806127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C11E1-2391-E076-098D-79D5C4EBC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7086CC33-6627-3421-D602-08CD9549E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45920"/>
            <a:ext cx="3474720" cy="347472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B7F32430-B8EE-2FC6-6794-DE849BCBEEFF}"/>
              </a:ext>
            </a:extLst>
          </p:cNvPr>
          <p:cNvSpPr txBox="1"/>
          <p:nvPr/>
        </p:nvSpPr>
        <p:spPr>
          <a:xfrm>
            <a:off x="777240" y="1645920"/>
            <a:ext cx="5852160" cy="27915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300" b="0">
                <a:solidFill>
                  <a:srgbClr val="5B6B70"/>
                </a:solidFill>
                <a:latin typeface="Calibri"/>
              </a:rPr>
              <a:t>Luca è un energy manager associato a un programma di efficientamento particolare denominato Elettricità Lumen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300" b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300" b="0">
                <a:solidFill>
                  <a:srgbClr val="5B6B70"/>
                </a:solidFill>
                <a:latin typeface="Calibri"/>
              </a:rPr>
              <a:t>L’Amministratore intende dare accesso a Luca solo ai conti elettrici associati a questo programma, attraverso diverse sedi e gruppi </a:t>
            </a: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  <p:sp>
        <p:nvSpPr>
          <p:cNvPr id="10" name="TextBox 1"/>
          <p:cNvSpPr txBox="1"/>
          <p:nvPr/>
        </p:nvSpPr>
        <p:spPr>
          <a:xfrm>
            <a:off x="640080" y="457200"/>
            <a:ext cx="1090879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E31"/>
                </a:solidFill>
                <a:latin typeface="Calibri"/>
              </a:rPr>
              <a:t>Accesso per tag: Elettricità Lumen</a:t>
            </a:r>
          </a:p>
        </p:txBody>
      </p:sp>
    </p:spTree>
    <p:extLst>
      <p:ext uri="{BB962C8B-B14F-4D97-AF65-F5344CB8AC3E}">
        <p14:creationId xmlns:p14="http://schemas.microsoft.com/office/powerpoint/2010/main" val="1120650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D01C5-C80D-32AF-423A-ABD0DEB24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A7E53524-E77E-26DF-0B35-7C3DD8427353}"/>
              </a:ext>
            </a:extLst>
          </p:cNvPr>
          <p:cNvSpPr txBox="1"/>
          <p:nvPr/>
        </p:nvSpPr>
        <p:spPr>
          <a:xfrm>
            <a:off x="640080" y="457200"/>
            <a:ext cx="10908792" cy="75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Access level - Il Tag Level è utile quando vuoi autorizzare un utente su un insieme di dati che non coincide con una Location o un Gruppo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A8234F3-2267-5FBE-E4B8-763EAF557357}"/>
              </a:ext>
            </a:extLst>
          </p:cNvPr>
          <p:cNvSpPr txBox="1"/>
          <p:nvPr/>
        </p:nvSpPr>
        <p:spPr>
          <a:xfrm>
            <a:off x="640080" y="1417320"/>
            <a:ext cx="10058400" cy="1579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Esempio — Responsabile energia elettrica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Immagina un’azienda con 100 sedi. Ogni Location contiene diversi Account e Meter: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16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16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1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1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8024112-6729-0A51-2CBD-3EA96908E1A1}"/>
              </a:ext>
            </a:extLst>
          </p:cNvPr>
          <p:cNvSpPr txBox="1"/>
          <p:nvPr/>
        </p:nvSpPr>
        <p:spPr>
          <a:xfrm>
            <a:off x="3840480" y="2240280"/>
            <a:ext cx="2926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Roma</a:t>
            </a:r>
            <a:br>
              <a:rPr kumimoji="0" lang="it-IT" sz="151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</a:b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→ </a:t>
            </a:r>
            <a:r>
              <a:rPr kumimoji="0" lang="it-IT" sz="1800" b="1" i="0" u="none" strike="noStrike" kern="1200" cap="none" spc="0" normalizeH="0" baseline="0" noProof="0" err="1">
                <a:ln>
                  <a:noFill/>
                </a:ln>
                <a:solidFill>
                  <a:srgbClr val="14433A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Electricity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14433A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 Meter</a:t>
            </a:r>
            <a:br>
              <a:rPr kumimoji="0" lang="it-IT" sz="151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</a:b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→ Gas Meter</a:t>
            </a:r>
            <a:br>
              <a:rPr kumimoji="0" lang="it-IT" sz="151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</a:b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→ Water Meter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B63AD0A-52FA-24B8-41AB-5608E0A02F99}"/>
              </a:ext>
            </a:extLst>
          </p:cNvPr>
          <p:cNvSpPr txBox="1"/>
          <p:nvPr/>
        </p:nvSpPr>
        <p:spPr>
          <a:xfrm>
            <a:off x="7040880" y="2240280"/>
            <a:ext cx="2926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Torino</a:t>
            </a:r>
            <a:br>
              <a:rPr kumimoji="0" lang="it-IT" sz="151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</a:b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→ </a:t>
            </a:r>
            <a:r>
              <a:rPr kumimoji="0" lang="it-IT" sz="1800" b="1" i="0" u="none" strike="noStrike" kern="1200" cap="none" spc="0" normalizeH="0" baseline="0" noProof="0" err="1">
                <a:ln>
                  <a:noFill/>
                </a:ln>
                <a:solidFill>
                  <a:srgbClr val="14433A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Electricity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14433A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 Meter</a:t>
            </a:r>
            <a:br>
              <a:rPr kumimoji="0" lang="it-IT" sz="151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</a:b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→ Gas Meter</a:t>
            </a:r>
            <a:br>
              <a:rPr kumimoji="0" lang="it-IT" sz="151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</a:b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→ Water Meter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84A72EF-DF42-CFAE-60D7-0EA1EC2E3F9F}"/>
              </a:ext>
            </a:extLst>
          </p:cNvPr>
          <p:cNvSpPr txBox="1"/>
          <p:nvPr/>
        </p:nvSpPr>
        <p:spPr>
          <a:xfrm>
            <a:off x="640080" y="4526280"/>
            <a:ext cx="4160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A un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Energy Manager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 assegniamo: </a:t>
            </a:r>
          </a:p>
          <a:p>
            <a:pPr>
              <a:spcAft>
                <a:spcPts val="0"/>
              </a:spcAft>
            </a:pPr>
            <a:r>
              <a:rPr lang="it-IT" sz="1800">
                <a:solidFill>
                  <a:srgbClr val="5B6B70"/>
                </a:solidFill>
                <a:latin typeface="Calibri"/>
              </a:rPr>
              <a:t>Access Level ........ Tag</a:t>
            </a:r>
          </a:p>
          <a:p>
            <a:pPr>
              <a:spcAft>
                <a:spcPts val="0"/>
              </a:spcAft>
            </a:pPr>
            <a:r>
              <a:rPr lang="it-IT" sz="1800">
                <a:solidFill>
                  <a:srgbClr val="5B6B70"/>
                </a:solidFill>
                <a:latin typeface="Calibri"/>
              </a:rPr>
              <a:t>Access Role ......... Tag User</a:t>
            </a:r>
          </a:p>
          <a:p>
            <a:pPr>
              <a:spcAft>
                <a:spcPts val="0"/>
              </a:spcAft>
            </a:pPr>
            <a:r>
              <a:rPr lang="it-IT" sz="1800">
                <a:solidFill>
                  <a:srgbClr val="5B6B70"/>
                </a:solidFill>
                <a:latin typeface="Calibri"/>
              </a:rPr>
              <a:t>Tag assegnato ....... </a:t>
            </a:r>
            <a:r>
              <a:rPr lang="it-IT" sz="1800" err="1">
                <a:solidFill>
                  <a:srgbClr val="5B6B70"/>
                </a:solidFill>
                <a:latin typeface="Calibri"/>
              </a:rPr>
              <a:t>Electricity</a:t>
            </a:r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401B3DD-421E-A34B-2F0C-5954EE20B810}"/>
              </a:ext>
            </a:extLst>
          </p:cNvPr>
          <p:cNvSpPr txBox="1"/>
          <p:nvPr/>
        </p:nvSpPr>
        <p:spPr>
          <a:xfrm>
            <a:off x="640080" y="3730752"/>
            <a:ext cx="10332720" cy="602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Creiamo il tag </a:t>
            </a:r>
            <a:r>
              <a:rPr kumimoji="0" lang="it-IT" sz="1800" b="1" i="0" u="none" strike="noStrike" kern="1200" cap="none" spc="0" normalizeH="0" baseline="0" noProof="0" err="1">
                <a:ln>
                  <a:noFill/>
                </a:ln>
                <a:solidFill>
                  <a:srgbClr val="14433A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Electricity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 e lo associamo ai Meter/Account elettrici delle varie sedi.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1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</p:txBody>
      </p:sp>
      <p:cxnSp>
        <p:nvCxnSpPr>
          <p:cNvPr id="18" name="Connettore dritto 17">
            <a:extLst>
              <a:ext uri="{FF2B5EF4-FFF2-40B4-BE49-F238E27FC236}">
                <a16:creationId xmlns:a16="http://schemas.microsoft.com/office/drawing/2014/main" id="{F2746C8C-3AA3-0D1E-9068-006D7668A733}"/>
              </a:ext>
            </a:extLst>
          </p:cNvPr>
          <p:cNvCxnSpPr>
            <a:cxnSpLocks/>
          </p:cNvCxnSpPr>
          <p:nvPr/>
        </p:nvCxnSpPr>
        <p:spPr>
          <a:xfrm>
            <a:off x="640080" y="2057400"/>
            <a:ext cx="923544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1A38683-0D75-8AAA-CFC8-E3FF550835B3}"/>
              </a:ext>
            </a:extLst>
          </p:cNvPr>
          <p:cNvSpPr txBox="1"/>
          <p:nvPr/>
        </p:nvSpPr>
        <p:spPr>
          <a:xfrm>
            <a:off x="640080" y="2240280"/>
            <a:ext cx="2926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Milano</a:t>
            </a:r>
            <a:br>
              <a:rPr kumimoji="0" lang="it-IT" sz="151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</a:b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→ </a:t>
            </a:r>
            <a:r>
              <a:rPr kumimoji="0" lang="it-IT" sz="1800" b="1" i="0" u="none" strike="noStrike" kern="1200" cap="none" spc="0" normalizeH="0" baseline="0" noProof="0" err="1">
                <a:ln>
                  <a:noFill/>
                </a:ln>
                <a:solidFill>
                  <a:srgbClr val="14433A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Electricity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14433A">
                    <a:lumMod val="50000"/>
                    <a:lumOff val="50000"/>
                  </a:srgbClr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 Meter</a:t>
            </a:r>
            <a:br>
              <a:rPr kumimoji="0" lang="it-IT" sz="151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</a:b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→ Gas Meter</a:t>
            </a:r>
            <a:br>
              <a:rPr kumimoji="0" lang="it-IT" sz="151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</a:b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→ Water Meter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F91EEA6F-4F2D-0684-183B-7175696412E3}"/>
              </a:ext>
            </a:extLst>
          </p:cNvPr>
          <p:cNvSpPr txBox="1"/>
          <p:nvPr/>
        </p:nvSpPr>
        <p:spPr>
          <a:xfrm>
            <a:off x="5074920" y="4526280"/>
            <a:ext cx="59436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7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l Tag consente di creare un perimetro di accesso trasversale alla struttura organizzativa, selezionando specifici Account e Meter in Location diverse.</a:t>
            </a:r>
            <a:endParaRPr kumimoji="0" lang="it-IT" sz="151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Per esempio, potresti avere anche Water, Fleet, </a:t>
            </a:r>
            <a:r>
              <a:rPr kumimoji="0" lang="it-IT" sz="1700" b="0" i="0" u="none" strike="noStrike" kern="1200" cap="none" spc="0" normalizeH="0" baseline="0" noProof="0" err="1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Renewable</a:t>
            </a:r>
            <a:r>
              <a:rPr kumimoji="0" lang="it-IT" sz="17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 panose="020B0503050203000203" pitchFamily="34" charset="0"/>
                <a:cs typeface="Calibri"/>
              </a:rPr>
              <a:t> Energy o Data Center e autorizzare i rispettivi responsabili solo sul perimetro di loro competenza.</a:t>
            </a:r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A682A5CF-A357-422A-06BC-CFEE1B95A6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43002" y="6254496"/>
            <a:ext cx="588515" cy="219456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FBA4E423-0BB4-3C4B-7660-09758B82E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286000"/>
            <a:ext cx="1325880" cy="1325880"/>
          </a:xfrm>
          <a:prstGeom prst="rect">
            <a:avLst/>
          </a:prstGeom>
        </p:spPr>
      </p:pic>
      <p:sp>
        <p:nvSpPr>
          <p:cNvPr id="2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7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797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C079D7AD-0806-44B6-5334-2BE16BC09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988" y="1850743"/>
            <a:ext cx="6911196" cy="3631101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2D91593D-F365-65F9-4D0E-50B506FD139A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Primo passo creare il tag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DBB0A96-C427-B225-00EE-E4CFD6C73ABA}"/>
              </a:ext>
            </a:extLst>
          </p:cNvPr>
          <p:cNvSpPr txBox="1"/>
          <p:nvPr/>
        </p:nvSpPr>
        <p:spPr>
          <a:xfrm>
            <a:off x="1495905" y="1280160"/>
            <a:ext cx="5520398" cy="475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90">
                <a:solidFill>
                  <a:srgbClr val="5B6B70"/>
                </a:solidFill>
                <a:latin typeface="Calibri" panose="020B0503050203000203" pitchFamily="34" charset="0"/>
              </a:rPr>
              <a:t>Admin &gt; Custom Tag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71BB1DE-0E30-161E-95B1-CD2785D35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5384" y="4575068"/>
            <a:ext cx="1603578" cy="1569699"/>
          </a:xfrm>
          <a:prstGeom prst="rect">
            <a:avLst/>
          </a:prstGeom>
        </p:spPr>
      </p:pic>
      <p:sp>
        <p:nvSpPr>
          <p:cNvPr id="10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7329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7FE82F7D-6925-5202-E742-8A63F1499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97" y="1280160"/>
            <a:ext cx="10000938" cy="406288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6C04542-F0ED-A74E-7192-820A7AAE3312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Create New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59D0D52D-BCCB-B8F0-C292-B15C18EF8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15" y="4579477"/>
            <a:ext cx="1599074" cy="1565290"/>
          </a:xfrm>
          <a:prstGeom prst="rect">
            <a:avLst/>
          </a:prstGeom>
        </p:spPr>
      </p:pic>
      <p:sp>
        <p:nvSpPr>
          <p:cNvPr id="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1788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13532-5978-7E3E-67A5-89F1708A5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50013469-5AEF-0187-DB45-58984F18B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97" y="1280160"/>
            <a:ext cx="10000938" cy="406288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C160BC-1CFC-D608-5971-4650C1FEB9B7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Create New (stai creando una nuova famiglia di tags, o use type)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6F60726-F978-3CE6-D4FA-69B3AF7D2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15" y="4579477"/>
            <a:ext cx="1599074" cy="1565290"/>
          </a:xfrm>
          <a:prstGeom prst="rect">
            <a:avLst/>
          </a:prstGeom>
        </p:spPr>
      </p:pic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8498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91A8B57C-E6C2-A922-E409-0B7BC0D4C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466" y="1280160"/>
            <a:ext cx="7296445" cy="3807027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3A86048-89E1-C9E2-FC0E-2DA5CDA00EDE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Inserisci nome della famiglia (use type) di tag che vuoi creare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5C2FF33-69C5-9BDB-626A-DD1CEFE11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8519" y="4487568"/>
            <a:ext cx="1692966" cy="1657199"/>
          </a:xfrm>
          <a:prstGeom prst="rect">
            <a:avLst/>
          </a:prstGeom>
        </p:spPr>
      </p:pic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9333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382E5-90D0-2C01-FC20-8BA557FF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5D4CB45F-4A55-9892-6992-7AF269BE47E1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Seleziona la nuova famiglia di tag che hai creato Tasto destro mouse, seleziona tags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F28684EB-185C-2589-3660-21781DB9A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497" y="1280160"/>
            <a:ext cx="9639957" cy="4864608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A4015C63-628E-8367-4AD7-9A260A24E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201" y="4445610"/>
            <a:ext cx="1520804" cy="1488674"/>
          </a:xfrm>
          <a:prstGeom prst="rect">
            <a:avLst/>
          </a:prstGeom>
        </p:spPr>
      </p:pic>
      <p:sp>
        <p:nvSpPr>
          <p:cNvPr id="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0234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28444-CB70-F81E-B290-A005EE41A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B93EA69D-4E21-CA65-DB08-A7D6A9F41E87}"/>
              </a:ext>
            </a:extLst>
          </p:cNvPr>
          <p:cNvSpPr txBox="1"/>
          <p:nvPr/>
        </p:nvSpPr>
        <p:spPr>
          <a:xfrm>
            <a:off x="640080" y="457200"/>
            <a:ext cx="10908792" cy="759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Create New (ora crei un nuovo tag all’interno dello use type o famiglia di tags che hai creato precedentemente)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EEEF371-C702-9F4C-7616-6D0C8BF54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10" y="1481328"/>
            <a:ext cx="9921860" cy="3552198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9B5F1644-D05B-742C-34AD-5A6EDB816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981" y="4564116"/>
            <a:ext cx="1614766" cy="1580651"/>
          </a:xfrm>
          <a:prstGeom prst="rect">
            <a:avLst/>
          </a:prstGeom>
        </p:spPr>
      </p:pic>
      <p:sp>
        <p:nvSpPr>
          <p:cNvPr id="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5987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26477944-BA94-F28A-FC3E-C529DA0A6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836" y="1280160"/>
            <a:ext cx="6690831" cy="4864608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17CCABDE-51F8-B7DA-0476-FB48D776A42A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Inserisci il Nome del nuovo tag Nell’esempio Elettricità Lumen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55752B2B-A66F-8578-0170-4C302E7F2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667" y="4153684"/>
            <a:ext cx="1552447" cy="1519649"/>
          </a:xfrm>
          <a:prstGeom prst="rect">
            <a:avLst/>
          </a:prstGeom>
        </p:spPr>
      </p:pic>
      <p:sp>
        <p:nvSpPr>
          <p:cNvPr id="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4319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BE1DD574-20C7-9674-831C-B772D3B9F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576" y="1280160"/>
            <a:ext cx="10415799" cy="3815509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45C13396-A646-682E-8E15-DFD40EA47F9C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Il nuovo tag è disponibile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F6CA8F45-953C-B21A-5B75-6BB80DFC0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73" y="4592307"/>
            <a:ext cx="1585966" cy="1552460"/>
          </a:xfrm>
          <a:prstGeom prst="rect">
            <a:avLst/>
          </a:prstGeom>
        </p:spPr>
      </p:pic>
      <p:sp>
        <p:nvSpPr>
          <p:cNvPr id="10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2165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6747D7F7-A802-8287-5DB5-5D1459C99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84" y="1481328"/>
            <a:ext cx="8368043" cy="466344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1D77BDF-C9F9-E936-AEF1-BD4C62854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7827" y="4459793"/>
            <a:ext cx="1721340" cy="1684974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EADEA32C-00A4-8886-898D-959E51463C4D}"/>
              </a:ext>
            </a:extLst>
          </p:cNvPr>
          <p:cNvSpPr txBox="1"/>
          <p:nvPr/>
        </p:nvSpPr>
        <p:spPr>
          <a:xfrm>
            <a:off x="640080" y="457200"/>
            <a:ext cx="10908792" cy="75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Manage &gt; Accounts - Visualizza i tag associati a ogni account Se non vedi la colonna apri simbolo ingranaggi e seleziona quali colonne visualizzare</a:t>
            </a:r>
          </a:p>
        </p:txBody>
      </p:sp>
      <p:sp>
        <p:nvSpPr>
          <p:cNvPr id="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4983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0B68C1E9-9A97-CEB5-6710-6FFA5E5ED3C6}"/>
              </a:ext>
            </a:extLst>
          </p:cNvPr>
          <p:cNvSpPr txBox="1"/>
          <p:nvPr/>
        </p:nvSpPr>
        <p:spPr>
          <a:xfrm>
            <a:off x="640080" y="457200"/>
            <a:ext cx="10908792" cy="75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Seleziona un account da aggiungere al programma Elettricità Lumen Tasto Dx mouse, Tag Accounts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F94B5D6-30C4-503D-8671-5EE02C612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91" y="1280160"/>
            <a:ext cx="9173874" cy="4864608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5503F0C7-154F-D57C-A91B-4E8FD21AF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152" y="4156549"/>
            <a:ext cx="1630507" cy="1596060"/>
          </a:xfrm>
          <a:prstGeom prst="rect">
            <a:avLst/>
          </a:prstGeom>
        </p:spPr>
      </p:pic>
      <p:sp>
        <p:nvSpPr>
          <p:cNvPr id="11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704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9912984C-0AFE-0F9E-9349-B61BF0148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937" y="1280160"/>
            <a:ext cx="4991058" cy="486460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9C9DC83-F6FC-C055-DE01-F39F63C9F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802" y="4390329"/>
            <a:ext cx="1279211" cy="1252186"/>
          </a:xfrm>
          <a:prstGeom prst="rect">
            <a:avLst/>
          </a:prstGeom>
        </p:spPr>
      </p:pic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  <p:sp>
        <p:nvSpPr>
          <p:cNvPr id="10" name="TextBox 1"/>
          <p:cNvSpPr txBox="1"/>
          <p:nvPr/>
        </p:nvSpPr>
        <p:spPr>
          <a:xfrm>
            <a:off x="640080" y="457200"/>
            <a:ext cx="1090879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E31"/>
                </a:solidFill>
                <a:latin typeface="Calibri"/>
              </a:rPr>
              <a:t>Associazione del tag all’account</a:t>
            </a:r>
          </a:p>
        </p:txBody>
      </p:sp>
    </p:spTree>
    <p:extLst>
      <p:ext uri="{BB962C8B-B14F-4D97-AF65-F5344CB8AC3E}">
        <p14:creationId xmlns:p14="http://schemas.microsoft.com/office/powerpoint/2010/main" val="4098141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FDFFF7A3-15A9-B713-6DB7-A7A5CD1F8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460" y="1280160"/>
            <a:ext cx="4988966" cy="486460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88CE610-4238-E621-7E5A-28932C787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279" y="4390329"/>
            <a:ext cx="1279211" cy="1252186"/>
          </a:xfrm>
          <a:prstGeom prst="rect">
            <a:avLst/>
          </a:prstGeom>
        </p:spPr>
      </p:pic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  <p:sp>
        <p:nvSpPr>
          <p:cNvPr id="10" name="TextBox 1"/>
          <p:cNvSpPr txBox="1"/>
          <p:nvPr/>
        </p:nvSpPr>
        <p:spPr>
          <a:xfrm>
            <a:off x="640080" y="457200"/>
            <a:ext cx="1090879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E31"/>
                </a:solidFill>
                <a:latin typeface="Calibri"/>
              </a:rPr>
              <a:t>Selezione del tipo di tag</a:t>
            </a:r>
          </a:p>
        </p:txBody>
      </p:sp>
    </p:spTree>
    <p:extLst>
      <p:ext uri="{BB962C8B-B14F-4D97-AF65-F5344CB8AC3E}">
        <p14:creationId xmlns:p14="http://schemas.microsoft.com/office/powerpoint/2010/main" val="2103298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11A0CE0A-3AE0-08EF-6310-CE37E8834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486" y="1280160"/>
            <a:ext cx="4960863" cy="486460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DE7F2A4-1B94-7DB2-7936-2CD115199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254" y="4390329"/>
            <a:ext cx="1279211" cy="1252186"/>
          </a:xfrm>
          <a:prstGeom prst="rect">
            <a:avLst/>
          </a:prstGeom>
        </p:spPr>
      </p:pic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  <p:sp>
        <p:nvSpPr>
          <p:cNvPr id="10" name="TextBox 1"/>
          <p:cNvSpPr txBox="1"/>
          <p:nvPr/>
        </p:nvSpPr>
        <p:spPr>
          <a:xfrm>
            <a:off x="640080" y="457200"/>
            <a:ext cx="1090879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E31"/>
                </a:solidFill>
                <a:latin typeface="Calibri"/>
              </a:rPr>
              <a:t>Selezione del tag Elettricità Lumen</a:t>
            </a:r>
          </a:p>
        </p:txBody>
      </p:sp>
    </p:spTree>
    <p:extLst>
      <p:ext uri="{BB962C8B-B14F-4D97-AF65-F5344CB8AC3E}">
        <p14:creationId xmlns:p14="http://schemas.microsoft.com/office/powerpoint/2010/main" val="1273037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73A59A02-FB2A-B219-26D5-4F44A91E8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924" y="1280160"/>
            <a:ext cx="9063196" cy="486460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1A058C2-E751-769D-360B-6288D342F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8809" y="4349414"/>
            <a:ext cx="1583217" cy="1549769"/>
          </a:xfrm>
          <a:prstGeom prst="rect">
            <a:avLst/>
          </a:prstGeom>
        </p:spPr>
      </p:pic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  <p:sp>
        <p:nvSpPr>
          <p:cNvPr id="10" name="TextBox 1"/>
          <p:cNvSpPr txBox="1"/>
          <p:nvPr/>
        </p:nvSpPr>
        <p:spPr>
          <a:xfrm>
            <a:off x="640080" y="457200"/>
            <a:ext cx="1090879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E31"/>
                </a:solidFill>
                <a:latin typeface="Calibri"/>
              </a:rPr>
              <a:t>Account associati al programma Elettricità Lumen</a:t>
            </a:r>
          </a:p>
        </p:txBody>
      </p:sp>
    </p:spTree>
    <p:extLst>
      <p:ext uri="{BB962C8B-B14F-4D97-AF65-F5344CB8AC3E}">
        <p14:creationId xmlns:p14="http://schemas.microsoft.com/office/powerpoint/2010/main" val="2636318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6A3A3B6-11A1-E01F-1B80-EDD1E8240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72" y="1280160"/>
            <a:ext cx="9126427" cy="4864608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5DED55E-B256-67F2-166A-D01F1174E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6474" y="4165853"/>
            <a:ext cx="1671905" cy="1636583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81BC2FE8-143D-0F38-4E2C-175C9FCA1B0D}"/>
              </a:ext>
            </a:extLst>
          </p:cNvPr>
          <p:cNvSpPr txBox="1"/>
          <p:nvPr/>
        </p:nvSpPr>
        <p:spPr>
          <a:xfrm>
            <a:off x="640080" y="457200"/>
            <a:ext cx="10908792" cy="75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Manage &gt; Contacts &amp; Logins, seleziona utente Tasto dx mouse. Seleziona set as tag user.</a:t>
            </a:r>
          </a:p>
        </p:txBody>
      </p:sp>
      <p:sp>
        <p:nvSpPr>
          <p:cNvPr id="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5724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E00144D-A8FC-9DBF-4583-E6A94C796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705" y="1280160"/>
            <a:ext cx="9251541" cy="4864608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34F2C747-E04E-BD2B-8B0D-62425E671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4519" y="4477798"/>
            <a:ext cx="1628399" cy="159399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A54072EF-A28C-F0D3-4421-3051C7AAC72F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Manage &gt; Contacts &amp; Logins, seleziona utente Tasto dx mouse. Seleziona Edit Login</a:t>
            </a: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1422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B48D30C-5D5A-9473-264D-CEA85CE4F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217" y="1325880"/>
            <a:ext cx="4815325" cy="4800600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DD054E48-9CEA-E4CC-849C-A1DA6651B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724131"/>
            <a:ext cx="1417320" cy="138737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B392A00F-DE17-9403-73A1-311782016B54}"/>
              </a:ext>
            </a:extLst>
          </p:cNvPr>
          <p:cNvSpPr txBox="1"/>
          <p:nvPr/>
        </p:nvSpPr>
        <p:spPr>
          <a:xfrm>
            <a:off x="731520" y="1874519"/>
            <a:ext cx="3703320" cy="2173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Compila il modulo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Seleziona il tipo di tag Elettricità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Scorri il modulo </a:t>
            </a:r>
          </a:p>
        </p:txBody>
      </p:sp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  <p:sp>
        <p:nvSpPr>
          <p:cNvPr id="8" name="TextBox 1"/>
          <p:cNvSpPr txBox="1"/>
          <p:nvPr/>
        </p:nvSpPr>
        <p:spPr>
          <a:xfrm>
            <a:off x="640080" y="457200"/>
            <a:ext cx="1090879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E31"/>
                </a:solidFill>
                <a:latin typeface="Calibri"/>
              </a:rPr>
              <a:t>Configurazione del tipo di tag nel login</a:t>
            </a:r>
          </a:p>
        </p:txBody>
      </p:sp>
    </p:spTree>
    <p:extLst>
      <p:ext uri="{BB962C8B-B14F-4D97-AF65-F5344CB8AC3E}">
        <p14:creationId xmlns:p14="http://schemas.microsoft.com/office/powerpoint/2010/main" val="2707277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90929960-78AD-20BB-6C1D-E411106C7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288" y="1325880"/>
            <a:ext cx="4947182" cy="4800600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E88CE32A-5520-CDC3-4D67-32597BFA3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724131"/>
            <a:ext cx="1417320" cy="138737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3C9B057-DCAA-1ECF-0F19-9BBAD3768713}"/>
              </a:ext>
            </a:extLst>
          </p:cNvPr>
          <p:cNvSpPr txBox="1"/>
          <p:nvPr/>
        </p:nvSpPr>
        <p:spPr>
          <a:xfrm>
            <a:off x="731520" y="1874519"/>
            <a:ext cx="3703320" cy="2631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Compila il modulo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Seleziona il tipo di tag Elettricità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Seleziona il tag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Elettricità Lumen</a:t>
            </a:r>
          </a:p>
        </p:txBody>
      </p:sp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  <p:sp>
        <p:nvSpPr>
          <p:cNvPr id="8" name="TextBox 1"/>
          <p:cNvSpPr txBox="1"/>
          <p:nvPr/>
        </p:nvSpPr>
        <p:spPr>
          <a:xfrm>
            <a:off x="640080" y="457200"/>
            <a:ext cx="1090879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3E31"/>
                </a:solidFill>
                <a:latin typeface="Calibri"/>
              </a:rPr>
              <a:t>Configurazione del tag Elettricità Lumen nel login</a:t>
            </a:r>
          </a:p>
        </p:txBody>
      </p:sp>
    </p:spTree>
    <p:extLst>
      <p:ext uri="{BB962C8B-B14F-4D97-AF65-F5344CB8AC3E}">
        <p14:creationId xmlns:p14="http://schemas.microsoft.com/office/powerpoint/2010/main" val="2132713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E812EF14-DB4B-A728-4391-D65A171E8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314" y="1280160"/>
            <a:ext cx="4074328" cy="4864608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0EACDA9-CB96-7713-566D-CFD9C17E6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667" y="3318798"/>
            <a:ext cx="2825969" cy="2825969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9551936B-195F-0491-BA25-AE6644625D1E}"/>
              </a:ext>
            </a:extLst>
          </p:cNvPr>
          <p:cNvSpPr txBox="1"/>
          <p:nvPr/>
        </p:nvSpPr>
        <p:spPr>
          <a:xfrm>
            <a:off x="640080" y="457200"/>
            <a:ext cx="10908792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Quando Luca accede a Envizi vedrà solo gli account Con tag Elettricità Lumen</a:t>
            </a: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39229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" name="Testo originale sotto il titolo"/>
          <p:cNvSpPr txBox="1"/>
          <p:nvPr/>
        </p:nvSpPr>
        <p:spPr>
          <a:xfrm>
            <a:off x="548640" y="5641848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>
                <a:solidFill>
                  <a:srgbClr val="073E31"/>
                </a:solidFill>
              </a:defRPr>
            </a:pPr>
            <a:r>
              <a:rPr sz="2000" b="0" i="0" dirty="0">
                <a:solidFill>
                  <a:srgbClr val="073E31"/>
                </a:solidFill>
                <a:latin typeface="Calibri"/>
              </a:rPr>
              <a:t> </a:t>
            </a:r>
            <a:endParaRPr sz="2400" b="0" i="0" dirty="0">
              <a:solidFill>
                <a:srgbClr val="D8E8DC"/>
              </a:solidFill>
              <a:latin typeface="Calibri"/>
            </a:endParaRP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>
              <a:defRPr sz="2000">
                <a:solidFill>
                  <a:srgbClr val="073E31"/>
                </a:solidFill>
              </a:defRPr>
            </a:pPr>
            <a:endParaRPr lang="it-IT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Grazie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EF24286-BAAB-56CB-EE5D-375D369C0873}"/>
              </a:ext>
            </a:extLst>
          </p:cNvPr>
          <p:cNvSpPr txBox="1"/>
          <p:nvPr/>
        </p:nvSpPr>
        <p:spPr>
          <a:xfrm>
            <a:off x="10058400" y="219456"/>
            <a:ext cx="27432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ENVIZI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8CDF11D0-1C53-0547-9873-8FB7E1E39671}"/>
              </a:ext>
            </a:extLst>
          </p:cNvPr>
          <p:cNvSpPr txBox="1"/>
          <p:nvPr/>
        </p:nvSpPr>
        <p:spPr>
          <a:xfrm>
            <a:off x="640080" y="1280160"/>
            <a:ext cx="62179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Thank you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CC8070-723C-29F9-6B8C-870A277CC8CE}"/>
              </a:ext>
            </a:extLst>
          </p:cNvPr>
          <p:cNvSpPr/>
          <p:nvPr/>
        </p:nvSpPr>
        <p:spPr>
          <a:xfrm>
            <a:off x="640080" y="2084831"/>
            <a:ext cx="10058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5511781-77E8-AB51-35E5-D1D2C2451BA2}"/>
              </a:ext>
            </a:extLst>
          </p:cNvPr>
          <p:cNvSpPr txBox="1"/>
          <p:nvPr/>
        </p:nvSpPr>
        <p:spPr>
          <a:xfrm>
            <a:off x="640080" y="2423160"/>
            <a:ext cx="589788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5B687A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Sustainability data that supports reporting, decisions and business value.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8CE9F074-FDBC-705B-960A-8459F4BC17DE}"/>
              </a:ext>
            </a:extLst>
          </p:cNvPr>
          <p:cNvSpPr txBox="1"/>
          <p:nvPr/>
        </p:nvSpPr>
        <p:spPr>
          <a:xfrm>
            <a:off x="640080" y="3822191"/>
            <a:ext cx="4206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Felice Petrignano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434EFB8C-0790-AAB3-DB53-C9B2F350C225}"/>
              </a:ext>
            </a:extLst>
          </p:cNvPr>
          <p:cNvSpPr txBox="1"/>
          <p:nvPr/>
        </p:nvSpPr>
        <p:spPr>
          <a:xfrm>
            <a:off x="640080" y="4206240"/>
            <a:ext cx="512064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Senior Technology Specialist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BEDC525-C44E-79D2-F7A4-4D024636405B}"/>
              </a:ext>
            </a:extLst>
          </p:cNvPr>
          <p:cNvSpPr txBox="1"/>
          <p:nvPr/>
        </p:nvSpPr>
        <p:spPr>
          <a:xfrm>
            <a:off x="640080" y="4517136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Italy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621139D-38E0-2953-A093-2FC128265975}"/>
              </a:ext>
            </a:extLst>
          </p:cNvPr>
          <p:cNvSpPr txBox="1"/>
          <p:nvPr/>
        </p:nvSpPr>
        <p:spPr>
          <a:xfrm>
            <a:off x="640080" y="5047488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linkedin.com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/in/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fpetrignano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306529D3-89C5-8762-7A9F-5369BAAECD79}"/>
              </a:ext>
            </a:extLst>
          </p:cNvPr>
          <p:cNvSpPr/>
          <p:nvPr/>
        </p:nvSpPr>
        <p:spPr>
          <a:xfrm>
            <a:off x="7635240" y="640080"/>
            <a:ext cx="3794760" cy="544068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9DED0332-C7E5-AB26-11BC-B0241C7CD2B4}"/>
              </a:ext>
            </a:extLst>
          </p:cNvPr>
          <p:cNvSpPr txBox="1"/>
          <p:nvPr/>
        </p:nvSpPr>
        <p:spPr>
          <a:xfrm>
            <a:off x="8001000" y="1078992"/>
            <a:ext cx="3063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LET’S CONNECT</a:t>
            </a:r>
          </a:p>
        </p:txBody>
      </p:sp>
      <p:pic>
        <p:nvPicPr>
          <p:cNvPr id="15" name="Picture 13" descr="linkedin_qr_original.png">
            <a:extLst>
              <a:ext uri="{FF2B5EF4-FFF2-40B4-BE49-F238E27FC236}">
                <a16:creationId xmlns:a16="http://schemas.microsoft.com/office/drawing/2014/main" id="{5488A219-564D-1AA5-DC0B-80CAF2A9B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35" y="1600200"/>
            <a:ext cx="2529767" cy="3154680"/>
          </a:xfrm>
          <a:prstGeom prst="rect">
            <a:avLst/>
          </a:prstGeom>
        </p:spPr>
      </p:pic>
      <p:sp>
        <p:nvSpPr>
          <p:cNvPr id="16" name="TextBox 14">
            <a:extLst>
              <a:ext uri="{FF2B5EF4-FFF2-40B4-BE49-F238E27FC236}">
                <a16:creationId xmlns:a16="http://schemas.microsoft.com/office/drawing/2014/main" id="{D4866AE4-DC69-6812-12BF-9F23A0B9733F}"/>
              </a:ext>
            </a:extLst>
          </p:cNvPr>
          <p:cNvSpPr txBox="1"/>
          <p:nvPr/>
        </p:nvSpPr>
        <p:spPr>
          <a:xfrm>
            <a:off x="8001000" y="5074920"/>
            <a:ext cx="306324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Scan the QR code to connect on LinkedIn</a:t>
            </a:r>
          </a:p>
        </p:txBody>
      </p:sp>
    </p:spTree>
    <p:extLst>
      <p:ext uri="{BB962C8B-B14F-4D97-AF65-F5344CB8AC3E}">
        <p14:creationId xmlns:p14="http://schemas.microsoft.com/office/powerpoint/2010/main" val="3904177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2">
            <a:extLst>
              <a:ext uri="{FF2B5EF4-FFF2-40B4-BE49-F238E27FC236}">
                <a16:creationId xmlns:a16="http://schemas.microsoft.com/office/drawing/2014/main" id="{E5692321-2990-921A-697F-F435F6803838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IBM Envizi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Documentazione IBM</a:t>
            </a: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: tag e accesso ai dati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3"/>
              </a:rPr>
              <a:t>Creazione dei tag personalizzati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Tipi di tag e tag da Admin &gt; Custom Tags.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52344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4"/>
              </a:rPr>
              <a:t>Associazione e verifica dei 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7832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Tag sugli Account e sui Meter nella griglia.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95928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5"/>
              </a:rPr>
              <a:t>Gestione dei dati con tag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71416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Tipi di tag, elementi associati e reporting.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6"/>
              </a:rPr>
              <a:t>Utenti e accesso Tag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84248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Visibilità dei dati in base al tag assegnato.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52344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7"/>
              </a:rPr>
              <a:t>Configurazione di contatti e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27832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Credenziali e impostazioni di accesso.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95928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8"/>
              </a:rPr>
              <a:t>Creazione di un utente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471416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Contatto e login in un unico modulo.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509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333333"/>
                </a:solidFill>
                <a:latin typeface="Calibri"/>
              </a:rPr>
              <a:t>Collegamenti ai capitoli IBM Docs in inglese. Consultazione: 9 ottobre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1280</Words>
  <Application>Microsoft Macintosh PowerPoint</Application>
  <PresentationFormat>Widescreen</PresentationFormat>
  <Paragraphs>186</Paragraphs>
  <Slides>28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28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IBM Plex Sans</vt:lpstr>
      <vt:lpstr>IBM Plex Sans Light</vt:lpstr>
      <vt:lpstr>Symbol</vt:lpstr>
      <vt:lpstr>Times New Roman</vt:lpstr>
      <vt:lpstr>Wingdings</vt:lpstr>
      <vt:lpstr>Tema di Office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Felice Petrignano</dc:creator>
  <cp:lastModifiedBy>Felice Petrignano</cp:lastModifiedBy>
  <cp:revision>5</cp:revision>
  <dcterms:created xsi:type="dcterms:W3CDTF">2026-10-09T13:31:22Z</dcterms:created>
  <dcterms:modified xsi:type="dcterms:W3CDTF">2026-10-09T14:04:06Z</dcterms:modified>
</cp:coreProperties>
</file>