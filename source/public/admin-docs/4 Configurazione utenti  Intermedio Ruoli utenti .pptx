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2"/>
  </p:notesMasterIdLst>
  <p:sldIdLst>
    <p:sldId id="635" r:id="rId3"/>
    <p:sldId id="260" r:id="rId4"/>
    <p:sldId id="524" r:id="rId5"/>
    <p:sldId id="616" r:id="rId6"/>
    <p:sldId id="642" r:id="rId7"/>
    <p:sldId id="690" r:id="rId8"/>
    <p:sldId id="629" r:id="rId9"/>
    <p:sldId id="617" r:id="rId10"/>
    <p:sldId id="634" r:id="rId11"/>
    <p:sldId id="695" r:id="rId12"/>
    <p:sldId id="693" r:id="rId13"/>
    <p:sldId id="2147478691" r:id="rId14"/>
    <p:sldId id="630" r:id="rId15"/>
    <p:sldId id="632" r:id="rId16"/>
    <p:sldId id="431" r:id="rId17"/>
    <p:sldId id="793" r:id="rId18"/>
    <p:sldId id="627" r:id="rId19"/>
    <p:sldId id="636" r:id="rId20"/>
    <p:sldId id="639" r:id="rId21"/>
    <p:sldId id="643" r:id="rId22"/>
    <p:sldId id="787" r:id="rId23"/>
    <p:sldId id="644" r:id="rId24"/>
    <p:sldId id="789" r:id="rId25"/>
    <p:sldId id="788" r:id="rId26"/>
    <p:sldId id="646" r:id="rId27"/>
    <p:sldId id="640" r:id="rId28"/>
    <p:sldId id="790" r:id="rId29"/>
    <p:sldId id="402" r:id="rId30"/>
    <p:sldId id="2147472656" r:id="rId3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393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endParaRPr lang="it-IT"/>
          </a:p>
          <a:p>
            <a:r>
              <a:rPr lang="it-IT"/>
              <a:t>[Sources]</a:t>
            </a:r>
          </a:p>
          <a:p>
            <a:r>
              <a:rPr lang="it-IT"/>
              <a:t>https://www.ibm.com/docs/en/envizi-esg-suite?topic=administering-setting-up-users</a:t>
            </a:r>
          </a:p>
          <a:p>
            <a:r>
              <a:rPr lang="it-IT"/>
              <a:t>https://www.ibm.com/docs/en/envizi-esg-suite?topic=users-creating-in-single-form</a:t>
            </a:r>
          </a:p>
          <a:p>
            <a:r>
              <a:rPr lang="it-IT"/>
              <a:t>https://www.ibm.com/docs/en/envizi-esg-suite?topic=data-assigning-reviewer-approver-work-roles</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[Sources]</a:t>
            </a:r>
          </a:p>
          <a:p>
            <a:r>
              <a:t>https://www.ibm.com/docs/en/envizi-esg-suite?topic=</a:t>
            </a:r>
            <a:r>
              <a:rPr lang="it-IT"/>
              <a:t>administering-setting-up-users</a:t>
            </a:r>
          </a:p>
          <a:p>
            <a:r>
              <a:t>https://www.ibm.com/docs/en/envizi-esg-suite?topic=</a:t>
            </a:r>
            <a:r>
              <a:rPr lang="it-IT"/>
              <a:t>users-creating-in-single-form</a:t>
            </a:r>
            <a:endParaRPr/>
          </a:p>
          <a:p>
            <a:r>
              <a:t>https://www.ibm.com/docs/en/envizi-esg-suite?topic=</a:t>
            </a:r>
            <a:r>
              <a:rPr lang="it-IT"/>
              <a:t>data-assigning-reviewer-approver-work-roles</a:t>
            </a:r>
            <a:endParaRP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[Sources]</a:t>
            </a:r>
          </a:p>
          <a:p>
            <a:r>
              <a:t>https://www.ibm.com/docs/en/envizi-esg-suite?topic=</a:t>
            </a:r>
            <a:r>
              <a:rPr lang="it-IT"/>
              <a:t>administering-setting-up-users</a:t>
            </a:r>
          </a:p>
          <a:p>
            <a:r>
              <a:rPr lang="it-IT"/>
              <a:t>https://www.ibm.com/docs/en/envizi-esg-suite?topic=users-creating-in-single-form</a:t>
            </a:r>
          </a:p>
          <a:p>
            <a:r>
              <a:t>https://www.ibm.com/docs/en/envizi-esg-suite?topic=</a:t>
            </a:r>
            <a:r>
              <a:rPr lang="it-IT"/>
              <a:t>data-assigning-reviewer-approver-work-roles</a:t>
            </a:r>
            <a:endParaRP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C89E6-B6BC-AF5C-D337-F64DAA16312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B77035-03EF-5667-11CA-DF3A91D1DA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AE5DCC6-E973-8917-A73A-32E895643722}"/>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CDA847F-2427-8C0C-8626-999B88D6E6BC}"/>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9290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782CF-A5DC-D6C5-44DE-94784C9EC67F}"/>
            </a:ext>
          </a:extLst>
        </p:cNvPr>
        <p:cNvGrpSpPr/>
        <p:nvPr/>
      </p:nvGrpSpPr>
      <p:grpSpPr>
        <a:xfrm>
          <a:off x="0" y="0"/>
          <a:ext cx="0" cy="0"/>
          <a:chOff x="0" y="0"/>
          <a:chExt cx="0" cy="0"/>
        </a:xfrm>
      </p:grpSpPr>
    </p:spTree>
    <p:extLst>
      <p:ext uri="{BB962C8B-B14F-4D97-AF65-F5344CB8AC3E}">
        <p14:creationId xmlns:p14="http://schemas.microsoft.com/office/powerpoint/2010/main" val="230613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835FC-21EA-0DB7-A29D-9CA49E06D3C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72483BC-BC04-470C-37F6-F1F8FC27691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EECCD30-7376-4119-6527-C66FB686700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2BCAC43-76AF-72EC-B7CA-1E7A9AD32D6E}"/>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1385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62477-9D0A-A0AC-570F-7844A253597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A23327A-A6DF-6722-2AA6-378316AF9D7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861D7CA-A4FD-4E29-177D-EBEA513E81F0}"/>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114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FB990-C080-758F-C07D-DD24DBB0FE7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05911F1-DEF3-1AFD-C236-F5BCBFE079E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DC29C0F-F08A-BDDE-EACF-E40A03D16D0E}"/>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42F42B9-824A-2E91-E109-F5F1D3421D98}"/>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8037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F207B-6425-17BE-A710-BE6E72EBC528}"/>
            </a:ext>
          </a:extLst>
        </p:cNvPr>
        <p:cNvGrpSpPr/>
        <p:nvPr/>
      </p:nvGrpSpPr>
      <p:grpSpPr>
        <a:xfrm>
          <a:off x="0" y="0"/>
          <a:ext cx="0" cy="0"/>
          <a:chOff x="0" y="0"/>
          <a:chExt cx="0" cy="0"/>
        </a:xfrm>
      </p:grpSpPr>
    </p:spTree>
    <p:extLst>
      <p:ext uri="{BB962C8B-B14F-4D97-AF65-F5344CB8AC3E}">
        <p14:creationId xmlns:p14="http://schemas.microsoft.com/office/powerpoint/2010/main" val="616065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F147-598E-00DF-2B4B-E0311C2FC38C}"/>
            </a:ext>
          </a:extLst>
        </p:cNvPr>
        <p:cNvGrpSpPr/>
        <p:nvPr/>
      </p:nvGrpSpPr>
      <p:grpSpPr>
        <a:xfrm>
          <a:off x="0" y="0"/>
          <a:ext cx="0" cy="0"/>
          <a:chOff x="0" y="0"/>
          <a:chExt cx="0" cy="0"/>
        </a:xfrm>
      </p:grpSpPr>
    </p:spTree>
    <p:extLst>
      <p:ext uri="{BB962C8B-B14F-4D97-AF65-F5344CB8AC3E}">
        <p14:creationId xmlns:p14="http://schemas.microsoft.com/office/powerpoint/2010/main" val="2634119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A0C0-C2BC-B903-C720-981CF026B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E48CD70-2849-BC03-44AD-2C7EC32B35B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ABFF799-CD19-A3C8-CF86-6CA6CC9CFD0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04E6E7D-07AF-D14A-8B6B-AB1086102B01}"/>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453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87D9E-2BD1-A82E-1AEB-87CD8BB675A9}"/>
            </a:ext>
          </a:extLst>
        </p:cNvPr>
        <p:cNvGrpSpPr/>
        <p:nvPr/>
      </p:nvGrpSpPr>
      <p:grpSpPr>
        <a:xfrm>
          <a:off x="0" y="0"/>
          <a:ext cx="0" cy="0"/>
          <a:chOff x="0" y="0"/>
          <a:chExt cx="0" cy="0"/>
        </a:xfrm>
      </p:grpSpPr>
      <p:sp>
        <p:nvSpPr>
          <p:cNvPr id="4271" name="PlaceHolder 1">
            <a:extLst>
              <a:ext uri="{FF2B5EF4-FFF2-40B4-BE49-F238E27FC236}">
                <a16:creationId xmlns:a16="http://schemas.microsoft.com/office/drawing/2014/main" id="{A20488E2-811C-B1B4-B12E-F07314437C25}"/>
              </a:ext>
            </a:extLst>
          </p:cNvPr>
          <p:cNvSpPr>
            <a:spLocks noGrp="1" noRot="1" noChangeAspect="1"/>
          </p:cNvSpPr>
          <p:nvPr>
            <p:ph type="sldImg"/>
          </p:nvPr>
        </p:nvSpPr>
        <p:spPr>
          <a:xfrm>
            <a:off x="0" y="0"/>
            <a:ext cx="0" cy="0"/>
          </a:xfrm>
          <a:prstGeom prst="rect">
            <a:avLst/>
          </a:prstGeom>
          <a:ln w="0">
            <a:noFill/>
          </a:ln>
        </p:spPr>
      </p:sp>
      <p:sp>
        <p:nvSpPr>
          <p:cNvPr id="4272" name="PlaceHolder 2">
            <a:extLst>
              <a:ext uri="{FF2B5EF4-FFF2-40B4-BE49-F238E27FC236}">
                <a16:creationId xmlns:a16="http://schemas.microsoft.com/office/drawing/2014/main" id="{7EE93C6A-3E49-CC96-62F8-55202A4A4A77}"/>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err="1">
                <a:solidFill>
                  <a:srgbClr val="000000"/>
                </a:solidFill>
                <a:effectLst/>
                <a:uFillTx/>
                <a:latin typeface="Arial"/>
              </a:rPr>
              <a:t>L’obiettivo</a:t>
            </a:r>
            <a:r>
              <a:rPr lang="en-US" sz="2000" b="0" u="none" strike="noStrike">
                <a:solidFill>
                  <a:srgbClr val="000000"/>
                </a:solidFill>
                <a:effectLst/>
                <a:uFillTx/>
                <a:latin typeface="Arial"/>
              </a:rPr>
              <a:t> del </a:t>
            </a:r>
            <a:r>
              <a:rPr lang="en-US" sz="2000" b="0" u="none" strike="noStrike" err="1">
                <a:solidFill>
                  <a:srgbClr val="000000"/>
                </a:solidFill>
                <a:effectLst/>
                <a:uFillTx/>
                <a:latin typeface="Arial"/>
              </a:rPr>
              <a:t>corso</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è</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rendere</a:t>
            </a:r>
            <a:r>
              <a:rPr lang="en-US" sz="2000" b="0" u="none" strike="noStrike">
                <a:solidFill>
                  <a:srgbClr val="000000"/>
                </a:solidFill>
                <a:effectLst/>
                <a:uFillTx/>
                <a:latin typeface="Arial"/>
              </a:rPr>
              <a:t> lo </a:t>
            </a:r>
            <a:r>
              <a:rPr lang="en-US" sz="2000" b="0" u="none" strike="noStrike" err="1">
                <a:solidFill>
                  <a:srgbClr val="000000"/>
                </a:solidFill>
                <a:effectLst/>
                <a:uFillTx/>
                <a:latin typeface="Arial"/>
              </a:rPr>
              <a:t>studente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autonomo</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nella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lettura</a:t>
            </a:r>
            <a:r>
              <a:rPr lang="en-US" sz="2000" b="0" u="none" strike="noStrike">
                <a:solidFill>
                  <a:srgbClr val="000000"/>
                </a:solidFill>
                <a:effectLst/>
                <a:uFillTx/>
                <a:latin typeface="Arial"/>
              </a:rPr>
              <a:t> e </a:t>
            </a:r>
            <a:r>
              <a:rPr lang="en-US" sz="2000" b="0" u="none" strike="noStrike" err="1">
                <a:solidFill>
                  <a:srgbClr val="000000"/>
                </a:solidFill>
                <a:effectLst/>
                <a:uFillTx/>
                <a:latin typeface="Arial"/>
              </a:rPr>
              <a:t>nella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gestione</a:t>
            </a:r>
            <a:r>
              <a:rPr lang="en-US" sz="2000" b="0" u="none" strike="noStrike">
                <a:solidFill>
                  <a:srgbClr val="000000"/>
                </a:solidFill>
                <a:effectLst/>
                <a:uFillTx/>
                <a:latin typeface="Arial"/>
              </a:rPr>
              <a:t> della </a:t>
            </a:r>
            <a:r>
              <a:rPr lang="en-US" sz="2000" b="0" u="none" strike="noStrike" err="1">
                <a:solidFill>
                  <a:srgbClr val="000000"/>
                </a:solidFill>
                <a:effectLst/>
                <a:uFillTx/>
                <a:latin typeface="Arial"/>
              </a:rPr>
              <a:t>configurazione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Envizi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Amministrare</a:t>
            </a:r>
            <a:r>
              <a:rPr lang="en-US" sz="2000" b="0" u="none" strike="noStrike">
                <a:solidFill>
                  <a:srgbClr val="000000"/>
                </a:solidFill>
                <a:effectLst/>
                <a:uFillTx/>
                <a:latin typeface="Arial"/>
              </a:rPr>
              <a:t> la </a:t>
            </a:r>
            <a:r>
              <a:rPr lang="en-US" sz="2000" b="0" u="none" strike="noStrike" err="1">
                <a:solidFill>
                  <a:srgbClr val="000000"/>
                </a:solidFill>
                <a:effectLst/>
                <a:uFillTx/>
                <a:latin typeface="Arial"/>
              </a:rPr>
              <a:t>piattaforma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significa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comprendere</a:t>
            </a:r>
            <a:r>
              <a:rPr lang="en-US" sz="2000" b="0" u="none" strike="noStrike">
                <a:solidFill>
                  <a:srgbClr val="000000"/>
                </a:solidFill>
                <a:effectLst/>
                <a:uFillTx/>
                <a:latin typeface="Arial"/>
              </a:rPr>
              <a:t> la </a:t>
            </a:r>
            <a:r>
              <a:rPr lang="en-US" sz="2000" b="0" u="none" strike="noStrike" err="1">
                <a:solidFill>
                  <a:srgbClr val="000000"/>
                </a:solidFill>
                <a:effectLst/>
                <a:uFillTx/>
                <a:latin typeface="Arial"/>
              </a:rPr>
              <a:t>relazione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tra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dati</a:t>
            </a:r>
            <a:r>
              <a:rPr lang="en-US" sz="2000" b="0" u="none" strike="noStrike">
                <a:solidFill>
                  <a:srgbClr val="000000"/>
                </a:solidFill>
                <a:effectLst/>
                <a:uFillTx/>
                <a:latin typeface="Arial"/>
              </a:rPr>
              <a:t>, account, location e </a:t>
            </a:r>
            <a:r>
              <a:rPr lang="en-US" sz="2000" b="0" u="none" strike="noStrike" err="1">
                <a:solidFill>
                  <a:srgbClr val="000000"/>
                </a:solidFill>
                <a:effectLst/>
                <a:uFillTx/>
                <a:latin typeface="Arial"/>
              </a:rPr>
              <a:t>gruppi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gestire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dati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significa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assicurare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caricamenti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coerenti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unità</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corrette</a:t>
            </a:r>
            <a:r>
              <a:rPr lang="en-US" sz="2000" b="0" u="none" strike="noStrike">
                <a:solidFill>
                  <a:srgbClr val="000000"/>
                </a:solidFill>
                <a:effectLst/>
                <a:uFillTx/>
                <a:latin typeface="Arial"/>
              </a:rPr>
              <a:t> e </a:t>
            </a:r>
            <a:r>
              <a:rPr lang="en-US" sz="2000" b="0" u="none" strike="noStrike" err="1">
                <a:solidFill>
                  <a:srgbClr val="000000"/>
                </a:solidFill>
                <a:effectLst/>
                <a:uFillTx/>
                <a:latin typeface="Arial"/>
              </a:rPr>
              <a:t>periodicità</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affidabili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analizzare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significa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utilizzare</a:t>
            </a:r>
            <a:r>
              <a:rPr lang="en-US" sz="2000" b="0" u="none" strike="noStrike">
                <a:solidFill>
                  <a:srgbClr val="000000"/>
                </a:solidFill>
                <a:effectLst/>
                <a:uFillTx/>
                <a:latin typeface="Arial"/>
              </a:rPr>
              <a:t> dashboard e report </a:t>
            </a:r>
            <a:r>
              <a:rPr lang="en-US" sz="2000" b="0" u="none" strike="noStrike" err="1">
                <a:solidFill>
                  <a:srgbClr val="000000"/>
                </a:solidFill>
                <a:effectLst/>
                <a:uFillTx/>
                <a:latin typeface="Arial"/>
              </a:rPr>
              <a:t>sapendo</a:t>
            </a:r>
            <a:r>
              <a:rPr lang="en-US" sz="2000" b="0" u="none" strike="noStrike">
                <a:solidFill>
                  <a:srgbClr val="000000"/>
                </a:solidFill>
                <a:effectLst/>
                <a:uFillTx/>
                <a:latin typeface="Arial"/>
              </a:rPr>
              <a:t> da </a:t>
            </a:r>
            <a:r>
              <a:rPr lang="en-US" sz="2000" b="0" u="none" strike="noStrike" err="1">
                <a:solidFill>
                  <a:srgbClr val="000000"/>
                </a:solidFill>
                <a:effectLst/>
                <a:uFillTx/>
                <a:latin typeface="Arial"/>
              </a:rPr>
              <a:t>quali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configurazioni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derivano</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risultati</a:t>
            </a:r>
            <a:r>
              <a:rPr lang="en-US" sz="2000" b="0" u="none" strike="noStrike">
                <a:solidFill>
                  <a:srgbClr val="000000"/>
                </a:solidFill>
                <a:effectLst/>
                <a:uFillTx/>
                <a:latin typeface="Arial"/>
              </a:rPr>
              <a:t>. La </a:t>
            </a:r>
            <a:r>
              <a:rPr lang="en-US" sz="2000" b="0" u="none" strike="noStrike" err="1">
                <a:solidFill>
                  <a:srgbClr val="000000"/>
                </a:solidFill>
                <a:effectLst/>
                <a:uFillTx/>
                <a:latin typeface="Arial"/>
              </a:rPr>
              <a:t>sicurezza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operativa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nasce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dalla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tracciabilità</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quando</a:t>
            </a:r>
            <a:r>
              <a:rPr lang="en-US" sz="2000" b="0" u="none" strike="noStrike">
                <a:solidFill>
                  <a:srgbClr val="000000"/>
                </a:solidFill>
                <a:effectLst/>
                <a:uFillTx/>
                <a:latin typeface="Arial"/>
              </a:rPr>
              <a:t> un </a:t>
            </a:r>
            <a:r>
              <a:rPr lang="en-US" sz="2000" b="0" u="none" strike="noStrike" err="1">
                <a:solidFill>
                  <a:srgbClr val="000000"/>
                </a:solidFill>
                <a:effectLst/>
                <a:uFillTx/>
                <a:latin typeface="Arial"/>
              </a:rPr>
              <a:t>totale</a:t>
            </a:r>
            <a:r>
              <a:rPr lang="en-US" sz="2000" b="0" u="none" strike="noStrike">
                <a:solidFill>
                  <a:srgbClr val="000000"/>
                </a:solidFill>
                <a:effectLst/>
                <a:uFillTx/>
                <a:latin typeface="Arial"/>
              </a:rPr>
              <a:t> non </a:t>
            </a:r>
            <a:r>
              <a:rPr lang="en-US" sz="2000" b="0" u="none" strike="noStrike" err="1">
                <a:solidFill>
                  <a:srgbClr val="000000"/>
                </a:solidFill>
                <a:effectLst/>
                <a:uFillTx/>
                <a:latin typeface="Arial"/>
              </a:rPr>
              <a:t>è</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corretto</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l’amministratore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deve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poter</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risalire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dalla</a:t>
            </a:r>
            <a:r>
              <a:rPr lang="en-US" sz="2000" b="0" u="none" strike="noStrike">
                <a:solidFill>
                  <a:srgbClr val="000000"/>
                </a:solidFill>
                <a:effectLst/>
                <a:uFillTx/>
                <a:latin typeface="Arial"/>
              </a:rPr>
              <a:t> vista </a:t>
            </a:r>
            <a:r>
              <a:rPr lang="en-US" sz="2000" b="0" u="none" strike="noStrike" err="1">
                <a:solidFill>
                  <a:srgbClr val="000000"/>
                </a:solidFill>
                <a:effectLst/>
                <a:uFillTx/>
                <a:latin typeface="Arial"/>
              </a:rPr>
              <a:t>organizzativa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fino</a:t>
            </a:r>
            <a:r>
              <a:rPr lang="en-US" sz="2000" b="0" u="none" strike="noStrike">
                <a:solidFill>
                  <a:srgbClr val="000000"/>
                </a:solidFill>
                <a:effectLst/>
                <a:uFillTx/>
                <a:latin typeface="Arial"/>
              </a:rPr>
              <a:t> alla location, </a:t>
            </a:r>
            <a:r>
              <a:rPr lang="en-US" sz="2000" b="0" u="none" strike="noStrike" err="1">
                <a:solidFill>
                  <a:srgbClr val="000000"/>
                </a:solidFill>
                <a:effectLst/>
                <a:uFillTx/>
                <a:latin typeface="Arial"/>
              </a:rPr>
              <a:t>all’account</a:t>
            </a:r>
            <a:r>
              <a:rPr lang="en-US" sz="2000" b="0" u="none" strike="noStrike">
                <a:solidFill>
                  <a:srgbClr val="000000"/>
                </a:solidFill>
                <a:effectLst/>
                <a:uFillTx/>
                <a:latin typeface="Arial"/>
              </a:rPr>
              <a:t> e al record </a:t>
            </a:r>
            <a:r>
              <a:rPr lang="en-US" sz="2000" b="0" u="none" strike="noStrike" err="1">
                <a:solidFill>
                  <a:srgbClr val="000000"/>
                </a:solidFill>
                <a:effectLst/>
                <a:uFillTx/>
                <a:latin typeface="Arial"/>
              </a:rPr>
              <a:t>sorgente</a:t>
            </a:r>
            <a:r>
              <a:rPr lang="en-US" sz="2000" b="0" u="none" strike="noStrike">
                <a:solidFill>
                  <a:srgbClr val="000000"/>
                </a:solidFill>
                <a:effectLst/>
                <a:uFillTx/>
                <a:latin typeface="Arial"/>
              </a:rPr>
              <a:t>. Questa </a:t>
            </a:r>
            <a:r>
              <a:rPr lang="en-US" sz="2000" b="0" u="none" strike="noStrike" err="1">
                <a:solidFill>
                  <a:srgbClr val="000000"/>
                </a:solidFill>
                <a:effectLst/>
                <a:uFillTx/>
                <a:latin typeface="Arial"/>
              </a:rPr>
              <a:t>competenza</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riduce</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correzioni</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manuali</a:t>
            </a:r>
            <a:r>
              <a:rPr lang="en-US" sz="2000" b="0" u="none" strike="noStrike">
                <a:solidFill>
                  <a:srgbClr val="000000"/>
                </a:solidFill>
                <a:effectLst/>
                <a:uFillTx/>
                <a:latin typeface="Arial"/>
              </a:rPr>
              <a:t> e </a:t>
            </a:r>
            <a:r>
              <a:rPr lang="en-US" sz="2000" b="0" u="none" strike="noStrike" err="1">
                <a:solidFill>
                  <a:srgbClr val="000000"/>
                </a:solidFill>
                <a:effectLst/>
                <a:uFillTx/>
                <a:latin typeface="Arial"/>
              </a:rPr>
              <a:t>rende</a:t>
            </a:r>
            <a:r>
              <a:rPr lang="en-US" sz="2000" b="0" u="none" strike="noStrike">
                <a:solidFill>
                  <a:srgbClr val="000000"/>
                </a:solidFill>
                <a:effectLst/>
                <a:uFillTx/>
                <a:latin typeface="Arial"/>
              </a:rPr>
              <a:t> il reporting </a:t>
            </a:r>
            <a:r>
              <a:rPr lang="en-US" sz="2000" b="0" u="none" strike="noStrike" err="1">
                <a:solidFill>
                  <a:srgbClr val="000000"/>
                </a:solidFill>
                <a:effectLst/>
                <a:uFillTx/>
                <a:latin typeface="Arial"/>
              </a:rPr>
              <a:t>più</a:t>
            </a:r>
            <a:r>
              <a:rPr lang="en-US" sz="2000" b="0" u="none" strike="noStrike">
                <a:solidFill>
                  <a:srgbClr val="000000"/>
                </a:solidFill>
                <a:effectLst/>
                <a:uFillTx/>
                <a:latin typeface="Arial"/>
              </a:rPr>
              <a:t> </a:t>
            </a:r>
            <a:r>
              <a:rPr lang="en-US" sz="2000" b="0" u="none" strike="noStrike" err="1">
                <a:solidFill>
                  <a:srgbClr val="000000"/>
                </a:solidFill>
                <a:effectLst/>
                <a:uFillTx/>
                <a:latin typeface="Arial"/>
              </a:rPr>
              <a:t>affidabile</a:t>
            </a:r>
            <a:r>
              <a:rPr lang="en-US" sz="2000" b="0" u="none" strike="noStrike">
                <a:solidFill>
                  <a:srgbClr val="000000"/>
                </a:solidFill>
                <a:effectLst/>
                <a:uFillTx/>
                <a:latin typeface="Arial"/>
              </a:rPr>
              <a:t>.</a:t>
            </a:r>
          </a:p>
        </p:txBody>
      </p:sp>
      <p:sp>
        <p:nvSpPr>
          <p:cNvPr id="4273" name="PlaceHolder 3">
            <a:extLst>
              <a:ext uri="{FF2B5EF4-FFF2-40B4-BE49-F238E27FC236}">
                <a16:creationId xmlns:a16="http://schemas.microsoft.com/office/drawing/2014/main" id="{509D1132-35C6-FFE4-9AC4-517C590A25C6}"/>
              </a:ext>
            </a:extLst>
          </p:cNvPr>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260156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it-IT"/>
          </a:p>
          <a:p>
            <a:r>
              <a:t>[Sources]</a:t>
            </a:r>
          </a:p>
          <a:p>
            <a:r>
              <a:t>https://www.ibm.com/docs/en/envizi-esg-suite?topic=</a:t>
            </a:r>
            <a:r>
              <a:rPr lang="it-IT"/>
              <a:t>administering-setting-up-users</a:t>
            </a:r>
            <a:endParaRPr/>
          </a:p>
          <a:p>
            <a:r>
              <a:t>https://www.ibm.com/docs/en/envizi-esg-suite?topic=</a:t>
            </a:r>
            <a:r>
              <a:rPr lang="it-IT"/>
              <a:t>users-creating-in-single-form</a:t>
            </a:r>
            <a:endParaRPr/>
          </a:p>
          <a:p>
            <a:r>
              <a:t>https://www.ibm.com/docs/en/envizi-esg-suite?topic=</a:t>
            </a:r>
            <a:r>
              <a:rPr lang="it-IT"/>
              <a:t>users-creating-contacts-logins</a:t>
            </a:r>
            <a:endParaRPr/>
          </a:p>
          <a:p>
            <a:r>
              <a:t>https://www.ibm.com/docs/en/envizi-esg-suite?topic=</a:t>
            </a:r>
            <a:r>
              <a:rPr lang="it-IT"/>
              <a:t>users-managing-single-sign</a:t>
            </a:r>
            <a:endParaRPr/>
          </a:p>
          <a:p>
            <a:r>
              <a:t>https://www.ibm.com/docs/en/envizi-esg-suite?topic=</a:t>
            </a:r>
            <a:r>
              <a:rPr lang="it-IT"/>
              <a:t>data-assigning-reviewer-approver-work-roles</a:t>
            </a:r>
            <a:endParaRPr/>
          </a:p>
          <a:p>
            <a:r>
              <a:t>https://www.ibm.com/docs/en/envizi-esg-suite?topic=</a:t>
            </a:r>
            <a:r>
              <a:rPr lang="it-IT"/>
              <a:t>managing-approving-account-data</a:t>
            </a:r>
          </a:p>
          <a:p>
            <a:r>
              <a:rPr lang="it-IT"/>
              <a:t>Consultazione: 9 ottobre 2026</a:t>
            </a:r>
            <a:endParaRPr/>
          </a:p>
          <a:p>
            <a:r>
              <a:t>[/Sources]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072129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4706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dirty="0"/>
          </a:p>
        </p:txBody>
      </p:sp>
    </p:spTree>
    <p:extLst>
      <p:ext uri="{BB962C8B-B14F-4D97-AF65-F5344CB8AC3E}">
        <p14:creationId xmlns:p14="http://schemas.microsoft.com/office/powerpoint/2010/main" val="410789028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09EA-57CA-9A71-E391-10854E664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5E42-6EB0-A758-C7D1-BC518D2AF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EA591-A2B3-4B14-0740-EE8764D7FD30}"/>
              </a:ext>
            </a:extLst>
          </p:cNvPr>
          <p:cNvSpPr>
            <a:spLocks noGrp="1"/>
          </p:cNvSpPr>
          <p:nvPr>
            <p:ph type="dt" sz="half" idx="10"/>
          </p:nvPr>
        </p:nvSpPr>
        <p:spPr/>
        <p:txBody>
          <a:bodyPr/>
          <a:lstStyle/>
          <a:p>
            <a:fld id="{1FE6BF0D-213E-F34D-93C6-37AB37C29CAE}" type="datetimeFigureOut">
              <a:rPr lang="en-US" smtClean="0"/>
              <a:t>10/14/26</a:t>
            </a:fld>
            <a:endParaRPr lang="en-US"/>
          </a:p>
        </p:txBody>
      </p:sp>
      <p:sp>
        <p:nvSpPr>
          <p:cNvPr id="5" name="Footer Placeholder 4">
            <a:extLst>
              <a:ext uri="{FF2B5EF4-FFF2-40B4-BE49-F238E27FC236}">
                <a16:creationId xmlns:a16="http://schemas.microsoft.com/office/drawing/2014/main" id="{407C7C6F-92F8-28B6-9CB9-837A13758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189C-1C89-B914-D8D5-484BDDB24250}"/>
              </a:ext>
            </a:extLst>
          </p:cNvPr>
          <p:cNvSpPr>
            <a:spLocks noGrp="1"/>
          </p:cNvSpPr>
          <p:nvPr>
            <p:ph type="sldNum" sz="quarter" idx="12"/>
          </p:nvPr>
        </p:nvSpPr>
        <p:spPr/>
        <p:txBody>
          <a:bodyPr/>
          <a:lstStyle/>
          <a:p>
            <a:fld id="{85D104AF-6D8B-754A-9FED-073057245C12}" type="slidenum">
              <a:rPr lang="en-US" smtClean="0"/>
              <a:t>‹N›</a:t>
            </a:fld>
            <a:endParaRPr lang="en-US"/>
          </a:p>
        </p:txBody>
      </p:sp>
    </p:spTree>
    <p:extLst>
      <p:ext uri="{BB962C8B-B14F-4D97-AF65-F5344CB8AC3E}">
        <p14:creationId xmlns:p14="http://schemas.microsoft.com/office/powerpoint/2010/main" val="2616264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12232729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8" y="282576"/>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8809784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7603675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ESG Data &amp; Environmental Intelligence / © 2023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‹N›</a:t>
            </a:fld>
            <a:endParaRPr lang="en-US" dirty="0"/>
          </a:p>
        </p:txBody>
      </p:sp>
    </p:spTree>
    <p:extLst>
      <p:ext uri="{BB962C8B-B14F-4D97-AF65-F5344CB8AC3E}">
        <p14:creationId xmlns:p14="http://schemas.microsoft.com/office/powerpoint/2010/main" val="31222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5748422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04955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13722028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200195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78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hyperlink" Target="https://www.ibm.com/docs/en/envizi-esg-suite?topic=managing-approving-account-data" TargetMode="External"/><Relationship Id="rId3" Type="http://schemas.openxmlformats.org/officeDocument/2006/relationships/hyperlink" Target="https://www.ibm.com/docs/en/envizi-esg-suite?topic=administering-setting-up-users" TargetMode="External"/><Relationship Id="rId7" Type="http://schemas.openxmlformats.org/officeDocument/2006/relationships/hyperlink" Target="https://www.ibm.com/docs/en/envizi-esg-suite?topic=data-assigning-reviewer-approver-work-roles"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hyperlink" Target="https://www.ibm.com/docs/en/envizi-esg-suite?topic=users-managing-single-sign" TargetMode="External"/><Relationship Id="rId5" Type="http://schemas.openxmlformats.org/officeDocument/2006/relationships/hyperlink" Target="https://www.ibm.com/docs/en/envizi-esg-suite?topic=users-creating-contacts-logins" TargetMode="External"/><Relationship Id="rId4" Type="http://schemas.openxmlformats.org/officeDocument/2006/relationships/hyperlink" Target="https://www.ibm.com/docs/en/envizi-esg-suite?topic=users-creating-in-single-fo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2200" b="0">
                <a:solidFill>
                  <a:srgbClr val="5B6B70"/>
                </a:solidFill>
                <a:latin typeface="Calibri"/>
              </a:rPr>
              <a:t>Configurazione utenti, ruoli e segregazione degli accessi </a:t>
            </a:r>
            <a:r>
              <a:rPr lang="it-IT" sz="2200" b="0" dirty="0">
                <a:solidFill>
                  <a:srgbClr val="5B6B70"/>
                </a:solidFill>
                <a:latin typeface="Calibri"/>
              </a:rPr>
              <a:t>in </a:t>
            </a:r>
            <a:r>
              <a:rPr lang="it-IT" sz="2200" b="0">
                <a:solidFill>
                  <a:srgbClr val="5B6B70"/>
                </a:solidFill>
                <a:latin typeface="Calibri"/>
              </a:rPr>
              <a:t>Envizi</a:t>
            </a: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80F8A9A7-20A7-FD31-DED9-EC0EABB50AB7}"/>
              </a:ext>
            </a:extLst>
          </p:cNvPr>
          <p:cNvSpPr txBox="1"/>
          <p:nvPr/>
        </p:nvSpPr>
        <p:spPr>
          <a:xfrm>
            <a:off x="797442" y="325213"/>
            <a:ext cx="10217888" cy="3607206"/>
          </a:xfrm>
          <a:prstGeom prst="rect">
            <a:avLst/>
          </a:prstGeom>
          <a:noFill/>
        </p:spPr>
        <p:txBody>
          <a:bodyPr wrap="square">
            <a:spAutoFit/>
          </a:bodyPr>
          <a:lstStyle/>
          <a:p>
            <a:r>
              <a:rPr lang="en-US" sz="2400" b="1" dirty="0" err="1"/>
              <a:t>Obiettivi</a:t>
            </a:r>
            <a:r>
              <a:rPr lang="en-US" sz="2400" b="1" dirty="0"/>
              <a:t> del </a:t>
            </a:r>
            <a:r>
              <a:rPr lang="en-US" sz="2400" b="1" dirty="0" err="1"/>
              <a:t>capitolo</a:t>
            </a:r>
            <a:endParaRPr lang="en-US" sz="2400" b="1" dirty="0"/>
          </a:p>
          <a:p>
            <a:endParaRPr lang="en-US" b="1" dirty="0"/>
          </a:p>
          <a:p>
            <a:r>
              <a:rPr lang="en-US" dirty="0" err="1"/>
              <a:t>Questo</a:t>
            </a:r>
            <a:r>
              <a:rPr lang="en-US" dirty="0"/>
              <a:t> </a:t>
            </a:r>
            <a:r>
              <a:rPr lang="en-US" dirty="0" err="1"/>
              <a:t>capitolo</a:t>
            </a:r>
            <a:r>
              <a:rPr lang="en-US" dirty="0"/>
              <a:t> </a:t>
            </a:r>
            <a:r>
              <a:rPr lang="en-US" dirty="0" err="1"/>
              <a:t>mostra</a:t>
            </a:r>
            <a:r>
              <a:rPr lang="en-US" dirty="0"/>
              <a:t> come </a:t>
            </a:r>
            <a:r>
              <a:rPr lang="en-US" dirty="0" err="1"/>
              <a:t>creare</a:t>
            </a:r>
            <a:r>
              <a:rPr lang="en-US" dirty="0"/>
              <a:t> </a:t>
            </a:r>
            <a:r>
              <a:rPr lang="en-US" dirty="0" err="1"/>
              <a:t>utenti</a:t>
            </a:r>
            <a:r>
              <a:rPr lang="en-US" dirty="0"/>
              <a:t> e </a:t>
            </a:r>
            <a:r>
              <a:rPr lang="en-US" dirty="0" err="1"/>
              <a:t>contatti</a:t>
            </a:r>
            <a:r>
              <a:rPr lang="en-US" dirty="0"/>
              <a:t> in IBM </a:t>
            </a:r>
            <a:r>
              <a:rPr lang="en-US" dirty="0" err="1"/>
              <a:t>Envizi</a:t>
            </a:r>
            <a:r>
              <a:rPr lang="en-US" dirty="0"/>
              <a:t>, </a:t>
            </a:r>
            <a:r>
              <a:rPr lang="en-US" dirty="0" err="1"/>
              <a:t>attivare</a:t>
            </a:r>
            <a:r>
              <a:rPr lang="en-US" dirty="0"/>
              <a:t> </a:t>
            </a:r>
            <a:r>
              <a:rPr lang="en-US" dirty="0" err="1"/>
              <a:t>gli</a:t>
            </a:r>
            <a:r>
              <a:rPr lang="en-US" dirty="0"/>
              <a:t> </a:t>
            </a:r>
            <a:r>
              <a:rPr lang="en-US" dirty="0" err="1"/>
              <a:t>accessi</a:t>
            </a:r>
            <a:r>
              <a:rPr lang="en-US" dirty="0"/>
              <a:t> e </a:t>
            </a:r>
            <a:r>
              <a:rPr lang="en-US" dirty="0" err="1"/>
              <a:t>assegnare</a:t>
            </a:r>
            <a:r>
              <a:rPr lang="en-US" dirty="0"/>
              <a:t> </a:t>
            </a:r>
            <a:r>
              <a:rPr lang="en-US" dirty="0" err="1"/>
              <a:t>permessi</a:t>
            </a:r>
            <a:r>
              <a:rPr lang="en-US" dirty="0"/>
              <a:t> </a:t>
            </a:r>
            <a:r>
              <a:rPr lang="en-US" dirty="0" err="1"/>
              <a:t>coerenti</a:t>
            </a:r>
            <a:r>
              <a:rPr lang="en-US" dirty="0"/>
              <a:t> con le </a:t>
            </a:r>
            <a:r>
              <a:rPr lang="en-US" dirty="0" err="1"/>
              <a:t>responsabilità</a:t>
            </a:r>
            <a:r>
              <a:rPr lang="en-US" dirty="0"/>
              <a:t> </a:t>
            </a:r>
            <a:r>
              <a:rPr lang="en-US" dirty="0" err="1"/>
              <a:t>aziendali</a:t>
            </a:r>
            <a:r>
              <a:rPr lang="en-US" dirty="0"/>
              <a:t>.</a:t>
            </a:r>
          </a:p>
          <a:p>
            <a:endParaRPr lang="en-US" dirty="0"/>
          </a:p>
          <a:p>
            <a:endParaRPr lang="en-US" dirty="0"/>
          </a:p>
          <a:p>
            <a:r>
              <a:rPr lang="en-US" b="1" dirty="0"/>
              <a:t>Al </a:t>
            </a:r>
            <a:r>
              <a:rPr lang="en-US" b="1" dirty="0" err="1"/>
              <a:t>termine</a:t>
            </a:r>
            <a:r>
              <a:rPr lang="en-US" b="1" dirty="0"/>
              <a:t> del </a:t>
            </a:r>
            <a:r>
              <a:rPr lang="en-US" b="1" dirty="0" err="1"/>
              <a:t>capitolo</a:t>
            </a:r>
            <a:r>
              <a:rPr lang="en-US" b="1" dirty="0"/>
              <a:t> il </a:t>
            </a:r>
            <a:r>
              <a:rPr lang="en-US" b="1" dirty="0" err="1"/>
              <a:t>partecipante</a:t>
            </a:r>
            <a:r>
              <a:rPr lang="en-US" b="1" dirty="0"/>
              <a:t> </a:t>
            </a:r>
            <a:r>
              <a:rPr lang="en-US" b="1" dirty="0" err="1"/>
              <a:t>sarà</a:t>
            </a:r>
            <a:r>
              <a:rPr lang="en-US" b="1" dirty="0"/>
              <a:t> in </a:t>
            </a:r>
            <a:r>
              <a:rPr lang="en-US" b="1" dirty="0" err="1"/>
              <a:t>grado</a:t>
            </a:r>
            <a:r>
              <a:rPr lang="en-US" b="1" dirty="0"/>
              <a:t> di:</a:t>
            </a:r>
          </a:p>
          <a:p>
            <a:endParaRPr lang="en-US" b="1" dirty="0"/>
          </a:p>
          <a:p>
            <a:pPr lvl="0">
              <a:lnSpc>
                <a:spcPct val="150000"/>
              </a:lnSpc>
            </a:pPr>
            <a:r>
              <a:rPr lang="en-US" dirty="0" err="1"/>
              <a:t>distinguere</a:t>
            </a:r>
            <a:r>
              <a:rPr lang="en-US" dirty="0"/>
              <a:t> </a:t>
            </a:r>
            <a:r>
              <a:rPr lang="en-US" dirty="0" err="1"/>
              <a:t>ruolo</a:t>
            </a:r>
            <a:r>
              <a:rPr lang="en-US" dirty="0"/>
              <a:t> </a:t>
            </a:r>
            <a:r>
              <a:rPr lang="en-US" dirty="0" err="1"/>
              <a:t>aziendale</a:t>
            </a:r>
            <a:r>
              <a:rPr lang="en-US" dirty="0"/>
              <a:t>, Access Role, Access Level e Work Role</a:t>
            </a:r>
          </a:p>
          <a:p>
            <a:pPr lvl="0">
              <a:lnSpc>
                <a:spcPct val="150000"/>
              </a:lnSpc>
            </a:pPr>
            <a:r>
              <a:rPr lang="en-US" dirty="0" err="1"/>
              <a:t>circoscrivere</a:t>
            </a:r>
            <a:r>
              <a:rPr lang="en-US" dirty="0"/>
              <a:t> la </a:t>
            </a:r>
            <a:r>
              <a:rPr lang="en-US" dirty="0" err="1"/>
              <a:t>visibilità</a:t>
            </a:r>
            <a:r>
              <a:rPr lang="en-US" dirty="0"/>
              <a:t> </a:t>
            </a:r>
            <a:r>
              <a:rPr lang="en-US" dirty="0" err="1"/>
              <a:t>dei</a:t>
            </a:r>
            <a:r>
              <a:rPr lang="en-US" dirty="0"/>
              <a:t> </a:t>
            </a:r>
            <a:r>
              <a:rPr lang="en-US" dirty="0" err="1"/>
              <a:t>dati</a:t>
            </a:r>
            <a:r>
              <a:rPr lang="en-US" dirty="0"/>
              <a:t> a </a:t>
            </a:r>
            <a:r>
              <a:rPr lang="en-US" dirty="0" err="1"/>
              <a:t>organizzazione</a:t>
            </a:r>
            <a:r>
              <a:rPr lang="en-US" dirty="0"/>
              <a:t>, </a:t>
            </a:r>
            <a:r>
              <a:rPr lang="en-US" dirty="0" err="1"/>
              <a:t>gruppi</a:t>
            </a:r>
            <a:r>
              <a:rPr lang="en-US" dirty="0"/>
              <a:t>, Location o tag</a:t>
            </a:r>
          </a:p>
          <a:p>
            <a:pPr lvl="0">
              <a:lnSpc>
                <a:spcPct val="150000"/>
              </a:lnSpc>
            </a:pPr>
            <a:r>
              <a:rPr lang="en-US" dirty="0" err="1"/>
              <a:t>assegnare</a:t>
            </a:r>
            <a:r>
              <a:rPr lang="en-US" dirty="0"/>
              <a:t> </a:t>
            </a:r>
            <a:r>
              <a:rPr lang="en-US" dirty="0" err="1"/>
              <a:t>i</a:t>
            </a:r>
            <a:r>
              <a:rPr lang="en-US" dirty="0"/>
              <a:t> Work Role e </a:t>
            </a:r>
            <a:r>
              <a:rPr lang="en-US" dirty="0" err="1"/>
              <a:t>delimitare</a:t>
            </a:r>
            <a:r>
              <a:rPr lang="en-US" dirty="0"/>
              <a:t> </a:t>
            </a:r>
            <a:r>
              <a:rPr lang="en-US" dirty="0" err="1"/>
              <a:t>revisione</a:t>
            </a:r>
            <a:r>
              <a:rPr lang="en-US" dirty="0"/>
              <a:t> e </a:t>
            </a:r>
            <a:r>
              <a:rPr lang="en-US" dirty="0" err="1"/>
              <a:t>approvazione</a:t>
            </a:r>
            <a:r>
              <a:rPr lang="en-US" dirty="0"/>
              <a:t> </a:t>
            </a:r>
            <a:r>
              <a:rPr lang="en-US" dirty="0" err="1"/>
              <a:t>dei</a:t>
            </a:r>
            <a:r>
              <a:rPr lang="en-US" dirty="0"/>
              <a:t> </a:t>
            </a:r>
            <a:r>
              <a:rPr lang="en-US" dirty="0" err="1"/>
              <a:t>dati</a:t>
            </a:r>
            <a:endParaRPr lang="en-US" dirty="0"/>
          </a:p>
        </p:txBody>
      </p:sp>
    </p:spTree>
    <p:extLst>
      <p:ext uri="{BB962C8B-B14F-4D97-AF65-F5344CB8AC3E}">
        <p14:creationId xmlns:p14="http://schemas.microsoft.com/office/powerpoint/2010/main" val="1128939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8A2D375A-93C6-74FE-EC20-720C31E7E94A}"/>
              </a:ext>
            </a:extLst>
          </p:cNvPr>
          <p:cNvSpPr txBox="1"/>
          <p:nvPr/>
        </p:nvSpPr>
        <p:spPr>
          <a:xfrm>
            <a:off x="353961" y="1058095"/>
            <a:ext cx="60960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1" i="0" u="none" strike="noStrike" kern="1200" cap="none" spc="0" normalizeH="0" baseline="0" noProof="0" dirty="0">
                <a:ln>
                  <a:noFill/>
                </a:ln>
                <a:solidFill>
                  <a:srgbClr val="000000"/>
                </a:solidFill>
                <a:effectLst/>
                <a:uLnTx/>
                <a:uFillTx/>
                <a:latin typeface="Calibri"/>
                <a:cs typeface="Calibri"/>
              </a:rPr>
              <a:t>Utente: Amministratore di sistema</a:t>
            </a:r>
            <a:endParaRPr kumimoji="0" lang="it-IT" sz="18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it-IT" sz="18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800" b="0" i="0" u="none" strike="noStrike" kern="1200" cap="none" spc="0" normalizeH="0" baseline="0" noProof="0" dirty="0">
                <a:ln>
                  <a:noFill/>
                </a:ln>
                <a:solidFill>
                  <a:srgbClr val="000000"/>
                </a:solidFill>
                <a:effectLst/>
                <a:uLnTx/>
                <a:uFillTx/>
                <a:latin typeface="Calibri"/>
                <a:cs typeface="Calibri"/>
              </a:rPr>
              <a:t>Configurazione dei permessi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cs typeface="Calibri"/>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800" b="0" i="0" u="none" strike="noStrike" kern="1200" cap="none" spc="0" normalizeH="0" baseline="0" noProof="0" dirty="0">
                <a:ln>
                  <a:noFill/>
                </a:ln>
                <a:solidFill>
                  <a:srgbClr val="000000"/>
                </a:solidFill>
                <a:effectLst/>
                <a:uLnTx/>
                <a:uFillTx/>
                <a:latin typeface="Calibri"/>
                <a:cs typeface="Calibri"/>
              </a:rPr>
              <a:t>Access Role: funzionalità disponibili</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800" b="0" i="0" u="none" strike="noStrike" kern="1200" cap="none" spc="0" normalizeH="0" baseline="0" noProof="0" dirty="0">
                <a:ln>
                  <a:noFill/>
                </a:ln>
                <a:solidFill>
                  <a:srgbClr val="000000"/>
                </a:solidFill>
                <a:effectLst/>
                <a:uLnTx/>
                <a:uFillTx/>
                <a:latin typeface="Calibri"/>
                <a:cs typeface="Calibri"/>
              </a:rPr>
              <a:t>Access Level: visibilità dei dati</a:t>
            </a:r>
            <a:br>
              <a:rPr lang="it-IT" dirty="0"/>
            </a:br>
            <a:r>
              <a:rPr lang="it-IT" dirty="0"/>
              <a:t>Work Role: responsabilità operative</a:t>
            </a:r>
          </a:p>
        </p:txBody>
      </p:sp>
      <p:pic>
        <p:nvPicPr>
          <p:cNvPr id="12" name="Immagine 11">
            <a:extLst>
              <a:ext uri="{FF2B5EF4-FFF2-40B4-BE49-F238E27FC236}">
                <a16:creationId xmlns:a16="http://schemas.microsoft.com/office/drawing/2014/main" id="{453B2D87-94E8-6593-7EBD-F52FA715BC5A}"/>
              </a:ext>
            </a:extLst>
          </p:cNvPr>
          <p:cNvPicPr>
            <a:picLocks noChangeAspect="1"/>
          </p:cNvPicPr>
          <p:nvPr/>
        </p:nvPicPr>
        <p:blipFill>
          <a:blip r:embed="rId3"/>
          <a:stretch>
            <a:fillRect/>
          </a:stretch>
        </p:blipFill>
        <p:spPr>
          <a:xfrm>
            <a:off x="7769504" y="2163774"/>
            <a:ext cx="3144058" cy="3770671"/>
          </a:xfrm>
          <a:prstGeom prst="rect">
            <a:avLst/>
          </a:prstGeom>
        </p:spPr>
      </p:pic>
      <p:sp>
        <p:nvSpPr>
          <p:cNvPr id="1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1" name="CasellaDiTesto 10">
            <a:extLst>
              <a:ext uri="{FF2B5EF4-FFF2-40B4-BE49-F238E27FC236}">
                <a16:creationId xmlns:a16="http://schemas.microsoft.com/office/drawing/2014/main" id="{748E9DFA-B5A3-01AB-7A53-4C116A5597F1}"/>
              </a:ext>
            </a:extLst>
          </p:cNvPr>
          <p:cNvSpPr txBox="1"/>
          <p:nvPr/>
        </p:nvSpPr>
        <p:spPr>
          <a:xfrm>
            <a:off x="640080" y="457200"/>
            <a:ext cx="1090879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sz="2400" b="1">
                <a:solidFill>
                  <a:srgbClr val="073E31"/>
                </a:solidFill>
                <a:latin typeface="Calibri"/>
              </a:defRPr>
            </a:pPr>
            <a:r>
              <a:rPr kumimoji="0" lang="it-IT" sz="2400" b="1" i="0" u="none" strike="noStrike" kern="1200" cap="none" spc="0" normalizeH="0" baseline="0" noProof="0">
                <a:ln>
                  <a:noFill/>
                </a:ln>
                <a:solidFill>
                  <a:srgbClr val="073E31"/>
                </a:solidFill>
                <a:effectLst/>
                <a:uLnTx/>
                <a:uFillTx/>
                <a:latin typeface="Calibri"/>
                <a:cs typeface="Calibri"/>
              </a:rPr>
              <a:t>L’Amministratore configura utenti e accessi</a:t>
            </a:r>
            <a:endParaRPr kumimoji="0" lang="it-IT" sz="2400" b="1" i="0" u="none" strike="noStrike" kern="1200" cap="none" spc="0" normalizeH="0" baseline="0" noProof="0" dirty="0">
              <a:ln>
                <a:noFill/>
              </a:ln>
              <a:solidFill>
                <a:srgbClr val="073E31"/>
              </a:solidFill>
              <a:effectLst/>
              <a:uLnTx/>
              <a:uFillTx/>
              <a:latin typeface="Calibri"/>
              <a:cs typeface="Calibri"/>
            </a:endParaRPr>
          </a:p>
        </p:txBody>
      </p:sp>
      <p:sp>
        <p:nvSpPr>
          <p:cNvPr id="2" name="Ovale 1">
            <a:extLst>
              <a:ext uri="{FF2B5EF4-FFF2-40B4-BE49-F238E27FC236}">
                <a16:creationId xmlns:a16="http://schemas.microsoft.com/office/drawing/2014/main" id="{2B61D6AD-61ED-7124-3EC3-DCE5389539D9}"/>
              </a:ext>
            </a:extLst>
          </p:cNvPr>
          <p:cNvSpPr/>
          <p:nvPr/>
        </p:nvSpPr>
        <p:spPr>
          <a:xfrm>
            <a:off x="10417579" y="178507"/>
            <a:ext cx="1005841" cy="9675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800" b="0" i="0" u="none" strike="noStrike" kern="1200" cap="none" spc="0" normalizeH="0" baseline="0" noProof="0" dirty="0">
                <a:ln>
                  <a:noFill/>
                </a:ln>
                <a:solidFill>
                  <a:srgbClr val="FFFFFF"/>
                </a:solidFill>
                <a:effectLst/>
                <a:uLnTx/>
                <a:uFillTx/>
                <a:latin typeface="Calibri"/>
                <a:cs typeface="Calibri"/>
              </a:rPr>
              <a:t>1</a:t>
            </a:r>
          </a:p>
        </p:txBody>
      </p:sp>
    </p:spTree>
    <p:extLst>
      <p:ext uri="{BB962C8B-B14F-4D97-AF65-F5344CB8AC3E}">
        <p14:creationId xmlns:p14="http://schemas.microsoft.com/office/powerpoint/2010/main" val="2232631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68BD-18A5-4BBD-6F51-0063F578384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74305E1C-8803-AE10-5851-39A64F531DBE}"/>
              </a:ext>
            </a:extLst>
          </p:cNvPr>
          <p:cNvSpPr/>
          <p:nvPr/>
        </p:nvSpPr>
        <p:spPr>
          <a:xfrm>
            <a:off x="3687050" y="2906742"/>
            <a:ext cx="8582852" cy="47663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1" i="0" u="none" strike="noStrike" kern="1200" cap="none" spc="0" normalizeH="0" baseline="0" noProof="0" dirty="0">
              <a:ln>
                <a:noFill/>
              </a:ln>
              <a:solidFill>
                <a:srgbClr val="000000"/>
              </a:solidFill>
              <a:effectLst/>
              <a:uLnTx/>
              <a:uFillTx/>
              <a:latin typeface="IBM Plex Sans" panose="020B0503050203000203" pitchFamily="34" charset="0"/>
              <a:cs typeface="Calibri"/>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Facility Manager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gestisce dati di energia, acqua e rifiuti degli edifici.</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Energy Manager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monitora consumi energetici ed emissioni.</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HSE Manager / EHS </a:t>
            </a:r>
            <a:r>
              <a:rPr kumimoji="0" lang="it-IT" sz="6162" b="1" i="0" u="none" strike="noStrike" kern="1200" cap="none" spc="0" normalizeH="0" baseline="0" noProof="0" err="1">
                <a:ln>
                  <a:noFill/>
                </a:ln>
                <a:solidFill>
                  <a:srgbClr val="000000"/>
                </a:solidFill>
                <a:effectLst/>
                <a:uLnTx/>
                <a:uFillTx/>
                <a:latin typeface="IBM Plex Sans" panose="020B0503050203000203" pitchFamily="34" charset="0"/>
                <a:cs typeface="Calibri"/>
              </a:rPr>
              <a:t>Specialist</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inserisce dati ambientali e di sicurezza.</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err="1">
                <a:ln>
                  <a:noFill/>
                </a:ln>
                <a:solidFill>
                  <a:srgbClr val="000000"/>
                </a:solidFill>
                <a:effectLst/>
                <a:uLnTx/>
                <a:uFillTx/>
                <a:latin typeface="IBM Plex Sans" panose="020B0503050203000203" pitchFamily="34" charset="0"/>
                <a:cs typeface="Calibri"/>
              </a:rPr>
              <a:t>Sustainability</a:t>
            </a: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 </a:t>
            </a:r>
            <a:r>
              <a:rPr kumimoji="0" lang="it-IT" sz="6162" b="1" i="0" u="none" strike="noStrike" kern="1200" cap="none" spc="0" normalizeH="0" baseline="0" noProof="0" err="1">
                <a:ln>
                  <a:noFill/>
                </a:ln>
                <a:solidFill>
                  <a:srgbClr val="000000"/>
                </a:solidFill>
                <a:effectLst/>
                <a:uLnTx/>
                <a:uFillTx/>
                <a:latin typeface="IBM Plex Sans" panose="020B0503050203000203" pitchFamily="34" charset="0"/>
                <a:cs typeface="Calibri"/>
              </a:rPr>
              <a:t>Specialist</a:t>
            </a: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 / ESG Analyst</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raccoglie e valida dati ESG.</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Procurement / Buyer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fornisce dati relativi ai fornitori e allo Scope 3.</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HR </a:t>
            </a:r>
            <a:r>
              <a:rPr kumimoji="0" lang="it-IT" sz="6162" b="1" i="0" u="none" strike="noStrike" kern="1200" cap="none" spc="0" normalizeH="0" baseline="0" noProof="0" err="1">
                <a:ln>
                  <a:noFill/>
                </a:ln>
                <a:solidFill>
                  <a:srgbClr val="000000"/>
                </a:solidFill>
                <a:effectLst/>
                <a:uLnTx/>
                <a:uFillTx/>
                <a:latin typeface="IBM Plex Sans" panose="020B0503050203000203" pitchFamily="34" charset="0"/>
                <a:cs typeface="Calibri"/>
              </a:rPr>
              <a:t>Specialist</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inserisce indicatori sociali (personale, formazione, </a:t>
            </a:r>
            <a:r>
              <a:rPr kumimoji="0" lang="it-IT" sz="6162" b="0" i="0" u="none" strike="noStrike" kern="1200" cap="none" spc="0" normalizeH="0" baseline="0" noProof="0" err="1">
                <a:ln>
                  <a:noFill/>
                </a:ln>
                <a:solidFill>
                  <a:srgbClr val="000000"/>
                </a:solidFill>
                <a:effectLst/>
                <a:uLnTx/>
                <a:uFillTx/>
                <a:latin typeface="IBM Plex Sans" panose="020B0503050203000203" pitchFamily="34" charset="0"/>
                <a:cs typeface="Calibri"/>
              </a:rPr>
              <a:t>diversity</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Fleet Manager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gestisce dati della flotta aziendale.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Plant Manager / Site Manager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valida i dati del proprio stabilimento.</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it-IT" sz="6162" b="1" i="0" u="none" strike="noStrike" kern="1200" cap="none" spc="0" normalizeH="0" baseline="0" noProof="0">
                <a:ln>
                  <a:noFill/>
                </a:ln>
                <a:solidFill>
                  <a:srgbClr val="000000"/>
                </a:solidFill>
                <a:effectLst/>
                <a:uLnTx/>
                <a:uFillTx/>
                <a:latin typeface="IBM Plex Sans" panose="020B0503050203000203" pitchFamily="34" charset="0"/>
                <a:cs typeface="Calibri"/>
              </a:rPr>
              <a:t>Finance Controller</a:t>
            </a:r>
            <a:r>
              <a:rPr kumimoji="0" lang="it-IT" sz="6162" b="0" i="0" u="none" strike="noStrike" kern="1200" cap="none" spc="0" normalizeH="0" baseline="0" noProof="0">
                <a:ln>
                  <a:noFill/>
                </a:ln>
                <a:solidFill>
                  <a:srgbClr val="000000"/>
                </a:solidFill>
                <a:effectLst/>
                <a:uLnTx/>
                <a:uFillTx/>
                <a:latin typeface="IBM Plex Sans" panose="020B0503050203000203" pitchFamily="34" charset="0"/>
                <a:cs typeface="Calibri"/>
              </a:rPr>
              <a:t> – verifica dati economici collegati agli indicatori ESG.</a:t>
            </a:r>
          </a:p>
        </p:txBody>
      </p:sp>
      <p:sp>
        <p:nvSpPr>
          <p:cNvPr id="3" name="rule">
            <a:extLst>
              <a:ext uri="{FF2B5EF4-FFF2-40B4-BE49-F238E27FC236}">
                <a16:creationId xmlns:a16="http://schemas.microsoft.com/office/drawing/2014/main" id="{E649B387-3D22-5F0C-6A1B-C648E91AB729}"/>
              </a:ext>
            </a:extLst>
          </p:cNvPr>
          <p:cNvSpPr/>
          <p:nvPr/>
        </p:nvSpPr>
        <p:spPr>
          <a:xfrm>
            <a:off x="609480" y="1400407"/>
            <a:ext cx="10972800" cy="346"/>
          </a:xfrm>
          <a:prstGeom prst="line">
            <a:avLst/>
          </a:prstGeom>
          <a:ln w="9525">
            <a:solidFill>
              <a:srgbClr val="DDE3E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IBM Plex Sans" panose="020B0503050203000203" pitchFamily="34" charset="0"/>
              <a:cs typeface="Calibri"/>
            </a:endParaRPr>
          </a:p>
        </p:txBody>
      </p:sp>
      <p:pic>
        <p:nvPicPr>
          <p:cNvPr id="4" name="Picture 22" descr="IT">
            <a:extLst>
              <a:ext uri="{FF2B5EF4-FFF2-40B4-BE49-F238E27FC236}">
                <a16:creationId xmlns:a16="http://schemas.microsoft.com/office/drawing/2014/main" id="{3DE81602-B0C7-0BDD-4210-9F8EE08B15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6685" y="3601606"/>
            <a:ext cx="1373627" cy="1373627"/>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6F3FC659-E5F4-E5CA-F31B-841458CC6A66}"/>
              </a:ext>
            </a:extLst>
          </p:cNvPr>
          <p:cNvSpPr txBox="1"/>
          <p:nvPr/>
        </p:nvSpPr>
        <p:spPr>
          <a:xfrm>
            <a:off x="3687050" y="1353312"/>
            <a:ext cx="7680646" cy="4445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310">
                <a:latin typeface="Calibri"/>
                <a:cs typeface="Calibri"/>
              </a:defRPr>
            </a:pPr>
            <a:r>
              <a:rPr kumimoji="0" lang="it-IT" sz="2310" b="1" i="0" u="none" strike="noStrike" kern="1200" cap="none" spc="0" normalizeH="0" baseline="0" noProof="0">
                <a:ln>
                  <a:noFill/>
                </a:ln>
                <a:solidFill>
                  <a:srgbClr val="0F172A"/>
                </a:solidFill>
                <a:effectLst/>
                <a:uLnTx/>
                <a:uFillTx/>
                <a:latin typeface="Calibri"/>
                <a:cs typeface="Calibri"/>
              </a:rPr>
              <a:t>Ruoli Aziendali (esempi tipici, ogni azienda sue definizioni) </a:t>
            </a:r>
            <a:endParaRPr kumimoji="0" lang="it-IT" sz="2400" b="1" i="0" u="none" strike="noStrike" kern="1200" cap="none" spc="0" normalizeH="0" baseline="0" noProof="0">
              <a:ln>
                <a:noFill/>
              </a:ln>
              <a:solidFill>
                <a:srgbClr val="000000"/>
              </a:solidFill>
              <a:effectLst/>
              <a:uLnTx/>
              <a:uFillTx/>
              <a:latin typeface="Calibri"/>
              <a:cs typeface="Calibri"/>
            </a:endParaRPr>
          </a:p>
        </p:txBody>
      </p:sp>
      <p:pic>
        <p:nvPicPr>
          <p:cNvPr id="8" name="Immagine 7">
            <a:extLst>
              <a:ext uri="{FF2B5EF4-FFF2-40B4-BE49-F238E27FC236}">
                <a16:creationId xmlns:a16="http://schemas.microsoft.com/office/drawing/2014/main" id="{E22FBB78-293A-C983-C04C-B60065756230}"/>
              </a:ext>
            </a:extLst>
          </p:cNvPr>
          <p:cNvPicPr>
            <a:picLocks noChangeAspect="1"/>
          </p:cNvPicPr>
          <p:nvPr/>
        </p:nvPicPr>
        <p:blipFill>
          <a:blip r:embed="rId4"/>
          <a:stretch>
            <a:fillRect/>
          </a:stretch>
        </p:blipFill>
        <p:spPr>
          <a:xfrm>
            <a:off x="753629" y="1543640"/>
            <a:ext cx="1839739" cy="1839739"/>
          </a:xfrm>
          <a:prstGeom prst="rect">
            <a:avLst/>
          </a:prstGeom>
        </p:spPr>
      </p:pic>
      <p:sp>
        <p:nvSpPr>
          <p:cNvPr id="9" name="CasellaDiTesto 8">
            <a:extLst>
              <a:ext uri="{FF2B5EF4-FFF2-40B4-BE49-F238E27FC236}">
                <a16:creationId xmlns:a16="http://schemas.microsoft.com/office/drawing/2014/main" id="{5BE8081A-287D-0A1C-61CC-43BEB73B9F2B}"/>
              </a:ext>
            </a:extLst>
          </p:cNvPr>
          <p:cNvSpPr txBox="1"/>
          <p:nvPr/>
        </p:nvSpPr>
        <p:spPr>
          <a:xfrm>
            <a:off x="1115233" y="4975233"/>
            <a:ext cx="1548775" cy="7408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925" b="1" i="0" u="none" strike="noStrike" kern="1200" cap="none" spc="0" normalizeH="0" baseline="0" noProof="0">
                <a:ln>
                  <a:noFill/>
                </a:ln>
                <a:solidFill>
                  <a:srgbClr val="000000"/>
                </a:solidFill>
                <a:effectLst/>
                <a:uLnTx/>
                <a:uFillTx/>
                <a:latin typeface="Calibri"/>
                <a:cs typeface="Calibri"/>
              </a:rPr>
              <a:t>   Luigi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55" b="0" i="0" u="none" strike="noStrike" kern="1200" cap="none" spc="0" normalizeH="0" baseline="0" noProof="0">
                <a:ln>
                  <a:noFill/>
                </a:ln>
                <a:solidFill>
                  <a:srgbClr val="000000"/>
                </a:solidFill>
                <a:effectLst/>
                <a:uLnTx/>
                <a:uFillTx/>
                <a:latin typeface="Calibri"/>
                <a:cs typeface="Calibri"/>
              </a:rPr>
              <a:t>General User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55" b="0" i="0" u="none" strike="noStrike" kern="1200" cap="none" spc="0" normalizeH="0" baseline="0" noProof="0">
                <a:ln>
                  <a:noFill/>
                </a:ln>
                <a:solidFill>
                  <a:srgbClr val="000000"/>
                </a:solidFill>
                <a:effectLst/>
                <a:uLnTx/>
                <a:uFillTx/>
                <a:latin typeface="Calibri"/>
                <a:cs typeface="Calibri"/>
              </a:rPr>
              <a:t>Energy Manager</a:t>
            </a:r>
          </a:p>
        </p:txBody>
      </p:sp>
      <p:sp>
        <p:nvSpPr>
          <p:cNvPr id="10" name="CasellaDiTesto 9">
            <a:extLst>
              <a:ext uri="{FF2B5EF4-FFF2-40B4-BE49-F238E27FC236}">
                <a16:creationId xmlns:a16="http://schemas.microsoft.com/office/drawing/2014/main" id="{E628FA32-5367-1CF1-BDCB-9258E0DE63E7}"/>
              </a:ext>
            </a:extLst>
          </p:cNvPr>
          <p:cNvSpPr txBox="1"/>
          <p:nvPr/>
        </p:nvSpPr>
        <p:spPr>
          <a:xfrm>
            <a:off x="1192235" y="3160292"/>
            <a:ext cx="6097604" cy="2700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55" b="0" i="0" u="none" strike="noStrike" kern="1200" cap="none" spc="0" normalizeH="0" baseline="0" noProof="0">
                <a:ln>
                  <a:noFill/>
                </a:ln>
                <a:solidFill>
                  <a:srgbClr val="000000"/>
                </a:solidFill>
                <a:effectLst/>
                <a:uLnTx/>
                <a:uFillTx/>
                <a:latin typeface="Calibri"/>
                <a:cs typeface="Calibri"/>
              </a:rPr>
              <a:t>Procurement</a:t>
            </a:r>
          </a:p>
        </p:txBody>
      </p:sp>
      <p:sp>
        <p:nvSpPr>
          <p:cNvPr id="11" name="Rettangolo 10">
            <a:extLst>
              <a:ext uri="{FF2B5EF4-FFF2-40B4-BE49-F238E27FC236}">
                <a16:creationId xmlns:a16="http://schemas.microsoft.com/office/drawing/2014/main" id="{4FF89B1F-A359-39B3-0E23-055AA90DE024}"/>
              </a:ext>
            </a:extLst>
          </p:cNvPr>
          <p:cNvSpPr/>
          <p:nvPr/>
        </p:nvSpPr>
        <p:spPr>
          <a:xfrm>
            <a:off x="1267485" y="3072011"/>
            <a:ext cx="887240" cy="1569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12" name="Rettangolo 11">
            <a:extLst>
              <a:ext uri="{FF2B5EF4-FFF2-40B4-BE49-F238E27FC236}">
                <a16:creationId xmlns:a16="http://schemas.microsoft.com/office/drawing/2014/main" id="{E155085E-655D-3FD7-26EA-184EA629D0FC}"/>
              </a:ext>
            </a:extLst>
          </p:cNvPr>
          <p:cNvSpPr/>
          <p:nvPr/>
        </p:nvSpPr>
        <p:spPr>
          <a:xfrm>
            <a:off x="1193554" y="5302267"/>
            <a:ext cx="887240" cy="1569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13" name="CasellaDiTesto 12">
            <a:extLst>
              <a:ext uri="{FF2B5EF4-FFF2-40B4-BE49-F238E27FC236}">
                <a16:creationId xmlns:a16="http://schemas.microsoft.com/office/drawing/2014/main" id="{A9DFCFA7-4541-9D0A-4C74-2FA428306B18}"/>
              </a:ext>
            </a:extLst>
          </p:cNvPr>
          <p:cNvSpPr txBox="1"/>
          <p:nvPr/>
        </p:nvSpPr>
        <p:spPr>
          <a:xfrm>
            <a:off x="2819014" y="4889367"/>
            <a:ext cx="9203987" cy="15114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0" b="0" i="0" u="none" strike="noStrike" kern="1200" cap="none" spc="0" normalizeH="0" baseline="0" noProof="0">
                <a:ln>
                  <a:noFill/>
                </a:ln>
                <a:solidFill>
                  <a:srgbClr val="000000"/>
                </a:solidFill>
                <a:effectLst/>
                <a:uLnTx/>
                <a:uFillTx/>
                <a:latin typeface="Calibri"/>
                <a:cs typeface="Calibri"/>
              </a:rPr>
              <a:t>Nota </a:t>
            </a:r>
            <a:r>
              <a:rPr kumimoji="0" lang="it-IT" sz="1540" b="0" i="0" u="none" strike="noStrike" kern="1200" cap="none" spc="0" normalizeH="0" baseline="0" noProof="0" err="1">
                <a:ln>
                  <a:noFill/>
                </a:ln>
                <a:solidFill>
                  <a:srgbClr val="000000"/>
                </a:solidFill>
                <a:effectLst/>
                <a:uLnTx/>
                <a:uFillTx/>
                <a:latin typeface="Calibri"/>
                <a:cs typeface="Calibri"/>
              </a:rPr>
              <a:t>licencing</a:t>
            </a:r>
            <a:r>
              <a:rPr kumimoji="0" lang="it-IT" sz="1540" b="0" i="0" u="none" strike="noStrike" kern="1200" cap="none" spc="0" normalizeH="0" baseline="0" noProof="0">
                <a:ln>
                  <a:noFill/>
                </a:ln>
                <a:solidFill>
                  <a:srgbClr val="000000"/>
                </a:solidFill>
                <a:effectLst/>
                <a:uLnTx/>
                <a:uFillTx/>
                <a:latin typeface="Calibri"/>
                <a:cs typeface="Calibri"/>
              </a:rPr>
              <a:t> e numero utenti:  IBM </a:t>
            </a:r>
            <a:r>
              <a:rPr kumimoji="0" lang="it-IT" sz="1540" b="0" i="0" u="none" strike="noStrike" kern="1200" cap="none" spc="0" normalizeH="0" baseline="0" noProof="0" err="1">
                <a:ln>
                  <a:noFill/>
                </a:ln>
                <a:solidFill>
                  <a:srgbClr val="000000"/>
                </a:solidFill>
                <a:effectLst/>
                <a:uLnTx/>
                <a:uFillTx/>
                <a:latin typeface="Calibri"/>
                <a:cs typeface="Calibri"/>
              </a:rPr>
              <a:t>Envizi</a:t>
            </a:r>
            <a:r>
              <a:rPr kumimoji="0" lang="it-IT" sz="1540" b="0" i="0" u="none" strike="noStrike" kern="1200" cap="none" spc="0" normalizeH="0" baseline="0" noProof="0">
                <a:ln>
                  <a:noFill/>
                </a:ln>
                <a:solidFill>
                  <a:srgbClr val="000000"/>
                </a:solidFill>
                <a:effectLst/>
                <a:uLnTx/>
                <a:uFillTx/>
                <a:latin typeface="Calibri"/>
                <a:cs typeface="Calibri"/>
              </a:rPr>
              <a:t> adotta un modello di licensing orientato al valore delle informazioni gestite, non al numero di utenti. Le organizzazioni possono coinvolgere liberamente un numero crescente di persone nelle attività di raccolta, validazione e consultazione dei dati ESG; l’investimento evolve solo quando cresce il patrimonio informativo della piattaforma, attraverso una maggiore granularità, nuove tipologie di dati o un ampliamento del modello dati.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p:txBody>
      </p:sp>
      <p:pic>
        <p:nvPicPr>
          <p:cNvPr id="14" name="Immagine 13">
            <a:extLst>
              <a:ext uri="{FF2B5EF4-FFF2-40B4-BE49-F238E27FC236}">
                <a16:creationId xmlns:a16="http://schemas.microsoft.com/office/drawing/2014/main" id="{70623709-CD25-E7A4-E911-08F254B928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3530" y="73152"/>
            <a:ext cx="620789" cy="256032"/>
          </a:xfrm>
          <a:prstGeom prst="rect">
            <a:avLst/>
          </a:prstGeom>
        </p:spPr>
      </p:pic>
      <p:sp>
        <p:nvSpPr>
          <p:cNvPr id="1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6" name="CasellaDiTesto 5">
            <a:extLst>
              <a:ext uri="{FF2B5EF4-FFF2-40B4-BE49-F238E27FC236}">
                <a16:creationId xmlns:a16="http://schemas.microsoft.com/office/drawing/2014/main" id="{568CD8D1-0F75-1CC5-58CA-358F036F16FB}"/>
              </a:ext>
            </a:extLst>
          </p:cNvPr>
          <p:cNvSpPr txBox="1"/>
          <p:nvPr/>
        </p:nvSpPr>
        <p:spPr>
          <a:xfrm>
            <a:off x="640080" y="457200"/>
            <a:ext cx="10908792" cy="786384"/>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IBM </a:t>
            </a:r>
            <a:r>
              <a:rPr lang="it-IT" sz="2400" b="1" dirty="0" err="1">
                <a:solidFill>
                  <a:srgbClr val="073E31"/>
                </a:solidFill>
                <a:latin typeface="Calibri"/>
              </a:rPr>
              <a:t>Envizi</a:t>
            </a:r>
            <a:r>
              <a:rPr lang="it-IT" sz="2400" b="1" dirty="0">
                <a:solidFill>
                  <a:srgbClr val="073E31"/>
                </a:solidFill>
                <a:latin typeface="Calibri"/>
              </a:rPr>
              <a:t> coinvolge tutte le funzioni e diversi ruoli aziendali nella raccolta e nella governance dei dati ESG.</a:t>
            </a:r>
          </a:p>
        </p:txBody>
      </p:sp>
    </p:spTree>
    <p:extLst>
      <p:ext uri="{BB962C8B-B14F-4D97-AF65-F5344CB8AC3E}">
        <p14:creationId xmlns:p14="http://schemas.microsoft.com/office/powerpoint/2010/main" val="263780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1C28-D4D4-401C-3BBE-57EB6571750E}"/>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F8189536-8EF7-15EE-3C39-FC83EC8065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3952" y="1042415"/>
            <a:ext cx="9440165" cy="5312664"/>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2"/>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sz="2400" b="1" dirty="0" err="1">
                <a:solidFill>
                  <a:srgbClr val="073E31"/>
                </a:solidFill>
                <a:latin typeface="Calibri"/>
              </a:rPr>
              <a:t>Ruoli</a:t>
            </a:r>
            <a:r>
              <a:rPr sz="2400" b="1" dirty="0">
                <a:solidFill>
                  <a:srgbClr val="073E31"/>
                </a:solidFill>
                <a:latin typeface="Calibri"/>
              </a:rPr>
              <a:t> e </a:t>
            </a:r>
            <a:r>
              <a:rPr sz="2400" b="1" dirty="0" err="1">
                <a:solidFill>
                  <a:srgbClr val="073E31"/>
                </a:solidFill>
                <a:latin typeface="Calibri"/>
              </a:rPr>
              <a:t>responsabilità</a:t>
            </a:r>
            <a:endParaRPr sz="2400" b="1" dirty="0">
              <a:solidFill>
                <a:srgbClr val="073E31"/>
              </a:solidFill>
              <a:latin typeface="Calibri"/>
            </a:endParaRPr>
          </a:p>
        </p:txBody>
      </p:sp>
    </p:spTree>
    <p:extLst>
      <p:ext uri="{BB962C8B-B14F-4D97-AF65-F5344CB8AC3E}">
        <p14:creationId xmlns:p14="http://schemas.microsoft.com/office/powerpoint/2010/main" val="4283479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3DE21-6C72-4F19-A40A-D812DA815F34}"/>
            </a:ext>
          </a:extLst>
        </p:cNvPr>
        <p:cNvGrpSpPr/>
        <p:nvPr/>
      </p:nvGrpSpPr>
      <p:grpSpPr>
        <a:xfrm>
          <a:off x="0" y="0"/>
          <a:ext cx="0" cy="0"/>
          <a:chOff x="0" y="0"/>
          <a:chExt cx="0" cy="0"/>
        </a:xfrm>
      </p:grpSpPr>
      <p:graphicFrame>
        <p:nvGraphicFramePr>
          <p:cNvPr id="6" name="Tabella 5">
            <a:extLst>
              <a:ext uri="{FF2B5EF4-FFF2-40B4-BE49-F238E27FC236}">
                <a16:creationId xmlns:a16="http://schemas.microsoft.com/office/drawing/2014/main" id="{203918B6-9122-4F41-83F7-88177913BF7D}"/>
              </a:ext>
            </a:extLst>
          </p:cNvPr>
          <p:cNvGraphicFramePr>
            <a:graphicFrameLocks noGrp="1"/>
          </p:cNvGraphicFramePr>
          <p:nvPr/>
        </p:nvGraphicFramePr>
        <p:xfrm>
          <a:off x="301752" y="1412427"/>
          <a:ext cx="11585448" cy="4251960"/>
        </p:xfrm>
        <a:graphic>
          <a:graphicData uri="http://schemas.openxmlformats.org/drawingml/2006/table">
            <a:tbl>
              <a:tblPr firstRow="1" firstCol="1" bandRow="1">
                <a:tableStyleId>{5C22544A-7EE6-4342-B048-85BDC9FD1C3A}</a:tableStyleId>
              </a:tblPr>
              <a:tblGrid>
                <a:gridCol w="2834640">
                  <a:extLst>
                    <a:ext uri="{9D8B030D-6E8A-4147-A177-3AD203B41FA5}">
                      <a16:colId xmlns:a16="http://schemas.microsoft.com/office/drawing/2014/main" val="2104361388"/>
                    </a:ext>
                  </a:extLst>
                </a:gridCol>
                <a:gridCol w="2834640">
                  <a:extLst>
                    <a:ext uri="{9D8B030D-6E8A-4147-A177-3AD203B41FA5}">
                      <a16:colId xmlns:a16="http://schemas.microsoft.com/office/drawing/2014/main" val="1783730448"/>
                    </a:ext>
                  </a:extLst>
                </a:gridCol>
                <a:gridCol w="5916168">
                  <a:extLst>
                    <a:ext uri="{9D8B030D-6E8A-4147-A177-3AD203B41FA5}">
                      <a16:colId xmlns:a16="http://schemas.microsoft.com/office/drawing/2014/main" val="1035360492"/>
                    </a:ext>
                  </a:extLst>
                </a:gridCol>
              </a:tblGrid>
              <a:tr h="438912">
                <a:tc>
                  <a:txBody>
                    <a:bodyPr/>
                    <a:lstStyle/>
                    <a:p>
                      <a:pPr algn="ctr">
                        <a:lnSpc>
                          <a:spcPct val="100000"/>
                        </a:lnSpc>
                        <a:spcBef>
                          <a:spcPts val="0"/>
                        </a:spcBef>
                        <a:spcAft>
                          <a:spcPts val="0"/>
                        </a:spcAft>
                        <a:buNone/>
                      </a:pPr>
                      <a:r>
                        <a:rPr lang="it-IT" sz="1400" b="1" kern="100">
                          <a:solidFill>
                            <a:srgbClr val="FFFFFF"/>
                          </a:solidFill>
                          <a:effectLst/>
                          <a:latin typeface="Calibri"/>
                        </a:rPr>
                        <a:t>Ruolo</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400" b="1" kern="100">
                          <a:solidFill>
                            <a:srgbClr val="FFFFFF"/>
                          </a:solidFill>
                          <a:effectLst/>
                          <a:latin typeface="Calibri"/>
                        </a:rPr>
                        <a:t>Significato</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400" b="1" kern="100">
                          <a:solidFill>
                            <a:srgbClr val="FFFFFF"/>
                          </a:solidFill>
                          <a:effectLst/>
                          <a:latin typeface="Calibri"/>
                        </a:rPr>
                        <a:t>Attività consentite</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extLst>
                  <a:ext uri="{0D108BD9-81ED-4DB2-BD59-A6C34878D82A}">
                    <a16:rowId xmlns:a16="http://schemas.microsoft.com/office/drawing/2014/main" val="3488039236"/>
                  </a:ext>
                </a:extLst>
              </a:tr>
              <a:tr h="914400">
                <a:tc>
                  <a:txBody>
                    <a:bodyPr/>
                    <a:lstStyle/>
                    <a:p>
                      <a:pPr>
                        <a:lnSpc>
                          <a:spcPct val="100000"/>
                        </a:lnSpc>
                        <a:spcBef>
                          <a:spcPts val="0"/>
                        </a:spcBef>
                        <a:spcAft>
                          <a:spcPts val="0"/>
                        </a:spcAft>
                        <a:buNone/>
                      </a:pPr>
                      <a:r>
                        <a:rPr lang="it-IT" sz="1400" b="1" kern="100">
                          <a:solidFill>
                            <a:srgbClr val="007D79"/>
                          </a:solidFill>
                          <a:effectLst/>
                          <a:latin typeface="Calibri"/>
                        </a:rPr>
                        <a:t>System Administrator</a:t>
                      </a:r>
                    </a:p>
                    <a:p>
                      <a:pPr>
                        <a:lnSpc>
                          <a:spcPct val="100000"/>
                        </a:lnSpc>
                        <a:spcBef>
                          <a:spcPts val="0"/>
                        </a:spcBef>
                        <a:spcAft>
                          <a:spcPts val="0"/>
                        </a:spcAft>
                        <a:buNone/>
                      </a:pPr>
                      <a:r>
                        <a:rPr lang="it-IT" sz="1400" b="1" kern="100">
                          <a:solidFill>
                            <a:srgbClr val="007D79"/>
                          </a:solidFill>
                          <a:effectLst/>
                          <a:latin typeface="Calibri"/>
                        </a:rPr>
                        <a:t>Amministratore di sistema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Amministra l’intera piattaforma.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Accesso completo: utenti, ruoli, gruppi, organizzazioni, account, fattori di emissione, configurazioni e impostazioni.</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2276644718"/>
                  </a:ext>
                </a:extLst>
              </a:tr>
              <a:tr h="1005840">
                <a:tc>
                  <a:txBody>
                    <a:bodyPr/>
                    <a:lstStyle/>
                    <a:p>
                      <a:pPr>
                        <a:lnSpc>
                          <a:spcPct val="100000"/>
                        </a:lnSpc>
                        <a:spcBef>
                          <a:spcPts val="0"/>
                        </a:spcBef>
                        <a:spcAft>
                          <a:spcPts val="0"/>
                        </a:spcAft>
                        <a:buNone/>
                      </a:pPr>
                      <a:r>
                        <a:rPr lang="it-IT" sz="1400" b="1" kern="100">
                          <a:solidFill>
                            <a:srgbClr val="007D79"/>
                          </a:solidFill>
                          <a:effectLst/>
                          <a:latin typeface="Calibri"/>
                        </a:rPr>
                        <a:t>Data Administrator</a:t>
                      </a:r>
                    </a:p>
                    <a:p>
                      <a:pPr>
                        <a:lnSpc>
                          <a:spcPct val="100000"/>
                        </a:lnSpc>
                        <a:spcBef>
                          <a:spcPts val="0"/>
                        </a:spcBef>
                        <a:spcAft>
                          <a:spcPts val="0"/>
                        </a:spcAft>
                        <a:buNone/>
                      </a:pPr>
                      <a:r>
                        <a:rPr lang="it-IT" sz="1400" b="1" kern="100">
                          <a:solidFill>
                            <a:srgbClr val="007D79"/>
                          </a:solidFill>
                          <a:effectLst/>
                          <a:latin typeface="Calibri"/>
                        </a:rPr>
                        <a:t>Amministratore dei dati</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Gestisce i dati, non la piattaforma.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Importa, modifica, corregge ed elimina dati. Gestisce account, location e caricamenti. Normalmente non crea utenti né configura la sicurezza.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25272672"/>
                  </a:ext>
                </a:extLst>
              </a:tr>
              <a:tr h="1005840">
                <a:tc>
                  <a:txBody>
                    <a:bodyPr/>
                    <a:lstStyle/>
                    <a:p>
                      <a:pPr>
                        <a:lnSpc>
                          <a:spcPct val="100000"/>
                        </a:lnSpc>
                        <a:spcBef>
                          <a:spcPts val="0"/>
                        </a:spcBef>
                        <a:spcAft>
                          <a:spcPts val="0"/>
                        </a:spcAft>
                        <a:buNone/>
                      </a:pPr>
                      <a:r>
                        <a:rPr lang="it-IT" sz="1400" b="1" kern="100">
                          <a:solidFill>
                            <a:srgbClr val="007D79"/>
                          </a:solidFill>
                          <a:effectLst/>
                          <a:latin typeface="Calibri"/>
                        </a:rPr>
                        <a:t>General User</a:t>
                      </a:r>
                    </a:p>
                    <a:p>
                      <a:pPr>
                        <a:lnSpc>
                          <a:spcPct val="100000"/>
                        </a:lnSpc>
                        <a:spcBef>
                          <a:spcPts val="0"/>
                        </a:spcBef>
                        <a:spcAft>
                          <a:spcPts val="0"/>
                        </a:spcAft>
                        <a:buNone/>
                      </a:pPr>
                      <a:r>
                        <a:rPr lang="it-IT" sz="1400" b="1" kern="100">
                          <a:solidFill>
                            <a:srgbClr val="007D79"/>
                          </a:solidFill>
                          <a:effectLst/>
                          <a:latin typeface="Calibri"/>
                        </a:rPr>
                        <a:t>Utente generale</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Profilo operativo standard, il più comune.</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Visualizza i dati del proprio perimetro. In base ai Work Roles (Data Reviewer, Data Approver, Data Manager), inserisce, modifica o approva.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2199975823"/>
                  </a:ext>
                </a:extLst>
              </a:tr>
              <a:tr h="886968">
                <a:tc>
                  <a:txBody>
                    <a:bodyPr/>
                    <a:lstStyle/>
                    <a:p>
                      <a:pPr>
                        <a:lnSpc>
                          <a:spcPct val="100000"/>
                        </a:lnSpc>
                        <a:spcBef>
                          <a:spcPts val="0"/>
                        </a:spcBef>
                        <a:spcAft>
                          <a:spcPts val="0"/>
                        </a:spcAft>
                        <a:buNone/>
                      </a:pPr>
                      <a:r>
                        <a:rPr lang="it-IT" sz="1400" b="1" kern="100">
                          <a:solidFill>
                            <a:srgbClr val="007D79"/>
                          </a:solidFill>
                          <a:effectLst/>
                          <a:latin typeface="Calibri"/>
                        </a:rPr>
                        <a:t>View Only User</a:t>
                      </a:r>
                    </a:p>
                    <a:p>
                      <a:pPr>
                        <a:lnSpc>
                          <a:spcPct val="100000"/>
                        </a:lnSpc>
                        <a:spcBef>
                          <a:spcPts val="0"/>
                        </a:spcBef>
                        <a:spcAft>
                          <a:spcPts val="0"/>
                        </a:spcAft>
                        <a:buNone/>
                      </a:pPr>
                      <a:r>
                        <a:rPr lang="it-IT" sz="1400" b="1" kern="100">
                          <a:solidFill>
                            <a:srgbClr val="007D79"/>
                          </a:solidFill>
                          <a:effectLst/>
                          <a:latin typeface="Calibri"/>
                        </a:rPr>
                        <a:t>Solo visualizzazione</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Consulta in sola lettura.</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Consulta dashboard, report e dati autorizzati. Non modifica, importa o approva i dati.</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2724531941"/>
                  </a:ext>
                </a:extLst>
              </a:tr>
            </a:tbl>
          </a:graphicData>
        </a:graphic>
      </p:graphicFrame>
      <p:sp>
        <p:nvSpPr>
          <p:cNvPr id="9" name="BandaChiave">
            <a:extLst>
              <a:ext uri="{FF2B5EF4-FFF2-40B4-BE49-F238E27FC236}">
                <a16:creationId xmlns:a16="http://schemas.microsoft.com/office/drawing/2014/main" id="{68B28AB3-364F-3B0B-B306-159E5B641B28}"/>
              </a:ext>
            </a:extLst>
          </p:cNvPr>
          <p:cNvSpPr/>
          <p:nvPr/>
        </p:nvSpPr>
        <p:spPr>
          <a:xfrm>
            <a:off x="305752" y="5709123"/>
            <a:ext cx="11580496" cy="691676"/>
          </a:xfrm>
          <a:prstGeom prst="roundRect">
            <a:avLst>
              <a:gd name="adj" fmla="val 10000"/>
            </a:avLst>
          </a:prstGeom>
          <a:solidFill>
            <a:srgbClr val="0F4761"/>
          </a:solidFill>
          <a:ln>
            <a:noFill/>
          </a:ln>
        </p:spPr>
        <p:txBody>
          <a:bodyPr wrap="square" lIns="228600" tIns="27432" rIns="228600" bIns="27432" anchor="ctr"/>
          <a:lstStyle/>
          <a:p>
            <a:pPr marL="0" marR="0" lvl="0" indent="0" algn="ctr" defTabSz="914400" rtl="0" eaLnBrk="1" fontAlgn="auto" latinLnBrk="0" hangingPunct="1">
              <a:lnSpc>
                <a:spcPct val="105000"/>
              </a:lnSpc>
              <a:spcBef>
                <a:spcPts val="0"/>
              </a:spcBef>
              <a:spcAft>
                <a:spcPts val="700"/>
              </a:spcAft>
              <a:buClrTx/>
              <a:buSzTx/>
              <a:buFontTx/>
              <a:buNone/>
              <a:tabLst/>
              <a:defRPr/>
            </a:pPr>
            <a:r>
              <a:rPr kumimoji="0" sz="1400" b="1" i="0" u="none" strike="noStrike" kern="1200" cap="none" spc="0" normalizeH="0" baseline="0" noProof="0">
                <a:ln>
                  <a:noFill/>
                </a:ln>
                <a:solidFill>
                  <a:srgbClr val="FFFFFF"/>
                </a:solidFill>
                <a:effectLst/>
                <a:uLnTx/>
                <a:uFillTx/>
                <a:latin typeface="Calibri"/>
                <a:cs typeface="Calibri"/>
              </a:rPr>
              <a:t>Il ruolo principale definisce l’accesso generale. I Work Roles assegnati completano le attività specialistiche.</a:t>
            </a:r>
          </a:p>
        </p:txBody>
      </p:sp>
      <p:sp>
        <p:nvSpPr>
          <p:cNvPr id="10" name="Testo originale sotto il titolo">
            <a:extLst>
              <a:ext uri="{FF2B5EF4-FFF2-40B4-BE49-F238E27FC236}">
                <a16:creationId xmlns:a16="http://schemas.microsoft.com/office/drawing/2014/main" id="{7F763AF0-C0F6-1F85-1E5A-B9DC6C94D15D}"/>
              </a:ext>
            </a:extLst>
          </p:cNvPr>
          <p:cNvSpPr txBox="1"/>
          <p:nvPr/>
        </p:nvSpPr>
        <p:spPr>
          <a:xfrm>
            <a:off x="640080" y="1000993"/>
            <a:ext cx="10908792" cy="710427"/>
          </a:xfrm>
          <a:prstGeom prst="rect">
            <a:avLst/>
          </a:prstGeom>
          <a:noFill/>
        </p:spPr>
        <p:txBody>
          <a:bodyPr wrap="square" lIns="18288" tIns="0" rIns="18288" bIns="27432" anchor="t"/>
          <a:lstStyle/>
          <a:p>
            <a:pPr marL="0" marR="0" lvl="0" indent="0" algn="l" defTabSz="914400" rtl="0" eaLnBrk="1" fontAlgn="auto" latinLnBrk="0" hangingPunct="1">
              <a:lnSpc>
                <a:spcPct val="105000"/>
              </a:lnSpc>
              <a:spcBef>
                <a:spcPts val="0"/>
              </a:spcBef>
              <a:spcAft>
                <a:spcPts val="700"/>
              </a:spcAft>
              <a:buClrTx/>
              <a:buSzTx/>
              <a:buFontTx/>
              <a:buNone/>
              <a:tabLst/>
              <a:defRPr sz="1400" b="0"/>
            </a:pPr>
            <a:r>
              <a:rPr kumimoji="0" b="0" i="0" u="none" strike="noStrike" kern="1200" cap="none" spc="0" normalizeH="0" baseline="0" noProof="0" dirty="0" err="1">
                <a:ln>
                  <a:noFill/>
                </a:ln>
                <a:solidFill>
                  <a:srgbClr val="0F4761"/>
                </a:solidFill>
                <a:effectLst/>
                <a:uLnTx/>
                <a:uFillTx/>
                <a:latin typeface="Calibri"/>
                <a:cs typeface="Calibri"/>
              </a:rPr>
              <a:t>Gli</a:t>
            </a:r>
            <a:r>
              <a:rPr kumimoji="0" b="0" i="0" u="none" strike="noStrike" kern="1200" cap="none" spc="0" normalizeH="0" baseline="0" noProof="0" dirty="0">
                <a:ln>
                  <a:noFill/>
                </a:ln>
                <a:solidFill>
                  <a:srgbClr val="0F4761"/>
                </a:solidFill>
                <a:effectLst/>
                <a:uLnTx/>
                <a:uFillTx/>
                <a:latin typeface="Calibri"/>
                <a:cs typeface="Calibri"/>
              </a:rPr>
              <a:t> Access Roles </a:t>
            </a:r>
            <a:r>
              <a:rPr kumimoji="0" b="0" i="0" u="none" strike="noStrike" kern="1200" cap="none" spc="0" normalizeH="0" baseline="0" noProof="0" dirty="0" err="1">
                <a:ln>
                  <a:noFill/>
                </a:ln>
                <a:solidFill>
                  <a:srgbClr val="0F4761"/>
                </a:solidFill>
                <a:effectLst/>
                <a:uLnTx/>
                <a:uFillTx/>
                <a:latin typeface="Calibri"/>
                <a:cs typeface="Calibri"/>
              </a:rPr>
              <a:t>definiscono</a:t>
            </a:r>
            <a:r>
              <a:rPr kumimoji="0" b="0" i="0" u="none" strike="noStrike" kern="1200" cap="none" spc="0" normalizeH="0" baseline="0" noProof="0" dirty="0">
                <a:ln>
                  <a:noFill/>
                </a:ln>
                <a:solidFill>
                  <a:srgbClr val="0F4761"/>
                </a:solidFill>
                <a:effectLst/>
                <a:uLnTx/>
                <a:uFillTx/>
                <a:latin typeface="Calibri"/>
                <a:cs typeface="Calibri"/>
              </a:rPr>
              <a:t> il </a:t>
            </a:r>
            <a:r>
              <a:rPr kumimoji="0" b="0" i="0" u="none" strike="noStrike" kern="1200" cap="none" spc="0" normalizeH="0" baseline="0" noProof="0" dirty="0" err="1">
                <a:ln>
                  <a:noFill/>
                </a:ln>
                <a:solidFill>
                  <a:srgbClr val="0F4761"/>
                </a:solidFill>
                <a:effectLst/>
                <a:uLnTx/>
                <a:uFillTx/>
                <a:latin typeface="Calibri"/>
                <a:cs typeface="Calibri"/>
              </a:rPr>
              <a:t>livello</a:t>
            </a:r>
            <a:r>
              <a:rPr kumimoji="0" b="0" i="0" u="none" strike="noStrike" kern="1200" cap="none" spc="0" normalizeH="0" baseline="0" noProof="0" dirty="0">
                <a:ln>
                  <a:noFill/>
                </a:ln>
                <a:solidFill>
                  <a:srgbClr val="0F4761"/>
                </a:solidFill>
                <a:effectLst/>
                <a:uLnTx/>
                <a:uFillTx/>
                <a:latin typeface="Calibri"/>
                <a:cs typeface="Calibri"/>
              </a:rPr>
              <a:t> generale di </a:t>
            </a:r>
            <a:r>
              <a:rPr kumimoji="0" b="0" i="0" u="none" strike="noStrike" kern="1200" cap="none" spc="0" normalizeH="0" baseline="0" noProof="0" dirty="0" err="1">
                <a:ln>
                  <a:noFill/>
                </a:ln>
                <a:solidFill>
                  <a:srgbClr val="0F4761"/>
                </a:solidFill>
                <a:effectLst/>
                <a:uLnTx/>
                <a:uFillTx/>
                <a:latin typeface="Calibri"/>
                <a:cs typeface="Calibri"/>
              </a:rPr>
              <a:t>autorizzazione</a:t>
            </a:r>
            <a:r>
              <a:rPr kumimoji="0" b="0" i="0" u="none" strike="noStrike" kern="1200" cap="none" spc="0" normalizeH="0" baseline="0" noProof="0" dirty="0">
                <a:ln>
                  <a:noFill/>
                </a:ln>
                <a:solidFill>
                  <a:srgbClr val="0F4761"/>
                </a:solidFill>
                <a:effectLst/>
                <a:uLnTx/>
                <a:uFillTx/>
                <a:latin typeface="Calibri"/>
                <a:cs typeface="Calibri"/>
              </a:rPr>
              <a:t> </a:t>
            </a:r>
            <a:r>
              <a:rPr kumimoji="0" b="0" i="0" u="none" strike="noStrike" kern="1200" cap="none" spc="0" normalizeH="0" baseline="0" noProof="0" dirty="0" err="1">
                <a:ln>
                  <a:noFill/>
                </a:ln>
                <a:solidFill>
                  <a:srgbClr val="0F4761"/>
                </a:solidFill>
                <a:effectLst/>
                <a:uLnTx/>
                <a:uFillTx/>
                <a:latin typeface="Calibri"/>
                <a:cs typeface="Calibri"/>
              </a:rPr>
              <a:t>sulla</a:t>
            </a:r>
            <a:r>
              <a:rPr kumimoji="0" b="0" i="0" u="none" strike="noStrike" kern="1200" cap="none" spc="0" normalizeH="0" baseline="0" noProof="0" dirty="0">
                <a:ln>
                  <a:noFill/>
                </a:ln>
                <a:solidFill>
                  <a:srgbClr val="0F4761"/>
                </a:solidFill>
                <a:effectLst/>
                <a:uLnTx/>
                <a:uFillTx/>
                <a:latin typeface="Calibri"/>
                <a:cs typeface="Calibri"/>
              </a:rPr>
              <a:t> </a:t>
            </a:r>
            <a:r>
              <a:rPr kumimoji="0" b="0" i="0" u="none" strike="noStrike" kern="1200" cap="none" spc="0" normalizeH="0" baseline="0" noProof="0" dirty="0" err="1">
                <a:ln>
                  <a:noFill/>
                </a:ln>
                <a:solidFill>
                  <a:srgbClr val="0F4761"/>
                </a:solidFill>
                <a:effectLst/>
                <a:uLnTx/>
                <a:uFillTx/>
                <a:latin typeface="Calibri"/>
                <a:cs typeface="Calibri"/>
              </a:rPr>
              <a:t>piattaforma</a:t>
            </a:r>
            <a:endParaRPr kumimoji="0" b="0" i="0" u="none" strike="noStrike" kern="1200" cap="none" spc="0" normalizeH="0" baseline="0" noProof="0" dirty="0">
              <a:ln>
                <a:noFill/>
              </a:ln>
              <a:solidFill>
                <a:srgbClr val="0F4761"/>
              </a:solidFill>
              <a:effectLst/>
              <a:uLnTx/>
              <a:uFillTx/>
              <a:latin typeface="Calibri"/>
              <a:cs typeface="Calibri"/>
            </a:endParaRPr>
          </a:p>
        </p:txBody>
      </p:sp>
      <p:sp>
        <p:nvSpPr>
          <p:cNvPr id="1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8" name="Titolo">
            <a:extLst>
              <a:ext uri="{FF2B5EF4-FFF2-40B4-BE49-F238E27FC236}">
                <a16:creationId xmlns:a16="http://schemas.microsoft.com/office/drawing/2014/main" id="{7F763AF0-C0F6-1F85-1E5A-B9DC6C94D15D}"/>
              </a:ext>
            </a:extLst>
          </p:cNvPr>
          <p:cNvSpPr txBox="1"/>
          <p:nvPr/>
        </p:nvSpPr>
        <p:spPr>
          <a:xfrm>
            <a:off x="640080" y="457200"/>
            <a:ext cx="10908792" cy="438912"/>
          </a:xfrm>
          <a:prstGeom prst="rect">
            <a:avLst/>
          </a:prstGeom>
          <a:noFill/>
        </p:spPr>
        <p:txBody>
          <a:bodyPr wrap="square" lIns="0" tIns="0" rIns="0" bIns="0" anchor="t"/>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 ruoli principali di IBM Envizi</a:t>
            </a:r>
          </a:p>
        </p:txBody>
      </p:sp>
    </p:spTree>
    <p:extLst>
      <p:ext uri="{BB962C8B-B14F-4D97-AF65-F5344CB8AC3E}">
        <p14:creationId xmlns:p14="http://schemas.microsoft.com/office/powerpoint/2010/main" val="226254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41A19-6D0E-764E-C221-0A9A5920AF96}"/>
            </a:ext>
          </a:extLst>
        </p:cNvPr>
        <p:cNvGrpSpPr/>
        <p:nvPr/>
      </p:nvGrpSpPr>
      <p:grpSpPr>
        <a:xfrm>
          <a:off x="0" y="0"/>
          <a:ext cx="0" cy="0"/>
          <a:chOff x="0" y="0"/>
          <a:chExt cx="0" cy="0"/>
        </a:xfrm>
      </p:grpSpPr>
      <p:sp>
        <p:nvSpPr>
          <p:cNvPr id="13" name="Rettangolo 12">
            <a:extLst>
              <a:ext uri="{FF2B5EF4-FFF2-40B4-BE49-F238E27FC236}">
                <a16:creationId xmlns:a16="http://schemas.microsoft.com/office/drawing/2014/main" id="{254701F7-56C1-E24F-4A7C-C32A4A776CD1}"/>
              </a:ext>
            </a:extLst>
          </p:cNvPr>
          <p:cNvSpPr/>
          <p:nvPr/>
        </p:nvSpPr>
        <p:spPr>
          <a:xfrm>
            <a:off x="1291653" y="5230557"/>
            <a:ext cx="9515192" cy="56040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11" name="Sottotitolo">
            <a:extLst>
              <a:ext uri="{FF2B5EF4-FFF2-40B4-BE49-F238E27FC236}">
                <a16:creationId xmlns:a16="http://schemas.microsoft.com/office/drawing/2014/main" id="{4E986F91-59F1-5CB2-C021-4CDBF1C4884E}"/>
              </a:ext>
            </a:extLst>
          </p:cNvPr>
          <p:cNvSpPr/>
          <p:nvPr/>
        </p:nvSpPr>
        <p:spPr>
          <a:xfrm>
            <a:off x="703454" y="1005840"/>
            <a:ext cx="10908792" cy="336718"/>
          </a:xfrm>
          <a:prstGeom prst="rect">
            <a:avLst/>
          </a:prstGeom>
          <a:noFill/>
        </p:spPr>
        <p:txBody>
          <a:bodyPr wrap="square" lIns="0" tIns="0" rIns="0" bIns="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8" b="0" i="0" u="none" strike="noStrike" kern="1200" cap="none" spc="0" normalizeH="0" baseline="0" noProof="0">
                <a:ln>
                  <a:noFill/>
                </a:ln>
                <a:solidFill>
                  <a:srgbClr val="404040"/>
                </a:solidFill>
                <a:effectLst/>
                <a:uLnTx/>
                <a:uFillTx/>
                <a:latin typeface="Calibri"/>
                <a:cs typeface="Calibri"/>
              </a:rPr>
              <a:t>Ogni utente nasce dalla combinazione di tre elementi indipendenti e complementari: ruolo, accesso e attività.</a:t>
            </a:r>
          </a:p>
        </p:txBody>
      </p:sp>
      <p:sp>
        <p:nvSpPr>
          <p:cNvPr id="130" name="Tag">
            <a:extLst>
              <a:ext uri="{FF2B5EF4-FFF2-40B4-BE49-F238E27FC236}">
                <a16:creationId xmlns:a16="http://schemas.microsoft.com/office/drawing/2014/main" id="{8548EDEA-8707-0EB8-2FEE-E2FB882C93BD}"/>
              </a:ext>
            </a:extLst>
          </p:cNvPr>
          <p:cNvSpPr/>
          <p:nvPr/>
        </p:nvSpPr>
        <p:spPr>
          <a:xfrm>
            <a:off x="9061704" y="173736"/>
            <a:ext cx="3026664" cy="265176"/>
          </a:xfrm>
          <a:prstGeom prst="rect">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srgbClr val="FFFFFF"/>
                </a:solidFill>
                <a:effectLst/>
                <a:uLnTx/>
                <a:uFillTx/>
                <a:latin typeface="Calibri"/>
                <a:cs typeface="Calibri"/>
              </a:rPr>
              <a:t>Utenti e ruoli</a:t>
            </a:r>
          </a:p>
        </p:txBody>
      </p:sp>
      <p:sp>
        <p:nvSpPr>
          <p:cNvPr id="115" name="Card 115">
            <a:extLst>
              <a:ext uri="{FF2B5EF4-FFF2-40B4-BE49-F238E27FC236}">
                <a16:creationId xmlns:a16="http://schemas.microsoft.com/office/drawing/2014/main" id="{325669FA-68E4-3A03-5A24-2E3E06822EF3}"/>
              </a:ext>
            </a:extLst>
          </p:cNvPr>
          <p:cNvSpPr/>
          <p:nvPr/>
        </p:nvSpPr>
        <p:spPr>
          <a:xfrm>
            <a:off x="640080" y="2161905"/>
            <a:ext cx="3502152" cy="303046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594360" rIns="137160" bIns="118872" anchor="t">
            <a:normAutofit/>
          </a:bodyPr>
          <a:lstStyle/>
          <a:p>
            <a:pPr marL="0" marR="0" lvl="0" indent="0" algn="l" defTabSz="914400" rtl="0" eaLnBrk="1" fontAlgn="auto" latinLnBrk="0" hangingPunct="1">
              <a:lnSpc>
                <a:spcPct val="100000"/>
              </a:lnSpc>
              <a:spcBef>
                <a:spcPts val="0"/>
              </a:spcBef>
              <a:spcAft>
                <a:spcPts val="138"/>
              </a:spcAft>
              <a:buClrTx/>
              <a:buSzTx/>
              <a:buFontTx/>
              <a:buNone/>
              <a:tabLst/>
              <a:defRPr/>
            </a:pPr>
            <a:r>
              <a:rPr kumimoji="0" lang="it-IT" sz="1380" b="1" i="0" u="none" strike="noStrike" kern="1200" cap="none" spc="0" normalizeH="0" baseline="0" noProof="0">
                <a:ln>
                  <a:noFill/>
                </a:ln>
                <a:solidFill>
                  <a:srgbClr val="156082"/>
                </a:solidFill>
                <a:effectLst/>
                <a:uLnTx/>
                <a:uFillTx/>
                <a:latin typeface="Calibri"/>
                <a:cs typeface="Calibri"/>
              </a:rPr>
              <a:t>Ruolo aziendale (RA)</a:t>
            </a:r>
          </a:p>
          <a:p>
            <a:pPr marL="0" marR="0" lvl="0" indent="0" algn="l" defTabSz="914400" rtl="0" eaLnBrk="1" fontAlgn="auto" latinLnBrk="0" hangingPunct="1">
              <a:lnSpc>
                <a:spcPct val="100000"/>
              </a:lnSpc>
              <a:spcBef>
                <a:spcPts val="0"/>
              </a:spcBef>
              <a:spcAft>
                <a:spcPts val="368"/>
              </a:spcAft>
              <a:buClrTx/>
              <a:buSzTx/>
              <a:buFontTx/>
              <a:buNone/>
              <a:tabLst/>
              <a:defRPr/>
            </a:pPr>
            <a:r>
              <a:rPr kumimoji="0" lang="it-IT" sz="1288" b="0" i="0" u="none" strike="noStrike" kern="1200" cap="none" spc="0" normalizeH="0" baseline="0" noProof="0">
                <a:ln>
                  <a:noFill/>
                </a:ln>
                <a:solidFill>
                  <a:srgbClr val="404040"/>
                </a:solidFill>
                <a:effectLst/>
                <a:uLnTx/>
                <a:uFillTx/>
                <a:latin typeface="Calibri"/>
                <a:cs typeface="Calibri"/>
              </a:rPr>
              <a:t>La funzione della persona in azienda e le relative responsabilità operative.</a:t>
            </a:r>
          </a:p>
          <a:p>
            <a:pPr marL="0" marR="0" lvl="0" indent="0" algn="l" defTabSz="914400" rtl="0" eaLnBrk="1" fontAlgn="auto" latinLnBrk="0" hangingPunct="1">
              <a:lnSpc>
                <a:spcPct val="100000"/>
              </a:lnSpc>
              <a:spcBef>
                <a:spcPts val="0"/>
              </a:spcBef>
              <a:spcAft>
                <a:spcPts val="184"/>
              </a:spcAft>
              <a:buClrTx/>
              <a:buSzTx/>
              <a:buFontTx/>
              <a:buNone/>
              <a:tabLst/>
              <a:defRPr/>
            </a:pPr>
            <a:r>
              <a:rPr kumimoji="0" lang="it-IT" sz="1288" b="1" i="0" u="none" strike="noStrike" kern="1200" cap="none" spc="0" normalizeH="0" baseline="0" noProof="0">
                <a:ln>
                  <a:noFill/>
                </a:ln>
                <a:solidFill>
                  <a:srgbClr val="4EA72E"/>
                </a:solidFill>
                <a:effectLst/>
                <a:uLnTx/>
                <a:uFillTx/>
                <a:latin typeface="Calibri"/>
                <a:cs typeface="Calibri"/>
              </a:rPr>
              <a:t>Esempi</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Energy Manager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Facility Manager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err="1">
                <a:ln>
                  <a:noFill/>
                </a:ln>
                <a:solidFill>
                  <a:srgbClr val="404040"/>
                </a:solidFill>
                <a:effectLst/>
                <a:uLnTx/>
                <a:uFillTx/>
                <a:latin typeface="Calibri"/>
                <a:cs typeface="Calibri"/>
              </a:rPr>
              <a:t>Sustainability</a:t>
            </a:r>
            <a:r>
              <a:rPr kumimoji="0" lang="it-IT" sz="1288" b="0" i="0" u="none" strike="noStrike" kern="1200" cap="none" spc="0" normalizeH="0" baseline="0" noProof="0">
                <a:ln>
                  <a:noFill/>
                </a:ln>
                <a:solidFill>
                  <a:srgbClr val="404040"/>
                </a:solidFill>
                <a:effectLst/>
                <a:uLnTx/>
                <a:uFillTx/>
                <a:latin typeface="Calibri"/>
                <a:cs typeface="Calibri"/>
              </a:rPr>
              <a:t> </a:t>
            </a:r>
            <a:r>
              <a:rPr kumimoji="0" lang="it-IT" sz="1288" b="0" i="0" u="none" strike="noStrike" kern="1200" cap="none" spc="0" normalizeH="0" baseline="0" noProof="0" err="1">
                <a:ln>
                  <a:noFill/>
                </a:ln>
                <a:solidFill>
                  <a:srgbClr val="404040"/>
                </a:solidFill>
                <a:effectLst/>
                <a:uLnTx/>
                <a:uFillTx/>
                <a:latin typeface="Calibri"/>
                <a:cs typeface="Calibri"/>
              </a:rPr>
              <a:t>Specialist</a:t>
            </a:r>
            <a:endParaRPr kumimoji="0" lang="it-IT" sz="1400" b="0" i="0" u="none" strike="noStrike" kern="1200" cap="none" spc="0" normalizeH="0" baseline="0" noProof="0">
              <a:ln>
                <a:noFill/>
              </a:ln>
              <a:solidFill>
                <a:srgbClr val="404040"/>
              </a:solidFill>
              <a:effectLst/>
              <a:uLnTx/>
              <a:uFillTx/>
              <a:latin typeface="Calibri"/>
              <a:cs typeface="Calibri"/>
            </a:endParaRP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Procurement </a:t>
            </a:r>
            <a:r>
              <a:rPr kumimoji="0" lang="it-IT" sz="1288" b="0" i="0" u="none" strike="noStrike" kern="1200" cap="none" spc="0" normalizeH="0" baseline="0" noProof="0" err="1">
                <a:ln>
                  <a:noFill/>
                </a:ln>
                <a:solidFill>
                  <a:srgbClr val="404040"/>
                </a:solidFill>
                <a:effectLst/>
                <a:uLnTx/>
                <a:uFillTx/>
                <a:latin typeface="Calibri"/>
                <a:cs typeface="Calibri"/>
              </a:rPr>
              <a:t>Specialist</a:t>
            </a:r>
            <a:endParaRPr kumimoji="0" lang="it-IT" sz="1400" b="0" i="0" u="none" strike="noStrike" kern="1200" cap="none" spc="0" normalizeH="0" baseline="0" noProof="0">
              <a:ln>
                <a:noFill/>
              </a:ln>
              <a:solidFill>
                <a:srgbClr val="404040"/>
              </a:solidFill>
              <a:effectLst/>
              <a:uLnTx/>
              <a:uFillTx/>
              <a:latin typeface="Calibri"/>
              <a:cs typeface="Calibri"/>
            </a:endParaRP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HSE Manager, HR </a:t>
            </a:r>
            <a:r>
              <a:rPr kumimoji="0" lang="it-IT" sz="1288" b="0" i="0" u="none" strike="noStrike" kern="1200" cap="none" spc="0" normalizeH="0" baseline="0" noProof="0" err="1">
                <a:ln>
                  <a:noFill/>
                </a:ln>
                <a:solidFill>
                  <a:srgbClr val="404040"/>
                </a:solidFill>
                <a:effectLst/>
                <a:uLnTx/>
                <a:uFillTx/>
                <a:latin typeface="Calibri"/>
                <a:cs typeface="Calibri"/>
              </a:rPr>
              <a:t>Specialist</a:t>
            </a:r>
            <a:endParaRPr kumimoji="0" lang="it-IT" sz="1400" b="0" i="0" u="none" strike="noStrike" kern="1200" cap="none" spc="0" normalizeH="0" baseline="0" noProof="0">
              <a:ln>
                <a:noFill/>
              </a:ln>
              <a:solidFill>
                <a:srgbClr val="404040"/>
              </a:solidFill>
              <a:effectLst/>
              <a:uLnTx/>
              <a:uFillTx/>
              <a:latin typeface="Calibri"/>
              <a:cs typeface="Calibri"/>
            </a:endParaRPr>
          </a:p>
        </p:txBody>
      </p:sp>
      <p:sp>
        <p:nvSpPr>
          <p:cNvPr id="140" name="Badge 1">
            <a:extLst>
              <a:ext uri="{FF2B5EF4-FFF2-40B4-BE49-F238E27FC236}">
                <a16:creationId xmlns:a16="http://schemas.microsoft.com/office/drawing/2014/main" id="{898958D0-8CD7-DFAF-4F70-7798B974E029}"/>
              </a:ext>
            </a:extLst>
          </p:cNvPr>
          <p:cNvSpPr/>
          <p:nvPr/>
        </p:nvSpPr>
        <p:spPr>
          <a:xfrm>
            <a:off x="795528" y="2305011"/>
            <a:ext cx="411480" cy="378808"/>
          </a:xfrm>
          <a:prstGeom prst="ellipse">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4" b="1" i="0" u="none" strike="noStrike" kern="1200" cap="none" spc="0" normalizeH="0" baseline="0" noProof="0">
                <a:ln>
                  <a:noFill/>
                </a:ln>
                <a:solidFill>
                  <a:srgbClr val="FFFFFF"/>
                </a:solidFill>
                <a:effectLst/>
                <a:uLnTx/>
                <a:uFillTx/>
                <a:latin typeface="Calibri"/>
                <a:cs typeface="Calibri"/>
              </a:rPr>
              <a:t>1</a:t>
            </a:r>
          </a:p>
        </p:txBody>
      </p:sp>
      <p:sp>
        <p:nvSpPr>
          <p:cNvPr id="116" name="Card 116">
            <a:extLst>
              <a:ext uri="{FF2B5EF4-FFF2-40B4-BE49-F238E27FC236}">
                <a16:creationId xmlns:a16="http://schemas.microsoft.com/office/drawing/2014/main" id="{CBEDD551-4530-D656-3606-77D014065A6E}"/>
              </a:ext>
            </a:extLst>
          </p:cNvPr>
          <p:cNvSpPr/>
          <p:nvPr/>
        </p:nvSpPr>
        <p:spPr>
          <a:xfrm>
            <a:off x="4343400" y="2161905"/>
            <a:ext cx="3502152" cy="303046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594360" rIns="137160" bIns="118872" anchor="t">
            <a:normAutofit/>
          </a:bodyPr>
          <a:lstStyle/>
          <a:p>
            <a:pPr marL="0" marR="0" lvl="0" indent="0" algn="l" defTabSz="914400" rtl="0" eaLnBrk="1" fontAlgn="auto" latinLnBrk="0" hangingPunct="1">
              <a:lnSpc>
                <a:spcPct val="100000"/>
              </a:lnSpc>
              <a:spcBef>
                <a:spcPts val="0"/>
              </a:spcBef>
              <a:spcAft>
                <a:spcPts val="138"/>
              </a:spcAft>
              <a:buClrTx/>
              <a:buSzTx/>
              <a:buFontTx/>
              <a:buNone/>
              <a:tabLst/>
              <a:defRPr/>
            </a:pPr>
            <a:r>
              <a:rPr kumimoji="0" lang="it-IT" sz="1380" b="1" i="0" u="none" strike="noStrike" kern="1200" cap="none" spc="0" normalizeH="0" baseline="0" noProof="0">
                <a:ln>
                  <a:noFill/>
                </a:ln>
                <a:solidFill>
                  <a:srgbClr val="156082"/>
                </a:solidFill>
                <a:effectLst/>
                <a:uLnTx/>
                <a:uFillTx/>
                <a:latin typeface="Calibri"/>
                <a:cs typeface="Calibri"/>
              </a:rPr>
              <a:t>Access Level (AC)</a:t>
            </a:r>
          </a:p>
          <a:p>
            <a:pPr marL="0" marR="0" lvl="0" indent="0" algn="l" defTabSz="914400" rtl="0" eaLnBrk="1" fontAlgn="auto" latinLnBrk="0" hangingPunct="1">
              <a:lnSpc>
                <a:spcPct val="100000"/>
              </a:lnSpc>
              <a:spcBef>
                <a:spcPts val="0"/>
              </a:spcBef>
              <a:spcAft>
                <a:spcPts val="368"/>
              </a:spcAft>
              <a:buClrTx/>
              <a:buSzTx/>
              <a:buFontTx/>
              <a:buNone/>
              <a:tabLst/>
              <a:defRPr/>
            </a:pPr>
            <a:r>
              <a:rPr kumimoji="0" lang="it-IT" sz="1288" b="0" i="0" u="none" strike="noStrike" kern="1200" cap="none" spc="0" normalizeH="0" baseline="0" noProof="0">
                <a:ln>
                  <a:noFill/>
                </a:ln>
                <a:solidFill>
                  <a:srgbClr val="404040"/>
                </a:solidFill>
                <a:effectLst/>
                <a:uLnTx/>
                <a:uFillTx/>
                <a:latin typeface="Calibri"/>
                <a:cs typeface="Calibri"/>
              </a:rPr>
              <a:t>Il livello di accesso alla piattaforma, le funzionalità e la visibilità delle informazioni.</a:t>
            </a:r>
          </a:p>
          <a:p>
            <a:pPr marL="0" marR="0" lvl="0" indent="0" algn="l" defTabSz="914400" rtl="0" eaLnBrk="1" fontAlgn="auto" latinLnBrk="0" hangingPunct="1">
              <a:lnSpc>
                <a:spcPct val="100000"/>
              </a:lnSpc>
              <a:spcBef>
                <a:spcPts val="0"/>
              </a:spcBef>
              <a:spcAft>
                <a:spcPts val="184"/>
              </a:spcAft>
              <a:buClrTx/>
              <a:buSzTx/>
              <a:buFontTx/>
              <a:buNone/>
              <a:tabLst/>
              <a:defRPr/>
            </a:pPr>
            <a:r>
              <a:rPr kumimoji="0" lang="it-IT" sz="1288" b="1" i="0" u="none" strike="noStrike" kern="1200" cap="none" spc="0" normalizeH="0" baseline="0" noProof="0">
                <a:ln>
                  <a:noFill/>
                </a:ln>
                <a:solidFill>
                  <a:srgbClr val="4EA72E"/>
                </a:solidFill>
                <a:effectLst/>
                <a:uLnTx/>
                <a:uFillTx/>
                <a:latin typeface="Calibri"/>
                <a:cs typeface="Calibri"/>
              </a:rPr>
              <a:t>Esempi</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Administrator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General User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Read </a:t>
            </a:r>
            <a:r>
              <a:rPr kumimoji="0" lang="it-IT" sz="1288" b="0" i="0" u="none" strike="noStrike" kern="1200" cap="none" spc="0" normalizeH="0" baseline="0" noProof="0" err="1">
                <a:ln>
                  <a:noFill/>
                </a:ln>
                <a:solidFill>
                  <a:srgbClr val="404040"/>
                </a:solidFill>
                <a:effectLst/>
                <a:uLnTx/>
                <a:uFillTx/>
                <a:latin typeface="Calibri"/>
                <a:cs typeface="Calibri"/>
              </a:rPr>
              <a:t>Only</a:t>
            </a:r>
            <a:r>
              <a:rPr kumimoji="0" lang="it-IT" sz="1288" b="0" i="0" u="none" strike="noStrike" kern="1200" cap="none" spc="0" normalizeH="0" baseline="0" noProof="0">
                <a:ln>
                  <a:noFill/>
                </a:ln>
                <a:solidFill>
                  <a:srgbClr val="404040"/>
                </a:solidFill>
                <a:effectLst/>
                <a:uLnTx/>
                <a:uFillTx/>
                <a:latin typeface="Calibri"/>
                <a:cs typeface="Calibri"/>
              </a:rPr>
              <a:t> User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Auditor</a:t>
            </a:r>
          </a:p>
        </p:txBody>
      </p:sp>
      <p:sp>
        <p:nvSpPr>
          <p:cNvPr id="141" name="Badge 2">
            <a:extLst>
              <a:ext uri="{FF2B5EF4-FFF2-40B4-BE49-F238E27FC236}">
                <a16:creationId xmlns:a16="http://schemas.microsoft.com/office/drawing/2014/main" id="{5A79E5DC-DFFF-75DE-F8E4-792848447989}"/>
              </a:ext>
            </a:extLst>
          </p:cNvPr>
          <p:cNvSpPr/>
          <p:nvPr/>
        </p:nvSpPr>
        <p:spPr>
          <a:xfrm>
            <a:off x="4498848" y="2305011"/>
            <a:ext cx="411480" cy="378808"/>
          </a:xfrm>
          <a:prstGeom prst="ellipse">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4" b="1" i="0" u="none" strike="noStrike" kern="1200" cap="none" spc="0" normalizeH="0" baseline="0" noProof="0">
                <a:ln>
                  <a:noFill/>
                </a:ln>
                <a:solidFill>
                  <a:srgbClr val="FFFFFF"/>
                </a:solidFill>
                <a:effectLst/>
                <a:uLnTx/>
                <a:uFillTx/>
                <a:latin typeface="Calibri"/>
                <a:cs typeface="Calibri"/>
              </a:rPr>
              <a:t>2</a:t>
            </a:r>
          </a:p>
        </p:txBody>
      </p:sp>
      <p:sp>
        <p:nvSpPr>
          <p:cNvPr id="117" name="Card 117">
            <a:extLst>
              <a:ext uri="{FF2B5EF4-FFF2-40B4-BE49-F238E27FC236}">
                <a16:creationId xmlns:a16="http://schemas.microsoft.com/office/drawing/2014/main" id="{4DBDB8AA-1B88-B8CF-379C-303A2DE2DA4C}"/>
              </a:ext>
            </a:extLst>
          </p:cNvPr>
          <p:cNvSpPr/>
          <p:nvPr/>
        </p:nvSpPr>
        <p:spPr>
          <a:xfrm>
            <a:off x="8046720" y="2161905"/>
            <a:ext cx="3502152" cy="303046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594360" rIns="137160" bIns="118872" anchor="t">
            <a:normAutofit/>
          </a:bodyPr>
          <a:lstStyle/>
          <a:p>
            <a:pPr marL="0" marR="0" lvl="0" indent="0" algn="l" defTabSz="914400" rtl="0" eaLnBrk="1" fontAlgn="auto" latinLnBrk="0" hangingPunct="1">
              <a:lnSpc>
                <a:spcPct val="100000"/>
              </a:lnSpc>
              <a:spcBef>
                <a:spcPts val="0"/>
              </a:spcBef>
              <a:spcAft>
                <a:spcPts val="138"/>
              </a:spcAft>
              <a:buClrTx/>
              <a:buSzTx/>
              <a:buFontTx/>
              <a:buNone/>
              <a:tabLst/>
              <a:defRPr/>
            </a:pPr>
            <a:r>
              <a:rPr kumimoji="0" lang="it-IT" sz="1380" b="1" i="0" u="none" strike="noStrike" kern="1200" cap="none" spc="0" normalizeH="0" baseline="0" noProof="0">
                <a:ln>
                  <a:noFill/>
                </a:ln>
                <a:solidFill>
                  <a:srgbClr val="156082"/>
                </a:solidFill>
                <a:effectLst/>
                <a:uLnTx/>
                <a:uFillTx/>
                <a:latin typeface="Calibri"/>
                <a:cs typeface="Calibri"/>
              </a:rPr>
              <a:t>Work Role (WR)</a:t>
            </a:r>
          </a:p>
          <a:p>
            <a:pPr marL="0" marR="0" lvl="0" indent="0" algn="l" defTabSz="914400" rtl="0" eaLnBrk="1" fontAlgn="auto" latinLnBrk="0" hangingPunct="1">
              <a:lnSpc>
                <a:spcPct val="100000"/>
              </a:lnSpc>
              <a:spcBef>
                <a:spcPts val="0"/>
              </a:spcBef>
              <a:spcAft>
                <a:spcPts val="368"/>
              </a:spcAft>
              <a:buClrTx/>
              <a:buSzTx/>
              <a:buFontTx/>
              <a:buNone/>
              <a:tabLst/>
              <a:defRPr/>
            </a:pPr>
            <a:r>
              <a:rPr kumimoji="0" lang="it-IT" sz="1288" b="0" i="0" u="none" strike="noStrike" kern="1200" cap="none" spc="0" normalizeH="0" baseline="0" noProof="0">
                <a:ln>
                  <a:noFill/>
                </a:ln>
                <a:solidFill>
                  <a:srgbClr val="404040"/>
                </a:solidFill>
                <a:effectLst/>
                <a:uLnTx/>
                <a:uFillTx/>
                <a:latin typeface="Calibri"/>
                <a:cs typeface="Calibri"/>
              </a:rPr>
              <a:t>Le attività operative consentite e l’ambito organizzativo su cui l’utente può operare.</a:t>
            </a:r>
          </a:p>
          <a:p>
            <a:pPr marL="0" marR="0" lvl="0" indent="0" algn="l" defTabSz="914400" rtl="0" eaLnBrk="1" fontAlgn="auto" latinLnBrk="0" hangingPunct="1">
              <a:lnSpc>
                <a:spcPct val="100000"/>
              </a:lnSpc>
              <a:spcBef>
                <a:spcPts val="0"/>
              </a:spcBef>
              <a:spcAft>
                <a:spcPts val="184"/>
              </a:spcAft>
              <a:buClrTx/>
              <a:buSzTx/>
              <a:buFontTx/>
              <a:buNone/>
              <a:tabLst/>
              <a:defRPr/>
            </a:pPr>
            <a:r>
              <a:rPr kumimoji="0" lang="it-IT" sz="1288" b="1" i="0" u="none" strike="noStrike" kern="1200" cap="none" spc="0" normalizeH="0" baseline="0" noProof="0">
                <a:ln>
                  <a:noFill/>
                </a:ln>
                <a:solidFill>
                  <a:srgbClr val="4EA72E"/>
                </a:solidFill>
                <a:effectLst/>
                <a:uLnTx/>
                <a:uFillTx/>
                <a:latin typeface="Calibri"/>
                <a:cs typeface="Calibri"/>
              </a:rPr>
              <a:t>Esempi</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Data Manager</a:t>
            </a: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err="1">
                <a:ln>
                  <a:noFill/>
                </a:ln>
                <a:solidFill>
                  <a:srgbClr val="404040"/>
                </a:solidFill>
                <a:effectLst/>
                <a:uLnTx/>
                <a:uFillTx/>
                <a:latin typeface="Calibri"/>
                <a:cs typeface="Calibri"/>
              </a:rPr>
              <a:t>Reviewer</a:t>
            </a:r>
            <a:endParaRPr kumimoji="0" lang="it-IT" sz="1400" b="0" i="0" u="none" strike="noStrike" kern="1200" cap="none" spc="0" normalizeH="0" baseline="0" noProof="0">
              <a:ln>
                <a:noFill/>
              </a:ln>
              <a:solidFill>
                <a:srgbClr val="404040"/>
              </a:solidFill>
              <a:effectLst/>
              <a:uLnTx/>
              <a:uFillTx/>
              <a:latin typeface="Calibri"/>
              <a:cs typeface="Calibri"/>
            </a:endParaRP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err="1">
                <a:ln>
                  <a:noFill/>
                </a:ln>
                <a:solidFill>
                  <a:srgbClr val="404040"/>
                </a:solidFill>
                <a:effectLst/>
                <a:uLnTx/>
                <a:uFillTx/>
                <a:latin typeface="Calibri"/>
                <a:cs typeface="Calibri"/>
              </a:rPr>
              <a:t>Approver</a:t>
            </a:r>
            <a:endParaRPr kumimoji="0" lang="it-IT" sz="1400" b="0" i="0" u="none" strike="noStrike" kern="1200" cap="none" spc="0" normalizeH="0" baseline="0" noProof="0">
              <a:ln>
                <a:noFill/>
              </a:ln>
              <a:solidFill>
                <a:srgbClr val="404040"/>
              </a:solidFill>
              <a:effectLst/>
              <a:uLnTx/>
              <a:uFillTx/>
              <a:latin typeface="Calibri"/>
              <a:cs typeface="Calibri"/>
            </a:endParaRPr>
          </a:p>
          <a:p>
            <a:pPr marL="190500" marR="0" lvl="0" indent="-190500" algn="l" defTabSz="914400" rtl="0" eaLnBrk="1" fontAlgn="auto" latinLnBrk="0" hangingPunct="1">
              <a:lnSpc>
                <a:spcPct val="100000"/>
              </a:lnSpc>
              <a:spcBef>
                <a:spcPts val="0"/>
              </a:spcBef>
              <a:spcAft>
                <a:spcPts val="322"/>
              </a:spcAft>
              <a:buClr>
                <a:srgbClr val="4EA72E"/>
              </a:buClr>
              <a:buSzTx/>
              <a:buFontTx/>
              <a:buChar char="•"/>
              <a:tabLst/>
              <a:defRPr/>
            </a:pPr>
            <a:r>
              <a:rPr kumimoji="0" lang="it-IT" sz="1288" b="0" i="0" u="none" strike="noStrike" kern="1200" cap="none" spc="0" normalizeH="0" baseline="0" noProof="0">
                <a:ln>
                  <a:noFill/>
                </a:ln>
                <a:solidFill>
                  <a:srgbClr val="404040"/>
                </a:solidFill>
                <a:effectLst/>
                <a:uLnTx/>
                <a:uFillTx/>
                <a:latin typeface="Calibri"/>
                <a:cs typeface="Calibri"/>
              </a:rPr>
              <a:t>Power Report Editor</a:t>
            </a:r>
          </a:p>
        </p:txBody>
      </p:sp>
      <p:sp>
        <p:nvSpPr>
          <p:cNvPr id="142" name="Badge 3">
            <a:extLst>
              <a:ext uri="{FF2B5EF4-FFF2-40B4-BE49-F238E27FC236}">
                <a16:creationId xmlns:a16="http://schemas.microsoft.com/office/drawing/2014/main" id="{2CFD3517-AF4D-8F4D-5B40-7BD27079D16E}"/>
              </a:ext>
            </a:extLst>
          </p:cNvPr>
          <p:cNvSpPr/>
          <p:nvPr/>
        </p:nvSpPr>
        <p:spPr>
          <a:xfrm>
            <a:off x="8202168" y="2305011"/>
            <a:ext cx="411480" cy="378808"/>
          </a:xfrm>
          <a:prstGeom prst="ellipse">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4" b="1" i="0" u="none" strike="noStrike" kern="1200" cap="none" spc="0" normalizeH="0" baseline="0" noProof="0">
                <a:ln>
                  <a:noFill/>
                </a:ln>
                <a:solidFill>
                  <a:srgbClr val="FFFFFF"/>
                </a:solidFill>
                <a:effectLst/>
                <a:uLnTx/>
                <a:uFillTx/>
                <a:latin typeface="Calibri"/>
                <a:cs typeface="Calibri"/>
              </a:rPr>
              <a:t>3</a:t>
            </a:r>
          </a:p>
        </p:txBody>
      </p:sp>
      <p:sp>
        <p:nvSpPr>
          <p:cNvPr id="118" name="Band 118">
            <a:extLst>
              <a:ext uri="{FF2B5EF4-FFF2-40B4-BE49-F238E27FC236}">
                <a16:creationId xmlns:a16="http://schemas.microsoft.com/office/drawing/2014/main" id="{1C40CCA1-BE45-2FBA-E172-BC8C192D4651}"/>
              </a:ext>
            </a:extLst>
          </p:cNvPr>
          <p:cNvSpPr/>
          <p:nvPr/>
        </p:nvSpPr>
        <p:spPr>
          <a:xfrm>
            <a:off x="487680" y="1291421"/>
            <a:ext cx="10908792" cy="925975"/>
          </a:xfrm>
          <a:prstGeom prst="roundRect">
            <a:avLst>
              <a:gd name="adj" fmla="val 12000"/>
            </a:avLst>
          </a:prstGeom>
          <a:solidFill>
            <a:srgbClr val="156082">
              <a:alpha val="12000"/>
            </a:srgbClr>
          </a:solidFill>
          <a:ln>
            <a:noFill/>
          </a:ln>
        </p:spPr>
        <p:txBody>
          <a:bodyPr lIns="155448" tIns="91440" rIns="155448" bIns="9144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8" b="1" i="0" u="none" strike="noStrike" kern="1200" cap="none" spc="0" normalizeH="0" baseline="0" noProof="0">
                <a:ln>
                  <a:noFill/>
                </a:ln>
                <a:solidFill>
                  <a:srgbClr val="156082"/>
                </a:solidFill>
                <a:effectLst/>
                <a:uLnTx/>
                <a:uFillTx/>
                <a:latin typeface="Calibri"/>
                <a:cs typeface="Calibri"/>
              </a:rPr>
              <a:t>Messaggio chiave: </a:t>
            </a:r>
            <a:r>
              <a:rPr kumimoji="0" lang="it-IT" sz="1288" b="0" i="0" u="none" strike="noStrike" kern="1200" cap="none" spc="0" normalizeH="0" baseline="0" noProof="0">
                <a:ln>
                  <a:noFill/>
                </a:ln>
                <a:solidFill>
                  <a:srgbClr val="0E2841"/>
                </a:solidFill>
                <a:effectLst/>
                <a:uLnTx/>
                <a:uFillTx/>
                <a:latin typeface="Calibri"/>
                <a:cs typeface="Calibri"/>
              </a:rPr>
              <a:t>la separazione fra responsabilità, accesso e attività permette di modellare organizzazioni anche complesse mantenendo controllo puntuale degli accessi e piena tracciabilità.</a:t>
            </a:r>
          </a:p>
        </p:txBody>
      </p:sp>
      <p:pic>
        <p:nvPicPr>
          <p:cNvPr id="10" name="Immagine 9">
            <a:extLst>
              <a:ext uri="{FF2B5EF4-FFF2-40B4-BE49-F238E27FC236}">
                <a16:creationId xmlns:a16="http://schemas.microsoft.com/office/drawing/2014/main" id="{50A6D4DC-86AF-6C44-0EFB-7B125C9B5A46}"/>
              </a:ext>
            </a:extLst>
          </p:cNvPr>
          <p:cNvPicPr>
            <a:picLocks noChangeAspect="1"/>
          </p:cNvPicPr>
          <p:nvPr/>
        </p:nvPicPr>
        <p:blipFill>
          <a:blip r:embed="rId3"/>
          <a:stretch>
            <a:fillRect/>
          </a:stretch>
        </p:blipFill>
        <p:spPr>
          <a:xfrm>
            <a:off x="6159773" y="3560449"/>
            <a:ext cx="1514168" cy="1514168"/>
          </a:xfrm>
          <a:prstGeom prst="rect">
            <a:avLst/>
          </a:prstGeom>
        </p:spPr>
      </p:pic>
      <p:sp>
        <p:nvSpPr>
          <p:cNvPr id="11" name="CasellaDiTesto 10">
            <a:extLst>
              <a:ext uri="{FF2B5EF4-FFF2-40B4-BE49-F238E27FC236}">
                <a16:creationId xmlns:a16="http://schemas.microsoft.com/office/drawing/2014/main" id="{FF8112D2-CA01-17C7-9943-0A33374A8AD9}"/>
              </a:ext>
            </a:extLst>
          </p:cNvPr>
          <p:cNvSpPr txBox="1"/>
          <p:nvPr/>
        </p:nvSpPr>
        <p:spPr>
          <a:xfrm>
            <a:off x="1999881" y="5279986"/>
            <a:ext cx="2781225" cy="3473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57" b="0" i="0" u="none" strike="noStrike" kern="1200" cap="none" spc="0" normalizeH="0" baseline="0" noProof="0">
                <a:ln>
                  <a:noFill/>
                </a:ln>
                <a:solidFill>
                  <a:srgbClr val="000000"/>
                </a:solidFill>
                <a:effectLst/>
                <a:uLnTx/>
                <a:uFillTx/>
                <a:latin typeface="Calibri"/>
                <a:cs typeface="Calibri"/>
              </a:rPr>
              <a:t>Energy manager</a:t>
            </a:r>
          </a:p>
        </p:txBody>
      </p:sp>
      <p:sp>
        <p:nvSpPr>
          <p:cNvPr id="12" name="CasellaDiTesto 11">
            <a:extLst>
              <a:ext uri="{FF2B5EF4-FFF2-40B4-BE49-F238E27FC236}">
                <a16:creationId xmlns:a16="http://schemas.microsoft.com/office/drawing/2014/main" id="{BE2F9972-F0DF-E7BF-6082-C0DC7A71C117}"/>
              </a:ext>
            </a:extLst>
          </p:cNvPr>
          <p:cNvSpPr txBox="1"/>
          <p:nvPr/>
        </p:nvSpPr>
        <p:spPr>
          <a:xfrm>
            <a:off x="8714818" y="5279986"/>
            <a:ext cx="2398911" cy="3473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57" b="0" i="0" u="none" strike="noStrike" kern="1200" cap="none" spc="0" normalizeH="0" baseline="0" noProof="0">
                <a:ln>
                  <a:noFill/>
                </a:ln>
                <a:solidFill>
                  <a:srgbClr val="000000"/>
                </a:solidFill>
                <a:effectLst/>
                <a:uLnTx/>
                <a:uFillTx/>
                <a:latin typeface="Calibri"/>
                <a:cs typeface="Calibri"/>
              </a:rPr>
              <a:t>     Data Manager</a:t>
            </a:r>
          </a:p>
        </p:txBody>
      </p:sp>
      <p:sp>
        <p:nvSpPr>
          <p:cNvPr id="14" name="CasellaDiTesto 13">
            <a:extLst>
              <a:ext uri="{FF2B5EF4-FFF2-40B4-BE49-F238E27FC236}">
                <a16:creationId xmlns:a16="http://schemas.microsoft.com/office/drawing/2014/main" id="{4E70B63B-0FB8-578B-D475-1EA52053DA6C}"/>
              </a:ext>
            </a:extLst>
          </p:cNvPr>
          <p:cNvSpPr txBox="1"/>
          <p:nvPr/>
        </p:nvSpPr>
        <p:spPr>
          <a:xfrm>
            <a:off x="4648575" y="5279986"/>
            <a:ext cx="2398911" cy="3473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57" b="0" i="0" u="none" strike="noStrike" kern="1200" cap="none" spc="0" normalizeH="0" baseline="0" noProof="0">
                <a:ln>
                  <a:noFill/>
                </a:ln>
                <a:solidFill>
                  <a:srgbClr val="000000"/>
                </a:solidFill>
                <a:effectLst/>
                <a:uLnTx/>
                <a:uFillTx/>
                <a:latin typeface="Calibri"/>
                <a:cs typeface="Calibri"/>
              </a:rPr>
              <a:t>           General User</a:t>
            </a:r>
          </a:p>
        </p:txBody>
      </p:sp>
      <p:sp>
        <p:nvSpPr>
          <p:cNvPr id="15" name="Rettangolo 14">
            <a:extLst>
              <a:ext uri="{FF2B5EF4-FFF2-40B4-BE49-F238E27FC236}">
                <a16:creationId xmlns:a16="http://schemas.microsoft.com/office/drawing/2014/main" id="{824E1F28-9434-C42B-11B8-B3B9D6F3068D}"/>
              </a:ext>
            </a:extLst>
          </p:cNvPr>
          <p:cNvSpPr/>
          <p:nvPr/>
        </p:nvSpPr>
        <p:spPr>
          <a:xfrm>
            <a:off x="1291653" y="5840393"/>
            <a:ext cx="9515192" cy="56040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6" name="CasellaDiTesto 15">
            <a:extLst>
              <a:ext uri="{FF2B5EF4-FFF2-40B4-BE49-F238E27FC236}">
                <a16:creationId xmlns:a16="http://schemas.microsoft.com/office/drawing/2014/main" id="{5D027705-286E-F50D-04F1-1E7F36593BAE}"/>
              </a:ext>
            </a:extLst>
          </p:cNvPr>
          <p:cNvSpPr txBox="1"/>
          <p:nvPr/>
        </p:nvSpPr>
        <p:spPr>
          <a:xfrm>
            <a:off x="1291653" y="5868356"/>
            <a:ext cx="9347251" cy="4887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8" b="0" i="0" u="none" strike="noStrike" kern="1200" cap="none" spc="0" normalizeH="0" baseline="0" noProof="0">
                <a:ln>
                  <a:noFill/>
                </a:ln>
                <a:solidFill>
                  <a:srgbClr val="000000"/>
                </a:solidFill>
                <a:effectLst/>
                <a:uLnTx/>
                <a:uFillTx/>
                <a:latin typeface="Calibri"/>
                <a:cs typeface="Calibri"/>
              </a:rPr>
              <a:t>Esempio: Maria può modificare, consultare, cancellare i dati (Data manager) di energia elettrica. Non può revisionare o approvare i dati perché non ha work </a:t>
            </a:r>
            <a:r>
              <a:rPr kumimoji="0" lang="it-IT" sz="1288" b="0" i="0" u="none" strike="noStrike" kern="1200" cap="none" spc="0" normalizeH="0" baseline="0" noProof="0" err="1">
                <a:ln>
                  <a:noFill/>
                </a:ln>
                <a:solidFill>
                  <a:srgbClr val="000000"/>
                </a:solidFill>
                <a:effectLst/>
                <a:uLnTx/>
                <a:uFillTx/>
                <a:latin typeface="Calibri"/>
                <a:cs typeface="Calibri"/>
              </a:rPr>
              <a:t>role</a:t>
            </a:r>
            <a:r>
              <a:rPr kumimoji="0" lang="it-IT" sz="1288" b="0" i="0" u="none" strike="noStrike" kern="1200" cap="none" spc="0" normalizeH="0" baseline="0" noProof="0">
                <a:ln>
                  <a:noFill/>
                </a:ln>
                <a:solidFill>
                  <a:srgbClr val="000000"/>
                </a:solidFill>
                <a:effectLst/>
                <a:uLnTx/>
                <a:uFillTx/>
                <a:latin typeface="Calibri"/>
                <a:cs typeface="Calibri"/>
              </a:rPr>
              <a:t> </a:t>
            </a:r>
            <a:r>
              <a:rPr kumimoji="0" lang="it-IT" sz="1288" b="0" i="0" u="none" strike="noStrike" kern="1200" cap="none" spc="0" normalizeH="0" baseline="0" noProof="0" err="1">
                <a:ln>
                  <a:noFill/>
                </a:ln>
                <a:solidFill>
                  <a:srgbClr val="000000"/>
                </a:solidFill>
                <a:effectLst/>
                <a:uLnTx/>
                <a:uFillTx/>
                <a:latin typeface="Calibri"/>
                <a:cs typeface="Calibri"/>
              </a:rPr>
              <a:t>Reviewer</a:t>
            </a:r>
            <a:r>
              <a:rPr kumimoji="0" lang="it-IT" sz="1288" b="0" i="0" u="none" strike="noStrike" kern="1200" cap="none" spc="0" normalizeH="0" baseline="0" noProof="0">
                <a:ln>
                  <a:noFill/>
                </a:ln>
                <a:solidFill>
                  <a:srgbClr val="000000"/>
                </a:solidFill>
                <a:effectLst/>
                <a:uLnTx/>
                <a:uFillTx/>
                <a:latin typeface="Calibri"/>
                <a:cs typeface="Calibri"/>
              </a:rPr>
              <a:t> o </a:t>
            </a:r>
            <a:r>
              <a:rPr kumimoji="0" lang="it-IT" sz="1288" b="0" i="0" u="none" strike="noStrike" kern="1200" cap="none" spc="0" normalizeH="0" baseline="0" noProof="0" err="1">
                <a:ln>
                  <a:noFill/>
                </a:ln>
                <a:solidFill>
                  <a:srgbClr val="000000"/>
                </a:solidFill>
                <a:effectLst/>
                <a:uLnTx/>
                <a:uFillTx/>
                <a:latin typeface="Calibri"/>
                <a:cs typeface="Calibri"/>
              </a:rPr>
              <a:t>Approver</a:t>
            </a:r>
            <a:r>
              <a:rPr kumimoji="0" lang="it-IT" sz="1288" b="0" i="0" u="none" strike="noStrike" kern="1200" cap="none" spc="0" normalizeH="0" baseline="0" noProof="0">
                <a:ln>
                  <a:noFill/>
                </a:ln>
                <a:solidFill>
                  <a:srgbClr val="000000"/>
                </a:solidFill>
                <a:effectLst/>
                <a:uLnTx/>
                <a:uFillTx/>
                <a:latin typeface="Calibri"/>
                <a:cs typeface="Calibri"/>
              </a:rPr>
              <a:t>.  Non può aggiungere utenti perché non ha AC Admin. </a:t>
            </a:r>
          </a:p>
        </p:txBody>
      </p:sp>
      <p:sp>
        <p:nvSpPr>
          <p:cNvPr id="14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0" name="Titolo">
            <a:extLst>
              <a:ext uri="{FF2B5EF4-FFF2-40B4-BE49-F238E27FC236}">
                <a16:creationId xmlns:a16="http://schemas.microsoft.com/office/drawing/2014/main" id="{423E4E09-D303-B023-35B7-89484DBE6EBA}"/>
              </a:ext>
            </a:extLst>
          </p:cNvPr>
          <p:cNvSpPr/>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IBM </a:t>
            </a:r>
            <a:r>
              <a:rPr lang="it-IT" sz="2400" b="1" dirty="0" err="1">
                <a:solidFill>
                  <a:srgbClr val="073E31"/>
                </a:solidFill>
                <a:latin typeface="Calibri"/>
              </a:rPr>
              <a:t>Envizi</a:t>
            </a:r>
            <a:r>
              <a:rPr lang="it-IT" sz="2400" b="1" dirty="0">
                <a:solidFill>
                  <a:srgbClr val="073E31"/>
                </a:solidFill>
                <a:latin typeface="Calibri"/>
              </a:rPr>
              <a:t>: configurazione di un utente</a:t>
            </a:r>
          </a:p>
        </p:txBody>
      </p:sp>
    </p:spTree>
    <p:extLst>
      <p:ext uri="{BB962C8B-B14F-4D97-AF65-F5344CB8AC3E}">
        <p14:creationId xmlns:p14="http://schemas.microsoft.com/office/powerpoint/2010/main" val="464706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3469-5DD0-2C83-AEA9-CC72AD337ECD}"/>
            </a:ext>
          </a:extLst>
        </p:cNvPr>
        <p:cNvGrpSpPr/>
        <p:nvPr/>
      </p:nvGrpSpPr>
      <p:grpSpPr>
        <a:xfrm>
          <a:off x="0" y="0"/>
          <a:ext cx="0" cy="0"/>
          <a:chOff x="0" y="0"/>
          <a:chExt cx="0" cy="0"/>
        </a:xfrm>
      </p:grpSpPr>
      <p:sp>
        <p:nvSpPr>
          <p:cNvPr id="111" name="Sottotitolo">
            <a:extLst>
              <a:ext uri="{FF2B5EF4-FFF2-40B4-BE49-F238E27FC236}">
                <a16:creationId xmlns:a16="http://schemas.microsoft.com/office/drawing/2014/main" id="{1F72434A-6DEF-2353-CBC6-1398A2CC2C9B}"/>
              </a:ext>
            </a:extLst>
          </p:cNvPr>
          <p:cNvSpPr/>
          <p:nvPr/>
        </p:nvSpPr>
        <p:spPr>
          <a:xfrm>
            <a:off x="640080" y="1424053"/>
            <a:ext cx="10908792" cy="334571"/>
          </a:xfrm>
          <a:prstGeom prst="rect">
            <a:avLst/>
          </a:prstGeom>
          <a:noFill/>
        </p:spPr>
        <p:txBody>
          <a:bodyPr wrap="square" lIns="0" tIns="0" rIns="0" bIns="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0" i="0" u="none" strike="noStrike" kern="1200" cap="none" spc="0" normalizeH="0" baseline="0" noProof="0">
                <a:ln>
                  <a:noFill/>
                </a:ln>
                <a:solidFill>
                  <a:srgbClr val="404040"/>
                </a:solidFill>
                <a:effectLst/>
                <a:uLnTx/>
                <a:uFillTx/>
                <a:latin typeface="Calibri"/>
                <a:cs typeface="Calibri"/>
              </a:rPr>
              <a:t>Ogni persona accede alla piattaforma con il livello di permessi coerente con il proprio ruolo.</a:t>
            </a:r>
          </a:p>
        </p:txBody>
      </p:sp>
      <p:sp>
        <p:nvSpPr>
          <p:cNvPr id="115" name="Card 115">
            <a:extLst>
              <a:ext uri="{FF2B5EF4-FFF2-40B4-BE49-F238E27FC236}">
                <a16:creationId xmlns:a16="http://schemas.microsoft.com/office/drawing/2014/main" id="{9CD25611-A397-2B59-9177-0F60FB176ACE}"/>
              </a:ext>
            </a:extLst>
          </p:cNvPr>
          <p:cNvSpPr/>
          <p:nvPr/>
        </p:nvSpPr>
        <p:spPr>
          <a:xfrm>
            <a:off x="640080" y="2009553"/>
            <a:ext cx="2587752" cy="230017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914400" rIns="137160" bIns="118872" anchor="t">
            <a:normAutofit/>
          </a:bodyPr>
          <a:lstStyle/>
          <a:p>
            <a:pPr marL="0" marR="0" lvl="0" indent="0" algn="l" defTabSz="914400" rtl="0" eaLnBrk="1" fontAlgn="auto" latinLnBrk="0" hangingPunct="1">
              <a:lnSpc>
                <a:spcPct val="100000"/>
              </a:lnSpc>
              <a:spcBef>
                <a:spcPts val="0"/>
              </a:spcBef>
              <a:spcAft>
                <a:spcPts val="274"/>
              </a:spcAft>
              <a:buClrTx/>
              <a:buSzTx/>
              <a:buFontTx/>
              <a:buNone/>
              <a:tabLst/>
              <a:defRPr/>
            </a:pPr>
            <a:r>
              <a:rPr kumimoji="0" lang="it-IT" sz="1372" b="1" i="0" u="none" strike="noStrike" kern="1200" cap="none" spc="0" normalizeH="0" baseline="0" noProof="0">
                <a:ln>
                  <a:noFill/>
                </a:ln>
                <a:solidFill>
                  <a:srgbClr val="156082"/>
                </a:solidFill>
                <a:effectLst/>
                <a:uLnTx/>
                <a:uFillTx/>
                <a:latin typeface="Calibri"/>
                <a:cs typeface="Calibri"/>
              </a:rPr>
              <a:t>Administrator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0" i="0" u="none" strike="noStrike" kern="1200" cap="none" spc="0" normalizeH="0" baseline="0" noProof="0">
                <a:ln>
                  <a:noFill/>
                </a:ln>
                <a:solidFill>
                  <a:srgbClr val="404040"/>
                </a:solidFill>
                <a:effectLst/>
                <a:uLnTx/>
                <a:uFillTx/>
                <a:latin typeface="Calibri"/>
                <a:cs typeface="Calibri"/>
              </a:rPr>
              <a:t>Accede alle funzionalità in base ai permessi assegnati: inserimento, revisione, approvazione e consultazione dei dati.</a:t>
            </a:r>
          </a:p>
        </p:txBody>
      </p:sp>
      <p:pic>
        <p:nvPicPr>
          <p:cNvPr id="150" name="Icona 150">
            <a:extLst>
              <a:ext uri="{FF2B5EF4-FFF2-40B4-BE49-F238E27FC236}">
                <a16:creationId xmlns:a16="http://schemas.microsoft.com/office/drawing/2014/main" id="{21B8B050-638E-D5F5-CBF7-3772CB350594}"/>
              </a:ext>
            </a:extLst>
          </p:cNvPr>
          <p:cNvPicPr>
            <a:picLocks noChangeAspect="1"/>
          </p:cNvPicPr>
          <p:nvPr/>
        </p:nvPicPr>
        <p:blipFill>
          <a:blip r:embed="rId3"/>
          <a:stretch>
            <a:fillRect/>
          </a:stretch>
        </p:blipFill>
        <p:spPr>
          <a:xfrm>
            <a:off x="828843" y="2176839"/>
            <a:ext cx="518585" cy="518585"/>
          </a:xfrm>
          <a:prstGeom prst="rect">
            <a:avLst/>
          </a:prstGeom>
        </p:spPr>
      </p:pic>
      <p:sp>
        <p:nvSpPr>
          <p:cNvPr id="116" name="Card 116">
            <a:extLst>
              <a:ext uri="{FF2B5EF4-FFF2-40B4-BE49-F238E27FC236}">
                <a16:creationId xmlns:a16="http://schemas.microsoft.com/office/drawing/2014/main" id="{6CCF309A-2DF1-91BD-AAF0-1A28DBC198A3}"/>
              </a:ext>
            </a:extLst>
          </p:cNvPr>
          <p:cNvSpPr/>
          <p:nvPr/>
        </p:nvSpPr>
        <p:spPr>
          <a:xfrm>
            <a:off x="3410712" y="2009553"/>
            <a:ext cx="2587752" cy="230017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914400" rIns="137160" bIns="118872" anchor="t">
            <a:normAutofit/>
          </a:bodyPr>
          <a:lstStyle/>
          <a:p>
            <a:pPr marL="0" marR="0" lvl="0" indent="0" algn="l" defTabSz="914400" rtl="0" eaLnBrk="1" fontAlgn="auto" latinLnBrk="0" hangingPunct="1">
              <a:lnSpc>
                <a:spcPct val="100000"/>
              </a:lnSpc>
              <a:spcBef>
                <a:spcPts val="0"/>
              </a:spcBef>
              <a:spcAft>
                <a:spcPts val="274"/>
              </a:spcAft>
              <a:buClrTx/>
              <a:buSzTx/>
              <a:buFontTx/>
              <a:buNone/>
              <a:tabLst/>
              <a:defRPr/>
            </a:pPr>
            <a:r>
              <a:rPr kumimoji="0" lang="it-IT" sz="1372" b="1" i="0" u="none" strike="noStrike" kern="1200" cap="none" spc="0" normalizeH="0" baseline="0" noProof="0">
                <a:ln>
                  <a:noFill/>
                </a:ln>
                <a:solidFill>
                  <a:srgbClr val="156082"/>
                </a:solidFill>
                <a:effectLst/>
                <a:uLnTx/>
                <a:uFillTx/>
                <a:latin typeface="Calibri"/>
                <a:cs typeface="Calibri"/>
              </a:rPr>
              <a:t>General User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0" i="0" u="none" strike="noStrike" kern="1200" cap="none" spc="0" normalizeH="0" baseline="0" noProof="0">
                <a:ln>
                  <a:noFill/>
                </a:ln>
                <a:solidFill>
                  <a:srgbClr val="404040"/>
                </a:solidFill>
                <a:effectLst/>
                <a:uLnTx/>
                <a:uFillTx/>
                <a:latin typeface="Calibri"/>
                <a:cs typeface="Calibri"/>
              </a:rPr>
              <a:t>Opera sui dati e utilizza le funzioni necessarie alle attività assegnate.</a:t>
            </a:r>
          </a:p>
        </p:txBody>
      </p:sp>
      <p:pic>
        <p:nvPicPr>
          <p:cNvPr id="151" name="Icona 151">
            <a:extLst>
              <a:ext uri="{FF2B5EF4-FFF2-40B4-BE49-F238E27FC236}">
                <a16:creationId xmlns:a16="http://schemas.microsoft.com/office/drawing/2014/main" id="{27DAB36D-5953-AACF-B92D-2D6E929E0612}"/>
              </a:ext>
            </a:extLst>
          </p:cNvPr>
          <p:cNvPicPr>
            <a:picLocks noChangeAspect="1"/>
          </p:cNvPicPr>
          <p:nvPr/>
        </p:nvPicPr>
        <p:blipFill>
          <a:blip r:embed="rId4"/>
          <a:stretch>
            <a:fillRect/>
          </a:stretch>
        </p:blipFill>
        <p:spPr>
          <a:xfrm>
            <a:off x="3599475" y="2176839"/>
            <a:ext cx="518585" cy="518585"/>
          </a:xfrm>
          <a:prstGeom prst="rect">
            <a:avLst/>
          </a:prstGeom>
        </p:spPr>
      </p:pic>
      <p:sp>
        <p:nvSpPr>
          <p:cNvPr id="117" name="Card 117">
            <a:extLst>
              <a:ext uri="{FF2B5EF4-FFF2-40B4-BE49-F238E27FC236}">
                <a16:creationId xmlns:a16="http://schemas.microsoft.com/office/drawing/2014/main" id="{497B4366-17FB-96EE-BB28-165B30C7B967}"/>
              </a:ext>
            </a:extLst>
          </p:cNvPr>
          <p:cNvSpPr/>
          <p:nvPr/>
        </p:nvSpPr>
        <p:spPr>
          <a:xfrm>
            <a:off x="6181344" y="2009553"/>
            <a:ext cx="2587752" cy="230017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914400" rIns="137160" bIns="118872" anchor="t">
            <a:normAutofit/>
          </a:bodyPr>
          <a:lstStyle/>
          <a:p>
            <a:pPr marL="0" marR="0" lvl="0" indent="0" algn="l" defTabSz="914400" rtl="0" eaLnBrk="1" fontAlgn="auto" latinLnBrk="0" hangingPunct="1">
              <a:lnSpc>
                <a:spcPct val="100000"/>
              </a:lnSpc>
              <a:spcBef>
                <a:spcPts val="0"/>
              </a:spcBef>
              <a:spcAft>
                <a:spcPts val="274"/>
              </a:spcAft>
              <a:buClrTx/>
              <a:buSzTx/>
              <a:buFontTx/>
              <a:buNone/>
              <a:tabLst/>
              <a:defRPr/>
            </a:pPr>
            <a:r>
              <a:rPr kumimoji="0" lang="it-IT" sz="1372" b="1" i="0" u="none" strike="noStrike" kern="1200" cap="none" spc="0" normalizeH="0" baseline="0" noProof="0">
                <a:ln>
                  <a:noFill/>
                </a:ln>
                <a:solidFill>
                  <a:srgbClr val="156082"/>
                </a:solidFill>
                <a:effectLst/>
                <a:uLnTx/>
                <a:uFillTx/>
                <a:latin typeface="Calibri"/>
                <a:cs typeface="Calibri"/>
              </a:rPr>
              <a:t>Read Only User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0" i="0" u="none" strike="noStrike" kern="1200" cap="none" spc="0" normalizeH="0" baseline="0" noProof="0">
                <a:ln>
                  <a:noFill/>
                </a:ln>
                <a:solidFill>
                  <a:srgbClr val="404040"/>
                </a:solidFill>
                <a:effectLst/>
                <a:uLnTx/>
                <a:uFillTx/>
                <a:latin typeface="Calibri"/>
                <a:cs typeface="Calibri"/>
              </a:rPr>
              <a:t>Consulta dashboard, report e dati aziendali senza poter modificare le informazioni.</a:t>
            </a:r>
          </a:p>
        </p:txBody>
      </p:sp>
      <p:pic>
        <p:nvPicPr>
          <p:cNvPr id="152" name="Icona 152">
            <a:extLst>
              <a:ext uri="{FF2B5EF4-FFF2-40B4-BE49-F238E27FC236}">
                <a16:creationId xmlns:a16="http://schemas.microsoft.com/office/drawing/2014/main" id="{987607F9-30DA-8B77-E722-330C485A694B}"/>
              </a:ext>
            </a:extLst>
          </p:cNvPr>
          <p:cNvPicPr>
            <a:picLocks noChangeAspect="1"/>
          </p:cNvPicPr>
          <p:nvPr/>
        </p:nvPicPr>
        <p:blipFill>
          <a:blip r:embed="rId5"/>
          <a:stretch>
            <a:fillRect/>
          </a:stretch>
        </p:blipFill>
        <p:spPr>
          <a:xfrm>
            <a:off x="6370107" y="2176839"/>
            <a:ext cx="518585" cy="518585"/>
          </a:xfrm>
          <a:prstGeom prst="rect">
            <a:avLst/>
          </a:prstGeom>
        </p:spPr>
      </p:pic>
      <p:sp>
        <p:nvSpPr>
          <p:cNvPr id="118" name="Card 118">
            <a:extLst>
              <a:ext uri="{FF2B5EF4-FFF2-40B4-BE49-F238E27FC236}">
                <a16:creationId xmlns:a16="http://schemas.microsoft.com/office/drawing/2014/main" id="{6E5F61F2-3FDD-AEF9-96C3-FB47F58E5C0A}"/>
              </a:ext>
            </a:extLst>
          </p:cNvPr>
          <p:cNvSpPr/>
          <p:nvPr/>
        </p:nvSpPr>
        <p:spPr>
          <a:xfrm>
            <a:off x="8951976" y="2009553"/>
            <a:ext cx="2587752" cy="2300176"/>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914400" rIns="137160" bIns="118872" anchor="t">
            <a:normAutofit/>
          </a:bodyPr>
          <a:lstStyle/>
          <a:p>
            <a:pPr marL="0" marR="0" lvl="0" indent="0" algn="l" defTabSz="914400" rtl="0" eaLnBrk="1" fontAlgn="auto" latinLnBrk="0" hangingPunct="1">
              <a:lnSpc>
                <a:spcPct val="100000"/>
              </a:lnSpc>
              <a:spcBef>
                <a:spcPts val="0"/>
              </a:spcBef>
              <a:spcAft>
                <a:spcPts val="274"/>
              </a:spcAft>
              <a:buClrTx/>
              <a:buSzTx/>
              <a:buFontTx/>
              <a:buNone/>
              <a:tabLst/>
              <a:defRPr/>
            </a:pPr>
            <a:r>
              <a:rPr kumimoji="0" lang="it-IT" sz="1372" b="1" i="0" u="none" strike="noStrike" kern="1200" cap="none" spc="0" normalizeH="0" baseline="0" noProof="0">
                <a:ln>
                  <a:noFill/>
                </a:ln>
                <a:solidFill>
                  <a:srgbClr val="156082"/>
                </a:solidFill>
                <a:effectLst/>
                <a:uLnTx/>
                <a:uFillTx/>
                <a:latin typeface="Calibri"/>
                <a:cs typeface="Calibri"/>
              </a:rPr>
              <a:t>Auditor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0" i="0" u="none" strike="noStrike" kern="1200" cap="none" spc="0" normalizeH="0" baseline="0" noProof="0">
                <a:ln>
                  <a:noFill/>
                </a:ln>
                <a:solidFill>
                  <a:srgbClr val="404040"/>
                </a:solidFill>
                <a:effectLst/>
                <a:uLnTx/>
                <a:uFillTx/>
                <a:latin typeface="Calibri"/>
                <a:cs typeface="Calibri"/>
              </a:rPr>
              <a:t>Accede a informazioni ed evidenze per le attività di verifica, con piena tracciabilità.</a:t>
            </a:r>
          </a:p>
        </p:txBody>
      </p:sp>
      <p:pic>
        <p:nvPicPr>
          <p:cNvPr id="153" name="Icona 153">
            <a:extLst>
              <a:ext uri="{FF2B5EF4-FFF2-40B4-BE49-F238E27FC236}">
                <a16:creationId xmlns:a16="http://schemas.microsoft.com/office/drawing/2014/main" id="{0FF5B536-14E1-F9D3-85A3-176295E1FF60}"/>
              </a:ext>
            </a:extLst>
          </p:cNvPr>
          <p:cNvPicPr>
            <a:picLocks noChangeAspect="1"/>
          </p:cNvPicPr>
          <p:nvPr/>
        </p:nvPicPr>
        <p:blipFill>
          <a:blip r:embed="rId6"/>
          <a:stretch>
            <a:fillRect/>
          </a:stretch>
        </p:blipFill>
        <p:spPr>
          <a:xfrm>
            <a:off x="9140739" y="2176839"/>
            <a:ext cx="518585" cy="518585"/>
          </a:xfrm>
          <a:prstGeom prst="rect">
            <a:avLst/>
          </a:prstGeom>
        </p:spPr>
      </p:pic>
      <p:sp>
        <p:nvSpPr>
          <p:cNvPr id="120" name="Contact">
            <a:extLst>
              <a:ext uri="{FF2B5EF4-FFF2-40B4-BE49-F238E27FC236}">
                <a16:creationId xmlns:a16="http://schemas.microsoft.com/office/drawing/2014/main" id="{00D6A0E7-D029-9A48-227B-B5BD45BA79E2}"/>
              </a:ext>
            </a:extLst>
          </p:cNvPr>
          <p:cNvSpPr/>
          <p:nvPr/>
        </p:nvSpPr>
        <p:spPr>
          <a:xfrm>
            <a:off x="640080" y="4477015"/>
            <a:ext cx="10908792" cy="878249"/>
          </a:xfrm>
          <a:prstGeom prst="roundRect">
            <a:avLst>
              <a:gd name="adj" fmla="val 8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55448" tIns="91440" rIns="155448" bIns="9144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1" i="0" u="none" strike="noStrike" kern="1200" cap="none" spc="0" normalizeH="0" baseline="0" noProof="0">
                <a:ln>
                  <a:noFill/>
                </a:ln>
                <a:solidFill>
                  <a:srgbClr val="156082"/>
                </a:solidFill>
                <a:effectLst/>
                <a:uLnTx/>
                <a:uFillTx/>
                <a:latin typeface="Calibri"/>
                <a:cs typeface="Calibri"/>
              </a:rPr>
              <a:t>Contact</a:t>
            </a:r>
            <a:r>
              <a:rPr kumimoji="0" lang="it-IT" sz="1280" b="0" i="0" u="none" strike="noStrike" kern="1200" cap="none" spc="0" normalizeH="0" baseline="0" noProof="0">
                <a:ln>
                  <a:noFill/>
                </a:ln>
                <a:solidFill>
                  <a:srgbClr val="404040"/>
                </a:solidFill>
                <a:effectLst/>
                <a:uLnTx/>
                <a:uFillTx/>
                <a:latin typeface="Calibri"/>
                <a:cs typeface="Calibri"/>
              </a:rPr>
              <a:t>  persona registrata in Envizi senza credenziali di accesso: riceve notifiche, workflow, report schedulati, dashboard condivise e link ai PowerReports, e può essere associata ai processi operativi tramite specifici Work Role.</a:t>
            </a:r>
          </a:p>
        </p:txBody>
      </p:sp>
      <p:sp>
        <p:nvSpPr>
          <p:cNvPr id="2" name="Band 118">
            <a:extLst>
              <a:ext uri="{FF2B5EF4-FFF2-40B4-BE49-F238E27FC236}">
                <a16:creationId xmlns:a16="http://schemas.microsoft.com/office/drawing/2014/main" id="{23F27571-4DBF-6085-CE34-0A35ECB2E442}"/>
              </a:ext>
            </a:extLst>
          </p:cNvPr>
          <p:cNvSpPr/>
          <p:nvPr/>
        </p:nvSpPr>
        <p:spPr>
          <a:xfrm>
            <a:off x="640080" y="5564372"/>
            <a:ext cx="10908792" cy="836427"/>
          </a:xfrm>
          <a:prstGeom prst="roundRect">
            <a:avLst>
              <a:gd name="adj" fmla="val 12000"/>
            </a:avLst>
          </a:prstGeom>
          <a:solidFill>
            <a:srgbClr val="156082">
              <a:alpha val="12000"/>
            </a:srgbClr>
          </a:solidFill>
          <a:ln>
            <a:noFill/>
          </a:ln>
        </p:spPr>
        <p:txBody>
          <a:bodyPr lIns="155448" tIns="91440" rIns="155448" bIns="9144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80" b="1" i="0" u="none" strike="noStrike" kern="1200" cap="none" spc="0" normalizeH="0" baseline="0" noProof="0">
                <a:ln>
                  <a:noFill/>
                </a:ln>
                <a:solidFill>
                  <a:srgbClr val="156082"/>
                </a:solidFill>
                <a:effectLst/>
                <a:uLnTx/>
                <a:uFillTx/>
                <a:latin typeface="Calibri"/>
                <a:cs typeface="Calibri"/>
              </a:rPr>
              <a:t>Licensing: </a:t>
            </a:r>
            <a:r>
              <a:rPr kumimoji="0" lang="it-IT" sz="1280" b="0" i="0" u="none" strike="noStrike" kern="1200" cap="none" spc="0" normalizeH="0" baseline="0" noProof="0">
                <a:ln>
                  <a:noFill/>
                </a:ln>
                <a:solidFill>
                  <a:srgbClr val="0E2841"/>
                </a:solidFill>
                <a:effectLst/>
                <a:uLnTx/>
                <a:uFillTx/>
                <a:latin typeface="Calibri"/>
                <a:cs typeface="Calibri"/>
              </a:rPr>
              <a:t>il numero di utenti registrati non è una metrica di licensing. Si possono coinvolgere progressivamente più persone; il modello resta legato al patrimonio informativo gestito (Account).</a:t>
            </a:r>
          </a:p>
        </p:txBody>
      </p:sp>
      <p:sp>
        <p:nvSpPr>
          <p:cNvPr id="130" name="Tag">
            <a:extLst>
              <a:ext uri="{FF2B5EF4-FFF2-40B4-BE49-F238E27FC236}">
                <a16:creationId xmlns:a16="http://schemas.microsoft.com/office/drawing/2014/main" id="{D9EA936F-CA93-0E79-99A2-C30F2CB21F78}"/>
              </a:ext>
            </a:extLst>
          </p:cNvPr>
          <p:cNvSpPr/>
          <p:nvPr/>
        </p:nvSpPr>
        <p:spPr>
          <a:xfrm>
            <a:off x="9061704" y="173736"/>
            <a:ext cx="3026664" cy="265176"/>
          </a:xfrm>
          <a:prstGeom prst="rect">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srgbClr val="FFFFFF"/>
                </a:solidFill>
                <a:effectLst/>
                <a:uLnTx/>
                <a:uFillTx/>
                <a:latin typeface="Calibri"/>
                <a:cs typeface="Calibri"/>
              </a:rPr>
              <a:t>Utenti e ruoli</a:t>
            </a:r>
          </a:p>
        </p:txBody>
      </p:sp>
      <p:pic>
        <p:nvPicPr>
          <p:cNvPr id="4" name="Immagine 3">
            <a:extLst>
              <a:ext uri="{FF2B5EF4-FFF2-40B4-BE49-F238E27FC236}">
                <a16:creationId xmlns:a16="http://schemas.microsoft.com/office/drawing/2014/main" id="{1FF0C946-B8CB-20E8-D772-CFD3782776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0511" y="1005840"/>
            <a:ext cx="2032984" cy="964215"/>
          </a:xfrm>
          <a:prstGeom prst="rect">
            <a:avLst/>
          </a:prstGeom>
        </p:spPr>
      </p:pic>
      <p:sp>
        <p:nvSpPr>
          <p:cNvPr id="15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0" name="Titolo">
            <a:extLst>
              <a:ext uri="{FF2B5EF4-FFF2-40B4-BE49-F238E27FC236}">
                <a16:creationId xmlns:a16="http://schemas.microsoft.com/office/drawing/2014/main" id="{B9D35618-9778-DE65-7C4F-90C640FA4061}"/>
              </a:ext>
            </a:extLst>
          </p:cNvPr>
          <p:cNvSpPr/>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Modello di accesso IBM Envizi: 4 Access Level + Contact</a:t>
            </a:r>
          </a:p>
        </p:txBody>
      </p:sp>
    </p:spTree>
    <p:extLst>
      <p:ext uri="{BB962C8B-B14F-4D97-AF65-F5344CB8AC3E}">
        <p14:creationId xmlns:p14="http://schemas.microsoft.com/office/powerpoint/2010/main" val="2127584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C444A-DBB2-49AF-B67C-AF9A8366FF45}"/>
            </a:ext>
          </a:extLst>
        </p:cNvPr>
        <p:cNvGrpSpPr/>
        <p:nvPr/>
      </p:nvGrpSpPr>
      <p:grpSpPr>
        <a:xfrm>
          <a:off x="0" y="0"/>
          <a:ext cx="0" cy="0"/>
          <a:chOff x="0" y="0"/>
          <a:chExt cx="0" cy="0"/>
        </a:xfrm>
      </p:grpSpPr>
      <p:sp>
        <p:nvSpPr>
          <p:cNvPr id="111" name="Sottotitolo">
            <a:extLst>
              <a:ext uri="{FF2B5EF4-FFF2-40B4-BE49-F238E27FC236}">
                <a16:creationId xmlns:a16="http://schemas.microsoft.com/office/drawing/2014/main" id="{6F9FB57B-72C2-1F4B-9C07-DAC213FD7C6F}"/>
              </a:ext>
            </a:extLst>
          </p:cNvPr>
          <p:cNvSpPr txBox="1"/>
          <p:nvPr/>
        </p:nvSpPr>
        <p:spPr>
          <a:xfrm>
            <a:off x="640080" y="1450284"/>
            <a:ext cx="10908792" cy="304513"/>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Il Work Role definisce che cosa l’utente può fare e su quale porzione dell’organizzazione o dei dati.</a:t>
            </a:r>
          </a:p>
        </p:txBody>
      </p:sp>
      <p:sp>
        <p:nvSpPr>
          <p:cNvPr id="108" name="Tag">
            <a:extLst>
              <a:ext uri="{FF2B5EF4-FFF2-40B4-BE49-F238E27FC236}">
                <a16:creationId xmlns:a16="http://schemas.microsoft.com/office/drawing/2014/main" id="{9EB52B42-E4DC-09E7-2128-675A8DCD5F47}"/>
              </a:ext>
            </a:extLst>
          </p:cNvPr>
          <p:cNvSpPr/>
          <p:nvPr/>
        </p:nvSpPr>
        <p:spPr>
          <a:xfrm>
            <a:off x="8732520" y="164592"/>
            <a:ext cx="2816352" cy="274320"/>
          </a:xfrm>
          <a:prstGeom prst="rect">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FFFFFF"/>
                </a:solidFill>
                <a:effectLst/>
                <a:uLnTx/>
                <a:uFillTx/>
                <a:latin typeface="Calibri"/>
                <a:cs typeface="Calibri"/>
              </a:rPr>
              <a:t>Utenti e ruoli</a:t>
            </a:r>
          </a:p>
        </p:txBody>
      </p:sp>
      <p:sp>
        <p:nvSpPr>
          <p:cNvPr id="120" name="Card0">
            <a:extLst>
              <a:ext uri="{FF2B5EF4-FFF2-40B4-BE49-F238E27FC236}">
                <a16:creationId xmlns:a16="http://schemas.microsoft.com/office/drawing/2014/main" id="{6B5BE1B6-B9D7-CB25-E5A7-0BDBFF9D238B}"/>
              </a:ext>
            </a:extLst>
          </p:cNvPr>
          <p:cNvSpPr/>
          <p:nvPr/>
        </p:nvSpPr>
        <p:spPr>
          <a:xfrm>
            <a:off x="640080" y="2007108"/>
            <a:ext cx="2035454" cy="2697117"/>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85"/>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21" name="Badge0">
            <a:extLst>
              <a:ext uri="{FF2B5EF4-FFF2-40B4-BE49-F238E27FC236}">
                <a16:creationId xmlns:a16="http://schemas.microsoft.com/office/drawing/2014/main" id="{418D9441-283A-D7B0-B690-13D9981FDACA}"/>
              </a:ext>
            </a:extLst>
          </p:cNvPr>
          <p:cNvSpPr/>
          <p:nvPr/>
        </p:nvSpPr>
        <p:spPr>
          <a:xfrm>
            <a:off x="841248" y="2207217"/>
            <a:ext cx="384048" cy="365415"/>
          </a:xfrm>
          <a:prstGeom prst="ellipse">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41" b="1" i="0" u="none" strike="noStrike" kern="1200" cap="none" spc="0" normalizeH="0" baseline="0" noProof="0">
                <a:ln>
                  <a:noFill/>
                </a:ln>
                <a:solidFill>
                  <a:srgbClr val="FFFFFF"/>
                </a:solidFill>
                <a:effectLst/>
                <a:uLnTx/>
                <a:uFillTx/>
                <a:latin typeface="Calibri"/>
                <a:cs typeface="Calibri"/>
              </a:rPr>
              <a:t>1</a:t>
            </a:r>
          </a:p>
        </p:txBody>
      </p:sp>
      <p:sp>
        <p:nvSpPr>
          <p:cNvPr id="122" name="Txt0">
            <a:extLst>
              <a:ext uri="{FF2B5EF4-FFF2-40B4-BE49-F238E27FC236}">
                <a16:creationId xmlns:a16="http://schemas.microsoft.com/office/drawing/2014/main" id="{EAB176A7-074F-2DEB-AA35-53511DCB4FDA}"/>
              </a:ext>
            </a:extLst>
          </p:cNvPr>
          <p:cNvSpPr txBox="1"/>
          <p:nvPr/>
        </p:nvSpPr>
        <p:spPr>
          <a:xfrm>
            <a:off x="841248" y="2703138"/>
            <a:ext cx="1633118" cy="2175094"/>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427" b="1" i="0" u="none" strike="noStrike" kern="1200" cap="none" spc="0" normalizeH="0" baseline="0" noProof="0">
                <a:ln>
                  <a:noFill/>
                </a:ln>
                <a:solidFill>
                  <a:srgbClr val="155B78"/>
                </a:solidFill>
                <a:effectLst/>
                <a:uLnTx/>
                <a:uFillTx/>
                <a:latin typeface="Calibri"/>
                <a:cs typeface="Calibri"/>
              </a:rPr>
              <a:t>Data Manager</a:t>
            </a:r>
          </a:p>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4EA72E"/>
                </a:solidFill>
                <a:effectLst/>
                <a:uLnTx/>
                <a:uFillTx/>
                <a:latin typeface="Calibri"/>
                <a:cs typeface="Calibri"/>
              </a:rPr>
              <a:t>Inserimento e gestione dati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Inserisce, importa e aggiorna i dati nelle Location e nei tipi di dato assegnati.</a:t>
            </a:r>
          </a:p>
        </p:txBody>
      </p:sp>
      <p:sp>
        <p:nvSpPr>
          <p:cNvPr id="123" name="Card1">
            <a:extLst>
              <a:ext uri="{FF2B5EF4-FFF2-40B4-BE49-F238E27FC236}">
                <a16:creationId xmlns:a16="http://schemas.microsoft.com/office/drawing/2014/main" id="{4F8AE975-9006-C5A7-DB3E-AF07463AD21E}"/>
              </a:ext>
            </a:extLst>
          </p:cNvPr>
          <p:cNvSpPr/>
          <p:nvPr/>
        </p:nvSpPr>
        <p:spPr>
          <a:xfrm>
            <a:off x="2858414" y="2007108"/>
            <a:ext cx="2035454" cy="2697117"/>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85"/>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24" name="Badge1">
            <a:extLst>
              <a:ext uri="{FF2B5EF4-FFF2-40B4-BE49-F238E27FC236}">
                <a16:creationId xmlns:a16="http://schemas.microsoft.com/office/drawing/2014/main" id="{1FEE9E57-5BE4-B628-97F3-0A9D738CBDDD}"/>
              </a:ext>
            </a:extLst>
          </p:cNvPr>
          <p:cNvSpPr/>
          <p:nvPr/>
        </p:nvSpPr>
        <p:spPr>
          <a:xfrm>
            <a:off x="3059582" y="2207217"/>
            <a:ext cx="384048" cy="365415"/>
          </a:xfrm>
          <a:prstGeom prst="ellipse">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41" b="1" i="0" u="none" strike="noStrike" kern="1200" cap="none" spc="0" normalizeH="0" baseline="0" noProof="0">
                <a:ln>
                  <a:noFill/>
                </a:ln>
                <a:solidFill>
                  <a:srgbClr val="FFFFFF"/>
                </a:solidFill>
                <a:effectLst/>
                <a:uLnTx/>
                <a:uFillTx/>
                <a:latin typeface="Calibri"/>
                <a:cs typeface="Calibri"/>
              </a:rPr>
              <a:t>2</a:t>
            </a:r>
          </a:p>
        </p:txBody>
      </p:sp>
      <p:sp>
        <p:nvSpPr>
          <p:cNvPr id="125" name="Txt1">
            <a:extLst>
              <a:ext uri="{FF2B5EF4-FFF2-40B4-BE49-F238E27FC236}">
                <a16:creationId xmlns:a16="http://schemas.microsoft.com/office/drawing/2014/main" id="{E43BE8DE-798A-595A-77B8-4BE60E6A105A}"/>
              </a:ext>
            </a:extLst>
          </p:cNvPr>
          <p:cNvSpPr txBox="1"/>
          <p:nvPr/>
        </p:nvSpPr>
        <p:spPr>
          <a:xfrm>
            <a:off x="3059582" y="2703138"/>
            <a:ext cx="1633118" cy="2175094"/>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427" b="1" i="0" u="none" strike="noStrike" kern="1200" cap="none" spc="0" normalizeH="0" baseline="0" noProof="0">
                <a:ln>
                  <a:noFill/>
                </a:ln>
                <a:solidFill>
                  <a:srgbClr val="155B78"/>
                </a:solidFill>
                <a:effectLst/>
                <a:uLnTx/>
                <a:uFillTx/>
                <a:latin typeface="Calibri"/>
                <a:cs typeface="Calibri"/>
              </a:rPr>
              <a:t>Reviewer</a:t>
            </a:r>
          </a:p>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4EA72E"/>
                </a:solidFill>
                <a:effectLst/>
                <a:uLnTx/>
                <a:uFillTx/>
                <a:latin typeface="Calibri"/>
                <a:cs typeface="Calibri"/>
              </a:rPr>
              <a:t>Verifica della qualità</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Controlla completezza e correttezza dei dati inseriti da altri prima dell’approvazione.</a:t>
            </a:r>
          </a:p>
        </p:txBody>
      </p:sp>
      <p:sp>
        <p:nvSpPr>
          <p:cNvPr id="126" name="Card2">
            <a:extLst>
              <a:ext uri="{FF2B5EF4-FFF2-40B4-BE49-F238E27FC236}">
                <a16:creationId xmlns:a16="http://schemas.microsoft.com/office/drawing/2014/main" id="{0181B49A-1FD5-395E-B366-9EBFD1D8AC55}"/>
              </a:ext>
            </a:extLst>
          </p:cNvPr>
          <p:cNvSpPr/>
          <p:nvPr/>
        </p:nvSpPr>
        <p:spPr>
          <a:xfrm>
            <a:off x="5076749" y="2007108"/>
            <a:ext cx="2035454" cy="2697117"/>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85"/>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27" name="Badge2">
            <a:extLst>
              <a:ext uri="{FF2B5EF4-FFF2-40B4-BE49-F238E27FC236}">
                <a16:creationId xmlns:a16="http://schemas.microsoft.com/office/drawing/2014/main" id="{11FC6770-DDF7-0A3A-1EEF-8E0492859ADD}"/>
              </a:ext>
            </a:extLst>
          </p:cNvPr>
          <p:cNvSpPr/>
          <p:nvPr/>
        </p:nvSpPr>
        <p:spPr>
          <a:xfrm>
            <a:off x="5277917" y="2207217"/>
            <a:ext cx="384048" cy="365415"/>
          </a:xfrm>
          <a:prstGeom prst="ellipse">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41" b="1" i="0" u="none" strike="noStrike" kern="1200" cap="none" spc="0" normalizeH="0" baseline="0" noProof="0">
                <a:ln>
                  <a:noFill/>
                </a:ln>
                <a:solidFill>
                  <a:srgbClr val="FFFFFF"/>
                </a:solidFill>
                <a:effectLst/>
                <a:uLnTx/>
                <a:uFillTx/>
                <a:latin typeface="Calibri"/>
                <a:cs typeface="Calibri"/>
              </a:rPr>
              <a:t>3</a:t>
            </a:r>
          </a:p>
        </p:txBody>
      </p:sp>
      <p:sp>
        <p:nvSpPr>
          <p:cNvPr id="128" name="Txt2">
            <a:extLst>
              <a:ext uri="{FF2B5EF4-FFF2-40B4-BE49-F238E27FC236}">
                <a16:creationId xmlns:a16="http://schemas.microsoft.com/office/drawing/2014/main" id="{C8C31CB1-328C-FD55-487C-D4BA98A8843F}"/>
              </a:ext>
            </a:extLst>
          </p:cNvPr>
          <p:cNvSpPr txBox="1"/>
          <p:nvPr/>
        </p:nvSpPr>
        <p:spPr>
          <a:xfrm>
            <a:off x="5277917" y="2703138"/>
            <a:ext cx="1633118" cy="2175094"/>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427" b="1" i="0" u="none" strike="noStrike" kern="1200" cap="none" spc="0" normalizeH="0" baseline="0" noProof="0">
                <a:ln>
                  <a:noFill/>
                </a:ln>
                <a:solidFill>
                  <a:srgbClr val="155B78"/>
                </a:solidFill>
                <a:effectLst/>
                <a:uLnTx/>
                <a:uFillTx/>
                <a:latin typeface="Calibri"/>
                <a:cs typeface="Calibri"/>
              </a:rPr>
              <a:t>Approver</a:t>
            </a:r>
          </a:p>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4EA72E"/>
                </a:solidFill>
                <a:effectLst/>
                <a:uLnTx/>
                <a:uFillTx/>
                <a:latin typeface="Calibri"/>
                <a:cs typeface="Calibri"/>
              </a:rPr>
              <a:t>Approvazione finale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Approva o rifiuta i dati, rendendoli utilizzabili per reporting e disclosure ESG.</a:t>
            </a:r>
          </a:p>
        </p:txBody>
      </p:sp>
      <p:sp>
        <p:nvSpPr>
          <p:cNvPr id="129" name="Card3">
            <a:extLst>
              <a:ext uri="{FF2B5EF4-FFF2-40B4-BE49-F238E27FC236}">
                <a16:creationId xmlns:a16="http://schemas.microsoft.com/office/drawing/2014/main" id="{7D2BC0E9-C6EC-6F3A-9BA4-7D35CB49D988}"/>
              </a:ext>
            </a:extLst>
          </p:cNvPr>
          <p:cNvSpPr/>
          <p:nvPr/>
        </p:nvSpPr>
        <p:spPr>
          <a:xfrm>
            <a:off x="7295083" y="2007108"/>
            <a:ext cx="2035454" cy="2697117"/>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85"/>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30" name="Badge3">
            <a:extLst>
              <a:ext uri="{FF2B5EF4-FFF2-40B4-BE49-F238E27FC236}">
                <a16:creationId xmlns:a16="http://schemas.microsoft.com/office/drawing/2014/main" id="{782FA378-84A6-07D8-31FB-30A5184DE807}"/>
              </a:ext>
            </a:extLst>
          </p:cNvPr>
          <p:cNvSpPr/>
          <p:nvPr/>
        </p:nvSpPr>
        <p:spPr>
          <a:xfrm>
            <a:off x="7496251" y="2207217"/>
            <a:ext cx="384048" cy="365415"/>
          </a:xfrm>
          <a:prstGeom prst="ellipse">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41" b="1" i="0" u="none" strike="noStrike" kern="1200" cap="none" spc="0" normalizeH="0" baseline="0" noProof="0">
                <a:ln>
                  <a:noFill/>
                </a:ln>
                <a:solidFill>
                  <a:srgbClr val="FFFFFF"/>
                </a:solidFill>
                <a:effectLst/>
                <a:uLnTx/>
                <a:uFillTx/>
                <a:latin typeface="Calibri"/>
                <a:cs typeface="Calibri"/>
              </a:rPr>
              <a:t>4</a:t>
            </a:r>
          </a:p>
        </p:txBody>
      </p:sp>
      <p:sp>
        <p:nvSpPr>
          <p:cNvPr id="131" name="Txt3">
            <a:extLst>
              <a:ext uri="{FF2B5EF4-FFF2-40B4-BE49-F238E27FC236}">
                <a16:creationId xmlns:a16="http://schemas.microsoft.com/office/drawing/2014/main" id="{CFE79C3B-62F3-528B-AAEB-CD3AC2DB785F}"/>
              </a:ext>
            </a:extLst>
          </p:cNvPr>
          <p:cNvSpPr txBox="1"/>
          <p:nvPr/>
        </p:nvSpPr>
        <p:spPr>
          <a:xfrm>
            <a:off x="7496251" y="2703138"/>
            <a:ext cx="1633118" cy="2175094"/>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427" b="1" i="0" u="none" strike="noStrike" kern="1200" cap="none" spc="0" normalizeH="0" baseline="0" noProof="0">
                <a:ln>
                  <a:noFill/>
                </a:ln>
                <a:solidFill>
                  <a:srgbClr val="155B78"/>
                </a:solidFill>
                <a:effectLst/>
                <a:uLnTx/>
                <a:uFillTx/>
                <a:latin typeface="Calibri"/>
                <a:cs typeface="Calibri"/>
              </a:rPr>
              <a:t>Issue Manager</a:t>
            </a:r>
          </a:p>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4EA72E"/>
                </a:solidFill>
                <a:effectLst/>
                <a:uLnTx/>
                <a:uFillTx/>
                <a:latin typeface="Calibri"/>
                <a:cs typeface="Calibri"/>
              </a:rPr>
              <a:t>Gestione anomalie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Prende in carico segnalazioni e anomalie sui dati e ne chiude il ciclo di risoluzione.</a:t>
            </a:r>
          </a:p>
        </p:txBody>
      </p:sp>
      <p:sp>
        <p:nvSpPr>
          <p:cNvPr id="132" name="Card4">
            <a:extLst>
              <a:ext uri="{FF2B5EF4-FFF2-40B4-BE49-F238E27FC236}">
                <a16:creationId xmlns:a16="http://schemas.microsoft.com/office/drawing/2014/main" id="{C15D339A-C7FE-D9B9-3DED-DDBE93311F4E}"/>
              </a:ext>
            </a:extLst>
          </p:cNvPr>
          <p:cNvSpPr/>
          <p:nvPr/>
        </p:nvSpPr>
        <p:spPr>
          <a:xfrm>
            <a:off x="9513418" y="2007108"/>
            <a:ext cx="2035454" cy="2697117"/>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85"/>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133" name="Badge4">
            <a:extLst>
              <a:ext uri="{FF2B5EF4-FFF2-40B4-BE49-F238E27FC236}">
                <a16:creationId xmlns:a16="http://schemas.microsoft.com/office/drawing/2014/main" id="{72B5CB1C-B209-D697-BBA6-A6175C88BA0F}"/>
              </a:ext>
            </a:extLst>
          </p:cNvPr>
          <p:cNvSpPr/>
          <p:nvPr/>
        </p:nvSpPr>
        <p:spPr>
          <a:xfrm>
            <a:off x="9714586" y="2207217"/>
            <a:ext cx="384048" cy="365415"/>
          </a:xfrm>
          <a:prstGeom prst="ellipse">
            <a:avLst/>
          </a:prstGeom>
          <a:solidFill>
            <a:srgbClr val="155B78"/>
          </a:solidFill>
          <a:ln>
            <a:noFill/>
          </a:ln>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41" b="1" i="0" u="none" strike="noStrike" kern="1200" cap="none" spc="0" normalizeH="0" baseline="0" noProof="0">
                <a:ln>
                  <a:noFill/>
                </a:ln>
                <a:solidFill>
                  <a:srgbClr val="FFFFFF"/>
                </a:solidFill>
                <a:effectLst/>
                <a:uLnTx/>
                <a:uFillTx/>
                <a:latin typeface="Calibri"/>
                <a:cs typeface="Calibri"/>
              </a:rPr>
              <a:t>5</a:t>
            </a:r>
          </a:p>
        </p:txBody>
      </p:sp>
      <p:sp>
        <p:nvSpPr>
          <p:cNvPr id="134" name="Txt4">
            <a:extLst>
              <a:ext uri="{FF2B5EF4-FFF2-40B4-BE49-F238E27FC236}">
                <a16:creationId xmlns:a16="http://schemas.microsoft.com/office/drawing/2014/main" id="{5B3C679A-3F56-7253-1D3D-A363D157FEA0}"/>
              </a:ext>
            </a:extLst>
          </p:cNvPr>
          <p:cNvSpPr txBox="1"/>
          <p:nvPr/>
        </p:nvSpPr>
        <p:spPr>
          <a:xfrm>
            <a:off x="9714586" y="2703138"/>
            <a:ext cx="1633118" cy="2175094"/>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427" b="1" i="0" u="none" strike="noStrike" kern="1200" cap="none" spc="0" normalizeH="0" baseline="0" noProof="0">
                <a:ln>
                  <a:noFill/>
                </a:ln>
                <a:solidFill>
                  <a:srgbClr val="155B78"/>
                </a:solidFill>
                <a:effectLst/>
                <a:uLnTx/>
                <a:uFillTx/>
                <a:latin typeface="Calibri"/>
                <a:cs typeface="Calibri"/>
              </a:rPr>
              <a:t>Power Report Editor</a:t>
            </a:r>
          </a:p>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4EA72E"/>
                </a:solidFill>
                <a:effectLst/>
                <a:uLnTx/>
                <a:uFillTx/>
                <a:latin typeface="Calibri"/>
                <a:cs typeface="Calibri"/>
              </a:rPr>
              <a:t>Creazione report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0" i="0" u="none" strike="noStrike" kern="1200" cap="none" spc="0" normalizeH="0" baseline="0" noProof="0">
                <a:ln>
                  <a:noFill/>
                </a:ln>
                <a:solidFill>
                  <a:srgbClr val="404040"/>
                </a:solidFill>
                <a:effectLst/>
                <a:uLnTx/>
                <a:uFillTx/>
                <a:latin typeface="Calibri"/>
                <a:cs typeface="Calibri"/>
              </a:rPr>
              <a:t>Crea e aggiorna i PowerReport e le analisi condivise con il management.</a:t>
            </a:r>
          </a:p>
        </p:txBody>
      </p:sp>
      <p:sp>
        <p:nvSpPr>
          <p:cNvPr id="160" name="Band">
            <a:extLst>
              <a:ext uri="{FF2B5EF4-FFF2-40B4-BE49-F238E27FC236}">
                <a16:creationId xmlns:a16="http://schemas.microsoft.com/office/drawing/2014/main" id="{7AE3D3C6-B715-3FE4-DCD2-84BE2475437F}"/>
              </a:ext>
            </a:extLst>
          </p:cNvPr>
          <p:cNvSpPr/>
          <p:nvPr/>
        </p:nvSpPr>
        <p:spPr>
          <a:xfrm>
            <a:off x="640080" y="5226248"/>
            <a:ext cx="10908792" cy="1174551"/>
          </a:xfrm>
          <a:prstGeom prst="roundRect">
            <a:avLst/>
          </a:prstGeom>
          <a:solidFill>
            <a:srgbClr val="156082">
              <a:alpha val="12000"/>
            </a:srgbClr>
          </a:solidFill>
          <a:ln>
            <a:noFill/>
          </a:ln>
        </p:spPr>
        <p:txBody>
          <a:bodyPr wrap="square" lIns="228600" tIns="0" rIns="228600" bIns="0" anchor="ctr">
            <a:normAutofit/>
          </a:bodyPr>
          <a:lstStyle/>
          <a:p>
            <a:pPr marL="0" marR="0" lvl="0" indent="0" algn="l" defTabSz="914400" rtl="0" eaLnBrk="1" fontAlgn="auto" latinLnBrk="0" hangingPunct="1">
              <a:lnSpc>
                <a:spcPct val="100000"/>
              </a:lnSpc>
              <a:spcBef>
                <a:spcPts val="0"/>
              </a:spcBef>
              <a:spcAft>
                <a:spcPts val="190"/>
              </a:spcAft>
              <a:buClrTx/>
              <a:buSzTx/>
              <a:buFontTx/>
              <a:buNone/>
              <a:tabLst/>
              <a:defRPr/>
            </a:pPr>
            <a:r>
              <a:rPr kumimoji="0" lang="it-IT" sz="1332" b="1" i="0" u="none" strike="noStrike" kern="1200" cap="none" spc="0" normalizeH="0" baseline="0" noProof="0">
                <a:ln>
                  <a:noFill/>
                </a:ln>
                <a:solidFill>
                  <a:srgbClr val="155B78"/>
                </a:solidFill>
                <a:effectLst/>
                <a:uLnTx/>
                <a:uFillTx/>
                <a:latin typeface="Calibri"/>
                <a:cs typeface="Calibri"/>
              </a:rPr>
              <a:t>Ambito: </a:t>
            </a:r>
            <a:r>
              <a:rPr kumimoji="0" lang="it-IT" sz="1332" b="0" i="0" u="none" strike="noStrike" kern="1200" cap="none" spc="0" normalizeH="0" baseline="0" noProof="0">
                <a:ln>
                  <a:noFill/>
                </a:ln>
                <a:solidFill>
                  <a:srgbClr val="404040"/>
                </a:solidFill>
                <a:effectLst/>
                <a:uLnTx/>
                <a:uFillTx/>
                <a:latin typeface="Calibri"/>
                <a:cs typeface="Calibri"/>
              </a:rPr>
              <a:t>ogni Work Role è assegnato a un perimetro preciso — Organizzazione, Gruppo, Location o tipo di dato — secondo il principio del </a:t>
            </a:r>
            <a:r>
              <a:rPr kumimoji="0" lang="it-IT" sz="1332" b="0" i="0" u="none" strike="noStrike" kern="1200" cap="none" spc="0" normalizeH="0" baseline="0" noProof="0" err="1">
                <a:ln>
                  <a:noFill/>
                </a:ln>
                <a:solidFill>
                  <a:srgbClr val="404040"/>
                </a:solidFill>
                <a:effectLst/>
                <a:uLnTx/>
                <a:uFillTx/>
                <a:latin typeface="Calibri"/>
                <a:cs typeface="Calibri"/>
              </a:rPr>
              <a:t>least</a:t>
            </a:r>
            <a:r>
              <a:rPr kumimoji="0" lang="it-IT" sz="1332" b="0" i="0" u="none" strike="noStrike" kern="1200" cap="none" spc="0" normalizeH="0" baseline="0" noProof="0">
                <a:ln>
                  <a:noFill/>
                </a:ln>
                <a:solidFill>
                  <a:srgbClr val="404040"/>
                </a:solidFill>
                <a:effectLst/>
                <a:uLnTx/>
                <a:uFillTx/>
                <a:latin typeface="Calibri"/>
                <a:cs typeface="Calibri"/>
              </a:rPr>
              <a:t> </a:t>
            </a:r>
            <a:r>
              <a:rPr kumimoji="0" lang="it-IT" sz="1332" b="0" i="0" u="none" strike="noStrike" kern="1200" cap="none" spc="0" normalizeH="0" baseline="0" noProof="0" err="1">
                <a:ln>
                  <a:noFill/>
                </a:ln>
                <a:solidFill>
                  <a:srgbClr val="404040"/>
                </a:solidFill>
                <a:effectLst/>
                <a:uLnTx/>
                <a:uFillTx/>
                <a:latin typeface="Calibri"/>
                <a:cs typeface="Calibri"/>
              </a:rPr>
              <a:t>privilege</a:t>
            </a:r>
            <a:r>
              <a:rPr kumimoji="0" lang="it-IT" sz="1332" b="0" i="0" u="none" strike="noStrike" kern="1200" cap="none" spc="0" normalizeH="0" baseline="0" noProof="0">
                <a:ln>
                  <a:noFill/>
                </a:ln>
                <a:solidFill>
                  <a:srgbClr val="404040"/>
                </a:solidFill>
                <a:effectLst/>
                <a:uLnTx/>
                <a:uFillTx/>
                <a:latin typeface="Calibri"/>
                <a:cs typeface="Calibri"/>
              </a:rPr>
              <a:t> (ognuno vede solo ciò cui è autorizzato dall’utente Admin).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332" b="1" i="0" u="none" strike="noStrike" kern="1200" cap="none" spc="0" normalizeH="0" baseline="0" noProof="0">
                <a:ln>
                  <a:noFill/>
                </a:ln>
                <a:solidFill>
                  <a:srgbClr val="155B78"/>
                </a:solidFill>
                <a:effectLst/>
                <a:uLnTx/>
                <a:uFillTx/>
                <a:latin typeface="Calibri"/>
                <a:cs typeface="Calibri"/>
              </a:rPr>
              <a:t>Combinazione: </a:t>
            </a:r>
            <a:r>
              <a:rPr kumimoji="0" lang="it-IT" sz="1332" b="0" i="0" u="none" strike="noStrike" kern="1200" cap="none" spc="0" normalizeH="0" baseline="0" noProof="0">
                <a:ln>
                  <a:noFill/>
                </a:ln>
                <a:solidFill>
                  <a:srgbClr val="404040"/>
                </a:solidFill>
                <a:effectLst/>
                <a:uLnTx/>
                <a:uFillTx/>
                <a:latin typeface="Calibri"/>
                <a:cs typeface="Calibri"/>
              </a:rPr>
              <a:t>la stessa persona può avere più Work Role su ambiti diversi; l’Access Level resta uno solo.</a:t>
            </a:r>
          </a:p>
        </p:txBody>
      </p:sp>
      <p:pic>
        <p:nvPicPr>
          <p:cNvPr id="2" name="Immagine 1">
            <a:extLst>
              <a:ext uri="{FF2B5EF4-FFF2-40B4-BE49-F238E27FC236}">
                <a16:creationId xmlns:a16="http://schemas.microsoft.com/office/drawing/2014/main" id="{EAA7E390-A436-9611-F62E-474E0EF0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8254" y="1005840"/>
            <a:ext cx="2150927" cy="906289"/>
          </a:xfrm>
          <a:prstGeom prst="rect">
            <a:avLst/>
          </a:prstGeom>
        </p:spPr>
      </p:pic>
      <p:sp>
        <p:nvSpPr>
          <p:cNvPr id="16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0" name="Titolo">
            <a:extLst>
              <a:ext uri="{FF2B5EF4-FFF2-40B4-BE49-F238E27FC236}">
                <a16:creationId xmlns:a16="http://schemas.microsoft.com/office/drawing/2014/main" id="{071478E7-DE2E-07FB-DC9E-84843AACEA95}"/>
              </a:ext>
            </a:extLst>
          </p:cNvPr>
          <p:cNvSpPr txBox="1"/>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 Work Role di IBM Envizi</a:t>
            </a:r>
          </a:p>
        </p:txBody>
      </p:sp>
    </p:spTree>
    <p:extLst>
      <p:ext uri="{BB962C8B-B14F-4D97-AF65-F5344CB8AC3E}">
        <p14:creationId xmlns:p14="http://schemas.microsoft.com/office/powerpoint/2010/main" val="91284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0FDE-2D9D-B9B1-2A85-AD80EFF448DC}"/>
            </a:ext>
          </a:extLst>
        </p:cNvPr>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79E3C6C8-36AC-2702-2BB6-F46C6B81C237}"/>
              </a:ext>
            </a:extLst>
          </p:cNvPr>
          <p:cNvGraphicFramePr>
            <a:graphicFrameLocks noGrp="1"/>
          </p:cNvGraphicFramePr>
          <p:nvPr/>
        </p:nvGraphicFramePr>
        <p:xfrm>
          <a:off x="301752" y="1412427"/>
          <a:ext cx="11585448" cy="4224528"/>
        </p:xfrm>
        <a:graphic>
          <a:graphicData uri="http://schemas.openxmlformats.org/drawingml/2006/table">
            <a:tbl>
              <a:tblPr firstRow="1" firstCol="1" bandRow="1">
                <a:tableStyleId>{5C22544A-7EE6-4342-B048-85BDC9FD1C3A}</a:tableStyleId>
              </a:tblPr>
              <a:tblGrid>
                <a:gridCol w="4572000">
                  <a:extLst>
                    <a:ext uri="{9D8B030D-6E8A-4147-A177-3AD203B41FA5}">
                      <a16:colId xmlns:a16="http://schemas.microsoft.com/office/drawing/2014/main" val="2858567546"/>
                    </a:ext>
                  </a:extLst>
                </a:gridCol>
                <a:gridCol w="3383280">
                  <a:extLst>
                    <a:ext uri="{9D8B030D-6E8A-4147-A177-3AD203B41FA5}">
                      <a16:colId xmlns:a16="http://schemas.microsoft.com/office/drawing/2014/main" val="1387824545"/>
                    </a:ext>
                  </a:extLst>
                </a:gridCol>
                <a:gridCol w="3630168">
                  <a:extLst>
                    <a:ext uri="{9D8B030D-6E8A-4147-A177-3AD203B41FA5}">
                      <a16:colId xmlns:a16="http://schemas.microsoft.com/office/drawing/2014/main" val="541696480"/>
                    </a:ext>
                  </a:extLst>
                </a:gridCol>
              </a:tblGrid>
              <a:tr h="493776">
                <a:tc>
                  <a:txBody>
                    <a:bodyPr/>
                    <a:lstStyle/>
                    <a:p>
                      <a:pPr algn="ctr">
                        <a:lnSpc>
                          <a:spcPct val="100000"/>
                        </a:lnSpc>
                        <a:spcBef>
                          <a:spcPts val="0"/>
                        </a:spcBef>
                        <a:spcAft>
                          <a:spcPts val="0"/>
                        </a:spcAft>
                        <a:buNone/>
                      </a:pPr>
                      <a:r>
                        <a:rPr lang="it-IT" sz="1600" b="1" kern="100">
                          <a:solidFill>
                            <a:srgbClr val="FFFFFF"/>
                          </a:solidFill>
                          <a:effectLst/>
                          <a:latin typeface="Calibri"/>
                        </a:rPr>
                        <a:t>Figura aziendale</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600" b="1" kern="100">
                          <a:solidFill>
                            <a:srgbClr val="FFFFFF"/>
                          </a:solidFill>
                          <a:effectLst/>
                          <a:latin typeface="Calibri"/>
                        </a:rPr>
                        <a:t>Ruolo principale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600" b="1" kern="100">
                          <a:solidFill>
                            <a:srgbClr val="FFFFFF"/>
                          </a:solidFill>
                          <a:effectLst/>
                          <a:latin typeface="Calibri"/>
                        </a:rPr>
                        <a:t>Work Roles</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extLst>
                  <a:ext uri="{0D108BD9-81ED-4DB2-BD59-A6C34878D82A}">
                    <a16:rowId xmlns:a16="http://schemas.microsoft.com/office/drawing/2014/main" val="25646360"/>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System Administrator Envizi</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System Administrator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1734064172"/>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Sustainability Manager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General User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3462989672"/>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Energy Manager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General User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Data Approver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1899731017"/>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Energy Data Coordinator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General User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Data Reviewer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3936836705"/>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Energy Data Specialist</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General User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Data Manager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1007059118"/>
                  </a:ext>
                </a:extLst>
              </a:tr>
              <a:tr h="621792">
                <a:tc>
                  <a:txBody>
                    <a:bodyPr/>
                    <a:lstStyle/>
                    <a:p>
                      <a:pPr>
                        <a:lnSpc>
                          <a:spcPct val="100000"/>
                        </a:lnSpc>
                        <a:spcBef>
                          <a:spcPts val="0"/>
                        </a:spcBef>
                        <a:spcAft>
                          <a:spcPts val="0"/>
                        </a:spcAft>
                        <a:buNone/>
                      </a:pPr>
                      <a:r>
                        <a:rPr lang="it-IT" sz="1600" b="1" kern="100">
                          <a:solidFill>
                            <a:srgbClr val="007D79"/>
                          </a:solidFill>
                          <a:effectLst/>
                          <a:latin typeface="Calibri"/>
                        </a:rPr>
                        <a:t>Direttore di stabilimento / Management</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View Only User</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600" b="0" kern="100">
                          <a:solidFill>
                            <a:srgbClr val="0F4761"/>
                          </a:solidFill>
                          <a:effectLst/>
                          <a:latin typeface="Calibri"/>
                        </a:rPr>
                        <a:t> </a:t>
                      </a:r>
                      <a:endParaRPr lang="it-IT" sz="12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2739403916"/>
                  </a:ext>
                </a:extLst>
              </a:tr>
            </a:tbl>
          </a:graphicData>
        </a:graphic>
      </p:graphicFrame>
      <p:sp>
        <p:nvSpPr>
          <p:cNvPr id="7" name="BandaChiave">
            <a:extLst>
              <a:ext uri="{FF2B5EF4-FFF2-40B4-BE49-F238E27FC236}">
                <a16:creationId xmlns:a16="http://schemas.microsoft.com/office/drawing/2014/main" id="{9E573A34-F701-5EAB-3ADB-42C4FDDDBF80}"/>
              </a:ext>
            </a:extLst>
          </p:cNvPr>
          <p:cNvSpPr/>
          <p:nvPr/>
        </p:nvSpPr>
        <p:spPr>
          <a:xfrm>
            <a:off x="305752" y="5709123"/>
            <a:ext cx="11580496" cy="691676"/>
          </a:xfrm>
          <a:prstGeom prst="roundRect">
            <a:avLst>
              <a:gd name="adj" fmla="val 10000"/>
            </a:avLst>
          </a:prstGeom>
          <a:solidFill>
            <a:srgbClr val="0F4761"/>
          </a:solidFill>
          <a:ln>
            <a:noFill/>
          </a:ln>
        </p:spPr>
        <p:txBody>
          <a:bodyPr wrap="square" lIns="228600" tIns="27432" rIns="228600" bIns="27432" anchor="ctr"/>
          <a:lstStyle/>
          <a:p>
            <a:pPr marL="0" marR="0" lvl="0" indent="0" algn="ctr" defTabSz="914400" rtl="0" eaLnBrk="1" fontAlgn="auto" latinLnBrk="0" hangingPunct="1">
              <a:lnSpc>
                <a:spcPct val="105000"/>
              </a:lnSpc>
              <a:spcBef>
                <a:spcPts val="0"/>
              </a:spcBef>
              <a:spcAft>
                <a:spcPts val="700"/>
              </a:spcAft>
              <a:buClrTx/>
              <a:buSzTx/>
              <a:buFontTx/>
              <a:buNone/>
              <a:tabLst/>
              <a:defRPr/>
            </a:pPr>
            <a:r>
              <a:rPr kumimoji="0" sz="1400" b="1" i="0" u="none" strike="noStrike" kern="1200" cap="none" spc="0" normalizeH="0" baseline="0" noProof="0">
                <a:ln>
                  <a:noFill/>
                </a:ln>
                <a:solidFill>
                  <a:srgbClr val="FFFFFF"/>
                </a:solidFill>
                <a:effectLst/>
                <a:uLnTx/>
                <a:uFillTx/>
                <a:latin typeface="Calibri"/>
                <a:cs typeface="Calibri"/>
              </a:rPr>
              <a:t>Data Reviewer, Data Approver, Data Manager e Issue Manager sono esempi di Work Roles.</a:t>
            </a:r>
          </a:p>
        </p:txBody>
      </p:sp>
      <p:sp>
        <p:nvSpPr>
          <p:cNvPr id="8" name="Testo originale sotto il titolo">
            <a:extLst>
              <a:ext uri="{FF2B5EF4-FFF2-40B4-BE49-F238E27FC236}">
                <a16:creationId xmlns:a16="http://schemas.microsoft.com/office/drawing/2014/main" id="{FC29D870-D732-FC64-8237-960026BD67A6}"/>
              </a:ext>
            </a:extLst>
          </p:cNvPr>
          <p:cNvSpPr txBox="1"/>
          <p:nvPr/>
        </p:nvSpPr>
        <p:spPr>
          <a:xfrm>
            <a:off x="640080" y="1005840"/>
            <a:ext cx="10908792" cy="361410"/>
          </a:xfrm>
          <a:prstGeom prst="rect">
            <a:avLst/>
          </a:prstGeom>
          <a:noFill/>
        </p:spPr>
        <p:txBody>
          <a:bodyPr wrap="square" lIns="18288" tIns="0" rIns="18288" bIns="27432" anchor="t"/>
          <a:lstStyle/>
          <a:p>
            <a:pPr marL="0" marR="0" lvl="0" indent="0" algn="l" defTabSz="914400" rtl="0" eaLnBrk="1" fontAlgn="auto" latinLnBrk="0" hangingPunct="1">
              <a:lnSpc>
                <a:spcPct val="105000"/>
              </a:lnSpc>
              <a:spcBef>
                <a:spcPts val="0"/>
              </a:spcBef>
              <a:spcAft>
                <a:spcPts val="700"/>
              </a:spcAft>
              <a:buClrTx/>
              <a:buSzTx/>
              <a:buFontTx/>
              <a:buNone/>
              <a:tabLst/>
              <a:defRPr sz="1400" b="0"/>
            </a:pPr>
            <a:r>
              <a:rPr kumimoji="0" sz="1400" b="0" i="0" u="none" strike="noStrike" kern="1200" cap="none" spc="0" normalizeH="0" baseline="0" noProof="0">
                <a:ln>
                  <a:noFill/>
                </a:ln>
                <a:solidFill>
                  <a:srgbClr val="0F4761"/>
                </a:solidFill>
                <a:effectLst/>
                <a:uLnTx/>
                <a:uFillTx/>
                <a:latin typeface="Calibri"/>
                <a:cs typeface="Calibri"/>
              </a:rPr>
              <a:t>I Work Roles aggiungono funzioni specialistiche al ruolo principale, senza sostituirlo</a:t>
            </a:r>
          </a:p>
        </p:txBody>
      </p:sp>
      <p:sp>
        <p:nvSpPr>
          <p:cNvPr id="9"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6" name="Titolo">
            <a:extLst>
              <a:ext uri="{FF2B5EF4-FFF2-40B4-BE49-F238E27FC236}">
                <a16:creationId xmlns:a16="http://schemas.microsoft.com/office/drawing/2014/main" id="{FC29D870-D732-FC64-8237-960026BD67A6}"/>
              </a:ext>
            </a:extLst>
          </p:cNvPr>
          <p:cNvSpPr txBox="1"/>
          <p:nvPr/>
        </p:nvSpPr>
        <p:spPr>
          <a:xfrm>
            <a:off x="640080" y="457200"/>
            <a:ext cx="10908792" cy="438912"/>
          </a:xfrm>
          <a:prstGeom prst="rect">
            <a:avLst/>
          </a:prstGeom>
          <a:noFill/>
        </p:spPr>
        <p:txBody>
          <a:bodyPr wrap="square" lIns="0" tIns="0" rIns="0" bIns="0" anchor="t"/>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Ruolo principale e Work Roles</a:t>
            </a:r>
          </a:p>
        </p:txBody>
      </p:sp>
    </p:spTree>
    <p:extLst>
      <p:ext uri="{BB962C8B-B14F-4D97-AF65-F5344CB8AC3E}">
        <p14:creationId xmlns:p14="http://schemas.microsoft.com/office/powerpoint/2010/main" val="2083617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F05FC-0896-1939-96EC-66EBD1B4CE4B}"/>
            </a:ext>
          </a:extLst>
        </p:cNvPr>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F44E4D70-C75A-9D6A-C12D-C2DF7789954B}"/>
              </a:ext>
            </a:extLst>
          </p:cNvPr>
          <p:cNvGraphicFramePr>
            <a:graphicFrameLocks noGrp="1"/>
          </p:cNvGraphicFramePr>
          <p:nvPr/>
        </p:nvGraphicFramePr>
        <p:xfrm>
          <a:off x="301752" y="1325880"/>
          <a:ext cx="11585448" cy="5020056"/>
        </p:xfrm>
        <a:graphic>
          <a:graphicData uri="http://schemas.openxmlformats.org/drawingml/2006/table">
            <a:tbl>
              <a:tblPr firstRow="1" firstCol="1" bandRow="1">
                <a:tableStyleId>{5C22544A-7EE6-4342-B048-85BDC9FD1C3A}</a:tableStyleId>
              </a:tblPr>
              <a:tblGrid>
                <a:gridCol w="2971800">
                  <a:extLst>
                    <a:ext uri="{9D8B030D-6E8A-4147-A177-3AD203B41FA5}">
                      <a16:colId xmlns:a16="http://schemas.microsoft.com/office/drawing/2014/main" val="4257648810"/>
                    </a:ext>
                  </a:extLst>
                </a:gridCol>
                <a:gridCol w="2423160">
                  <a:extLst>
                    <a:ext uri="{9D8B030D-6E8A-4147-A177-3AD203B41FA5}">
                      <a16:colId xmlns:a16="http://schemas.microsoft.com/office/drawing/2014/main" val="165528306"/>
                    </a:ext>
                  </a:extLst>
                </a:gridCol>
                <a:gridCol w="6190488">
                  <a:extLst>
                    <a:ext uri="{9D8B030D-6E8A-4147-A177-3AD203B41FA5}">
                      <a16:colId xmlns:a16="http://schemas.microsoft.com/office/drawing/2014/main" val="2391781849"/>
                    </a:ext>
                  </a:extLst>
                </a:gridCol>
              </a:tblGrid>
              <a:tr h="347472">
                <a:tc>
                  <a:txBody>
                    <a:bodyPr/>
                    <a:lstStyle/>
                    <a:p>
                      <a:pPr algn="ctr">
                        <a:lnSpc>
                          <a:spcPct val="100000"/>
                        </a:lnSpc>
                        <a:spcBef>
                          <a:spcPts val="0"/>
                        </a:spcBef>
                        <a:spcAft>
                          <a:spcPts val="0"/>
                        </a:spcAft>
                        <a:buNone/>
                      </a:pPr>
                      <a:r>
                        <a:rPr lang="it-IT" sz="1400" b="1" kern="100">
                          <a:solidFill>
                            <a:srgbClr val="FFFFFF"/>
                          </a:solidFill>
                          <a:effectLst/>
                          <a:latin typeface="Calibri"/>
                        </a:rPr>
                        <a:t>Ruolo Envizi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400" b="1" kern="100">
                          <a:solidFill>
                            <a:srgbClr val="FFFFFF"/>
                          </a:solidFill>
                          <a:effectLst/>
                          <a:latin typeface="Calibri"/>
                        </a:rPr>
                        <a:t>Italiano</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tc>
                  <a:txBody>
                    <a:bodyPr/>
                    <a:lstStyle/>
                    <a:p>
                      <a:pPr algn="ctr">
                        <a:lnSpc>
                          <a:spcPct val="100000"/>
                        </a:lnSpc>
                        <a:spcBef>
                          <a:spcPts val="0"/>
                        </a:spcBef>
                        <a:spcAft>
                          <a:spcPts val="0"/>
                        </a:spcAft>
                        <a:buNone/>
                      </a:pPr>
                      <a:r>
                        <a:rPr lang="it-IT" sz="1400" b="1" kern="100">
                          <a:solidFill>
                            <a:srgbClr val="FFFFFF"/>
                          </a:solidFill>
                          <a:effectLst/>
                          <a:latin typeface="Calibri"/>
                        </a:rPr>
                        <a:t>Ambito di utilizzo</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0F4761"/>
                    </a:solidFill>
                  </a:tcPr>
                </a:tc>
                <a:extLst>
                  <a:ext uri="{0D108BD9-81ED-4DB2-BD59-A6C34878D82A}">
                    <a16:rowId xmlns:a16="http://schemas.microsoft.com/office/drawing/2014/main" val="1598542520"/>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Data Approver</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Approvatore dei dati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Approva i dati al termine del workflow di revisione, con Data Approval attivo.</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3829371099"/>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Data Assurance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Assicurazione dati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Data Receipt Reporting: controllo di qualità e completezza dei dati ricevuti.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2898985197"/>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Data Manager</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Gestore dati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Data Receipt Reporting: gestione della raccolta e monitoraggio dei dati ricevuti.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915284358"/>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Issue Manager</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Gestore problemi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Issue Management: creazione, assegnazione e gestione di anomalie e azioni correttive.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2610410051"/>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PowerReport Edit</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Modifica PowerReport</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Crea, modifica e salva PowerReport, basati su Power BI Embedded.</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4059359972"/>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PowerReport – User Group 1</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utenti 1</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Sicurezza configurabile per visibilità o modifica di PowerReport, secondo l’organizzazione.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3654485431"/>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PowerReport – User Group 2</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utenti 2</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di sicurezza personalizzabile per PowerReport, con la stessa funzione.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1971084276"/>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PowerReport – User Group 3</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utenti 3</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di sicurezza personalizzabile per PowerReport, con la stessa funzione.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1329200908"/>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PowerReport – User Group 4</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utenti 4</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Gruppo di sicurezza personalizzabile per PowerReport, con la stessa funzione.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1223170634"/>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Survey Administrator</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Responsabile dell’indagine</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Amministra Surveys &amp; Assessments. Può modificare risposte a questionari già chiusi.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0F6F6"/>
                    </a:solidFill>
                  </a:tcPr>
                </a:tc>
                <a:extLst>
                  <a:ext uri="{0D108BD9-81ED-4DB2-BD59-A6C34878D82A}">
                    <a16:rowId xmlns:a16="http://schemas.microsoft.com/office/drawing/2014/main" val="835502893"/>
                  </a:ext>
                </a:extLst>
              </a:tr>
              <a:tr h="393192">
                <a:tc>
                  <a:txBody>
                    <a:bodyPr/>
                    <a:lstStyle/>
                    <a:p>
                      <a:pPr>
                        <a:lnSpc>
                          <a:spcPct val="100000"/>
                        </a:lnSpc>
                        <a:spcBef>
                          <a:spcPts val="0"/>
                        </a:spcBef>
                        <a:spcAft>
                          <a:spcPts val="0"/>
                        </a:spcAft>
                        <a:buNone/>
                      </a:pPr>
                      <a:r>
                        <a:rPr lang="it-IT" sz="1400" b="1" kern="100">
                          <a:solidFill>
                            <a:srgbClr val="007D79"/>
                          </a:solidFill>
                          <a:effectLst/>
                          <a:latin typeface="Calibri"/>
                        </a:rPr>
                        <a:t>Data Reviewer</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Revisore dei dati</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tc>
                  <a:txBody>
                    <a:bodyPr/>
                    <a:lstStyle/>
                    <a:p>
                      <a:pPr>
                        <a:lnSpc>
                          <a:spcPct val="100000"/>
                        </a:lnSpc>
                        <a:spcBef>
                          <a:spcPts val="0"/>
                        </a:spcBef>
                        <a:spcAft>
                          <a:spcPts val="0"/>
                        </a:spcAft>
                        <a:buNone/>
                      </a:pPr>
                      <a:r>
                        <a:rPr lang="it-IT" sz="1400" b="0" kern="100">
                          <a:solidFill>
                            <a:srgbClr val="0F4761"/>
                          </a:solidFill>
                          <a:effectLst/>
                          <a:latin typeface="Calibri"/>
                        </a:rPr>
                        <a:t>Verifica i dati prima dell’approvazione finale nel workflow Data Approval.</a:t>
                      </a:r>
                      <a:endParaRPr lang="it-IT" sz="1100" kern="100">
                        <a:effectLst/>
                        <a:latin typeface="Times New Roman" panose="02020603050405020304" pitchFamily="18" charset="0"/>
                        <a:ea typeface="Times New Roman" panose="02020603050405020304" pitchFamily="18" charset="0"/>
                      </a:endParaRPr>
                    </a:p>
                  </a:txBody>
                  <a:tcPr marL="109728" marR="109728" marB="36576" anchor="ctr">
                    <a:solidFill>
                      <a:srgbClr val="FFFFFF"/>
                    </a:solidFill>
                  </a:tcPr>
                </a:tc>
                <a:extLst>
                  <a:ext uri="{0D108BD9-81ED-4DB2-BD59-A6C34878D82A}">
                    <a16:rowId xmlns:a16="http://schemas.microsoft.com/office/drawing/2014/main" val="3883738670"/>
                  </a:ext>
                </a:extLst>
              </a:tr>
            </a:tbl>
          </a:graphicData>
        </a:graphic>
      </p:graphicFrame>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6" name="Titolo">
            <a:extLst>
              <a:ext uri="{FF2B5EF4-FFF2-40B4-BE49-F238E27FC236}">
                <a16:creationId xmlns:a16="http://schemas.microsoft.com/office/drawing/2014/main" id="{23C9533D-04F7-78E1-297C-2E14B75E1DF1}"/>
              </a:ext>
            </a:extLst>
          </p:cNvPr>
          <p:cNvSpPr txBox="1"/>
          <p:nvPr/>
        </p:nvSpPr>
        <p:spPr>
          <a:xfrm>
            <a:off x="640080" y="457200"/>
            <a:ext cx="10908792" cy="438912"/>
          </a:xfrm>
          <a:prstGeom prst="rect">
            <a:avLst/>
          </a:prstGeom>
          <a:noFill/>
        </p:spPr>
        <p:txBody>
          <a:bodyPr wrap="square" lIns="0" tIns="0" rIns="0" bIns="0" anchor="t"/>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Work Roles e ruoli speciali di IBM Envizi</a:t>
            </a:r>
          </a:p>
        </p:txBody>
      </p:sp>
    </p:spTree>
    <p:extLst>
      <p:ext uri="{BB962C8B-B14F-4D97-AF65-F5344CB8AC3E}">
        <p14:creationId xmlns:p14="http://schemas.microsoft.com/office/powerpoint/2010/main" val="2170055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F44E4D70-C75A-9D6A-C12D-C2DF7789954B}"/>
              </a:ext>
            </a:extLst>
          </p:cNvPr>
          <p:cNvGraphicFramePr>
            <a:graphicFrameLocks noGrp="1"/>
          </p:cNvGraphicFramePr>
          <p:nvPr/>
        </p:nvGraphicFramePr>
        <p:xfrm>
          <a:off x="512064" y="1353312"/>
          <a:ext cx="11164824" cy="4608576"/>
        </p:xfrm>
        <a:graphic>
          <a:graphicData uri="http://schemas.openxmlformats.org/drawingml/2006/table">
            <a:tbl>
              <a:tblPr firstRow="1" firstCol="1" bandRow="1">
                <a:tableStyleId>{5C22544A-7EE6-4342-B048-85BDC9FD1C3A}</a:tableStyleId>
              </a:tblPr>
              <a:tblGrid>
                <a:gridCol w="3721608">
                  <a:extLst>
                    <a:ext uri="{9D8B030D-6E8A-4147-A177-3AD203B41FA5}">
                      <a16:colId xmlns:a16="http://schemas.microsoft.com/office/drawing/2014/main" val="4257648810"/>
                    </a:ext>
                  </a:extLst>
                </a:gridCol>
                <a:gridCol w="3721608">
                  <a:extLst>
                    <a:ext uri="{9D8B030D-6E8A-4147-A177-3AD203B41FA5}">
                      <a16:colId xmlns:a16="http://schemas.microsoft.com/office/drawing/2014/main" val="165528306"/>
                    </a:ext>
                  </a:extLst>
                </a:gridCol>
                <a:gridCol w="3721608">
                  <a:extLst>
                    <a:ext uri="{9D8B030D-6E8A-4147-A177-3AD203B41FA5}">
                      <a16:colId xmlns:a16="http://schemas.microsoft.com/office/drawing/2014/main" val="2391781849"/>
                    </a:ext>
                  </a:extLst>
                </a:gridCol>
              </a:tblGrid>
              <a:tr h="585216">
                <a:tc>
                  <a:txBody>
                    <a:bodyPr/>
                    <a:lstStyle/>
                    <a:p>
                      <a:pPr algn="ctr">
                        <a:lnSpc>
                          <a:spcPct val="100000"/>
                        </a:lnSpc>
                        <a:spcBef>
                          <a:spcPts val="0"/>
                        </a:spcBef>
                        <a:spcAft>
                          <a:spcPts val="0"/>
                        </a:spcAft>
                        <a:buNone/>
                      </a:pPr>
                      <a:r>
                        <a:rPr sz="1800" b="1">
                          <a:solidFill>
                            <a:srgbClr val="FFFFFF"/>
                          </a:solidFill>
                          <a:latin typeface="Calibri"/>
                        </a:rPr>
                        <a:t>Data Assurance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0F4761"/>
                    </a:solidFill>
                  </a:tcPr>
                </a:tc>
                <a:tc>
                  <a:txBody>
                    <a:bodyPr/>
                    <a:lstStyle/>
                    <a:p>
                      <a:pPr algn="ctr">
                        <a:lnSpc>
                          <a:spcPct val="100000"/>
                        </a:lnSpc>
                        <a:spcBef>
                          <a:spcPts val="0"/>
                        </a:spcBef>
                        <a:spcAft>
                          <a:spcPts val="0"/>
                        </a:spcAft>
                        <a:buNone/>
                      </a:pPr>
                      <a:r>
                        <a:rPr sz="1800" b="1">
                          <a:solidFill>
                            <a:srgbClr val="FFFFFF"/>
                          </a:solidFill>
                          <a:latin typeface="Calibri"/>
                        </a:rPr>
                        <a:t>Data Manager</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0F4761"/>
                    </a:solidFill>
                  </a:tcPr>
                </a:tc>
                <a:tc>
                  <a:txBody>
                    <a:bodyPr/>
                    <a:lstStyle/>
                    <a:p>
                      <a:pPr algn="ctr">
                        <a:lnSpc>
                          <a:spcPct val="100000"/>
                        </a:lnSpc>
                        <a:spcBef>
                          <a:spcPts val="0"/>
                        </a:spcBef>
                        <a:spcAft>
                          <a:spcPts val="0"/>
                        </a:spcAft>
                        <a:buNone/>
                      </a:pPr>
                      <a:r>
                        <a:rPr sz="1800" b="1">
                          <a:solidFill>
                            <a:srgbClr val="FFFFFF"/>
                          </a:solidFill>
                          <a:latin typeface="Calibri"/>
                        </a:rPr>
                        <a:t>Issue Manager</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0F4761"/>
                    </a:solidFill>
                  </a:tcPr>
                </a:tc>
                <a:extLst>
                  <a:ext uri="{0D108BD9-81ED-4DB2-BD59-A6C34878D82A}">
                    <a16:rowId xmlns:a16="http://schemas.microsoft.com/office/drawing/2014/main" val="1598542520"/>
                  </a:ext>
                </a:extLst>
              </a:tr>
              <a:tr h="804672">
                <a:tc>
                  <a:txBody>
                    <a:bodyPr/>
                    <a:lstStyle/>
                    <a:p>
                      <a:pPr algn="l">
                        <a:lnSpc>
                          <a:spcPct val="100000"/>
                        </a:lnSpc>
                        <a:spcBef>
                          <a:spcPts val="0"/>
                        </a:spcBef>
                        <a:spcAft>
                          <a:spcPts val="0"/>
                        </a:spcAft>
                        <a:buNone/>
                      </a:pPr>
                      <a:r>
                        <a:rPr sz="1600" b="0">
                          <a:solidFill>
                            <a:srgbClr val="0F4761"/>
                          </a:solidFill>
                          <a:latin typeface="Calibri"/>
                        </a:rPr>
                        <a:t>In Data Receipt Reporting controlla i dati.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Gestisce la raccolta dei dati assegnati.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Crea Issue per dati mancanti o anomali.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extLst>
                  <a:ext uri="{0D108BD9-81ED-4DB2-BD59-A6C34878D82A}">
                    <a16:rowId xmlns:a16="http://schemas.microsoft.com/office/drawing/2014/main" val="3829371099"/>
                  </a:ext>
                </a:extLst>
              </a:tr>
              <a:tr h="804672">
                <a:tc>
                  <a:txBody>
                    <a:bodyPr/>
                    <a:lstStyle/>
                    <a:p>
                      <a:pPr algn="l">
                        <a:lnSpc>
                          <a:spcPct val="100000"/>
                        </a:lnSpc>
                        <a:spcBef>
                          <a:spcPts val="0"/>
                        </a:spcBef>
                        <a:spcAft>
                          <a:spcPts val="0"/>
                        </a:spcAft>
                        <a:buNone/>
                      </a:pPr>
                      <a:r>
                        <a:rPr sz="1600" b="0">
                          <a:solidFill>
                            <a:srgbClr val="0F4761"/>
                          </a:solidFill>
                          <a:latin typeface="Calibri"/>
                        </a:rPr>
                        <a:t>Verifica che i dati siano completi.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tc>
                  <a:txBody>
                    <a:bodyPr/>
                    <a:lstStyle/>
                    <a:p>
                      <a:pPr algn="l">
                        <a:lnSpc>
                          <a:spcPct val="100000"/>
                        </a:lnSpc>
                        <a:spcBef>
                          <a:spcPts val="0"/>
                        </a:spcBef>
                        <a:spcAft>
                          <a:spcPts val="0"/>
                        </a:spcAft>
                        <a:buNone/>
                      </a:pPr>
                      <a:r>
                        <a:rPr sz="1600" b="0">
                          <a:solidFill>
                            <a:srgbClr val="0F4761"/>
                          </a:solidFill>
                          <a:latin typeface="Calibri"/>
                        </a:rPr>
                        <a:t>Inserisce, importa e aggiorna i record.</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tc>
                  <a:txBody>
                    <a:bodyPr/>
                    <a:lstStyle/>
                    <a:p>
                      <a:pPr algn="l">
                        <a:lnSpc>
                          <a:spcPct val="100000"/>
                        </a:lnSpc>
                        <a:spcBef>
                          <a:spcPts val="0"/>
                        </a:spcBef>
                        <a:spcAft>
                          <a:spcPts val="0"/>
                        </a:spcAft>
                        <a:buNone/>
                      </a:pPr>
                      <a:r>
                        <a:rPr sz="1600" b="0">
                          <a:solidFill>
                            <a:srgbClr val="0F4761"/>
                          </a:solidFill>
                          <a:latin typeface="Calibri"/>
                        </a:rPr>
                        <a:t>Assegna le attività correttive.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extLst>
                  <a:ext uri="{0D108BD9-81ED-4DB2-BD59-A6C34878D82A}">
                    <a16:rowId xmlns:a16="http://schemas.microsoft.com/office/drawing/2014/main" val="2898985197"/>
                  </a:ext>
                </a:extLst>
              </a:tr>
              <a:tr h="804672">
                <a:tc>
                  <a:txBody>
                    <a:bodyPr/>
                    <a:lstStyle/>
                    <a:p>
                      <a:pPr algn="l">
                        <a:lnSpc>
                          <a:spcPct val="100000"/>
                        </a:lnSpc>
                        <a:spcBef>
                          <a:spcPts val="0"/>
                        </a:spcBef>
                        <a:spcAft>
                          <a:spcPts val="0"/>
                        </a:spcAft>
                        <a:buNone/>
                      </a:pPr>
                      <a:r>
                        <a:rPr sz="1600" b="0">
                          <a:solidFill>
                            <a:srgbClr val="0F4761"/>
                          </a:solidFill>
                          <a:latin typeface="Calibri"/>
                        </a:rPr>
                        <a:t>Valuta la qualità dei dati ricevuti.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Opera sulle Location autorizzate.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Segue l’avanzamento delle Issue.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extLst>
                  <a:ext uri="{0D108BD9-81ED-4DB2-BD59-A6C34878D82A}">
                    <a16:rowId xmlns:a16="http://schemas.microsoft.com/office/drawing/2014/main" val="915284358"/>
                  </a:ext>
                </a:extLst>
              </a:tr>
              <a:tr h="804672">
                <a:tc>
                  <a:txBody>
                    <a:bodyPr/>
                    <a:lstStyle/>
                    <a:p>
                      <a:pPr algn="l">
                        <a:lnSpc>
                          <a:spcPct val="100000"/>
                        </a:lnSpc>
                        <a:spcBef>
                          <a:spcPts val="0"/>
                        </a:spcBef>
                        <a:spcAft>
                          <a:spcPts val="0"/>
                        </a:spcAft>
                        <a:buNone/>
                      </a:pPr>
                      <a:r>
                        <a:rPr sz="1600" b="0">
                          <a:solidFill>
                            <a:srgbClr val="0F4761"/>
                          </a:solidFill>
                          <a:latin typeface="Calibri"/>
                        </a:rPr>
                        <a:t>Individua informazioni mancanti.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tc>
                  <a:txBody>
                    <a:bodyPr/>
                    <a:lstStyle/>
                    <a:p>
                      <a:pPr algn="l">
                        <a:lnSpc>
                          <a:spcPct val="100000"/>
                        </a:lnSpc>
                        <a:spcBef>
                          <a:spcPts val="0"/>
                        </a:spcBef>
                        <a:spcAft>
                          <a:spcPts val="0"/>
                        </a:spcAft>
                        <a:buNone/>
                      </a:pPr>
                      <a:r>
                        <a:rPr sz="1600" b="0">
                          <a:solidFill>
                            <a:srgbClr val="0F4761"/>
                          </a:solidFill>
                          <a:latin typeface="Calibri"/>
                        </a:rPr>
                        <a:t>Monitora i dati ricevuti nel tempo.</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tc>
                  <a:txBody>
                    <a:bodyPr/>
                    <a:lstStyle/>
                    <a:p>
                      <a:pPr algn="l">
                        <a:lnSpc>
                          <a:spcPct val="100000"/>
                        </a:lnSpc>
                        <a:spcBef>
                          <a:spcPts val="0"/>
                        </a:spcBef>
                        <a:spcAft>
                          <a:spcPts val="0"/>
                        </a:spcAft>
                        <a:buNone/>
                      </a:pPr>
                      <a:r>
                        <a:rPr sz="1600" b="0">
                          <a:solidFill>
                            <a:srgbClr val="0F4761"/>
                          </a:solidFill>
                          <a:latin typeface="Calibri"/>
                        </a:rPr>
                        <a:t>Verifica l’esito degli interventi.</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0F6F6"/>
                    </a:solidFill>
                  </a:tcPr>
                </a:tc>
                <a:extLst>
                  <a:ext uri="{0D108BD9-81ED-4DB2-BD59-A6C34878D82A}">
                    <a16:rowId xmlns:a16="http://schemas.microsoft.com/office/drawing/2014/main" val="2610410051"/>
                  </a:ext>
                </a:extLst>
              </a:tr>
              <a:tr h="804672">
                <a:tc>
                  <a:txBody>
                    <a:bodyPr/>
                    <a:lstStyle/>
                    <a:p>
                      <a:pPr algn="l">
                        <a:lnSpc>
                          <a:spcPct val="100000"/>
                        </a:lnSpc>
                        <a:spcBef>
                          <a:spcPts val="0"/>
                        </a:spcBef>
                        <a:spcAft>
                          <a:spcPts val="0"/>
                        </a:spcAft>
                        <a:buNone/>
                      </a:pPr>
                      <a:r>
                        <a:rPr sz="1600" b="0">
                          <a:solidFill>
                            <a:srgbClr val="0F4761"/>
                          </a:solidFill>
                          <a:latin typeface="Calibri"/>
                        </a:rPr>
                        <a:t>Evidenzia i punti da approfondire.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Corregge i dati di propria competenza.</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tc>
                  <a:txBody>
                    <a:bodyPr/>
                    <a:lstStyle/>
                    <a:p>
                      <a:pPr algn="l">
                        <a:lnSpc>
                          <a:spcPct val="100000"/>
                        </a:lnSpc>
                        <a:spcBef>
                          <a:spcPts val="0"/>
                        </a:spcBef>
                        <a:spcAft>
                          <a:spcPts val="0"/>
                        </a:spcAft>
                        <a:buNone/>
                      </a:pPr>
                      <a:r>
                        <a:rPr sz="1600" b="0">
                          <a:solidFill>
                            <a:srgbClr val="0F4761"/>
                          </a:solidFill>
                          <a:latin typeface="Calibri"/>
                        </a:rPr>
                        <a:t>Chiude la Issue dopo la risoluzione.</a:t>
                      </a:r>
                      <a:endParaRPr lang="it-IT" sz="1100" kern="100">
                        <a:effectLst/>
                        <a:latin typeface="Times New Roman" panose="02020603050405020304" pitchFamily="18" charset="0"/>
                        <a:ea typeface="Times New Roman" panose="02020603050405020304" pitchFamily="18" charset="0"/>
                      </a:endParaRPr>
                    </a:p>
                  </a:txBody>
                  <a:tcPr marL="164592" marR="128016" marB="36576" anchor="ctr">
                    <a:solidFill>
                      <a:srgbClr val="FFFFFF"/>
                    </a:solidFill>
                  </a:tcPr>
                </a:tc>
                <a:extLst>
                  <a:ext uri="{0D108BD9-81ED-4DB2-BD59-A6C34878D82A}">
                    <a16:rowId xmlns:a16="http://schemas.microsoft.com/office/drawing/2014/main" val="4059359972"/>
                  </a:ext>
                </a:extLst>
              </a:tr>
            </a:tbl>
          </a:graphicData>
        </a:graphic>
      </p:graphicFrame>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6" name="Titolo">
            <a:extLst>
              <a:ext uri="{FF2B5EF4-FFF2-40B4-BE49-F238E27FC236}">
                <a16:creationId xmlns:a16="http://schemas.microsoft.com/office/drawing/2014/main" id="{23C9533D-04F7-78E1-297C-2E14B75E1DF1}"/>
              </a:ext>
            </a:extLst>
          </p:cNvPr>
          <p:cNvSpPr txBox="1"/>
          <p:nvPr/>
        </p:nvSpPr>
        <p:spPr>
          <a:xfrm>
            <a:off x="640080" y="457200"/>
            <a:ext cx="10908792" cy="438912"/>
          </a:xfrm>
          <a:prstGeom prst="rect">
            <a:avLst/>
          </a:prstGeom>
          <a:noFill/>
        </p:spPr>
        <p:txBody>
          <a:bodyPr wrap="square" lIns="0" tIns="0" rIns="0" bIns="0" anchor="t"/>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Data Assurance, Data Manager e Issue Manager</a:t>
            </a:r>
          </a:p>
        </p:txBody>
      </p:sp>
    </p:spTree>
    <p:extLst>
      <p:ext uri="{BB962C8B-B14F-4D97-AF65-F5344CB8AC3E}">
        <p14:creationId xmlns:p14="http://schemas.microsoft.com/office/powerpoint/2010/main" val="3559452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EF12D-B51E-CFD2-44F8-AF828ABB9616}"/>
            </a:ext>
          </a:extLst>
        </p:cNvPr>
        <p:cNvGrpSpPr/>
        <p:nvPr/>
      </p:nvGrpSpPr>
      <p:grpSpPr>
        <a:xfrm>
          <a:off x="0" y="0"/>
          <a:ext cx="0" cy="0"/>
          <a:chOff x="0" y="0"/>
          <a:chExt cx="0" cy="0"/>
        </a:xfrm>
      </p:grpSpPr>
      <p:sp>
        <p:nvSpPr>
          <p:cNvPr id="111" name="Sottotitolo">
            <a:extLst>
              <a:ext uri="{FF2B5EF4-FFF2-40B4-BE49-F238E27FC236}">
                <a16:creationId xmlns:a16="http://schemas.microsoft.com/office/drawing/2014/main" id="{734D4E54-5672-C734-BDC7-90A3BF4E6B7E}"/>
              </a:ext>
            </a:extLst>
          </p:cNvPr>
          <p:cNvSpPr/>
          <p:nvPr/>
        </p:nvSpPr>
        <p:spPr>
          <a:xfrm>
            <a:off x="640080" y="1206460"/>
            <a:ext cx="11033865" cy="455097"/>
          </a:xfrm>
          <a:prstGeom prst="rect">
            <a:avLst/>
          </a:prstGeom>
          <a:noFill/>
        </p:spPr>
        <p:txBody>
          <a:bodyPr wrap="square" lIns="0" tIns="0" rIns="0" bIns="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dirty="0">
                <a:ln>
                  <a:noFill/>
                </a:ln>
                <a:solidFill>
                  <a:srgbClr val="404040"/>
                </a:solidFill>
                <a:effectLst/>
                <a:uLnTx/>
                <a:uFillTx/>
                <a:latin typeface="Calibri"/>
                <a:cs typeface="Calibri"/>
              </a:rPr>
              <a:t>Ruolo aziendale, Access Level e Work Role si combinano in modo diverso per ogni persona.</a:t>
            </a:r>
          </a:p>
        </p:txBody>
      </p:sp>
      <p:sp>
        <p:nvSpPr>
          <p:cNvPr id="130" name="Tag">
            <a:extLst>
              <a:ext uri="{FF2B5EF4-FFF2-40B4-BE49-F238E27FC236}">
                <a16:creationId xmlns:a16="http://schemas.microsoft.com/office/drawing/2014/main" id="{C3F71DD3-830B-92E1-701E-4CE806429CF4}"/>
              </a:ext>
            </a:extLst>
          </p:cNvPr>
          <p:cNvSpPr/>
          <p:nvPr/>
        </p:nvSpPr>
        <p:spPr>
          <a:xfrm>
            <a:off x="9061704" y="173736"/>
            <a:ext cx="3026664" cy="265176"/>
          </a:xfrm>
          <a:prstGeom prst="rect">
            <a:avLst/>
          </a:prstGeom>
          <a:solidFill>
            <a:srgbClr val="156082"/>
          </a:solidFill>
          <a:ln>
            <a:noFill/>
          </a:ln>
        </p:spPr>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srgbClr val="FFFFFF"/>
                </a:solidFill>
                <a:effectLst/>
                <a:uLnTx/>
                <a:uFillTx/>
                <a:latin typeface="Calibri"/>
                <a:cs typeface="Calibri"/>
              </a:rPr>
              <a:t>Utenti e ruoli</a:t>
            </a:r>
          </a:p>
        </p:txBody>
      </p:sp>
      <p:sp>
        <p:nvSpPr>
          <p:cNvPr id="115" name="Card 115">
            <a:extLst>
              <a:ext uri="{FF2B5EF4-FFF2-40B4-BE49-F238E27FC236}">
                <a16:creationId xmlns:a16="http://schemas.microsoft.com/office/drawing/2014/main" id="{6313BA79-9D91-5B05-CF49-67ED0D199BB5}"/>
              </a:ext>
            </a:extLst>
          </p:cNvPr>
          <p:cNvSpPr/>
          <p:nvPr/>
        </p:nvSpPr>
        <p:spPr>
          <a:xfrm>
            <a:off x="640080" y="1891209"/>
            <a:ext cx="2035454" cy="2068619"/>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180"/>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Energy Data Specialist</a:t>
            </a:r>
          </a:p>
          <a:p>
            <a:pPr marL="0" marR="0" lvl="0" indent="0" algn="l" defTabSz="914400" rtl="0" eaLnBrk="1" fontAlgn="auto" latinLnBrk="0" hangingPunct="1">
              <a:lnSpc>
                <a:spcPct val="100000"/>
              </a:lnSpc>
              <a:spcBef>
                <a:spcPts val="0"/>
              </a:spcBef>
              <a:spcAft>
                <a:spcPts val="316"/>
              </a:spcAft>
              <a:buClrTx/>
              <a:buSzTx/>
              <a:buFontTx/>
              <a:buNone/>
              <a:tabLst/>
              <a:defRPr/>
            </a:pPr>
            <a:r>
              <a:rPr kumimoji="0" lang="it-IT" sz="1266" b="1" i="0" u="none" strike="noStrike" kern="1200" cap="none" spc="0" normalizeH="0" baseline="0" noProof="0">
                <a:ln>
                  <a:noFill/>
                </a:ln>
                <a:solidFill>
                  <a:srgbClr val="4EA72E"/>
                </a:solidFill>
                <a:effectLst/>
                <a:uLnTx/>
                <a:uFillTx/>
                <a:latin typeface="Calibri"/>
                <a:cs typeface="Calibri"/>
              </a:rPr>
              <a:t>General User · Data Manager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0" i="0" u="none" strike="noStrike" kern="1200" cap="none" spc="0" normalizeH="0" baseline="0" noProof="0">
                <a:ln>
                  <a:noFill/>
                </a:ln>
                <a:solidFill>
                  <a:srgbClr val="404040"/>
                </a:solidFill>
                <a:effectLst/>
                <a:uLnTx/>
                <a:uFillTx/>
                <a:latin typeface="Calibri"/>
                <a:cs typeface="Calibri"/>
              </a:rPr>
              <a:t>Inserisce e aggiorna i dati di energia del Gruppo Allevamenti.</a:t>
            </a:r>
          </a:p>
        </p:txBody>
      </p:sp>
      <p:sp>
        <p:nvSpPr>
          <p:cNvPr id="116" name="Card 116">
            <a:extLst>
              <a:ext uri="{FF2B5EF4-FFF2-40B4-BE49-F238E27FC236}">
                <a16:creationId xmlns:a16="http://schemas.microsoft.com/office/drawing/2014/main" id="{CBE78651-9F0A-E4AA-9BFA-A7EBBDDD4215}"/>
              </a:ext>
            </a:extLst>
          </p:cNvPr>
          <p:cNvSpPr/>
          <p:nvPr/>
        </p:nvSpPr>
        <p:spPr>
          <a:xfrm>
            <a:off x="2858414" y="1891209"/>
            <a:ext cx="2035454" cy="2068619"/>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180"/>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Energy Data Coordinator</a:t>
            </a:r>
          </a:p>
          <a:p>
            <a:pPr marL="0" marR="0" lvl="0" indent="0" algn="l" defTabSz="914400" rtl="0" eaLnBrk="1" fontAlgn="auto" latinLnBrk="0" hangingPunct="1">
              <a:lnSpc>
                <a:spcPct val="100000"/>
              </a:lnSpc>
              <a:spcBef>
                <a:spcPts val="0"/>
              </a:spcBef>
              <a:spcAft>
                <a:spcPts val="316"/>
              </a:spcAft>
              <a:buClrTx/>
              <a:buSzTx/>
              <a:buFontTx/>
              <a:buNone/>
              <a:tabLst/>
              <a:defRPr/>
            </a:pPr>
            <a:r>
              <a:rPr kumimoji="0" lang="it-IT" sz="1266" b="1" i="0" u="none" strike="noStrike" kern="1200" cap="none" spc="0" normalizeH="0" baseline="0" noProof="0">
                <a:ln>
                  <a:noFill/>
                </a:ln>
                <a:solidFill>
                  <a:srgbClr val="4EA72E"/>
                </a:solidFill>
                <a:effectLst/>
                <a:uLnTx/>
                <a:uFillTx/>
                <a:latin typeface="Calibri"/>
                <a:cs typeface="Calibri"/>
              </a:rPr>
              <a:t>General User · Reviewer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0" i="0" u="none" strike="noStrike" kern="1200" cap="none" spc="0" normalizeH="0" baseline="0" noProof="0">
                <a:ln>
                  <a:noFill/>
                </a:ln>
                <a:solidFill>
                  <a:srgbClr val="404040"/>
                </a:solidFill>
                <a:effectLst/>
                <a:uLnTx/>
                <a:uFillTx/>
                <a:latin typeface="Calibri"/>
                <a:cs typeface="Calibri"/>
              </a:rPr>
              <a:t>Verifica completezza e qualità dei dati prima dell’approvazione.</a:t>
            </a:r>
          </a:p>
        </p:txBody>
      </p:sp>
      <p:sp>
        <p:nvSpPr>
          <p:cNvPr id="117" name="Card 117">
            <a:extLst>
              <a:ext uri="{FF2B5EF4-FFF2-40B4-BE49-F238E27FC236}">
                <a16:creationId xmlns:a16="http://schemas.microsoft.com/office/drawing/2014/main" id="{FDA26A6D-4BA6-0B47-BB53-E1E6C9C4A9C1}"/>
              </a:ext>
            </a:extLst>
          </p:cNvPr>
          <p:cNvSpPr/>
          <p:nvPr/>
        </p:nvSpPr>
        <p:spPr>
          <a:xfrm>
            <a:off x="5076749" y="1891209"/>
            <a:ext cx="2035454" cy="2068619"/>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180"/>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Energy Manager</a:t>
            </a:r>
          </a:p>
          <a:p>
            <a:pPr marL="0" marR="0" lvl="0" indent="0" algn="l" defTabSz="914400" rtl="0" eaLnBrk="1" fontAlgn="auto" latinLnBrk="0" hangingPunct="1">
              <a:lnSpc>
                <a:spcPct val="100000"/>
              </a:lnSpc>
              <a:spcBef>
                <a:spcPts val="0"/>
              </a:spcBef>
              <a:spcAft>
                <a:spcPts val="316"/>
              </a:spcAft>
              <a:buClrTx/>
              <a:buSzTx/>
              <a:buFontTx/>
              <a:buNone/>
              <a:tabLst/>
              <a:defRPr/>
            </a:pPr>
            <a:r>
              <a:rPr kumimoji="0" lang="it-IT" sz="1266" b="1" i="0" u="none" strike="noStrike" kern="1200" cap="none" spc="0" normalizeH="0" baseline="0" noProof="0">
                <a:ln>
                  <a:noFill/>
                </a:ln>
                <a:solidFill>
                  <a:srgbClr val="4EA72E"/>
                </a:solidFill>
                <a:effectLst/>
                <a:uLnTx/>
                <a:uFillTx/>
                <a:latin typeface="Calibri"/>
                <a:cs typeface="Calibri"/>
              </a:rPr>
              <a:t>General User · Approver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0" i="0" u="none" strike="noStrike" kern="1200" cap="none" spc="0" normalizeH="0" baseline="0" noProof="0">
                <a:ln>
                  <a:noFill/>
                </a:ln>
                <a:solidFill>
                  <a:srgbClr val="404040"/>
                </a:solidFill>
                <a:effectLst/>
                <a:uLnTx/>
                <a:uFillTx/>
                <a:latin typeface="Calibri"/>
                <a:cs typeface="Calibri"/>
              </a:rPr>
              <a:t>Approva i dati energetici e li rende disponibili per reporting e analisi.</a:t>
            </a:r>
          </a:p>
        </p:txBody>
      </p:sp>
      <p:sp>
        <p:nvSpPr>
          <p:cNvPr id="118" name="Card 118">
            <a:extLst>
              <a:ext uri="{FF2B5EF4-FFF2-40B4-BE49-F238E27FC236}">
                <a16:creationId xmlns:a16="http://schemas.microsoft.com/office/drawing/2014/main" id="{844A2AC0-0C19-F47D-28A4-4E42FC6E4BBB}"/>
              </a:ext>
            </a:extLst>
          </p:cNvPr>
          <p:cNvSpPr/>
          <p:nvPr/>
        </p:nvSpPr>
        <p:spPr>
          <a:xfrm>
            <a:off x="7295083" y="1891209"/>
            <a:ext cx="2035454" cy="2068619"/>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180"/>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ESG Director</a:t>
            </a:r>
          </a:p>
          <a:p>
            <a:pPr marL="0" marR="0" lvl="0" indent="0" algn="l" defTabSz="914400" rtl="0" eaLnBrk="1" fontAlgn="auto" latinLnBrk="0" hangingPunct="1">
              <a:lnSpc>
                <a:spcPct val="100000"/>
              </a:lnSpc>
              <a:spcBef>
                <a:spcPts val="0"/>
              </a:spcBef>
              <a:spcAft>
                <a:spcPts val="316"/>
              </a:spcAft>
              <a:buClrTx/>
              <a:buSzTx/>
              <a:buFontTx/>
              <a:buNone/>
              <a:tabLst/>
              <a:defRPr/>
            </a:pPr>
            <a:r>
              <a:rPr kumimoji="0" lang="it-IT" sz="1266" b="1" i="0" u="none" strike="noStrike" kern="1200" cap="none" spc="0" normalizeH="0" baseline="0" noProof="0">
                <a:ln>
                  <a:noFill/>
                </a:ln>
                <a:solidFill>
                  <a:srgbClr val="4EA72E"/>
                </a:solidFill>
                <a:effectLst/>
                <a:uLnTx/>
                <a:uFillTx/>
                <a:latin typeface="Calibri"/>
                <a:cs typeface="Calibri"/>
              </a:rPr>
              <a:t>Read Only User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0" i="0" u="none" strike="noStrike" kern="1200" cap="none" spc="0" normalizeH="0" baseline="0" noProof="0">
                <a:ln>
                  <a:noFill/>
                </a:ln>
                <a:solidFill>
                  <a:srgbClr val="404040"/>
                </a:solidFill>
                <a:effectLst/>
                <a:uLnTx/>
                <a:uFillTx/>
                <a:latin typeface="Calibri"/>
                <a:cs typeface="Calibri"/>
              </a:rPr>
              <a:t>Consulta dashboard, KPI e report senza modificare i dati.</a:t>
            </a:r>
          </a:p>
        </p:txBody>
      </p:sp>
      <p:sp>
        <p:nvSpPr>
          <p:cNvPr id="119" name="Card 119">
            <a:extLst>
              <a:ext uri="{FF2B5EF4-FFF2-40B4-BE49-F238E27FC236}">
                <a16:creationId xmlns:a16="http://schemas.microsoft.com/office/drawing/2014/main" id="{12E7CDFB-344B-512C-D703-55EB1BB176BB}"/>
              </a:ext>
            </a:extLst>
          </p:cNvPr>
          <p:cNvSpPr/>
          <p:nvPr/>
        </p:nvSpPr>
        <p:spPr>
          <a:xfrm>
            <a:off x="9513418" y="1891209"/>
            <a:ext cx="2035454" cy="2068619"/>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180"/>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System Administrator</a:t>
            </a:r>
          </a:p>
          <a:p>
            <a:pPr marL="0" marR="0" lvl="0" indent="0" algn="l" defTabSz="914400" rtl="0" eaLnBrk="1" fontAlgn="auto" latinLnBrk="0" hangingPunct="1">
              <a:lnSpc>
                <a:spcPct val="100000"/>
              </a:lnSpc>
              <a:spcBef>
                <a:spcPts val="0"/>
              </a:spcBef>
              <a:spcAft>
                <a:spcPts val="316"/>
              </a:spcAft>
              <a:buClrTx/>
              <a:buSzTx/>
              <a:buFontTx/>
              <a:buNone/>
              <a:tabLst/>
              <a:defRPr/>
            </a:pPr>
            <a:r>
              <a:rPr kumimoji="0" lang="it-IT" sz="1266" b="1" i="0" u="none" strike="noStrike" kern="1200" cap="none" spc="0" normalizeH="0" baseline="0" noProof="0">
                <a:ln>
                  <a:noFill/>
                </a:ln>
                <a:solidFill>
                  <a:srgbClr val="4EA72E"/>
                </a:solidFill>
                <a:effectLst/>
                <a:uLnTx/>
                <a:uFillTx/>
                <a:latin typeface="Calibri"/>
                <a:cs typeface="Calibri"/>
              </a:rPr>
              <a:t>Administrator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0" i="0" u="none" strike="noStrike" kern="1200" cap="none" spc="0" normalizeH="0" baseline="0" noProof="0">
                <a:ln>
                  <a:noFill/>
                </a:ln>
                <a:solidFill>
                  <a:srgbClr val="404040"/>
                </a:solidFill>
                <a:effectLst/>
                <a:uLnTx/>
                <a:uFillTx/>
                <a:latin typeface="Calibri"/>
                <a:cs typeface="Calibri"/>
              </a:rPr>
              <a:t>Configura utenti, permessi, organizzazione e impostazioni.</a:t>
            </a:r>
          </a:p>
        </p:txBody>
      </p:sp>
      <p:sp>
        <p:nvSpPr>
          <p:cNvPr id="120" name="Card 120">
            <a:extLst>
              <a:ext uri="{FF2B5EF4-FFF2-40B4-BE49-F238E27FC236}">
                <a16:creationId xmlns:a16="http://schemas.microsoft.com/office/drawing/2014/main" id="{C0F7967F-525A-8B84-3855-0843B5F37587}"/>
              </a:ext>
            </a:extLst>
          </p:cNvPr>
          <p:cNvSpPr/>
          <p:nvPr/>
        </p:nvSpPr>
        <p:spPr>
          <a:xfrm>
            <a:off x="640080" y="4083946"/>
            <a:ext cx="5340096" cy="1530778"/>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a:bodyPr>
          <a:lstStyle/>
          <a:p>
            <a:pPr marL="0" marR="0" lvl="0" indent="0" algn="l" defTabSz="914400" rtl="0" eaLnBrk="1" fontAlgn="auto" latinLnBrk="0" hangingPunct="1">
              <a:lnSpc>
                <a:spcPct val="100000"/>
              </a:lnSpc>
              <a:spcBef>
                <a:spcPts val="0"/>
              </a:spcBef>
              <a:spcAft>
                <a:spcPts val="226"/>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Messaggi chiave</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404040"/>
                </a:solidFill>
                <a:effectLst/>
                <a:uLnTx/>
                <a:uFillTx/>
                <a:latin typeface="Calibri"/>
                <a:cs typeface="Calibri"/>
              </a:rPr>
              <a:t>Una stessa persona può avere uno o più Work Role</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000000"/>
                </a:solidFill>
                <a:effectLst/>
                <a:uLnTx/>
                <a:uFillTx/>
                <a:latin typeface="Calibri"/>
                <a:cs typeface="Calibri"/>
              </a:rPr>
              <a:t>Ogni utente visualizza e gestisce esclusivamente le informazioni per le quali è stato autorizzato.</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404040"/>
                </a:solidFill>
                <a:effectLst/>
                <a:uLnTx/>
                <a:uFillTx/>
                <a:latin typeface="Calibri"/>
                <a:cs typeface="Calibri"/>
              </a:rPr>
              <a:t>Stesso ruolo aziendale, configurazioni diverse secondo le responsabilità.</a:t>
            </a:r>
          </a:p>
        </p:txBody>
      </p:sp>
      <p:sp>
        <p:nvSpPr>
          <p:cNvPr id="121" name="Card 121">
            <a:extLst>
              <a:ext uri="{FF2B5EF4-FFF2-40B4-BE49-F238E27FC236}">
                <a16:creationId xmlns:a16="http://schemas.microsoft.com/office/drawing/2014/main" id="{F766F9D1-C6AD-EBE9-978C-E20CBD4F14EB}"/>
              </a:ext>
            </a:extLst>
          </p:cNvPr>
          <p:cNvSpPr/>
          <p:nvPr/>
        </p:nvSpPr>
        <p:spPr>
          <a:xfrm>
            <a:off x="6208776" y="4083946"/>
            <a:ext cx="5340096" cy="1530778"/>
          </a:xfrm>
          <a:prstGeom prst="roundRect">
            <a:avLst>
              <a:gd name="adj" fmla="val 5000"/>
            </a:avLst>
          </a:prstGeom>
          <a:solidFill>
            <a:srgbClr val="FFFFFF">
              <a:alpha val="92000"/>
            </a:srgbClr>
          </a:solidFill>
          <a:ln w="9525">
            <a:solidFill>
              <a:srgbClr val="156082">
                <a:alpha val="35000"/>
              </a:srgbClr>
            </a:solidFill>
          </a:ln>
          <a:effectLst>
            <a:outerShdw blurRad="152400" dist="38100" dir="5400000" algn="t" rotWithShape="0">
              <a:srgbClr val="0E2841">
                <a:alpha val="12000"/>
              </a:srgbClr>
            </a:outerShdw>
          </a:effectLst>
        </p:spPr>
        <p:txBody>
          <a:bodyPr lIns="137160" tIns="137160" rIns="137160" bIns="118872" anchor="t">
            <a:normAutofit fontScale="92500" lnSpcReduction="20000"/>
          </a:bodyPr>
          <a:lstStyle/>
          <a:p>
            <a:pPr marL="0" marR="0" lvl="0" indent="0" algn="l" defTabSz="914400" rtl="0" eaLnBrk="1" fontAlgn="auto" latinLnBrk="0" hangingPunct="1">
              <a:lnSpc>
                <a:spcPct val="100000"/>
              </a:lnSpc>
              <a:spcBef>
                <a:spcPts val="0"/>
              </a:spcBef>
              <a:spcAft>
                <a:spcPts val="226"/>
              </a:spcAft>
              <a:buClrTx/>
              <a:buSzTx/>
              <a:buFontTx/>
              <a:buNone/>
              <a:tabLst/>
              <a:defRPr/>
            </a:pPr>
            <a:r>
              <a:rPr kumimoji="0" lang="it-IT" sz="1357" b="1" i="0" u="none" strike="noStrike" kern="1200" cap="none" spc="0" normalizeH="0" baseline="0" noProof="0">
                <a:ln>
                  <a:noFill/>
                </a:ln>
                <a:solidFill>
                  <a:srgbClr val="156082"/>
                </a:solidFill>
                <a:effectLst/>
                <a:uLnTx/>
                <a:uFillTx/>
                <a:latin typeface="Calibri"/>
                <a:cs typeface="Calibri"/>
              </a:rPr>
              <a:t>Esempio — </a:t>
            </a:r>
            <a:r>
              <a:rPr kumimoji="0" lang="it-IT" sz="1357" b="1" i="0" u="none" strike="noStrike" kern="1200" cap="none" spc="0" normalizeH="0" baseline="0" noProof="0" err="1">
                <a:ln>
                  <a:noFill/>
                </a:ln>
                <a:solidFill>
                  <a:srgbClr val="156082"/>
                </a:solidFill>
                <a:effectLst/>
                <a:uLnTx/>
                <a:uFillTx/>
                <a:latin typeface="Calibri"/>
                <a:cs typeface="Calibri"/>
              </a:rPr>
              <a:t>Proof</a:t>
            </a:r>
            <a:r>
              <a:rPr kumimoji="0" lang="it-IT" sz="1357" b="1" i="0" u="none" strike="noStrike" kern="1200" cap="none" spc="0" normalizeH="0" baseline="0" noProof="0">
                <a:ln>
                  <a:noFill/>
                </a:ln>
                <a:solidFill>
                  <a:srgbClr val="156082"/>
                </a:solidFill>
                <a:effectLst/>
                <a:uLnTx/>
                <a:uFillTx/>
                <a:latin typeface="Calibri"/>
                <a:cs typeface="Calibri"/>
              </a:rPr>
              <a:t> of Concept Amadori</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404040"/>
                </a:solidFill>
                <a:effectLst/>
                <a:uLnTx/>
                <a:uFillTx/>
                <a:latin typeface="Calibri"/>
                <a:cs typeface="Calibri"/>
              </a:rPr>
              <a:t>Elena Corsi → ruolo (titolo) aziendale Energy Data </a:t>
            </a:r>
            <a:r>
              <a:rPr kumimoji="0" lang="it-IT" sz="1266" b="0" i="0" u="none" strike="noStrike" kern="1200" cap="none" spc="0" normalizeH="0" baseline="0" noProof="0" err="1">
                <a:ln>
                  <a:noFill/>
                </a:ln>
                <a:solidFill>
                  <a:srgbClr val="404040"/>
                </a:solidFill>
                <a:effectLst/>
                <a:uLnTx/>
                <a:uFillTx/>
                <a:latin typeface="Calibri"/>
                <a:cs typeface="Calibri"/>
              </a:rPr>
              <a:t>Specialist</a:t>
            </a:r>
            <a:r>
              <a:rPr kumimoji="0" lang="it-IT" sz="1266" b="0" i="0" u="none" strike="noStrike" kern="1200" cap="none" spc="0" normalizeH="0" baseline="0" noProof="0">
                <a:ln>
                  <a:noFill/>
                </a:ln>
                <a:solidFill>
                  <a:srgbClr val="404040"/>
                </a:solidFill>
                <a:effectLst/>
                <a:uLnTx/>
                <a:uFillTx/>
                <a:latin typeface="Calibri"/>
                <a:cs typeface="Calibri"/>
              </a:rPr>
              <a:t> → access </a:t>
            </a:r>
            <a:r>
              <a:rPr kumimoji="0" lang="it-IT" sz="1266" b="0" i="0" u="none" strike="noStrike" kern="1200" cap="none" spc="0" normalizeH="0" baseline="0" noProof="0" err="1">
                <a:ln>
                  <a:noFill/>
                </a:ln>
                <a:solidFill>
                  <a:srgbClr val="404040"/>
                </a:solidFill>
                <a:effectLst/>
                <a:uLnTx/>
                <a:uFillTx/>
                <a:latin typeface="Calibri"/>
                <a:cs typeface="Calibri"/>
              </a:rPr>
              <a:t>role</a:t>
            </a:r>
            <a:r>
              <a:rPr kumimoji="0" lang="it-IT" sz="1266" b="0" i="0" u="none" strike="noStrike" kern="1200" cap="none" spc="0" normalizeH="0" baseline="0" noProof="0">
                <a:ln>
                  <a:noFill/>
                </a:ln>
                <a:solidFill>
                  <a:srgbClr val="404040"/>
                </a:solidFill>
                <a:effectLst/>
                <a:uLnTx/>
                <a:uFillTx/>
                <a:latin typeface="Calibri"/>
                <a:cs typeface="Calibri"/>
              </a:rPr>
              <a:t> General User → work </a:t>
            </a:r>
            <a:r>
              <a:rPr kumimoji="0" lang="it-IT" sz="1266" b="0" i="0" u="none" strike="noStrike" kern="1200" cap="none" spc="0" normalizeH="0" baseline="0" noProof="0" err="1">
                <a:ln>
                  <a:noFill/>
                </a:ln>
                <a:solidFill>
                  <a:srgbClr val="404040"/>
                </a:solidFill>
                <a:effectLst/>
                <a:uLnTx/>
                <a:uFillTx/>
                <a:latin typeface="Calibri"/>
                <a:cs typeface="Calibri"/>
              </a:rPr>
              <a:t>role</a:t>
            </a:r>
            <a:r>
              <a:rPr kumimoji="0" lang="it-IT" sz="1266" b="0" i="0" u="none" strike="noStrike" kern="1200" cap="none" spc="0" normalizeH="0" baseline="0" noProof="0">
                <a:ln>
                  <a:noFill/>
                </a:ln>
                <a:solidFill>
                  <a:srgbClr val="404040"/>
                </a:solidFill>
                <a:effectLst/>
                <a:uLnTx/>
                <a:uFillTx/>
                <a:latin typeface="Calibri"/>
                <a:cs typeface="Calibri"/>
              </a:rPr>
              <a:t> Data Manager (Gruppo Allevamenti).</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404040"/>
                </a:solidFill>
                <a:effectLst/>
                <a:uLnTx/>
                <a:uFillTx/>
                <a:latin typeface="Calibri"/>
                <a:cs typeface="Calibri"/>
              </a:rPr>
              <a:t>Lara Verdi → Energy Data Coordinator → General User → </a:t>
            </a:r>
            <a:r>
              <a:rPr kumimoji="0" lang="it-IT" sz="1266" b="0" i="0" u="none" strike="noStrike" kern="1200" cap="none" spc="0" normalizeH="0" baseline="0" noProof="0" err="1">
                <a:ln>
                  <a:noFill/>
                </a:ln>
                <a:solidFill>
                  <a:srgbClr val="404040"/>
                </a:solidFill>
                <a:effectLst/>
                <a:uLnTx/>
                <a:uFillTx/>
                <a:latin typeface="Calibri"/>
                <a:cs typeface="Calibri"/>
              </a:rPr>
              <a:t>Reviewer</a:t>
            </a:r>
            <a:r>
              <a:rPr kumimoji="0" lang="it-IT" sz="1266" b="0" i="0" u="none" strike="noStrike" kern="1200" cap="none" spc="0" normalizeH="0" baseline="0" noProof="0">
                <a:ln>
                  <a:noFill/>
                </a:ln>
                <a:solidFill>
                  <a:srgbClr val="404040"/>
                </a:solidFill>
                <a:effectLst/>
                <a:uLnTx/>
                <a:uFillTx/>
                <a:latin typeface="Calibri"/>
                <a:cs typeface="Calibri"/>
              </a:rPr>
              <a:t> (Gruppo Allevamenti).</a:t>
            </a:r>
          </a:p>
          <a:p>
            <a:pPr marL="190500" marR="0" lvl="0" indent="-190500" algn="l" defTabSz="914400" rtl="0" eaLnBrk="1" fontAlgn="auto" latinLnBrk="0" hangingPunct="1">
              <a:lnSpc>
                <a:spcPct val="100000"/>
              </a:lnSpc>
              <a:spcBef>
                <a:spcPts val="0"/>
              </a:spcBef>
              <a:spcAft>
                <a:spcPts val="316"/>
              </a:spcAft>
              <a:buClr>
                <a:srgbClr val="4EA72E"/>
              </a:buClr>
              <a:buSzTx/>
              <a:buFontTx/>
              <a:buChar char="•"/>
              <a:tabLst/>
              <a:defRPr/>
            </a:pPr>
            <a:r>
              <a:rPr kumimoji="0" lang="it-IT" sz="1266" b="0" i="0" u="none" strike="noStrike" kern="1200" cap="none" spc="0" normalizeH="0" baseline="0" noProof="0">
                <a:ln>
                  <a:noFill/>
                </a:ln>
                <a:solidFill>
                  <a:srgbClr val="404040"/>
                </a:solidFill>
                <a:effectLst/>
                <a:uLnTx/>
                <a:uFillTx/>
                <a:latin typeface="Calibri"/>
                <a:cs typeface="Calibri"/>
              </a:rPr>
              <a:t>Mario Bianchi → Energy Manager → General User → </a:t>
            </a:r>
            <a:r>
              <a:rPr kumimoji="0" lang="it-IT" sz="1266" b="0" i="0" u="none" strike="noStrike" kern="1200" cap="none" spc="0" normalizeH="0" baseline="0" noProof="0" err="1">
                <a:ln>
                  <a:noFill/>
                </a:ln>
                <a:solidFill>
                  <a:srgbClr val="404040"/>
                </a:solidFill>
                <a:effectLst/>
                <a:uLnTx/>
                <a:uFillTx/>
                <a:latin typeface="Calibri"/>
                <a:cs typeface="Calibri"/>
              </a:rPr>
              <a:t>Approver</a:t>
            </a:r>
            <a:r>
              <a:rPr kumimoji="0" lang="it-IT" sz="1266" b="0" i="0" u="none" strike="noStrike" kern="1200" cap="none" spc="0" normalizeH="0" baseline="0" noProof="0">
                <a:ln>
                  <a:noFill/>
                </a:ln>
                <a:solidFill>
                  <a:srgbClr val="404040"/>
                </a:solidFill>
                <a:effectLst/>
                <a:uLnTx/>
                <a:uFillTx/>
                <a:latin typeface="Calibri"/>
                <a:cs typeface="Calibri"/>
              </a:rPr>
              <a:t> (Gruppo Allevamenti).</a:t>
            </a:r>
          </a:p>
        </p:txBody>
      </p:sp>
      <p:sp>
        <p:nvSpPr>
          <p:cNvPr id="2" name="Band 118">
            <a:extLst>
              <a:ext uri="{FF2B5EF4-FFF2-40B4-BE49-F238E27FC236}">
                <a16:creationId xmlns:a16="http://schemas.microsoft.com/office/drawing/2014/main" id="{D8AB7A03-8A72-FDFA-5502-05D0BF50C88C}"/>
              </a:ext>
            </a:extLst>
          </p:cNvPr>
          <p:cNvSpPr/>
          <p:nvPr/>
        </p:nvSpPr>
        <p:spPr>
          <a:xfrm>
            <a:off x="640080" y="5780214"/>
            <a:ext cx="10908792" cy="620585"/>
          </a:xfrm>
          <a:prstGeom prst="roundRect">
            <a:avLst>
              <a:gd name="adj" fmla="val 12000"/>
            </a:avLst>
          </a:prstGeom>
          <a:solidFill>
            <a:schemeClr val="tx2">
              <a:lumMod val="10000"/>
              <a:lumOff val="90000"/>
              <a:alpha val="91000"/>
            </a:schemeClr>
          </a:solidFill>
          <a:ln>
            <a:noFill/>
          </a:ln>
        </p:spPr>
        <p:txBody>
          <a:bodyPr lIns="155448" tIns="91440" rIns="155448" bIns="9144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66" b="1" i="0" u="none" strike="noStrike" kern="1200" cap="none" spc="0" normalizeH="0" baseline="0" noProof="0">
                <a:ln>
                  <a:noFill/>
                </a:ln>
                <a:solidFill>
                  <a:srgbClr val="156082"/>
                </a:solidFill>
                <a:effectLst/>
                <a:uLnTx/>
                <a:uFillTx/>
                <a:latin typeface="Calibri"/>
                <a:cs typeface="Calibri"/>
              </a:rPr>
              <a:t>In sintesi: </a:t>
            </a:r>
            <a:r>
              <a:rPr kumimoji="0" lang="it-IT" sz="1266" b="0" i="0" u="none" strike="noStrike" kern="1200" cap="none" spc="0" normalizeH="0" baseline="0" noProof="0">
                <a:ln>
                  <a:noFill/>
                </a:ln>
                <a:solidFill>
                  <a:srgbClr val="0E2841"/>
                </a:solidFill>
                <a:effectLst/>
                <a:uLnTx/>
                <a:uFillTx/>
                <a:latin typeface="Calibri"/>
                <a:cs typeface="Calibri"/>
              </a:rPr>
              <a:t>la configurazione degli utenti riflette il modello organizzativo, separando responsabilità, livello di accesso e attività operative.</a:t>
            </a:r>
          </a:p>
        </p:txBody>
      </p:sp>
      <p:pic>
        <p:nvPicPr>
          <p:cNvPr id="15" name="Immagine 14">
            <a:extLst>
              <a:ext uri="{FF2B5EF4-FFF2-40B4-BE49-F238E27FC236}">
                <a16:creationId xmlns:a16="http://schemas.microsoft.com/office/drawing/2014/main" id="{9A5A9961-C81E-34E2-C2FC-B2018ADC6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805" y="1005840"/>
            <a:ext cx="1472857" cy="761252"/>
          </a:xfrm>
          <a:prstGeom prst="rect">
            <a:avLst/>
          </a:prstGeom>
        </p:spPr>
      </p:pic>
      <p:sp>
        <p:nvSpPr>
          <p:cNvPr id="13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0" name="Titolo">
            <a:extLst>
              <a:ext uri="{FF2B5EF4-FFF2-40B4-BE49-F238E27FC236}">
                <a16:creationId xmlns:a16="http://schemas.microsoft.com/office/drawing/2014/main" id="{1F4C734D-644C-1177-E424-0114F957034E}"/>
              </a:ext>
            </a:extLst>
          </p:cNvPr>
          <p:cNvSpPr/>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Esempi di configurazione degli utenti</a:t>
            </a:r>
          </a:p>
        </p:txBody>
      </p:sp>
    </p:spTree>
    <p:extLst>
      <p:ext uri="{BB962C8B-B14F-4D97-AF65-F5344CB8AC3E}">
        <p14:creationId xmlns:p14="http://schemas.microsoft.com/office/powerpoint/2010/main" val="2136638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3EBC-B970-9A13-9157-1353D86BB852}"/>
            </a:ext>
          </a:extLst>
        </p:cNvPr>
        <p:cNvGrpSpPr/>
        <p:nvPr/>
      </p:nvGrpSpPr>
      <p:grpSpPr>
        <a:xfrm>
          <a:off x="0" y="0"/>
          <a:ext cx="0" cy="0"/>
          <a:chOff x="0" y="0"/>
          <a:chExt cx="0" cy="0"/>
        </a:xfrm>
      </p:grpSpPr>
      <p:sp>
        <p:nvSpPr>
          <p:cNvPr id="6" name="CasellaDiTesto 5">
            <a:extLst>
              <a:ext uri="{FF2B5EF4-FFF2-40B4-BE49-F238E27FC236}">
                <a16:creationId xmlns:a16="http://schemas.microsoft.com/office/drawing/2014/main" id="{D27E9342-B4FF-A399-885B-C509B01DED92}"/>
              </a:ext>
            </a:extLst>
          </p:cNvPr>
          <p:cNvSpPr txBox="1"/>
          <p:nvPr/>
        </p:nvSpPr>
        <p:spPr>
          <a:xfrm>
            <a:off x="5885131" y="1005840"/>
            <a:ext cx="4809653" cy="53949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Luisa Rossi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Ruolo aziendale:</a:t>
            </a:r>
            <a:r>
              <a:rPr kumimoji="0" lang="it-IT" sz="1549" b="0" i="0" u="none" strike="noStrike" kern="1200" cap="none" spc="0" normalizeH="0" baseline="0" noProof="0">
                <a:ln>
                  <a:noFill/>
                </a:ln>
                <a:solidFill>
                  <a:srgbClr val="000000"/>
                </a:solidFill>
                <a:effectLst/>
                <a:uLnTx/>
                <a:uFillTx/>
                <a:latin typeface="Calibri"/>
                <a:cs typeface="Calibri"/>
              </a:rPr>
              <a:t> Energy Manager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Access Level:</a:t>
            </a:r>
            <a:r>
              <a:rPr kumimoji="0" lang="it-IT" sz="1549" b="0" i="0" u="none" strike="noStrike" kern="1200" cap="none" spc="0" normalizeH="0" baseline="0" noProof="0">
                <a:ln>
                  <a:noFill/>
                </a:ln>
                <a:solidFill>
                  <a:srgbClr val="000000"/>
                </a:solidFill>
                <a:effectLst/>
                <a:uLnTx/>
                <a:uFillTx/>
                <a:latin typeface="Calibri"/>
                <a:cs typeface="Calibri"/>
              </a:rPr>
              <a:t> General User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0" i="0" u="none" strike="noStrike" kern="1200" cap="none" spc="0" normalizeH="0" baseline="0" noProof="0">
                <a:ln>
                  <a:noFill/>
                </a:ln>
                <a:solidFill>
                  <a:srgbClr val="000000"/>
                </a:solidFill>
                <a:effectLst/>
                <a:uLnTx/>
                <a:uFillTx/>
                <a:latin typeface="Calibri"/>
                <a:cs typeface="Calibri"/>
              </a:rPr>
              <a:t>Visibilità: Gruppo </a:t>
            </a:r>
            <a:r>
              <a:rPr kumimoji="0" lang="it-IT" sz="1549" b="1" i="0" u="none" strike="noStrike" kern="1200" cap="none" spc="0" normalizeH="0" baseline="0" noProof="0">
                <a:ln>
                  <a:noFill/>
                </a:ln>
                <a:solidFill>
                  <a:srgbClr val="000000"/>
                </a:solidFill>
                <a:effectLst/>
                <a:uLnTx/>
                <a:uFillTx/>
                <a:latin typeface="Calibri"/>
                <a:cs typeface="Calibri"/>
              </a:rPr>
              <a:t>Allevamenti</a:t>
            </a: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Work 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1" i="0" u="none" strike="noStrike" kern="1200" cap="none" spc="0" normalizeH="0" baseline="0" noProof="0">
                <a:ln>
                  <a:noFill/>
                </a:ln>
                <a:solidFill>
                  <a:srgbClr val="000000"/>
                </a:solidFill>
                <a:effectLst/>
                <a:uLnTx/>
                <a:uFillTx/>
                <a:latin typeface="Calibri"/>
                <a:cs typeface="Calibri"/>
              </a:rPr>
              <a:t>Data Manager</a:t>
            </a:r>
            <a:r>
              <a:rPr kumimoji="0" lang="it-IT" sz="1549" b="0" i="0" u="none" strike="noStrike" kern="1200" cap="none" spc="0" normalizeH="0" baseline="0" noProof="0">
                <a:ln>
                  <a:noFill/>
                </a:ln>
                <a:solidFill>
                  <a:srgbClr val="000000"/>
                </a:solidFill>
                <a:effectLst/>
                <a:uLnTx/>
                <a:uFillTx/>
                <a:latin typeface="Calibri"/>
                <a:cs typeface="Calibri"/>
              </a:rPr>
              <a:t> → </a:t>
            </a:r>
            <a:r>
              <a:rPr kumimoji="0" lang="it-IT" sz="1549" b="0" i="0" u="none" strike="noStrike" kern="1200" cap="none" spc="0" normalizeH="0" baseline="0" noProof="0" err="1">
                <a:ln>
                  <a:noFill/>
                </a:ln>
                <a:solidFill>
                  <a:srgbClr val="000000"/>
                </a:solidFill>
                <a:effectLst/>
                <a:uLnTx/>
                <a:uFillTx/>
                <a:latin typeface="Calibri"/>
                <a:cs typeface="Calibri"/>
              </a:rPr>
              <a:t>Electricity</a:t>
            </a: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1" i="0" u="none" strike="noStrike" kern="1200" cap="none" spc="0" normalizeH="0" baseline="0" noProof="0" err="1">
                <a:ln>
                  <a:noFill/>
                </a:ln>
                <a:solidFill>
                  <a:srgbClr val="000000"/>
                </a:solidFill>
                <a:effectLst/>
                <a:uLnTx/>
                <a:uFillTx/>
                <a:latin typeface="Calibri"/>
                <a:cs typeface="Calibri"/>
              </a:rPr>
              <a:t>Reviewer</a:t>
            </a:r>
            <a:r>
              <a:rPr kumimoji="0" lang="it-IT" sz="1549" b="0" i="0" u="none" strike="noStrike" kern="1200" cap="none" spc="0" normalizeH="0" baseline="0" noProof="0">
                <a:ln>
                  <a:noFill/>
                </a:ln>
                <a:solidFill>
                  <a:srgbClr val="000000"/>
                </a:solidFill>
                <a:effectLst/>
                <a:uLnTx/>
                <a:uFillTx/>
                <a:latin typeface="Calibri"/>
                <a:cs typeface="Calibri"/>
              </a:rPr>
              <a:t> → Gas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Risultato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visualizza tutti i dati del </a:t>
            </a:r>
            <a:r>
              <a:rPr kumimoji="0" lang="it-IT" sz="1549" b="1" i="0" u="none" strike="noStrike" kern="1200" cap="none" spc="0" normalizeH="0" baseline="0" noProof="0">
                <a:ln>
                  <a:noFill/>
                </a:ln>
                <a:solidFill>
                  <a:srgbClr val="000000"/>
                </a:solidFill>
                <a:effectLst/>
                <a:uLnTx/>
                <a:uFillTx/>
                <a:latin typeface="Calibri"/>
                <a:cs typeface="Calibri"/>
              </a:rPr>
              <a:t>Gruppo Allevamenti</a:t>
            </a:r>
            <a:r>
              <a:rPr kumimoji="0" lang="it-IT" sz="1549" b="0" i="0" u="none" strike="noStrike" kern="1200" cap="none" spc="0" normalizeH="0" baseline="0" noProof="0">
                <a:ln>
                  <a:noFill/>
                </a:ln>
                <a:solidFill>
                  <a:srgbClr val="000000"/>
                </a:solidFill>
                <a:effectLst/>
                <a:uLnTx/>
                <a:uFillTx/>
                <a:latin typeface="Calibri"/>
                <a:cs typeface="Calibri"/>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può </a:t>
            </a:r>
            <a:r>
              <a:rPr kumimoji="0" lang="it-IT" sz="1549" b="1" i="0" u="none" strike="noStrike" kern="1200" cap="none" spc="0" normalizeH="0" baseline="0" noProof="0">
                <a:ln>
                  <a:noFill/>
                </a:ln>
                <a:solidFill>
                  <a:srgbClr val="000000"/>
                </a:solidFill>
                <a:effectLst/>
                <a:uLnTx/>
                <a:uFillTx/>
                <a:latin typeface="Calibri"/>
                <a:cs typeface="Calibri"/>
              </a:rPr>
              <a:t>inserire e modificare</a:t>
            </a:r>
            <a:r>
              <a:rPr kumimoji="0" lang="it-IT" sz="1549" b="0" i="0" u="none" strike="noStrike" kern="1200" cap="none" spc="0" normalizeH="0" baseline="0" noProof="0">
                <a:ln>
                  <a:noFill/>
                </a:ln>
                <a:solidFill>
                  <a:srgbClr val="000000"/>
                </a:solidFill>
                <a:effectLst/>
                <a:uLnTx/>
                <a:uFillTx/>
                <a:latin typeface="Calibri"/>
                <a:cs typeface="Calibri"/>
              </a:rPr>
              <a:t> i dati di </a:t>
            </a:r>
            <a:r>
              <a:rPr kumimoji="0" lang="it-IT" sz="1549" b="1" i="0" u="none" strike="noStrike" kern="1200" cap="none" spc="0" normalizeH="0" baseline="0" noProof="0" err="1">
                <a:ln>
                  <a:noFill/>
                </a:ln>
                <a:solidFill>
                  <a:srgbClr val="000000"/>
                </a:solidFill>
                <a:effectLst/>
                <a:uLnTx/>
                <a:uFillTx/>
                <a:latin typeface="Calibri"/>
                <a:cs typeface="Calibri"/>
              </a:rPr>
              <a:t>Electricity</a:t>
            </a:r>
            <a:r>
              <a:rPr kumimoji="0" lang="it-IT" sz="1549" b="0" i="0" u="none" strike="noStrike" kern="1200" cap="none" spc="0" normalizeH="0" baseline="0" noProof="0">
                <a:ln>
                  <a:noFill/>
                </a:ln>
                <a:solidFill>
                  <a:srgbClr val="000000"/>
                </a:solidFill>
                <a:effectLst/>
                <a:uLnTx/>
                <a:uFillTx/>
                <a:latin typeface="Calibri"/>
                <a:cs typeface="Calibri"/>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può </a:t>
            </a:r>
            <a:r>
              <a:rPr kumimoji="0" lang="it-IT" sz="1549" b="1" i="0" u="none" strike="noStrike" kern="1200" cap="none" spc="0" normalizeH="0" baseline="0" noProof="0">
                <a:ln>
                  <a:noFill/>
                </a:ln>
                <a:solidFill>
                  <a:srgbClr val="000000"/>
                </a:solidFill>
                <a:effectLst/>
                <a:uLnTx/>
                <a:uFillTx/>
                <a:latin typeface="Calibri"/>
                <a:cs typeface="Calibri"/>
              </a:rPr>
              <a:t>revisionare</a:t>
            </a:r>
            <a:r>
              <a:rPr kumimoji="0" lang="it-IT" sz="1549" b="0" i="0" u="none" strike="noStrike" kern="1200" cap="none" spc="0" normalizeH="0" baseline="0" noProof="0">
                <a:ln>
                  <a:noFill/>
                </a:ln>
                <a:solidFill>
                  <a:srgbClr val="000000"/>
                </a:solidFill>
                <a:effectLst/>
                <a:uLnTx/>
                <a:uFillTx/>
                <a:latin typeface="Calibri"/>
                <a:cs typeface="Calibri"/>
              </a:rPr>
              <a:t> i dati di </a:t>
            </a:r>
            <a:r>
              <a:rPr kumimoji="0" lang="it-IT" sz="1549" b="1" i="0" u="none" strike="noStrike" kern="1200" cap="none" spc="0" normalizeH="0" baseline="0" noProof="0">
                <a:ln>
                  <a:noFill/>
                </a:ln>
                <a:solidFill>
                  <a:srgbClr val="000000"/>
                </a:solidFill>
                <a:effectLst/>
                <a:uLnTx/>
                <a:uFillTx/>
                <a:latin typeface="Calibri"/>
                <a:cs typeface="Calibri"/>
              </a:rPr>
              <a:t>Gas</a:t>
            </a:r>
            <a:r>
              <a:rPr kumimoji="0" lang="it-IT" sz="1549" b="0" i="0" u="none" strike="noStrike" kern="1200" cap="none" spc="0" normalizeH="0" baseline="0" noProof="0">
                <a:ln>
                  <a:noFill/>
                </a:ln>
                <a:solidFill>
                  <a:srgbClr val="000000"/>
                </a:solidFill>
                <a:effectLst/>
                <a:uLnTx/>
                <a:uFillTx/>
                <a:latin typeface="Calibri"/>
                <a:cs typeface="Calibri"/>
              </a:rPr>
              <a:t> inseriti da altri utenti;</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non può approvare i dati né operare sulle altre tipologie di informazioni per le quali non è autorizzato.</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it-IT" sz="1600" b="0" i="0" u="none" strike="noStrike" kern="1200" cap="none" spc="0" normalizeH="0" baseline="0" noProof="0" dirty="0">
                <a:ln>
                  <a:noFill/>
                </a:ln>
                <a:solidFill>
                  <a:srgbClr val="000000"/>
                </a:solidFill>
                <a:effectLst/>
                <a:uLnTx/>
                <a:uFillTx/>
                <a:latin typeface="Calibri"/>
                <a:cs typeface="Calibri"/>
              </a:rPr>
            </a:br>
            <a:endParaRPr kumimoji="0" lang="it-IT" sz="1600" b="0" i="0" u="none" strike="noStrike" kern="1200" cap="none" spc="0" normalizeH="0" baseline="0" noProof="0" dirty="0">
              <a:ln>
                <a:noFill/>
              </a:ln>
              <a:solidFill>
                <a:srgbClr val="000000"/>
              </a:solidFill>
              <a:effectLst/>
              <a:uLnTx/>
              <a:uFillTx/>
              <a:latin typeface="Calibri"/>
              <a:cs typeface="Calibri"/>
            </a:endParaRPr>
          </a:p>
        </p:txBody>
      </p:sp>
      <p:sp>
        <p:nvSpPr>
          <p:cNvPr id="8" name="CasellaDiTesto 7">
            <a:extLst>
              <a:ext uri="{FF2B5EF4-FFF2-40B4-BE49-F238E27FC236}">
                <a16:creationId xmlns:a16="http://schemas.microsoft.com/office/drawing/2014/main" id="{E50F472B-814D-4B58-D63F-CCF324B6DAD4}"/>
              </a:ext>
            </a:extLst>
          </p:cNvPr>
          <p:cNvSpPr txBox="1"/>
          <p:nvPr/>
        </p:nvSpPr>
        <p:spPr>
          <a:xfrm>
            <a:off x="740122" y="1030702"/>
            <a:ext cx="4012948" cy="49072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Mario Bianchi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Ruolo aziendale:</a:t>
            </a:r>
            <a:r>
              <a:rPr kumimoji="0" lang="it-IT" sz="1549" b="0" i="0" u="none" strike="noStrike" kern="1200" cap="none" spc="0" normalizeH="0" baseline="0" noProof="0">
                <a:ln>
                  <a:noFill/>
                </a:ln>
                <a:solidFill>
                  <a:srgbClr val="000000"/>
                </a:solidFill>
                <a:effectLst/>
                <a:uLnTx/>
                <a:uFillTx/>
                <a:latin typeface="Calibri"/>
                <a:cs typeface="Calibri"/>
              </a:rPr>
              <a:t> </a:t>
            </a:r>
            <a:r>
              <a:rPr kumimoji="0" lang="it-IT" sz="1549" b="0" i="0" u="none" strike="noStrike" kern="1200" cap="none" spc="0" normalizeH="0" baseline="0" noProof="0" err="1">
                <a:ln>
                  <a:noFill/>
                </a:ln>
                <a:solidFill>
                  <a:srgbClr val="000000"/>
                </a:solidFill>
                <a:effectLst/>
                <a:uLnTx/>
                <a:uFillTx/>
                <a:latin typeface="Calibri"/>
                <a:cs typeface="Calibri"/>
              </a:rPr>
              <a:t>Sustainability</a:t>
            </a:r>
            <a:r>
              <a:rPr kumimoji="0" lang="it-IT" sz="1549" b="0" i="0" u="none" strike="noStrike" kern="1200" cap="none" spc="0" normalizeH="0" baseline="0" noProof="0">
                <a:ln>
                  <a:noFill/>
                </a:ln>
                <a:solidFill>
                  <a:srgbClr val="000000"/>
                </a:solidFill>
                <a:effectLst/>
                <a:uLnTx/>
                <a:uFillTx/>
                <a:latin typeface="Calibri"/>
                <a:cs typeface="Calibri"/>
              </a:rPr>
              <a:t> </a:t>
            </a:r>
            <a:r>
              <a:rPr kumimoji="0" lang="it-IT" sz="1549" b="0" i="0" u="none" strike="noStrike" kern="1200" cap="none" spc="0" normalizeH="0" baseline="0" noProof="0" err="1">
                <a:ln>
                  <a:noFill/>
                </a:ln>
                <a:solidFill>
                  <a:srgbClr val="000000"/>
                </a:solidFill>
                <a:effectLst/>
                <a:uLnTx/>
                <a:uFillTx/>
                <a:latin typeface="Calibri"/>
                <a:cs typeface="Calibri"/>
              </a:rPr>
              <a:t>Specialist</a:t>
            </a: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Access Level:</a:t>
            </a:r>
            <a:r>
              <a:rPr kumimoji="0" lang="it-IT" sz="1549" b="0" i="0" u="none" strike="noStrike" kern="1200" cap="none" spc="0" normalizeH="0" baseline="0" noProof="0">
                <a:ln>
                  <a:noFill/>
                </a:ln>
                <a:solidFill>
                  <a:srgbClr val="000000"/>
                </a:solidFill>
                <a:effectLst/>
                <a:uLnTx/>
                <a:uFillTx/>
                <a:latin typeface="Calibri"/>
                <a:cs typeface="Calibri"/>
              </a:rPr>
              <a:t> General User Visibilità: Intera organizzazione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Work 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1" i="0" u="none" strike="noStrike" kern="1200" cap="none" spc="0" normalizeH="0" baseline="0" noProof="0">
                <a:ln>
                  <a:noFill/>
                </a:ln>
                <a:solidFill>
                  <a:srgbClr val="000000"/>
                </a:solidFill>
                <a:effectLst/>
                <a:uLnTx/>
                <a:uFillTx/>
                <a:latin typeface="Calibri"/>
                <a:cs typeface="Calibri"/>
              </a:rPr>
              <a:t>Data Manager</a:t>
            </a:r>
            <a:r>
              <a:rPr kumimoji="0" lang="it-IT" sz="1549" b="0" i="0" u="none" strike="noStrike" kern="1200" cap="none" spc="0" normalizeH="0" baseline="0" noProof="0">
                <a:ln>
                  <a:noFill/>
                </a:ln>
                <a:solidFill>
                  <a:srgbClr val="000000"/>
                </a:solidFill>
                <a:effectLst/>
                <a:uLnTx/>
                <a:uFillTx/>
                <a:latin typeface="Calibri"/>
                <a:cs typeface="Calibri"/>
              </a:rPr>
              <a:t> → Scope 3</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1" i="0" u="none" strike="noStrike" kern="1200" cap="none" spc="0" normalizeH="0" baseline="0" noProof="0">
                <a:ln>
                  <a:noFill/>
                </a:ln>
                <a:solidFill>
                  <a:srgbClr val="000000"/>
                </a:solidFill>
                <a:effectLst/>
                <a:uLnTx/>
                <a:uFillTx/>
                <a:latin typeface="Calibri"/>
                <a:cs typeface="Calibri"/>
              </a:rPr>
              <a:t>Power Report Editor</a:t>
            </a:r>
            <a:r>
              <a:rPr kumimoji="0" lang="it-IT" sz="1549" b="0" i="0" u="none" strike="noStrike" kern="1200" cap="none" spc="0" normalizeH="0" baseline="0" noProof="0">
                <a:ln>
                  <a:noFill/>
                </a:ln>
                <a:solidFill>
                  <a:srgbClr val="000000"/>
                </a:solidFill>
                <a:effectLst/>
                <a:uLnTx/>
                <a:uFillTx/>
                <a:latin typeface="Calibri"/>
                <a:cs typeface="Calibri"/>
              </a:rPr>
              <a:t> → Organizzazione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549" b="1" i="0" u="none" strike="noStrike" kern="1200" cap="none" spc="0" normalizeH="0" baseline="0" noProof="0">
                <a:ln>
                  <a:noFill/>
                </a:ln>
                <a:solidFill>
                  <a:srgbClr val="000000"/>
                </a:solidFill>
                <a:effectLst/>
                <a:uLnTx/>
                <a:uFillTx/>
                <a:latin typeface="Calibri"/>
                <a:cs typeface="Calibri"/>
              </a:rPr>
              <a:t>Risultato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srgbClr val="000000"/>
              </a:solidFill>
              <a:effectLst/>
              <a:uLnTx/>
              <a:uFillTx/>
              <a:latin typeface="Calibri"/>
              <a:cs typeface="Calibri"/>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gestisce i dati relativi alle emissioni di </a:t>
            </a:r>
            <a:r>
              <a:rPr kumimoji="0" lang="it-IT" sz="1549" b="1" i="0" u="none" strike="noStrike" kern="1200" cap="none" spc="0" normalizeH="0" baseline="0" noProof="0">
                <a:ln>
                  <a:noFill/>
                </a:ln>
                <a:solidFill>
                  <a:srgbClr val="000000"/>
                </a:solidFill>
                <a:effectLst/>
                <a:uLnTx/>
                <a:uFillTx/>
                <a:latin typeface="Calibri"/>
                <a:cs typeface="Calibri"/>
              </a:rPr>
              <a:t>Scope 3</a:t>
            </a:r>
            <a:r>
              <a:rPr kumimoji="0" lang="it-IT" sz="1549" b="0" i="0" u="none" strike="noStrike" kern="1200" cap="none" spc="0" normalizeH="0" baseline="0" noProof="0">
                <a:ln>
                  <a:noFill/>
                </a:ln>
                <a:solidFill>
                  <a:srgbClr val="000000"/>
                </a:solidFill>
                <a:effectLst/>
                <a:uLnTx/>
                <a:uFillTx/>
                <a:latin typeface="Calibri"/>
                <a:cs typeface="Calibri"/>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crea e aggiorna i </a:t>
            </a:r>
            <a:r>
              <a:rPr kumimoji="0" lang="it-IT" sz="1549" b="1" i="0" u="none" strike="noStrike" kern="1200" cap="none" spc="0" normalizeH="0" baseline="0" noProof="0">
                <a:ln>
                  <a:noFill/>
                </a:ln>
                <a:solidFill>
                  <a:srgbClr val="000000"/>
                </a:solidFill>
                <a:effectLst/>
                <a:uLnTx/>
                <a:uFillTx/>
                <a:latin typeface="Calibri"/>
                <a:cs typeface="Calibri"/>
              </a:rPr>
              <a:t>Power Report</a:t>
            </a:r>
            <a:r>
              <a:rPr kumimoji="0" lang="it-IT" sz="1549" b="0" i="0" u="none" strike="noStrike" kern="1200" cap="none" spc="0" normalizeH="0" baseline="0" noProof="0">
                <a:ln>
                  <a:noFill/>
                </a:ln>
                <a:solidFill>
                  <a:srgbClr val="000000"/>
                </a:solidFill>
                <a:effectLst/>
                <a:uLnTx/>
                <a:uFillTx/>
                <a:latin typeface="Calibri"/>
                <a:cs typeface="Calibri"/>
              </a:rPr>
              <a:t> destinati al management;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549" b="0" i="0" u="none" strike="noStrike" kern="1200" cap="none" spc="0" normalizeH="0" baseline="0" noProof="0">
                <a:ln>
                  <a:noFill/>
                </a:ln>
                <a:solidFill>
                  <a:srgbClr val="000000"/>
                </a:solidFill>
                <a:effectLst/>
                <a:uLnTx/>
                <a:uFillTx/>
                <a:latin typeface="Calibri"/>
                <a:cs typeface="Calibri"/>
              </a:rPr>
              <a:t>non può approvare i dati, attività riservata agli utenti con ruolo di </a:t>
            </a:r>
            <a:r>
              <a:rPr kumimoji="0" lang="it-IT" sz="1549" b="1" i="0" u="none" strike="noStrike" kern="1200" cap="none" spc="0" normalizeH="0" baseline="0" noProof="0">
                <a:ln>
                  <a:noFill/>
                </a:ln>
                <a:solidFill>
                  <a:srgbClr val="000000"/>
                </a:solidFill>
                <a:effectLst/>
                <a:uLnTx/>
                <a:uFillTx/>
                <a:latin typeface="Calibri"/>
                <a:cs typeface="Calibri"/>
              </a:rPr>
              <a:t>Approver</a:t>
            </a:r>
            <a:r>
              <a:rPr kumimoji="0" lang="it-IT" sz="1549" b="0" i="0" u="none" strike="noStrike" kern="1200" cap="none" spc="0" normalizeH="0" baseline="0" noProof="0">
                <a:ln>
                  <a:noFill/>
                </a:ln>
                <a:solidFill>
                  <a:srgbClr val="000000"/>
                </a:solidFill>
                <a:effectLst/>
                <a:uLnTx/>
                <a:uFillTx/>
                <a:latin typeface="Calibri"/>
                <a:cs typeface="Calibri"/>
              </a:rPr>
              <a:t>.</a:t>
            </a:r>
          </a:p>
        </p:txBody>
      </p:sp>
      <p:pic>
        <p:nvPicPr>
          <p:cNvPr id="11" name="Icona 151">
            <a:extLst>
              <a:ext uri="{FF2B5EF4-FFF2-40B4-BE49-F238E27FC236}">
                <a16:creationId xmlns:a16="http://schemas.microsoft.com/office/drawing/2014/main" id="{2A260B0B-2D5F-31DB-926E-E11F15CA807F}"/>
              </a:ext>
            </a:extLst>
          </p:cNvPr>
          <p:cNvPicPr>
            <a:picLocks noChangeAspect="1"/>
          </p:cNvPicPr>
          <p:nvPr/>
        </p:nvPicPr>
        <p:blipFill>
          <a:blip r:embed="rId2"/>
          <a:stretch>
            <a:fillRect/>
          </a:stretch>
        </p:blipFill>
        <p:spPr>
          <a:xfrm>
            <a:off x="2188613" y="1005840"/>
            <a:ext cx="549037" cy="549037"/>
          </a:xfrm>
          <a:prstGeom prst="rect">
            <a:avLst/>
          </a:prstGeom>
        </p:spPr>
      </p:pic>
      <p:pic>
        <p:nvPicPr>
          <p:cNvPr id="12" name="Icona 153">
            <a:extLst>
              <a:ext uri="{FF2B5EF4-FFF2-40B4-BE49-F238E27FC236}">
                <a16:creationId xmlns:a16="http://schemas.microsoft.com/office/drawing/2014/main" id="{8CADD49C-22AF-DFB3-C3B4-A7844BACF6AF}"/>
              </a:ext>
            </a:extLst>
          </p:cNvPr>
          <p:cNvPicPr>
            <a:picLocks noChangeAspect="1"/>
          </p:cNvPicPr>
          <p:nvPr/>
        </p:nvPicPr>
        <p:blipFill>
          <a:blip r:embed="rId3"/>
          <a:stretch>
            <a:fillRect/>
          </a:stretch>
        </p:blipFill>
        <p:spPr>
          <a:xfrm>
            <a:off x="7242392" y="1005840"/>
            <a:ext cx="549037" cy="549037"/>
          </a:xfrm>
          <a:prstGeom prst="rect">
            <a:avLst/>
          </a:prstGeom>
        </p:spPr>
      </p:pic>
      <p:sp>
        <p:nvSpPr>
          <p:cNvPr id="1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9" name="Titolo">
            <a:extLst>
              <a:ext uri="{FF2B5EF4-FFF2-40B4-BE49-F238E27FC236}">
                <a16:creationId xmlns:a16="http://schemas.microsoft.com/office/drawing/2014/main" id="{73875D84-BF76-6FE2-A10B-F1FCB9F846F8}"/>
              </a:ext>
            </a:extLst>
          </p:cNvPr>
          <p:cNvSpPr/>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Esempi di configurazione degli utenti</a:t>
            </a:r>
          </a:p>
        </p:txBody>
      </p:sp>
    </p:spTree>
    <p:extLst>
      <p:ext uri="{BB962C8B-B14F-4D97-AF65-F5344CB8AC3E}">
        <p14:creationId xmlns:p14="http://schemas.microsoft.com/office/powerpoint/2010/main" val="1157653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F45F-821E-010C-10BC-32AEFA3ED93D}"/>
            </a:ext>
          </a:extLst>
        </p:cNvPr>
        <p:cNvGrpSpPr/>
        <p:nvPr/>
      </p:nvGrpSpPr>
      <p:grpSpPr>
        <a:xfrm>
          <a:off x="0" y="0"/>
          <a:ext cx="0" cy="0"/>
          <a:chOff x="0" y="0"/>
          <a:chExt cx="0" cy="0"/>
        </a:xfrm>
      </p:grpSpPr>
      <p:sp>
        <p:nvSpPr>
          <p:cNvPr id="111" name="Sottotitolo">
            <a:extLst>
              <a:ext uri="{FF2B5EF4-FFF2-40B4-BE49-F238E27FC236}">
                <a16:creationId xmlns:a16="http://schemas.microsoft.com/office/drawing/2014/main" id="{5E27646A-D611-52A9-C7A6-B757CA1CA02A}"/>
              </a:ext>
            </a:extLst>
          </p:cNvPr>
          <p:cNvSpPr txBox="1"/>
          <p:nvPr/>
        </p:nvSpPr>
        <p:spPr>
          <a:xfrm>
            <a:off x="640080" y="987552"/>
            <a:ext cx="8545961" cy="36576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dirty="0">
                <a:ln>
                  <a:noFill/>
                </a:ln>
                <a:solidFill>
                  <a:srgbClr val="404040"/>
                </a:solidFill>
                <a:effectLst/>
                <a:uLnTx/>
                <a:uFillTx/>
                <a:latin typeface="Calibri"/>
                <a:cs typeface="Calibri"/>
              </a:rPr>
              <a:t>Il General User è tipicamente il Data Owner o il referente operativo di una funzione aziendale che contribuisce alla raccolta e alla validazione dei dati ESG.</a:t>
            </a:r>
          </a:p>
        </p:txBody>
      </p:sp>
      <p:sp>
        <p:nvSpPr>
          <p:cNvPr id="108" name="Tag">
            <a:extLst>
              <a:ext uri="{FF2B5EF4-FFF2-40B4-BE49-F238E27FC236}">
                <a16:creationId xmlns:a16="http://schemas.microsoft.com/office/drawing/2014/main" id="{C24D608F-177F-5ED6-5B81-ABFB48DB9C72}"/>
              </a:ext>
            </a:extLst>
          </p:cNvPr>
          <p:cNvSpPr/>
          <p:nvPr/>
        </p:nvSpPr>
        <p:spPr>
          <a:xfrm>
            <a:off x="8732520" y="164592"/>
            <a:ext cx="2816352" cy="274320"/>
          </a:xfrm>
          <a:prstGeom prst="rect">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FFFFFF"/>
                </a:solidFill>
                <a:effectLst/>
                <a:uLnTx/>
                <a:uFillTx/>
                <a:latin typeface="Calibri"/>
                <a:cs typeface="Calibri"/>
              </a:rPr>
              <a:t>Utenti e ruoli</a:t>
            </a:r>
          </a:p>
        </p:txBody>
      </p:sp>
      <p:sp>
        <p:nvSpPr>
          <p:cNvPr id="120" name="Persona">
            <a:extLst>
              <a:ext uri="{FF2B5EF4-FFF2-40B4-BE49-F238E27FC236}">
                <a16:creationId xmlns:a16="http://schemas.microsoft.com/office/drawing/2014/main" id="{8244536D-9249-8CF2-45D8-A32C0FC7CB4E}"/>
              </a:ext>
            </a:extLst>
          </p:cNvPr>
          <p:cNvSpPr/>
          <p:nvPr/>
        </p:nvSpPr>
        <p:spPr>
          <a:xfrm>
            <a:off x="640080" y="1572768"/>
            <a:ext cx="2834640" cy="401421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pic>
        <p:nvPicPr>
          <p:cNvPr id="121" name="Avatar">
            <a:extLst>
              <a:ext uri="{FF2B5EF4-FFF2-40B4-BE49-F238E27FC236}">
                <a16:creationId xmlns:a16="http://schemas.microsoft.com/office/drawing/2014/main" id="{7FA16318-9B2B-BEBB-09FE-109E190BF57B}"/>
              </a:ext>
            </a:extLst>
          </p:cNvPr>
          <p:cNvPicPr>
            <a:picLocks noChangeAspect="1"/>
          </p:cNvPicPr>
          <p:nvPr/>
        </p:nvPicPr>
        <p:blipFill>
          <a:blip r:embed="rId3"/>
          <a:stretch>
            <a:fillRect/>
          </a:stretch>
        </p:blipFill>
        <p:spPr>
          <a:xfrm>
            <a:off x="1490472" y="1828800"/>
            <a:ext cx="1133856" cy="1133856"/>
          </a:xfrm>
          <a:prstGeom prst="rect">
            <a:avLst/>
          </a:prstGeom>
        </p:spPr>
      </p:pic>
      <p:sp>
        <p:nvSpPr>
          <p:cNvPr id="122" name="Nome">
            <a:extLst>
              <a:ext uri="{FF2B5EF4-FFF2-40B4-BE49-F238E27FC236}">
                <a16:creationId xmlns:a16="http://schemas.microsoft.com/office/drawing/2014/main" id="{BAE7C8F1-35E8-5DF2-1FC0-5CA0F1F7E0C9}"/>
              </a:ext>
            </a:extLst>
          </p:cNvPr>
          <p:cNvSpPr txBox="1"/>
          <p:nvPr/>
        </p:nvSpPr>
        <p:spPr>
          <a:xfrm>
            <a:off x="822960" y="3108960"/>
            <a:ext cx="2468880" cy="365760"/>
          </a:xfrm>
          <a:prstGeom prst="rect">
            <a:avLst/>
          </a:prstGeom>
          <a:noFill/>
        </p:spPr>
        <p:txBody>
          <a:bodyPr wrap="square"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73E31"/>
                </a:solidFill>
                <a:effectLst/>
                <a:uLnTx/>
                <a:uFillTx/>
                <a:latin typeface="Calibri"/>
                <a:cs typeface="Calibri"/>
              </a:rPr>
              <a:t>Luigi</a:t>
            </a:r>
          </a:p>
        </p:txBody>
      </p:sp>
      <p:sp>
        <p:nvSpPr>
          <p:cNvPr id="123" name="Chip1">
            <a:extLst>
              <a:ext uri="{FF2B5EF4-FFF2-40B4-BE49-F238E27FC236}">
                <a16:creationId xmlns:a16="http://schemas.microsoft.com/office/drawing/2014/main" id="{ECDAB119-C839-D998-C116-50BA055636DD}"/>
              </a:ext>
            </a:extLst>
          </p:cNvPr>
          <p:cNvSpPr/>
          <p:nvPr/>
        </p:nvSpPr>
        <p:spPr>
          <a:xfrm>
            <a:off x="868680" y="3611880"/>
            <a:ext cx="2377440" cy="384048"/>
          </a:xfrm>
          <a:prstGeom prst="roundRect">
            <a:avLst/>
          </a:prstGeom>
          <a:solidFill>
            <a:srgbClr val="156082">
              <a:alpha val="12000"/>
            </a:srgbClr>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155B78"/>
                </a:solidFill>
                <a:effectLst/>
                <a:uLnTx/>
                <a:uFillTx/>
                <a:latin typeface="Calibri"/>
                <a:cs typeface="Calibri"/>
              </a:rPr>
              <a:t>Access Level: General User</a:t>
            </a:r>
          </a:p>
        </p:txBody>
      </p:sp>
      <p:sp>
        <p:nvSpPr>
          <p:cNvPr id="124" name="Chip2">
            <a:extLst>
              <a:ext uri="{FF2B5EF4-FFF2-40B4-BE49-F238E27FC236}">
                <a16:creationId xmlns:a16="http://schemas.microsoft.com/office/drawing/2014/main" id="{FD16ECF1-340C-2120-932C-07EFB5F55ACB}"/>
              </a:ext>
            </a:extLst>
          </p:cNvPr>
          <p:cNvSpPr/>
          <p:nvPr/>
        </p:nvSpPr>
        <p:spPr>
          <a:xfrm>
            <a:off x="868680" y="4087368"/>
            <a:ext cx="2377440" cy="384048"/>
          </a:xfrm>
          <a:prstGeom prst="roundRect">
            <a:avLst/>
          </a:prstGeom>
          <a:solidFill>
            <a:srgbClr val="4EA72E">
              <a:alpha val="14000"/>
            </a:srgbClr>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3C7D22"/>
                </a:solidFill>
                <a:effectLst/>
                <a:uLnTx/>
                <a:uFillTx/>
                <a:latin typeface="Calibri"/>
                <a:cs typeface="Calibri"/>
              </a:rPr>
              <a:t>Ruolo: Energy Manager</a:t>
            </a:r>
          </a:p>
        </p:txBody>
      </p:sp>
      <p:sp>
        <p:nvSpPr>
          <p:cNvPr id="125" name="Nota">
            <a:extLst>
              <a:ext uri="{FF2B5EF4-FFF2-40B4-BE49-F238E27FC236}">
                <a16:creationId xmlns:a16="http://schemas.microsoft.com/office/drawing/2014/main" id="{1104DB0B-E743-30B1-CBEB-7C8589057048}"/>
              </a:ext>
            </a:extLst>
          </p:cNvPr>
          <p:cNvSpPr txBox="1"/>
          <p:nvPr/>
        </p:nvSpPr>
        <p:spPr>
          <a:xfrm>
            <a:off x="868680" y="4617720"/>
            <a:ext cx="2377440" cy="868680"/>
          </a:xfrm>
          <a:prstGeom prst="rect">
            <a:avLst/>
          </a:prstGeom>
          <a:noFill/>
        </p:spPr>
        <p:txBody>
          <a:bodyPr wrap="square"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595959"/>
                </a:solidFill>
                <a:effectLst/>
                <a:uLnTx/>
                <a:uFillTx/>
                <a:latin typeface="Calibri"/>
                <a:cs typeface="Calibri"/>
              </a:rPr>
              <a:t>Opera sui dati e sulle funzioni necessarie alle attività assegnate, nel perimetro autorizzato.</a:t>
            </a:r>
          </a:p>
        </p:txBody>
      </p:sp>
      <p:sp>
        <p:nvSpPr>
          <p:cNvPr id="130" name="HeadResp">
            <a:extLst>
              <a:ext uri="{FF2B5EF4-FFF2-40B4-BE49-F238E27FC236}">
                <a16:creationId xmlns:a16="http://schemas.microsoft.com/office/drawing/2014/main" id="{288C4D32-3ED1-6639-3102-ABA7069C3CCB}"/>
              </a:ext>
            </a:extLst>
          </p:cNvPr>
          <p:cNvSpPr txBox="1"/>
          <p:nvPr/>
        </p:nvSpPr>
        <p:spPr>
          <a:xfrm>
            <a:off x="3749040" y="1572768"/>
            <a:ext cx="7799832" cy="292608"/>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dirty="0">
                <a:ln>
                  <a:noFill/>
                </a:ln>
                <a:solidFill>
                  <a:srgbClr val="155B78"/>
                </a:solidFill>
                <a:effectLst/>
                <a:uLnTx/>
                <a:uFillTx/>
                <a:latin typeface="Calibri"/>
                <a:cs typeface="Calibri"/>
              </a:rPr>
              <a:t>Responsabilità</a:t>
            </a:r>
          </a:p>
        </p:txBody>
      </p:sp>
      <p:sp>
        <p:nvSpPr>
          <p:cNvPr id="140" name="R0">
            <a:extLst>
              <a:ext uri="{FF2B5EF4-FFF2-40B4-BE49-F238E27FC236}">
                <a16:creationId xmlns:a16="http://schemas.microsoft.com/office/drawing/2014/main" id="{5E770C2F-95E9-C539-0D71-E777ECAD2700}"/>
              </a:ext>
            </a:extLst>
          </p:cNvPr>
          <p:cNvSpPr/>
          <p:nvPr/>
        </p:nvSpPr>
        <p:spPr>
          <a:xfrm>
            <a:off x="3749040" y="2011680"/>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41" name="B0">
            <a:extLst>
              <a:ext uri="{FF2B5EF4-FFF2-40B4-BE49-F238E27FC236}">
                <a16:creationId xmlns:a16="http://schemas.microsoft.com/office/drawing/2014/main" id="{DDC66B7C-AB5E-EC44-CB85-1E1F9A214E9A}"/>
              </a:ext>
            </a:extLst>
          </p:cNvPr>
          <p:cNvSpPr/>
          <p:nvPr/>
        </p:nvSpPr>
        <p:spPr>
          <a:xfrm>
            <a:off x="3931920" y="2359152"/>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1</a:t>
            </a:r>
          </a:p>
        </p:txBody>
      </p:sp>
      <p:sp>
        <p:nvSpPr>
          <p:cNvPr id="142" name="T0">
            <a:extLst>
              <a:ext uri="{FF2B5EF4-FFF2-40B4-BE49-F238E27FC236}">
                <a16:creationId xmlns:a16="http://schemas.microsoft.com/office/drawing/2014/main" id="{A9C7200A-B43A-244E-9DBF-277E6492DF35}"/>
              </a:ext>
            </a:extLst>
          </p:cNvPr>
          <p:cNvSpPr txBox="1"/>
          <p:nvPr/>
        </p:nvSpPr>
        <p:spPr>
          <a:xfrm>
            <a:off x="4434840" y="2194560"/>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Inserire e aggiornare </a:t>
            </a:r>
            <a:r>
              <a:rPr kumimoji="0" lang="it-IT" sz="1400" b="0" i="0" u="none" strike="noStrike" kern="1200" cap="none" spc="0" normalizeH="0" baseline="0" noProof="0" dirty="0">
                <a:ln>
                  <a:noFill/>
                </a:ln>
                <a:solidFill>
                  <a:srgbClr val="404040"/>
                </a:solidFill>
                <a:effectLst/>
                <a:uLnTx/>
                <a:uFillTx/>
                <a:latin typeface="Calibri"/>
                <a:cs typeface="Calibri"/>
              </a:rPr>
              <a:t>i dati ESG di competenza (Assignee).</a:t>
            </a:r>
          </a:p>
        </p:txBody>
      </p:sp>
      <p:sp>
        <p:nvSpPr>
          <p:cNvPr id="143" name="R1">
            <a:extLst>
              <a:ext uri="{FF2B5EF4-FFF2-40B4-BE49-F238E27FC236}">
                <a16:creationId xmlns:a16="http://schemas.microsoft.com/office/drawing/2014/main" id="{EB861B4A-2244-A9DC-72A8-243148EDEDBA}"/>
              </a:ext>
            </a:extLst>
          </p:cNvPr>
          <p:cNvSpPr/>
          <p:nvPr/>
        </p:nvSpPr>
        <p:spPr>
          <a:xfrm>
            <a:off x="7740396" y="2011680"/>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44" name="B1">
            <a:extLst>
              <a:ext uri="{FF2B5EF4-FFF2-40B4-BE49-F238E27FC236}">
                <a16:creationId xmlns:a16="http://schemas.microsoft.com/office/drawing/2014/main" id="{03A44700-5386-5233-7C81-3608320E2C4F}"/>
              </a:ext>
            </a:extLst>
          </p:cNvPr>
          <p:cNvSpPr/>
          <p:nvPr/>
        </p:nvSpPr>
        <p:spPr>
          <a:xfrm>
            <a:off x="7923276" y="2359152"/>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2</a:t>
            </a:r>
          </a:p>
        </p:txBody>
      </p:sp>
      <p:sp>
        <p:nvSpPr>
          <p:cNvPr id="145" name="T1">
            <a:extLst>
              <a:ext uri="{FF2B5EF4-FFF2-40B4-BE49-F238E27FC236}">
                <a16:creationId xmlns:a16="http://schemas.microsoft.com/office/drawing/2014/main" id="{60937DA4-F5A8-B2EA-F16D-F633516DB9CC}"/>
              </a:ext>
            </a:extLst>
          </p:cNvPr>
          <p:cNvSpPr txBox="1"/>
          <p:nvPr/>
        </p:nvSpPr>
        <p:spPr>
          <a:xfrm>
            <a:off x="8426196" y="2194560"/>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Verificare correttezza e completezza </a:t>
            </a:r>
            <a:r>
              <a:rPr kumimoji="0" lang="it-IT" sz="1400" b="0" i="0" u="none" strike="noStrike" kern="1200" cap="none" spc="0" normalizeH="0" baseline="0" noProof="0" dirty="0">
                <a:ln>
                  <a:noFill/>
                </a:ln>
                <a:solidFill>
                  <a:srgbClr val="404040"/>
                </a:solidFill>
                <a:effectLst/>
                <a:uLnTx/>
                <a:uFillTx/>
                <a:latin typeface="Calibri"/>
                <a:cs typeface="Calibri"/>
              </a:rPr>
              <a:t>delle informazioni inserite (Reviewer).</a:t>
            </a:r>
          </a:p>
        </p:txBody>
      </p:sp>
      <p:sp>
        <p:nvSpPr>
          <p:cNvPr id="146" name="R2">
            <a:extLst>
              <a:ext uri="{FF2B5EF4-FFF2-40B4-BE49-F238E27FC236}">
                <a16:creationId xmlns:a16="http://schemas.microsoft.com/office/drawing/2014/main" id="{A6F3B212-CDE9-C5E7-F06D-683D54A50C4B}"/>
              </a:ext>
            </a:extLst>
          </p:cNvPr>
          <p:cNvSpPr/>
          <p:nvPr/>
        </p:nvSpPr>
        <p:spPr>
          <a:xfrm>
            <a:off x="3749040" y="3227832"/>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47" name="B2">
            <a:extLst>
              <a:ext uri="{FF2B5EF4-FFF2-40B4-BE49-F238E27FC236}">
                <a16:creationId xmlns:a16="http://schemas.microsoft.com/office/drawing/2014/main" id="{F65CBF50-A9A0-2467-2D9F-64D0C62736E1}"/>
              </a:ext>
            </a:extLst>
          </p:cNvPr>
          <p:cNvSpPr/>
          <p:nvPr/>
        </p:nvSpPr>
        <p:spPr>
          <a:xfrm>
            <a:off x="3931920" y="3575304"/>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3</a:t>
            </a:r>
          </a:p>
        </p:txBody>
      </p:sp>
      <p:sp>
        <p:nvSpPr>
          <p:cNvPr id="148" name="T2">
            <a:extLst>
              <a:ext uri="{FF2B5EF4-FFF2-40B4-BE49-F238E27FC236}">
                <a16:creationId xmlns:a16="http://schemas.microsoft.com/office/drawing/2014/main" id="{F4BFDB09-A15A-47D2-8DF9-D5433AED48D4}"/>
              </a:ext>
            </a:extLst>
          </p:cNvPr>
          <p:cNvSpPr txBox="1"/>
          <p:nvPr/>
        </p:nvSpPr>
        <p:spPr>
          <a:xfrm>
            <a:off x="4434840" y="3410712"/>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Collaborare alla risoluzione </a:t>
            </a:r>
            <a:r>
              <a:rPr kumimoji="0" lang="it-IT" sz="1400" b="0" i="0" u="none" strike="noStrike" kern="1200" cap="none" spc="0" normalizeH="0" baseline="0" noProof="0" dirty="0">
                <a:ln>
                  <a:noFill/>
                </a:ln>
                <a:solidFill>
                  <a:srgbClr val="404040"/>
                </a:solidFill>
                <a:effectLst/>
                <a:uLnTx/>
                <a:uFillTx/>
                <a:latin typeface="Calibri"/>
                <a:cs typeface="Calibri"/>
              </a:rPr>
              <a:t>di anomalie o dati mancanti.</a:t>
            </a:r>
          </a:p>
        </p:txBody>
      </p:sp>
      <p:sp>
        <p:nvSpPr>
          <p:cNvPr id="149" name="R3">
            <a:extLst>
              <a:ext uri="{FF2B5EF4-FFF2-40B4-BE49-F238E27FC236}">
                <a16:creationId xmlns:a16="http://schemas.microsoft.com/office/drawing/2014/main" id="{6ACC7DB0-B669-2DE9-98E8-68402C124856}"/>
              </a:ext>
            </a:extLst>
          </p:cNvPr>
          <p:cNvSpPr/>
          <p:nvPr/>
        </p:nvSpPr>
        <p:spPr>
          <a:xfrm>
            <a:off x="7740396" y="3227832"/>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50" name="B3">
            <a:extLst>
              <a:ext uri="{FF2B5EF4-FFF2-40B4-BE49-F238E27FC236}">
                <a16:creationId xmlns:a16="http://schemas.microsoft.com/office/drawing/2014/main" id="{95DC0645-F10C-2F29-47AB-B26ECA628573}"/>
              </a:ext>
            </a:extLst>
          </p:cNvPr>
          <p:cNvSpPr/>
          <p:nvPr/>
        </p:nvSpPr>
        <p:spPr>
          <a:xfrm>
            <a:off x="7923276" y="3575304"/>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4</a:t>
            </a:r>
          </a:p>
        </p:txBody>
      </p:sp>
      <p:sp>
        <p:nvSpPr>
          <p:cNvPr id="151" name="T3">
            <a:extLst>
              <a:ext uri="{FF2B5EF4-FFF2-40B4-BE49-F238E27FC236}">
                <a16:creationId xmlns:a16="http://schemas.microsoft.com/office/drawing/2014/main" id="{7ECE097B-4AF5-04BD-042D-588FDE963911}"/>
              </a:ext>
            </a:extLst>
          </p:cNvPr>
          <p:cNvSpPr txBox="1"/>
          <p:nvPr/>
        </p:nvSpPr>
        <p:spPr>
          <a:xfrm>
            <a:off x="8426196" y="3410712"/>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Consultare dashboard e report </a:t>
            </a:r>
            <a:r>
              <a:rPr kumimoji="0" lang="it-IT" sz="1400" b="0" i="0" u="none" strike="noStrike" kern="1200" cap="none" spc="0" normalizeH="0" baseline="0" noProof="0" dirty="0">
                <a:ln>
                  <a:noFill/>
                </a:ln>
                <a:solidFill>
                  <a:srgbClr val="404040"/>
                </a:solidFill>
                <a:effectLst/>
                <a:uLnTx/>
                <a:uFillTx/>
                <a:latin typeface="Calibri"/>
                <a:cs typeface="Calibri"/>
              </a:rPr>
              <a:t>per monitorare le performance.</a:t>
            </a:r>
          </a:p>
        </p:txBody>
      </p:sp>
      <p:sp>
        <p:nvSpPr>
          <p:cNvPr id="152" name="R4">
            <a:extLst>
              <a:ext uri="{FF2B5EF4-FFF2-40B4-BE49-F238E27FC236}">
                <a16:creationId xmlns:a16="http://schemas.microsoft.com/office/drawing/2014/main" id="{28C23F75-1397-C2BB-2ACE-1254975337A4}"/>
              </a:ext>
            </a:extLst>
          </p:cNvPr>
          <p:cNvSpPr/>
          <p:nvPr/>
        </p:nvSpPr>
        <p:spPr>
          <a:xfrm>
            <a:off x="3749040" y="4443984"/>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53" name="B4">
            <a:extLst>
              <a:ext uri="{FF2B5EF4-FFF2-40B4-BE49-F238E27FC236}">
                <a16:creationId xmlns:a16="http://schemas.microsoft.com/office/drawing/2014/main" id="{5B0AE372-4958-5EED-023F-F0E4428B2AF6}"/>
              </a:ext>
            </a:extLst>
          </p:cNvPr>
          <p:cNvSpPr/>
          <p:nvPr/>
        </p:nvSpPr>
        <p:spPr>
          <a:xfrm>
            <a:off x="3931920" y="4791456"/>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5</a:t>
            </a:r>
          </a:p>
        </p:txBody>
      </p:sp>
      <p:sp>
        <p:nvSpPr>
          <p:cNvPr id="154" name="T4">
            <a:extLst>
              <a:ext uri="{FF2B5EF4-FFF2-40B4-BE49-F238E27FC236}">
                <a16:creationId xmlns:a16="http://schemas.microsoft.com/office/drawing/2014/main" id="{C5D39A50-52DC-BD8E-4ADD-93B99C9608CA}"/>
              </a:ext>
            </a:extLst>
          </p:cNvPr>
          <p:cNvSpPr txBox="1"/>
          <p:nvPr/>
        </p:nvSpPr>
        <p:spPr>
          <a:xfrm>
            <a:off x="4434840" y="4626864"/>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Partecipare alla raccolta dati </a:t>
            </a:r>
            <a:r>
              <a:rPr kumimoji="0" lang="it-IT" sz="1400" b="0" i="0" u="none" strike="noStrike" kern="1200" cap="none" spc="0" normalizeH="0" baseline="0" noProof="0" dirty="0">
                <a:ln>
                  <a:noFill/>
                </a:ln>
                <a:solidFill>
                  <a:srgbClr val="404040"/>
                </a:solidFill>
                <a:effectLst/>
                <a:uLnTx/>
                <a:uFillTx/>
                <a:latin typeface="Calibri"/>
                <a:cs typeface="Calibri"/>
              </a:rPr>
              <a:t>nel rispetto delle scadenze previste.</a:t>
            </a:r>
          </a:p>
        </p:txBody>
      </p:sp>
      <p:sp>
        <p:nvSpPr>
          <p:cNvPr id="155" name="R5">
            <a:extLst>
              <a:ext uri="{FF2B5EF4-FFF2-40B4-BE49-F238E27FC236}">
                <a16:creationId xmlns:a16="http://schemas.microsoft.com/office/drawing/2014/main" id="{56AA5D4F-5BA6-6ACC-7949-BD897F453C23}"/>
              </a:ext>
            </a:extLst>
          </p:cNvPr>
          <p:cNvSpPr/>
          <p:nvPr/>
        </p:nvSpPr>
        <p:spPr>
          <a:xfrm>
            <a:off x="7740396" y="4443984"/>
            <a:ext cx="3808476" cy="1088136"/>
          </a:xfrm>
          <a:prstGeom prst="roundRect">
            <a:avLst/>
          </a:prstGeom>
          <a:solidFill>
            <a:srgbClr val="FFFFFF">
              <a:alpha val="92000"/>
            </a:srgbClr>
          </a:solidFill>
          <a:ln w="12700">
            <a:solidFill>
              <a:srgbClr val="156082">
                <a:alpha val="35000"/>
              </a:srgbClr>
            </a:solidFill>
          </a:ln>
          <a:effectLst>
            <a:outerShdw blurRad="76200" dist="25400" dir="5400000" algn="t" rotWithShape="0">
              <a:srgbClr val="000000">
                <a:alpha val="12000"/>
              </a:srgbClr>
            </a:outerShdw>
          </a:effectLst>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
        <p:nvSpPr>
          <p:cNvPr id="156" name="B5">
            <a:extLst>
              <a:ext uri="{FF2B5EF4-FFF2-40B4-BE49-F238E27FC236}">
                <a16:creationId xmlns:a16="http://schemas.microsoft.com/office/drawing/2014/main" id="{1600BA0D-0BE2-48E1-DF82-5781971E435D}"/>
              </a:ext>
            </a:extLst>
          </p:cNvPr>
          <p:cNvSpPr/>
          <p:nvPr/>
        </p:nvSpPr>
        <p:spPr>
          <a:xfrm>
            <a:off x="7923276" y="4791456"/>
            <a:ext cx="365760" cy="365760"/>
          </a:xfrm>
          <a:prstGeom prst="ellipse">
            <a:avLst/>
          </a:prstGeom>
          <a:solidFill>
            <a:srgbClr val="155B78"/>
          </a:solidFill>
          <a:ln>
            <a:noFill/>
          </a:ln>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Calibri"/>
                <a:cs typeface="Calibri"/>
              </a:rPr>
              <a:t>6</a:t>
            </a:r>
          </a:p>
        </p:txBody>
      </p:sp>
      <p:sp>
        <p:nvSpPr>
          <p:cNvPr id="157" name="T5">
            <a:extLst>
              <a:ext uri="{FF2B5EF4-FFF2-40B4-BE49-F238E27FC236}">
                <a16:creationId xmlns:a16="http://schemas.microsoft.com/office/drawing/2014/main" id="{6E010ACF-2281-5DA9-FC00-7C86E746EE00}"/>
              </a:ext>
            </a:extLst>
          </p:cNvPr>
          <p:cNvSpPr txBox="1"/>
          <p:nvPr/>
        </p:nvSpPr>
        <p:spPr>
          <a:xfrm>
            <a:off x="8426196" y="4626864"/>
            <a:ext cx="2939796" cy="777240"/>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073E31"/>
                </a:solidFill>
                <a:effectLst/>
                <a:uLnTx/>
                <a:uFillTx/>
                <a:latin typeface="Calibri"/>
                <a:cs typeface="Calibri"/>
              </a:rPr>
              <a:t>Segnalare problemi o necessità </a:t>
            </a:r>
            <a:r>
              <a:rPr kumimoji="0" lang="it-IT" sz="1400" b="0" i="0" u="none" strike="noStrike" kern="1200" cap="none" spc="0" normalizeH="0" baseline="0" noProof="0" dirty="0">
                <a:ln>
                  <a:noFill/>
                </a:ln>
                <a:solidFill>
                  <a:srgbClr val="404040"/>
                </a:solidFill>
                <a:effectLst/>
                <a:uLnTx/>
                <a:uFillTx/>
                <a:latin typeface="Calibri"/>
                <a:cs typeface="Calibri"/>
              </a:rPr>
              <a:t>all’Amministratore Envizi o all’ESG Manager.</a:t>
            </a:r>
          </a:p>
        </p:txBody>
      </p:sp>
      <p:pic>
        <p:nvPicPr>
          <p:cNvPr id="170" name="Logo">
            <a:extLst>
              <a:ext uri="{FF2B5EF4-FFF2-40B4-BE49-F238E27FC236}">
                <a16:creationId xmlns:a16="http://schemas.microsoft.com/office/drawing/2014/main" id="{44F0702C-22FE-C2FC-05FD-65689766B7A1}"/>
              </a:ext>
            </a:extLst>
          </p:cNvPr>
          <p:cNvPicPr>
            <a:picLocks noChangeAspect="1"/>
          </p:cNvPicPr>
          <p:nvPr/>
        </p:nvPicPr>
        <p:blipFill>
          <a:blip r:embed="rId4"/>
          <a:stretch>
            <a:fillRect/>
          </a:stretch>
        </p:blipFill>
        <p:spPr>
          <a:xfrm>
            <a:off x="612648" y="6263640"/>
            <a:ext cx="685800" cy="256032"/>
          </a:xfrm>
          <a:prstGeom prst="rect">
            <a:avLst/>
          </a:prstGeom>
        </p:spPr>
      </p:pic>
      <p:sp>
        <p:nvSpPr>
          <p:cNvPr id="17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0" name="Titolo">
            <a:extLst>
              <a:ext uri="{FF2B5EF4-FFF2-40B4-BE49-F238E27FC236}">
                <a16:creationId xmlns:a16="http://schemas.microsoft.com/office/drawing/2014/main" id="{205BCD9A-9338-60E7-7EA2-235FAF0E773A}"/>
              </a:ext>
            </a:extLst>
          </p:cNvPr>
          <p:cNvSpPr txBox="1"/>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Profilo utente: il General User</a:t>
            </a:r>
          </a:p>
        </p:txBody>
      </p:sp>
    </p:spTree>
    <p:extLst>
      <p:ext uri="{BB962C8B-B14F-4D97-AF65-F5344CB8AC3E}">
        <p14:creationId xmlns:p14="http://schemas.microsoft.com/office/powerpoint/2010/main" val="1828784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61D59-9DCD-2D44-458E-4A8E15B87BCA}"/>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697C002A-BACF-E17C-BAE8-2B6633961A90}"/>
              </a:ext>
            </a:extLst>
          </p:cNvPr>
          <p:cNvSpPr txBox="1"/>
          <p:nvPr/>
        </p:nvSpPr>
        <p:spPr>
          <a:xfrm>
            <a:off x="1902372" y="2168548"/>
            <a:ext cx="8875986" cy="2677656"/>
          </a:xfrm>
          <a:prstGeom prst="rect">
            <a:avLst/>
          </a:prstGeom>
          <a:noFill/>
        </p:spPr>
        <p:txBody>
          <a:bodyPr wrap="square" rtlCol="0">
            <a:spAutoFit/>
          </a:bodyPr>
          <a:lstStyle/>
          <a:p>
            <a:r>
              <a:rPr lang="it-IT" sz="2400" dirty="0"/>
              <a:t>Configurazione Utenti</a:t>
            </a:r>
          </a:p>
          <a:p>
            <a:endParaRPr lang="it-IT" sz="2400" dirty="0"/>
          </a:p>
          <a:p>
            <a:endParaRPr lang="it-IT" sz="2400" dirty="0"/>
          </a:p>
          <a:p>
            <a:r>
              <a:rPr lang="it-IT" sz="2400" dirty="0"/>
              <a:t>Scenario: l’utente Admin applica la segregazione degli accessi </a:t>
            </a:r>
          </a:p>
          <a:p>
            <a:r>
              <a:rPr lang="it-IT" sz="2400" dirty="0"/>
              <a:t>diversi utenti vedono e gestiscono i dati solo di alcune parti dell’organizzazione e/o solo di alcuni tipi di dati.</a:t>
            </a:r>
          </a:p>
          <a:p>
            <a:r>
              <a:rPr lang="it-IT" sz="2400" dirty="0"/>
              <a:t>Migliore data governance e semplificazione del lavoro degli utenti.</a:t>
            </a:r>
          </a:p>
        </p:txBody>
      </p:sp>
    </p:spTree>
    <p:extLst>
      <p:ext uri="{BB962C8B-B14F-4D97-AF65-F5344CB8AC3E}">
        <p14:creationId xmlns:p14="http://schemas.microsoft.com/office/powerpoint/2010/main" val="2275286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F2B05-6735-B891-B997-9BF8FBE16A70}"/>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CE863D06-EB53-E0F0-9478-EA38AAD1C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4166" y="1264650"/>
            <a:ext cx="3303760" cy="3804330"/>
          </a:xfrm>
          <a:prstGeom prst="rect">
            <a:avLst/>
          </a:prstGeom>
        </p:spPr>
      </p:pic>
      <p:sp>
        <p:nvSpPr>
          <p:cNvPr id="5" name="Testo originale sotto il titolo">
            <a:extLst>
              <a:ext uri="{FF2B5EF4-FFF2-40B4-BE49-F238E27FC236}">
                <a16:creationId xmlns:a16="http://schemas.microsoft.com/office/drawing/2014/main" id="{30A8F3E4-5C7B-37EC-650E-94D5EF4A04D7}"/>
              </a:ext>
            </a:extLst>
          </p:cNvPr>
          <p:cNvSpPr txBox="1"/>
          <p:nvPr/>
        </p:nvSpPr>
        <p:spPr>
          <a:xfrm>
            <a:off x="513785" y="1070356"/>
            <a:ext cx="7290302" cy="29591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64"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L’Amministratore </a:t>
            </a:r>
            <a:r>
              <a:rPr kumimoji="0" lang="it-IT" sz="2064" b="0" i="0" u="none" strike="noStrike" kern="1200" cap="none" spc="0" normalizeH="0" baseline="0" noProof="0" err="1">
                <a:ln>
                  <a:noFill/>
                </a:ln>
                <a:solidFill>
                  <a:srgbClr val="000000"/>
                </a:solidFill>
                <a:effectLst/>
                <a:uLnTx/>
                <a:uFillTx/>
                <a:latin typeface="Calibri"/>
                <a:ea typeface="Times New Roman" panose="02020603050405020304" pitchFamily="18" charset="0"/>
                <a:cs typeface="Calibri"/>
              </a:rPr>
              <a:t>Alfafood</a:t>
            </a:r>
            <a:r>
              <a:rPr kumimoji="0" lang="it-IT" sz="2064"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 della piattaforma inizia la configurazione degli utenti partendo da tre persone responsabili per i dati ESG delle locations rientranti nel gruppo “Allevamenti” dell’azienda Demo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2400"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64"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L’utente amministratore accede a </a:t>
            </a:r>
            <a:r>
              <a:rPr kumimoji="0" lang="it-IT" sz="2064" b="0" i="0" u="none" strike="noStrike" kern="1200" cap="none" spc="0" normalizeH="0" baseline="0" noProof="0" err="1">
                <a:ln>
                  <a:noFill/>
                </a:ln>
                <a:solidFill>
                  <a:srgbClr val="000000"/>
                </a:solidFill>
                <a:effectLst/>
                <a:uLnTx/>
                <a:uFillTx/>
                <a:latin typeface="Calibri"/>
                <a:ea typeface="Times New Roman" panose="02020603050405020304" pitchFamily="18" charset="0"/>
                <a:cs typeface="Calibri"/>
              </a:rPr>
              <a:t>Envizi</a:t>
            </a:r>
            <a:r>
              <a:rPr kumimoji="0" lang="it-IT" sz="2064"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 e avvia la configurazione dei nuovi utenti.</a:t>
            </a:r>
            <a:endParaRPr kumimoji="0" lang="it-IT" sz="2400" b="0" i="0" u="none" strike="noStrike" kern="120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CasellaDiTesto 2">
            <a:extLst>
              <a:ext uri="{FF2B5EF4-FFF2-40B4-BE49-F238E27FC236}">
                <a16:creationId xmlns:a16="http://schemas.microsoft.com/office/drawing/2014/main" id="{30A8F3E4-5C7B-37EC-650E-94D5EF4A04D7}"/>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Scenario:</a:t>
            </a:r>
          </a:p>
        </p:txBody>
      </p:sp>
    </p:spTree>
    <p:extLst>
      <p:ext uri="{BB962C8B-B14F-4D97-AF65-F5344CB8AC3E}">
        <p14:creationId xmlns:p14="http://schemas.microsoft.com/office/powerpoint/2010/main" val="1840915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EF0B8-39ED-246A-2538-C15F354E7E3B}"/>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BDD5F846-328A-05E6-2A90-F020B5DEA1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8601" y="1353312"/>
            <a:ext cx="10726337" cy="2010540"/>
          </a:xfrm>
          <a:prstGeom prst="rect">
            <a:avLst/>
          </a:prstGeom>
        </p:spPr>
      </p:pic>
      <p:sp>
        <p:nvSpPr>
          <p:cNvPr id="5" name="Rectangle 2">
            <a:extLst>
              <a:ext uri="{FF2B5EF4-FFF2-40B4-BE49-F238E27FC236}">
                <a16:creationId xmlns:a16="http://schemas.microsoft.com/office/drawing/2014/main" id="{8D994C31-FC03-16F2-463A-F293B01DE21C}"/>
              </a:ext>
            </a:extLst>
          </p:cNvPr>
          <p:cNvSpPr>
            <a:spLocks noChangeArrowheads="1"/>
          </p:cNvSpPr>
          <p:nvPr/>
        </p:nvSpPr>
        <p:spPr bwMode="auto">
          <a:xfrm>
            <a:off x="878601" y="3385143"/>
            <a:ext cx="9363547" cy="762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it-IT" altLang="it-IT" sz="1452"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Calibri"/>
              </a:rPr>
              <a:t>Viene visualizzato un modulo digitale da compilare con nome, cognome ed e-mail dell’utente.</a:t>
            </a:r>
            <a:endParaRPr kumimoji="0" lang="it-IT" altLang="it-IT" sz="1600" b="0" i="0" u="none" strike="noStrike" kern="1200" cap="none" spc="0" normalizeH="0" baseline="0" noProof="0" dirty="0">
              <a:ln>
                <a:noFill/>
              </a:ln>
              <a:solidFill>
                <a:srgbClr val="000000"/>
              </a:solidFill>
              <a:effectLst/>
              <a:uLnTx/>
              <a:uFillTx/>
              <a:latin typeface="Arial" panose="020B0604020202020204" pitchFamily="34" charset="0"/>
              <a:cs typeface="Calibri"/>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it-IT" altLang="it-IT" sz="1452"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Calibri"/>
              </a:rPr>
              <a:t>Se il campo “Nome utente” viene lasciato vuoto, </a:t>
            </a:r>
            <a:r>
              <a:rPr kumimoji="0" lang="it-IT" altLang="it-IT" sz="1452" b="0" i="0" u="none" strike="noStrike" kern="1200" cap="none" spc="0" normalizeH="0" baseline="0" noProof="0" dirty="0" err="1">
                <a:ln>
                  <a:noFill/>
                </a:ln>
                <a:solidFill>
                  <a:srgbClr val="000000"/>
                </a:solidFill>
                <a:effectLst/>
                <a:uLnTx/>
                <a:uFillTx/>
                <a:latin typeface="Arial" panose="020B0604020202020204" pitchFamily="34" charset="0"/>
                <a:ea typeface="Times New Roman" panose="02020603050405020304" pitchFamily="18" charset="0"/>
                <a:cs typeface="Calibri"/>
              </a:rPr>
              <a:t>Envizi</a:t>
            </a:r>
            <a:r>
              <a:rPr kumimoji="0" lang="it-IT" altLang="it-IT" sz="1452"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Calibri"/>
              </a:rPr>
              <a:t> utilizzerà l’indirizzo e-mail dell’utente.</a:t>
            </a:r>
            <a:endParaRPr kumimoji="0" lang="it-IT" altLang="it-IT" sz="1600" b="0" i="0" u="none" strike="noStrike" kern="1200" cap="none" spc="0" normalizeH="0" baseline="0" noProof="0" dirty="0">
              <a:ln>
                <a:noFill/>
              </a:ln>
              <a:solidFill>
                <a:srgbClr val="000000"/>
              </a:solidFill>
              <a:effectLst/>
              <a:uLnTx/>
              <a:uFillTx/>
              <a:latin typeface="Arial" panose="020B0604020202020204" pitchFamily="34" charset="0"/>
              <a:cs typeface="Calibri"/>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it-IT" altLang="it-IT" sz="1452"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Calibri"/>
              </a:rPr>
              <a:t>La voce “Utente generale o altro” apre un menu dal quale effettuare la scelta.</a:t>
            </a:r>
            <a:endParaRPr kumimoji="0" lang="it-IT" altLang="it-IT" sz="1600" b="0" i="0" u="none" strike="noStrike" kern="1200" cap="none" spc="0" normalizeH="0" baseline="0" noProof="0" dirty="0">
              <a:ln>
                <a:noFill/>
              </a:ln>
              <a:solidFill>
                <a:srgbClr val="000000"/>
              </a:solidFill>
              <a:effectLst/>
              <a:uLnTx/>
              <a:uFillTx/>
              <a:latin typeface="Arial" panose="020B0604020202020204" pitchFamily="34" charset="0"/>
              <a:cs typeface="Calibri"/>
            </a:endParaRPr>
          </a:p>
        </p:txBody>
      </p:sp>
      <p:pic>
        <p:nvPicPr>
          <p:cNvPr id="1025" name="Immagine 1">
            <a:extLst>
              <a:ext uri="{FF2B5EF4-FFF2-40B4-BE49-F238E27FC236}">
                <a16:creationId xmlns:a16="http://schemas.microsoft.com/office/drawing/2014/main" id="{48B16F96-BF0D-8958-F33D-AFCDCE8F27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671" y="4275949"/>
            <a:ext cx="6847873" cy="2037838"/>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a:extLst>
              <a:ext uri="{FF2B5EF4-FFF2-40B4-BE49-F238E27FC236}">
                <a16:creationId xmlns:a16="http://schemas.microsoft.com/office/drawing/2014/main" id="{8272DDF6-A06E-0D95-24CA-207DD59D122B}"/>
              </a:ext>
            </a:extLst>
          </p:cNvPr>
          <p:cNvSpPr txBox="1"/>
          <p:nvPr/>
        </p:nvSpPr>
        <p:spPr>
          <a:xfrm>
            <a:off x="5388323" y="5059949"/>
            <a:ext cx="6097508" cy="109748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3"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Seleziona utente generale. Elena Lara e Mario devono gestire i dati di loro competenza, non devono avere le autorizzazioni di un utente generale, ad es. non possono aggiungere una sede nel modello e questo è parte fondante della data governance di </a:t>
            </a:r>
            <a:r>
              <a:rPr kumimoji="0" lang="it-IT" sz="1633" b="0" i="0" u="none" strike="noStrike" kern="1200" cap="none" spc="0" normalizeH="0" baseline="0" noProof="0" err="1">
                <a:ln>
                  <a:noFill/>
                </a:ln>
                <a:solidFill>
                  <a:srgbClr val="000000"/>
                </a:solidFill>
                <a:effectLst/>
                <a:uLnTx/>
                <a:uFillTx/>
                <a:latin typeface="Calibri"/>
                <a:ea typeface="Times New Roman" panose="02020603050405020304" pitchFamily="18" charset="0"/>
                <a:cs typeface="Calibri"/>
              </a:rPr>
              <a:t>Envizi</a:t>
            </a:r>
            <a:r>
              <a:rPr kumimoji="0" lang="it-IT" sz="1633"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a:t>
            </a:r>
          </a:p>
        </p:txBody>
      </p:sp>
      <p:sp>
        <p:nvSpPr>
          <p:cNvPr id="102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CasellaDiTesto 2">
            <a:extLst>
              <a:ext uri="{FF2B5EF4-FFF2-40B4-BE49-F238E27FC236}">
                <a16:creationId xmlns:a16="http://schemas.microsoft.com/office/drawing/2014/main" id="{1ECD83C3-A21D-2973-AD7A-7B69C0265165}"/>
              </a:ext>
            </a:extLst>
          </p:cNvPr>
          <p:cNvSpPr txBox="1"/>
          <p:nvPr/>
        </p:nvSpPr>
        <p:spPr>
          <a:xfrm>
            <a:off x="640080" y="457200"/>
            <a:ext cx="10908792" cy="738664"/>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L’Admin crea un nuovo utente Demo: Dalla pagina iniziale seleziona </a:t>
            </a:r>
            <a:br>
              <a:rPr lang="it-IT" sz="2400" b="1" dirty="0">
                <a:solidFill>
                  <a:srgbClr val="073E31"/>
                </a:solidFill>
                <a:latin typeface="Calibri"/>
              </a:rPr>
            </a:br>
            <a:r>
              <a:rPr lang="it-IT" sz="2400" b="1" dirty="0">
                <a:solidFill>
                  <a:srgbClr val="073E31"/>
                </a:solidFill>
                <a:latin typeface="Calibri"/>
              </a:rPr>
              <a:t>Gestisci &gt; Contatti e accessi &gt; Crea nuovo utente.</a:t>
            </a:r>
          </a:p>
        </p:txBody>
      </p:sp>
    </p:spTree>
    <p:extLst>
      <p:ext uri="{BB962C8B-B14F-4D97-AF65-F5344CB8AC3E}">
        <p14:creationId xmlns:p14="http://schemas.microsoft.com/office/powerpoint/2010/main" val="2672218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6E68-9CEE-353C-C976-AC1E539472A8}"/>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38348B9E-709A-9839-51DE-A27319781114}"/>
              </a:ext>
            </a:extLst>
          </p:cNvPr>
          <p:cNvSpPr txBox="1"/>
          <p:nvPr/>
        </p:nvSpPr>
        <p:spPr>
          <a:xfrm>
            <a:off x="531891" y="1042415"/>
            <a:ext cx="10956956" cy="24107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Il campo “Livello di accesso” apre un menu a comparsa di opzioni.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Questo è un secondo livello di data governance, non solo quello che posso fare (ruolo principale) ma dove posso farlo all’interno del data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Se seleziono “organizzazione” l’utente vedrà i dati di tutte le sedi. Se scelgo gruppo sto circoscrivendo la capacità dell’utente, nell’esempio </a:t>
            </a:r>
            <a:r>
              <a:rPr kumimoji="0" lang="it-IT" sz="1638" b="0" i="0" u="none" strike="noStrike" kern="1200" cap="none" spc="0" normalizeH="0" baseline="0" noProof="0" err="1">
                <a:ln>
                  <a:noFill/>
                </a:ln>
                <a:solidFill>
                  <a:srgbClr val="000000"/>
                </a:solidFill>
                <a:effectLst/>
                <a:uLnTx/>
                <a:uFillTx/>
                <a:latin typeface="Calibri"/>
                <a:ea typeface="Times New Roman" panose="02020603050405020304" pitchFamily="18" charset="0"/>
                <a:cs typeface="Calibri"/>
              </a:rPr>
              <a:t>Alfafood</a:t>
            </a: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 decido che Mario vede solo il gruppo Allevamenti, e i dati delle sedi che ricadono sotto questo gruppo.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Esempio - Se scelgo Ubicazione, decido che Elena vede solo i dati della location che selezionerò nel modulo, </a:t>
            </a:r>
            <a:b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br>
            <a:r>
              <a:rPr kumimoji="0" lang="it-IT" sz="1638"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es. solo i dati della sede Allevamenti Centro. </a:t>
            </a:r>
          </a:p>
        </p:txBody>
      </p:sp>
      <p:pic>
        <p:nvPicPr>
          <p:cNvPr id="4" name="Immagine 3">
            <a:extLst>
              <a:ext uri="{FF2B5EF4-FFF2-40B4-BE49-F238E27FC236}">
                <a16:creationId xmlns:a16="http://schemas.microsoft.com/office/drawing/2014/main" id="{0AE84E34-CD82-F0CC-8E37-66088E915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1251" y="3648294"/>
            <a:ext cx="5571809" cy="1788667"/>
          </a:xfrm>
          <a:prstGeom prst="rect">
            <a:avLst/>
          </a:prstGeom>
        </p:spPr>
      </p:pic>
      <p:sp>
        <p:nvSpPr>
          <p:cNvPr id="6" name="CasellaDiTesto 5">
            <a:extLst>
              <a:ext uri="{FF2B5EF4-FFF2-40B4-BE49-F238E27FC236}">
                <a16:creationId xmlns:a16="http://schemas.microsoft.com/office/drawing/2014/main" id="{367C3893-C4F0-01E1-4CD4-790F025E220D}"/>
              </a:ext>
            </a:extLst>
          </p:cNvPr>
          <p:cNvSpPr txBox="1"/>
          <p:nvPr/>
        </p:nvSpPr>
        <p:spPr>
          <a:xfrm>
            <a:off x="377982" y="5262292"/>
            <a:ext cx="11436790" cy="1092787"/>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38"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L’opzione tag offre un ulteriore livello di flessibilità: l’utente Admin può inserire un tag su diverse location appartenenti a diversi gruppi, es. sedi “energivore”, e l’utente associato a questo tag vedrà i dati di queste sedi. Molto utile per utenti che per ruolo aziendale lavorano per progetti attraverso diverse business </a:t>
            </a:r>
            <a:r>
              <a:rPr kumimoji="0" lang="it-IT" sz="1638"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unit</a:t>
            </a:r>
            <a:r>
              <a:rPr kumimoji="0" lang="it-IT" sz="1638"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 gruppi. Risultato maggiore focalizzazione degli utenti sui dati di loro competenza e migliore sicurezza dati per l’azienda.</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7" name="TextBox 6"/>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Seleziona i</a:t>
            </a:r>
            <a:r>
              <a:rPr sz="2400" b="1" dirty="0">
                <a:solidFill>
                  <a:srgbClr val="073E31"/>
                </a:solidFill>
                <a:latin typeface="Calibri"/>
              </a:rPr>
              <a:t>l </a:t>
            </a:r>
            <a:r>
              <a:rPr sz="2400" b="1" dirty="0" err="1">
                <a:solidFill>
                  <a:srgbClr val="073E31"/>
                </a:solidFill>
                <a:latin typeface="Calibri"/>
              </a:rPr>
              <a:t>livello</a:t>
            </a:r>
            <a:r>
              <a:rPr sz="2400" b="1" dirty="0">
                <a:solidFill>
                  <a:srgbClr val="073E31"/>
                </a:solidFill>
                <a:latin typeface="Calibri"/>
              </a:rPr>
              <a:t> di accesso e il </a:t>
            </a:r>
            <a:r>
              <a:rPr sz="2400" b="1" dirty="0" err="1">
                <a:solidFill>
                  <a:srgbClr val="073E31"/>
                </a:solidFill>
                <a:latin typeface="Calibri"/>
              </a:rPr>
              <a:t>perimetro</a:t>
            </a:r>
            <a:r>
              <a:rPr sz="2400" b="1" dirty="0">
                <a:solidFill>
                  <a:srgbClr val="073E31"/>
                </a:solidFill>
                <a:latin typeface="Calibri"/>
              </a:rPr>
              <a:t> </a:t>
            </a:r>
            <a:r>
              <a:rPr sz="2400" b="1" dirty="0" err="1">
                <a:solidFill>
                  <a:srgbClr val="073E31"/>
                </a:solidFill>
                <a:latin typeface="Calibri"/>
              </a:rPr>
              <a:t>dell’utente</a:t>
            </a:r>
            <a:endParaRPr sz="2400" b="1" dirty="0">
              <a:solidFill>
                <a:srgbClr val="073E31"/>
              </a:solidFill>
              <a:latin typeface="Calibri"/>
            </a:endParaRPr>
          </a:p>
        </p:txBody>
      </p:sp>
    </p:spTree>
    <p:extLst>
      <p:ext uri="{BB962C8B-B14F-4D97-AF65-F5344CB8AC3E}">
        <p14:creationId xmlns:p14="http://schemas.microsoft.com/office/powerpoint/2010/main" val="2120877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B12C-7B4E-7C00-E8A7-87497995AF86}"/>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E4C7625D-8369-DD2B-7589-6FAD01F1C7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5384" y="1042415"/>
            <a:ext cx="4405114" cy="3023555"/>
          </a:xfrm>
          <a:prstGeom prst="rect">
            <a:avLst/>
          </a:prstGeom>
        </p:spPr>
      </p:pic>
      <p:pic>
        <p:nvPicPr>
          <p:cNvPr id="3" name="Immagine 2">
            <a:extLst>
              <a:ext uri="{FF2B5EF4-FFF2-40B4-BE49-F238E27FC236}">
                <a16:creationId xmlns:a16="http://schemas.microsoft.com/office/drawing/2014/main" id="{804CCE76-E41D-86EB-610F-1B6A6D7851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0998" y="1042415"/>
            <a:ext cx="5115851" cy="2803615"/>
          </a:xfrm>
          <a:prstGeom prst="rect">
            <a:avLst/>
          </a:prstGeom>
        </p:spPr>
      </p:pic>
      <p:sp>
        <p:nvSpPr>
          <p:cNvPr id="5" name="CasellaDiTesto 4">
            <a:extLst>
              <a:ext uri="{FF2B5EF4-FFF2-40B4-BE49-F238E27FC236}">
                <a16:creationId xmlns:a16="http://schemas.microsoft.com/office/drawing/2014/main" id="{8B8C4848-AFC8-286D-A0A3-568846948189}"/>
              </a:ext>
            </a:extLst>
          </p:cNvPr>
          <p:cNvSpPr txBox="1"/>
          <p:nvPr/>
        </p:nvSpPr>
        <p:spPr>
          <a:xfrm>
            <a:off x="593906" y="4345565"/>
            <a:ext cx="4617920" cy="63161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Nota: Si consiglia di lasciare l’opzione </a:t>
            </a:r>
            <a:b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b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“Gruppo gestito” impostata su “Sì”.</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6" name="Freccia destra 5">
            <a:extLst>
              <a:ext uri="{FF2B5EF4-FFF2-40B4-BE49-F238E27FC236}">
                <a16:creationId xmlns:a16="http://schemas.microsoft.com/office/drawing/2014/main" id="{07208C46-6E7D-77F4-1D3F-F3A7171A4360}"/>
              </a:ext>
            </a:extLst>
          </p:cNvPr>
          <p:cNvSpPr/>
          <p:nvPr/>
        </p:nvSpPr>
        <p:spPr>
          <a:xfrm>
            <a:off x="5540721" y="2031096"/>
            <a:ext cx="679010" cy="256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7" name="CasellaDiTesto 6">
            <a:extLst>
              <a:ext uri="{FF2B5EF4-FFF2-40B4-BE49-F238E27FC236}">
                <a16:creationId xmlns:a16="http://schemas.microsoft.com/office/drawing/2014/main" id="{BC79963E-A361-4E1E-0EF4-9DC7F60CAF85}"/>
              </a:ext>
            </a:extLst>
          </p:cNvPr>
          <p:cNvSpPr txBox="1"/>
          <p:nvPr/>
        </p:nvSpPr>
        <p:spPr>
          <a:xfrm>
            <a:off x="593906" y="4047864"/>
            <a:ext cx="4617920" cy="270893"/>
          </a:xfrm>
          <a:prstGeom prst="rect">
            <a:avLst/>
          </a:prstGeom>
          <a:solidFill>
            <a:schemeClr val="bg1"/>
          </a:solidFill>
        </p:spPr>
        <p:txBody>
          <a:bodyPr wrap="square">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Qui configuro l’utente come utente di gruppo</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8" name="CasellaDiTesto 7">
            <a:extLst>
              <a:ext uri="{FF2B5EF4-FFF2-40B4-BE49-F238E27FC236}">
                <a16:creationId xmlns:a16="http://schemas.microsoft.com/office/drawing/2014/main" id="{A28D8BB4-98F3-C04E-1A76-B1A4F99014F0}"/>
              </a:ext>
            </a:extLst>
          </p:cNvPr>
          <p:cNvSpPr txBox="1"/>
          <p:nvPr/>
        </p:nvSpPr>
        <p:spPr>
          <a:xfrm>
            <a:off x="6219731" y="4047864"/>
            <a:ext cx="4617920" cy="360921"/>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Qui configuro il o i gruppi dell’utente</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10" name="CasellaDiTesto 9">
            <a:extLst>
              <a:ext uri="{FF2B5EF4-FFF2-40B4-BE49-F238E27FC236}">
                <a16:creationId xmlns:a16="http://schemas.microsoft.com/office/drawing/2014/main" id="{DF7E657A-0B43-A83B-E5FF-179B2F84D1B6}"/>
              </a:ext>
            </a:extLst>
          </p:cNvPr>
          <p:cNvSpPr txBox="1"/>
          <p:nvPr/>
        </p:nvSpPr>
        <p:spPr>
          <a:xfrm>
            <a:off x="593906" y="5452776"/>
            <a:ext cx="10545680" cy="9023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Dopo aver compilato il modulo, l’amministratore seleziona Salva.</a:t>
            </a:r>
            <a:b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b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Ripete quindi il processo per il secondo utente e successivamente per il terzo, e così via.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L’Admin ha ora tutta la squadra con i “ruoli principali”  (anche definiti “access </a:t>
            </a:r>
            <a:r>
              <a:rPr kumimoji="0" lang="it-IT" sz="1759" b="0" i="0" u="none" strike="noStrike" kern="1200" cap="none" spc="0" normalizeH="0" baseline="0" noProof="0" err="1">
                <a:ln>
                  <a:noFill/>
                </a:ln>
                <a:solidFill>
                  <a:srgbClr val="000000"/>
                </a:solidFill>
                <a:effectLst/>
                <a:uLnTx/>
                <a:uFillTx/>
                <a:latin typeface="Calibri"/>
                <a:ea typeface="Times New Roman" panose="02020603050405020304" pitchFamily="18" charset="0"/>
                <a:cs typeface="Calibri"/>
              </a:rPr>
              <a:t>level</a:t>
            </a:r>
            <a:r>
              <a:rPr kumimoji="0" lang="it-IT" sz="1759" b="0" i="0" u="none" strike="noStrike" kern="1200" cap="none" spc="0" normalizeH="0" baseline="0" noProof="0">
                <a:ln>
                  <a:noFill/>
                </a:ln>
                <a:solidFill>
                  <a:srgbClr val="000000"/>
                </a:solidFill>
                <a:effectLst/>
                <a:uLnTx/>
                <a:uFillTx/>
                <a:latin typeface="Calibri"/>
                <a:ea typeface="Times New Roman" panose="02020603050405020304" pitchFamily="18" charset="0"/>
                <a:cs typeface="Calibri"/>
              </a:rPr>
              <a:t>”) </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12"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11" name="TextBox 10"/>
          <p:cNvSpPr txBox="1"/>
          <p:nvPr/>
        </p:nvSpPr>
        <p:spPr>
          <a:xfrm>
            <a:off x="640080" y="457200"/>
            <a:ext cx="10908792" cy="43891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sz="2400" b="1">
                <a:solidFill>
                  <a:srgbClr val="073E31"/>
                </a:solidFill>
                <a:latin typeface="Calibri"/>
              </a:rPr>
              <a:t>Configurazione dei gruppi dell’utente</a:t>
            </a:r>
          </a:p>
        </p:txBody>
      </p:sp>
    </p:spTree>
    <p:extLst>
      <p:ext uri="{BB962C8B-B14F-4D97-AF65-F5344CB8AC3E}">
        <p14:creationId xmlns:p14="http://schemas.microsoft.com/office/powerpoint/2010/main" val="1404471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a verde titolo">
            <a:extLst>
              <a:ext uri="{FF2B5EF4-FFF2-40B4-BE49-F238E27FC236}">
                <a16:creationId xmlns:a16="http://schemas.microsoft.com/office/drawing/2014/main" id="{17E14A6B-3D9C-32E8-8F11-B8E33886B0E4}"/>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7" name="TextBox 6">
            <a:extLst>
              <a:ext uri="{FF2B5EF4-FFF2-40B4-BE49-F238E27FC236}">
                <a16:creationId xmlns:a16="http://schemas.microsoft.com/office/drawing/2014/main" id="{A415CA44-8373-D009-6CB3-3F3BE9FC3A1F}"/>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L’Admin ha composto il team</a:t>
            </a:r>
            <a:endParaRPr sz="2400" b="1" dirty="0">
              <a:solidFill>
                <a:srgbClr val="073E31"/>
              </a:solidFill>
              <a:latin typeface="Calibri"/>
            </a:endParaRPr>
          </a:p>
        </p:txBody>
      </p:sp>
      <p:sp>
        <p:nvSpPr>
          <p:cNvPr id="8" name="CasellaDiTesto 7">
            <a:extLst>
              <a:ext uri="{FF2B5EF4-FFF2-40B4-BE49-F238E27FC236}">
                <a16:creationId xmlns:a16="http://schemas.microsoft.com/office/drawing/2014/main" id="{6733972F-A316-1909-1574-E5A483ED6134}"/>
              </a:ext>
            </a:extLst>
          </p:cNvPr>
          <p:cNvSpPr txBox="1"/>
          <p:nvPr/>
        </p:nvSpPr>
        <p:spPr>
          <a:xfrm>
            <a:off x="503446" y="999564"/>
            <a:ext cx="3900389" cy="378372"/>
          </a:xfrm>
          <a:prstGeom prst="rect">
            <a:avLst/>
          </a:prstGeom>
          <a:noFill/>
        </p:spPr>
        <p:txBody>
          <a:bodyPr wrap="square" rtlCol="0">
            <a:spAutoFit/>
          </a:bodyPr>
          <a:lstStyle/>
          <a:p>
            <a:r>
              <a:rPr lang="it-IT" dirty="0"/>
              <a:t>Home page&gt;Gestisci&gt;Contatti e Accessi</a:t>
            </a:r>
          </a:p>
        </p:txBody>
      </p:sp>
      <p:sp>
        <p:nvSpPr>
          <p:cNvPr id="9" name="CasellaDiTesto 8">
            <a:extLst>
              <a:ext uri="{FF2B5EF4-FFF2-40B4-BE49-F238E27FC236}">
                <a16:creationId xmlns:a16="http://schemas.microsoft.com/office/drawing/2014/main" id="{D254DCDB-B5B7-97CE-BB19-C1EF92140EAF}"/>
              </a:ext>
            </a:extLst>
          </p:cNvPr>
          <p:cNvSpPr txBox="1"/>
          <p:nvPr/>
        </p:nvSpPr>
        <p:spPr>
          <a:xfrm>
            <a:off x="429873" y="4646474"/>
            <a:ext cx="11118999" cy="646331"/>
          </a:xfrm>
          <a:prstGeom prst="rect">
            <a:avLst/>
          </a:prstGeom>
          <a:solidFill>
            <a:schemeClr val="bg1"/>
          </a:solidFill>
        </p:spPr>
        <p:txBody>
          <a:bodyPr wrap="square" rtlCol="0">
            <a:spAutoFit/>
          </a:bodyPr>
          <a:lstStyle/>
          <a:p>
            <a:r>
              <a:rPr lang="it-IT" dirty="0"/>
              <a:t>Elena Corsi gestisce i dati delle sedi comprese nel gruppo «5 Allevamenti», ha un livello di accesso circoscritto al gruppo definito. Lana Verdi e Mario Bianchi hanno un profilo simile. Tutte le scelte sono modificabili dall’Admin.</a:t>
            </a:r>
          </a:p>
        </p:txBody>
      </p:sp>
      <p:pic>
        <p:nvPicPr>
          <p:cNvPr id="11" name="Immagine 10">
            <a:extLst>
              <a:ext uri="{FF2B5EF4-FFF2-40B4-BE49-F238E27FC236}">
                <a16:creationId xmlns:a16="http://schemas.microsoft.com/office/drawing/2014/main" id="{CAADCDF3-EFFC-625A-063C-06D1B6932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08" y="1478624"/>
            <a:ext cx="11000764" cy="3095173"/>
          </a:xfrm>
          <a:prstGeom prst="rect">
            <a:avLst/>
          </a:prstGeom>
        </p:spPr>
      </p:pic>
      <p:sp>
        <p:nvSpPr>
          <p:cNvPr id="12" name="Rettangolo 11">
            <a:extLst>
              <a:ext uri="{FF2B5EF4-FFF2-40B4-BE49-F238E27FC236}">
                <a16:creationId xmlns:a16="http://schemas.microsoft.com/office/drawing/2014/main" id="{AE1AA1CA-F374-1268-E9B5-F6DD1B1AFF07}"/>
              </a:ext>
            </a:extLst>
          </p:cNvPr>
          <p:cNvSpPr/>
          <p:nvPr/>
        </p:nvSpPr>
        <p:spPr>
          <a:xfrm>
            <a:off x="6586151" y="2804984"/>
            <a:ext cx="2458995" cy="14951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762051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75D6-8A4B-2758-3C45-514A25A70E30}"/>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1B683310-165F-385A-0FED-3DEE3E0CB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67" y="2909764"/>
            <a:ext cx="6872593" cy="3762884"/>
          </a:xfrm>
          <a:prstGeom prst="rect">
            <a:avLst/>
          </a:prstGeom>
        </p:spPr>
      </p:pic>
      <p:sp>
        <p:nvSpPr>
          <p:cNvPr id="6" name="Testo originale sotto il titolo">
            <a:extLst>
              <a:ext uri="{FF2B5EF4-FFF2-40B4-BE49-F238E27FC236}">
                <a16:creationId xmlns:a16="http://schemas.microsoft.com/office/drawing/2014/main" id="{8ED73C19-0AAD-387A-A419-25AFE695DCED}"/>
              </a:ext>
            </a:extLst>
          </p:cNvPr>
          <p:cNvSpPr txBox="1"/>
          <p:nvPr/>
        </p:nvSpPr>
        <p:spPr>
          <a:xfrm>
            <a:off x="640080" y="1005840"/>
            <a:ext cx="10908792" cy="1371600"/>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pPr>
            <a:r>
              <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A questo punto l’Admin assegnerà un secondo tipo di ruolo, definito work </a:t>
            </a:r>
            <a:r>
              <a:rPr kumimoji="0" lang="it-IT" sz="16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role</a:t>
            </a:r>
            <a:r>
              <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o ruoli lavorativi, che si aggiunge al ruolo principale, e attribuisce capacità operative specialistiche.</a:t>
            </a:r>
          </a:p>
          <a:p>
            <a:pPr marL="0" marR="0" lvl="0" indent="0" algn="l" defTabSz="914400" rtl="0" eaLnBrk="1" fontAlgn="auto" latinLnBrk="0" hangingPunct="1">
              <a:lnSpc>
                <a:spcPct val="100000"/>
              </a:lnSpc>
              <a:spcBef>
                <a:spcPts val="0"/>
              </a:spcBef>
              <a:spcAft>
                <a:spcPts val="0"/>
              </a:spcAft>
              <a:buClrTx/>
              <a:buSzTx/>
              <a:buFontTx/>
              <a:buNone/>
              <a:tabLst/>
              <a:defRPr sz="1400" b="0"/>
            </a:pPr>
            <a:endPar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sz="1400" b="0"/>
            </a:pPr>
            <a:r>
              <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In questo caso sono stati configurati tre General User, privi delle autorizzazioni amministrative necessarie per creare sedi, assegnare accessi o modificare la configurazione generale, ma abilitati a gestire i dati e consultare i report. I tre utenti si distinguono per il Work Role assegnato: Elena, Data Manager, inserisce e modifica i dati; Lara, Data </a:t>
            </a:r>
            <a:r>
              <a:rPr kumimoji="0" lang="it-IT" sz="16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Reviewer</a:t>
            </a:r>
            <a:r>
              <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li verifica e può richiederne la correzione; Mario, Data </a:t>
            </a:r>
            <a:r>
              <a:rPr kumimoji="0" lang="it-IT" sz="16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Approver</a:t>
            </a:r>
            <a:r>
              <a:rPr kumimoji="0" lang="it-IT"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esegue l’approvazione finale.</a:t>
            </a:r>
            <a:endParaRPr kumimoji="0" lang="it-IT"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7"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CasellaDiTesto 3">
            <a:extLst>
              <a:ext uri="{FF2B5EF4-FFF2-40B4-BE49-F238E27FC236}">
                <a16:creationId xmlns:a16="http://schemas.microsoft.com/office/drawing/2014/main" id="{8ED73C19-0AAD-387A-A419-25AFE695DCED}"/>
              </a:ext>
            </a:extLst>
          </p:cNvPr>
          <p:cNvSpPr txBox="1"/>
          <p:nvPr/>
        </p:nvSpPr>
        <p:spPr>
          <a:xfrm>
            <a:off x="640080" y="457200"/>
            <a:ext cx="10908792" cy="438912"/>
          </a:xfrm>
          <a:prstGeom prst="rect">
            <a:avLst/>
          </a:prstGeom>
          <a:noFill/>
        </p:spPr>
        <p:txBody>
          <a:bodyPr wrap="square" lIns="0" tIns="0" rIns="0" bIns="0" anchor="t">
            <a:norm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Assegnazione dei Work Roles</a:t>
            </a:r>
          </a:p>
        </p:txBody>
      </p:sp>
    </p:spTree>
    <p:extLst>
      <p:ext uri="{BB962C8B-B14F-4D97-AF65-F5344CB8AC3E}">
        <p14:creationId xmlns:p14="http://schemas.microsoft.com/office/powerpoint/2010/main" val="1123732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8BF9-394F-3878-ADE0-AE4FA326699F}"/>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1DC8F2C7-F11E-3D54-9575-F1F896A56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06" y="2199893"/>
            <a:ext cx="11116809" cy="3324653"/>
          </a:xfrm>
          <a:prstGeom prst="rect">
            <a:avLst/>
          </a:prstGeom>
        </p:spPr>
      </p:pic>
      <p:sp>
        <p:nvSpPr>
          <p:cNvPr id="4" name="Linea verde titolo">
            <a:extLst>
              <a:ext uri="{FF2B5EF4-FFF2-40B4-BE49-F238E27FC236}">
                <a16:creationId xmlns:a16="http://schemas.microsoft.com/office/drawing/2014/main" id="{6D02708E-B886-143D-9C71-6ECB910C74E2}"/>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5" name="TextBox 6">
            <a:extLst>
              <a:ext uri="{FF2B5EF4-FFF2-40B4-BE49-F238E27FC236}">
                <a16:creationId xmlns:a16="http://schemas.microsoft.com/office/drawing/2014/main" id="{4059FF05-FC6E-CE96-BA67-A1C58C172244}"/>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L’Admin vuole modificare il profilo di un utente</a:t>
            </a:r>
            <a:endParaRPr sz="2400" b="1" dirty="0">
              <a:solidFill>
                <a:srgbClr val="073E31"/>
              </a:solidFill>
              <a:latin typeface="Calibri"/>
            </a:endParaRPr>
          </a:p>
        </p:txBody>
      </p:sp>
      <p:sp>
        <p:nvSpPr>
          <p:cNvPr id="6" name="CasellaDiTesto 5">
            <a:extLst>
              <a:ext uri="{FF2B5EF4-FFF2-40B4-BE49-F238E27FC236}">
                <a16:creationId xmlns:a16="http://schemas.microsoft.com/office/drawing/2014/main" id="{9CEAC7D5-ED49-A456-FD10-22F8DB9212F8}"/>
              </a:ext>
            </a:extLst>
          </p:cNvPr>
          <p:cNvSpPr txBox="1"/>
          <p:nvPr/>
        </p:nvSpPr>
        <p:spPr>
          <a:xfrm>
            <a:off x="503446" y="999564"/>
            <a:ext cx="3900389" cy="1200329"/>
          </a:xfrm>
          <a:prstGeom prst="rect">
            <a:avLst/>
          </a:prstGeom>
          <a:noFill/>
        </p:spPr>
        <p:txBody>
          <a:bodyPr wrap="square" rtlCol="0">
            <a:spAutoFit/>
          </a:bodyPr>
          <a:lstStyle/>
          <a:p>
            <a:r>
              <a:rPr lang="it-IT" dirty="0"/>
              <a:t>Home page&gt;Gestisci&gt;Contatti e Accessi</a:t>
            </a:r>
          </a:p>
          <a:p>
            <a:r>
              <a:rPr lang="it-IT" dirty="0"/>
              <a:t>Seleziona utente</a:t>
            </a:r>
          </a:p>
          <a:p>
            <a:r>
              <a:rPr lang="it-IT" dirty="0"/>
              <a:t>Tasto destro mouse</a:t>
            </a:r>
          </a:p>
          <a:p>
            <a:r>
              <a:rPr lang="it-IT" dirty="0"/>
              <a:t>Seleziona opzione Ruoli Lavorativi</a:t>
            </a:r>
          </a:p>
        </p:txBody>
      </p:sp>
      <p:sp>
        <p:nvSpPr>
          <p:cNvPr id="2" name="Ovale 1">
            <a:extLst>
              <a:ext uri="{FF2B5EF4-FFF2-40B4-BE49-F238E27FC236}">
                <a16:creationId xmlns:a16="http://schemas.microsoft.com/office/drawing/2014/main" id="{52501EE3-6404-F010-D8FB-A0481F108BFA}"/>
              </a:ext>
            </a:extLst>
          </p:cNvPr>
          <p:cNvSpPr/>
          <p:nvPr/>
        </p:nvSpPr>
        <p:spPr>
          <a:xfrm>
            <a:off x="4541644" y="4621427"/>
            <a:ext cx="1495167" cy="1977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pic>
        <p:nvPicPr>
          <p:cNvPr id="9" name="Immagine 8">
            <a:extLst>
              <a:ext uri="{FF2B5EF4-FFF2-40B4-BE49-F238E27FC236}">
                <a16:creationId xmlns:a16="http://schemas.microsoft.com/office/drawing/2014/main" id="{ADE58F89-7974-42D3-1FBF-D2A9169CB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1719" y="4508545"/>
            <a:ext cx="3324494" cy="2216329"/>
          </a:xfrm>
          <a:prstGeom prst="rect">
            <a:avLst/>
          </a:prstGeom>
        </p:spPr>
      </p:pic>
    </p:spTree>
    <p:extLst>
      <p:ext uri="{BB962C8B-B14F-4D97-AF65-F5344CB8AC3E}">
        <p14:creationId xmlns:p14="http://schemas.microsoft.com/office/powerpoint/2010/main" val="1477897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a verde titolo">
            <a:extLst>
              <a:ext uri="{FF2B5EF4-FFF2-40B4-BE49-F238E27FC236}">
                <a16:creationId xmlns:a16="http://schemas.microsoft.com/office/drawing/2014/main" id="{15A0763E-E881-D086-3CA5-6646D080553E}"/>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5" name="TextBox 6">
            <a:extLst>
              <a:ext uri="{FF2B5EF4-FFF2-40B4-BE49-F238E27FC236}">
                <a16:creationId xmlns:a16="http://schemas.microsoft.com/office/drawing/2014/main" id="{1B581E3C-D605-9265-5C3B-7AF9B321F0BD}"/>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L’Admin vuole modificare il profilo di un utente a) Accedi</a:t>
            </a:r>
            <a:endParaRPr sz="2400" b="1" dirty="0">
              <a:solidFill>
                <a:srgbClr val="073E31"/>
              </a:solidFill>
              <a:latin typeface="Calibri"/>
            </a:endParaRPr>
          </a:p>
        </p:txBody>
      </p:sp>
      <p:sp>
        <p:nvSpPr>
          <p:cNvPr id="6" name="CasellaDiTesto 5">
            <a:extLst>
              <a:ext uri="{FF2B5EF4-FFF2-40B4-BE49-F238E27FC236}">
                <a16:creationId xmlns:a16="http://schemas.microsoft.com/office/drawing/2014/main" id="{73B326E7-47D7-B468-F99D-1CCC969BE54E}"/>
              </a:ext>
            </a:extLst>
          </p:cNvPr>
          <p:cNvSpPr txBox="1"/>
          <p:nvPr/>
        </p:nvSpPr>
        <p:spPr>
          <a:xfrm>
            <a:off x="503446" y="999564"/>
            <a:ext cx="10753559" cy="369332"/>
          </a:xfrm>
          <a:prstGeom prst="rect">
            <a:avLst/>
          </a:prstGeom>
          <a:noFill/>
        </p:spPr>
        <p:txBody>
          <a:bodyPr wrap="square" rtlCol="0">
            <a:spAutoFit/>
          </a:bodyPr>
          <a:lstStyle/>
          <a:p>
            <a:r>
              <a:rPr lang="it-IT" dirty="0"/>
              <a:t>L’Admin può associare l’utente a un nuovo ruolo lavorativo. Dalla griglia Crea nuovo. Poi compila modulo.</a:t>
            </a:r>
          </a:p>
        </p:txBody>
      </p:sp>
      <p:pic>
        <p:nvPicPr>
          <p:cNvPr id="10" name="Immagine 9">
            <a:extLst>
              <a:ext uri="{FF2B5EF4-FFF2-40B4-BE49-F238E27FC236}">
                <a16:creationId xmlns:a16="http://schemas.microsoft.com/office/drawing/2014/main" id="{3AF53020-6A4B-E1D1-A5AC-DC49F9EFC3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 y="1541928"/>
            <a:ext cx="9330578" cy="4469542"/>
          </a:xfrm>
          <a:prstGeom prst="rect">
            <a:avLst/>
          </a:prstGeom>
        </p:spPr>
      </p:pic>
      <p:sp>
        <p:nvSpPr>
          <p:cNvPr id="2" name="Freccia giù 1">
            <a:extLst>
              <a:ext uri="{FF2B5EF4-FFF2-40B4-BE49-F238E27FC236}">
                <a16:creationId xmlns:a16="http://schemas.microsoft.com/office/drawing/2014/main" id="{3E7D9603-1316-A5E7-7D87-7A940F3F173A}"/>
              </a:ext>
            </a:extLst>
          </p:cNvPr>
          <p:cNvSpPr/>
          <p:nvPr/>
        </p:nvSpPr>
        <p:spPr>
          <a:xfrm>
            <a:off x="8501449" y="2236573"/>
            <a:ext cx="444843" cy="3336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098511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FB53-C1B1-F41F-1476-D8B1EF379238}"/>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3D7EF24A-A291-3919-7741-34DE5B6644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982" y="1353313"/>
            <a:ext cx="3368946" cy="2462477"/>
          </a:xfrm>
          <a:prstGeom prst="rect">
            <a:avLst/>
          </a:prstGeom>
        </p:spPr>
      </p:pic>
      <p:pic>
        <p:nvPicPr>
          <p:cNvPr id="5" name="Immagine 4">
            <a:extLst>
              <a:ext uri="{FF2B5EF4-FFF2-40B4-BE49-F238E27FC236}">
                <a16:creationId xmlns:a16="http://schemas.microsoft.com/office/drawing/2014/main" id="{AF383BA8-04C3-553F-64F1-29F713E648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8669" y="1353312"/>
            <a:ext cx="3147020" cy="2390049"/>
          </a:xfrm>
          <a:prstGeom prst="rect">
            <a:avLst/>
          </a:prstGeom>
        </p:spPr>
      </p:pic>
      <p:sp>
        <p:nvSpPr>
          <p:cNvPr id="7" name="CasellaDiTesto 6">
            <a:extLst>
              <a:ext uri="{FF2B5EF4-FFF2-40B4-BE49-F238E27FC236}">
                <a16:creationId xmlns:a16="http://schemas.microsoft.com/office/drawing/2014/main" id="{1AFBC886-586D-75D8-3078-3D6D8B53796A}"/>
              </a:ext>
            </a:extLst>
          </p:cNvPr>
          <p:cNvSpPr txBox="1"/>
          <p:nvPr/>
        </p:nvSpPr>
        <p:spPr>
          <a:xfrm>
            <a:off x="995174" y="4409752"/>
            <a:ext cx="9325776"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Seleziono i work </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role</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e salvo. Un utente può essere autorizzato a più work </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role</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(ad esempio Mario può essere sia approvatore che utente autorizzato a modificare i </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powerreport</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Ripeto i passi visti per ogni work </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role</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che associo a ogni utente.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CasellaDiTesto 2">
            <a:extLst>
              <a:ext uri="{FF2B5EF4-FFF2-40B4-BE49-F238E27FC236}">
                <a16:creationId xmlns:a16="http://schemas.microsoft.com/office/drawing/2014/main" id="{7EC5D9A7-14E8-B1BB-1667-48B824BBF527}"/>
              </a:ext>
            </a:extLst>
          </p:cNvPr>
          <p:cNvSpPr txBox="1"/>
          <p:nvPr/>
        </p:nvSpPr>
        <p:spPr>
          <a:xfrm>
            <a:off x="640080" y="457200"/>
            <a:ext cx="10908792" cy="738664"/>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Click tab “Crea Nuovo”&gt; Selezionare uno o più ruoli in base alle competenze e responsabilità</a:t>
            </a:r>
          </a:p>
        </p:txBody>
      </p:sp>
    </p:spTree>
    <p:extLst>
      <p:ext uri="{BB962C8B-B14F-4D97-AF65-F5344CB8AC3E}">
        <p14:creationId xmlns:p14="http://schemas.microsoft.com/office/powerpoint/2010/main" val="1703108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EAD6D-DEF4-0456-5C0F-3BBC460E69EC}"/>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14A54DC5-4D6D-049E-D1D0-75C61EE09B12}"/>
              </a:ext>
            </a:extLst>
          </p:cNvPr>
          <p:cNvSpPr txBox="1"/>
          <p:nvPr/>
        </p:nvSpPr>
        <p:spPr>
          <a:xfrm>
            <a:off x="884976" y="1005840"/>
            <a:ext cx="9915808"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I ruoli </a:t>
            </a:r>
            <a:r>
              <a:rPr kumimoji="0" lang="it-IT" sz="1800" b="1"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Data </a:t>
            </a:r>
            <a:r>
              <a:rPr kumimoji="0" lang="it-IT" sz="1800" b="1"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Reviewer</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e </a:t>
            </a:r>
            <a:r>
              <a:rPr kumimoji="0" lang="it-IT" sz="1800" b="1"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Data </a:t>
            </a:r>
            <a:r>
              <a:rPr kumimoji="0" lang="it-IT" sz="1800" b="1"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Approver</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 sono funzionali al workflow di revisione e approvazione dei dati quando è abilitata la funzionalità </a:t>
            </a:r>
            <a:r>
              <a:rPr kumimoji="0" lang="it-IT" sz="1800" b="1"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Account Data </a:t>
            </a:r>
            <a:r>
              <a:rPr kumimoji="0" lang="it-IT" sz="1800" b="1"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Approvals</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Gestisci&gt;Contatti e accessi&gt;</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dx_mouse</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&gt;seleziona utente Mario Bianchi &gt;</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dx_mouse</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&gt;ruoli lavorativi&gt;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Per Mario Bianchi Create New. Dal menu seleziono Data </a:t>
            </a:r>
            <a:r>
              <a:rPr kumimoji="0" lang="it-IT" sz="1800" b="0" i="0" u="none" strike="noStrike" kern="1200" cap="none" spc="0" normalizeH="0" baseline="0" noProof="0" dirty="0" err="1">
                <a:ln>
                  <a:noFill/>
                </a:ln>
                <a:solidFill>
                  <a:srgbClr val="000000"/>
                </a:solidFill>
                <a:effectLst/>
                <a:uLnTx/>
                <a:uFillTx/>
                <a:latin typeface="Calibri"/>
                <a:ea typeface="Times New Roman" panose="02020603050405020304" pitchFamily="18" charset="0"/>
                <a:cs typeface="Calibri"/>
              </a:rPr>
              <a:t>Approver</a:t>
            </a: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Nel modulo indico se Mario Bianchi è Approvatore per i dati di tutta l’azienda o solo di una location o di un gruppo che seleziono, e se per tutti i tipi di dati o solo alcuni tipi di dati, es elettricità.</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pic>
        <p:nvPicPr>
          <p:cNvPr id="4" name="Immagine 3">
            <a:extLst>
              <a:ext uri="{FF2B5EF4-FFF2-40B4-BE49-F238E27FC236}">
                <a16:creationId xmlns:a16="http://schemas.microsoft.com/office/drawing/2014/main" id="{E0D3290B-B2E2-FC36-33D2-A20845F358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976" y="3710618"/>
            <a:ext cx="10077356" cy="1615430"/>
          </a:xfrm>
          <a:prstGeom prst="rect">
            <a:avLst/>
          </a:prstGeom>
        </p:spPr>
      </p:pic>
      <p:sp>
        <p:nvSpPr>
          <p:cNvPr id="6" name="CasellaDiTesto 5">
            <a:extLst>
              <a:ext uri="{FF2B5EF4-FFF2-40B4-BE49-F238E27FC236}">
                <a16:creationId xmlns:a16="http://schemas.microsoft.com/office/drawing/2014/main" id="{E24BB1F6-3B45-3522-0CA5-9FFC314D3A2D}"/>
              </a:ext>
            </a:extLst>
          </p:cNvPr>
          <p:cNvSpPr txBox="1"/>
          <p:nvPr/>
        </p:nvSpPr>
        <p:spPr>
          <a:xfrm>
            <a:off x="884976" y="5445502"/>
            <a:ext cx="609750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Calibri"/>
              </a:rPr>
              <a:t>Ripeto i passi visti per ogni utente.</a:t>
            </a:r>
            <a:endParaRPr kumimoji="0" lang="it-IT"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7" name="TextBox 6"/>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Ruoli lavorativi </a:t>
            </a:r>
            <a:r>
              <a:rPr sz="2400" b="1" dirty="0">
                <a:solidFill>
                  <a:srgbClr val="073E31"/>
                </a:solidFill>
                <a:latin typeface="Calibri"/>
              </a:rPr>
              <a:t>Data Reviewer e Data Approver</a:t>
            </a:r>
          </a:p>
        </p:txBody>
      </p:sp>
    </p:spTree>
    <p:extLst>
      <p:ext uri="{BB962C8B-B14F-4D97-AF65-F5344CB8AC3E}">
        <p14:creationId xmlns:p14="http://schemas.microsoft.com/office/powerpoint/2010/main" val="465859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2A5ED-2D30-8D16-59A9-A706DDB2378C}"/>
            </a:ext>
          </a:extLst>
        </p:cNvPr>
        <p:cNvGrpSpPr/>
        <p:nvPr/>
      </p:nvGrpSpPr>
      <p:grpSpPr>
        <a:xfrm>
          <a:off x="0" y="0"/>
          <a:ext cx="0" cy="0"/>
          <a:chOff x="0" y="0"/>
          <a:chExt cx="0" cy="0"/>
        </a:xfrm>
      </p:grpSpPr>
      <p:sp>
        <p:nvSpPr>
          <p:cNvPr id="6" name="Linea verde titolo">
            <a:extLst>
              <a:ext uri="{FF2B5EF4-FFF2-40B4-BE49-F238E27FC236}">
                <a16:creationId xmlns:a16="http://schemas.microsoft.com/office/drawing/2014/main" id="{AFE5AA89-4C33-60D4-3EA5-602A42CD0AC7}"/>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7" name="TextBox 6">
            <a:extLst>
              <a:ext uri="{FF2B5EF4-FFF2-40B4-BE49-F238E27FC236}">
                <a16:creationId xmlns:a16="http://schemas.microsoft.com/office/drawing/2014/main" id="{C9CBE7F8-D40D-A914-BC78-E189AA1BA9D1}"/>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L’Admin ha composto il team</a:t>
            </a:r>
            <a:endParaRPr sz="2400" b="1" dirty="0">
              <a:solidFill>
                <a:srgbClr val="073E31"/>
              </a:solidFill>
              <a:latin typeface="Calibri"/>
            </a:endParaRPr>
          </a:p>
        </p:txBody>
      </p:sp>
      <p:sp>
        <p:nvSpPr>
          <p:cNvPr id="8" name="CasellaDiTesto 7">
            <a:extLst>
              <a:ext uri="{FF2B5EF4-FFF2-40B4-BE49-F238E27FC236}">
                <a16:creationId xmlns:a16="http://schemas.microsoft.com/office/drawing/2014/main" id="{EAF0401B-9FED-5659-24BA-1F4FEB59D1F4}"/>
              </a:ext>
            </a:extLst>
          </p:cNvPr>
          <p:cNvSpPr txBox="1"/>
          <p:nvPr/>
        </p:nvSpPr>
        <p:spPr>
          <a:xfrm>
            <a:off x="503446" y="999564"/>
            <a:ext cx="3900389" cy="378372"/>
          </a:xfrm>
          <a:prstGeom prst="rect">
            <a:avLst/>
          </a:prstGeom>
          <a:noFill/>
        </p:spPr>
        <p:txBody>
          <a:bodyPr wrap="square" rtlCol="0">
            <a:spAutoFit/>
          </a:bodyPr>
          <a:lstStyle/>
          <a:p>
            <a:r>
              <a:rPr lang="it-IT" dirty="0"/>
              <a:t>Home page&gt;Gestisci&gt;Contatti e Accessi</a:t>
            </a:r>
          </a:p>
        </p:txBody>
      </p:sp>
      <p:sp>
        <p:nvSpPr>
          <p:cNvPr id="9" name="CasellaDiTesto 8">
            <a:extLst>
              <a:ext uri="{FF2B5EF4-FFF2-40B4-BE49-F238E27FC236}">
                <a16:creationId xmlns:a16="http://schemas.microsoft.com/office/drawing/2014/main" id="{0037FDD5-D1FE-0FC2-730C-B72F889D62D7}"/>
              </a:ext>
            </a:extLst>
          </p:cNvPr>
          <p:cNvSpPr txBox="1"/>
          <p:nvPr/>
        </p:nvSpPr>
        <p:spPr>
          <a:xfrm>
            <a:off x="429873" y="4646474"/>
            <a:ext cx="11118999" cy="1477328"/>
          </a:xfrm>
          <a:prstGeom prst="rect">
            <a:avLst/>
          </a:prstGeom>
          <a:solidFill>
            <a:schemeClr val="bg1"/>
          </a:solidFill>
        </p:spPr>
        <p:txBody>
          <a:bodyPr wrap="square" rtlCol="0">
            <a:spAutoFit/>
          </a:bodyPr>
          <a:lstStyle/>
          <a:p>
            <a:r>
              <a:rPr lang="it-IT" dirty="0"/>
              <a:t>Elena Corsi gestisce i dati delle sedi comprese nel gruppo «5 Allevamenti», ha un livello di accesso circoscritto al gruppo definito. Lana Verdi e Mario Bianchi hanno un profilo simile. Ma  a questo punto sono stati definiti diversi ruoli lavorativi: Elena gestisce i dati, li inserisce e modifica, Laura li revisione, Mario li autorizza (nota Mario autorizza solo i dati di elettricità). Tutte queste scelte di data governance sono modificabili dall’Admin per applicare le decisioni dell’azienda in merito alla governance dei dati ESG.</a:t>
            </a:r>
          </a:p>
        </p:txBody>
      </p:sp>
      <p:pic>
        <p:nvPicPr>
          <p:cNvPr id="11" name="Immagine 10">
            <a:extLst>
              <a:ext uri="{FF2B5EF4-FFF2-40B4-BE49-F238E27FC236}">
                <a16:creationId xmlns:a16="http://schemas.microsoft.com/office/drawing/2014/main" id="{86B987A5-CE83-6262-C1D7-7B1B17976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08" y="1478624"/>
            <a:ext cx="11000764" cy="3095173"/>
          </a:xfrm>
          <a:prstGeom prst="rect">
            <a:avLst/>
          </a:prstGeom>
        </p:spPr>
      </p:pic>
    </p:spTree>
    <p:extLst>
      <p:ext uri="{BB962C8B-B14F-4D97-AF65-F5344CB8AC3E}">
        <p14:creationId xmlns:p14="http://schemas.microsoft.com/office/powerpoint/2010/main" val="804456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8640" y="5641848"/>
            <a:ext cx="10881360" cy="307777"/>
          </a:xfrm>
          <a:prstGeom prst="rect">
            <a:avLst/>
          </a:prstGeom>
          <a:noFill/>
        </p:spPr>
        <p:txBody>
          <a:bodyPr wrap="square" lIns="0" tIns="0" rIns="0" bIns="0" anchor="t">
            <a:spAutoFit/>
          </a:bodyPr>
          <a:lstStyle/>
          <a:p>
            <a:pPr algn="l">
              <a:defRPr sz="2000">
                <a:solidFill>
                  <a:srgbClr val="073E31"/>
                </a:solidFill>
              </a:defRPr>
            </a:pPr>
            <a:r>
              <a:rPr sz="2000" b="0" i="0" dirty="0">
                <a:solidFill>
                  <a:srgbClr val="073E31"/>
                </a:solidFill>
                <a:latin typeface="Calibri"/>
              </a:rPr>
              <a:t> </a:t>
            </a:r>
            <a:endParaRPr sz="2400" b="0" i="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a:defRPr sz="2000">
                <a:solidFill>
                  <a:srgbClr val="073E31"/>
                </a:solidFill>
              </a:defRPr>
            </a:pPr>
            <a:endParaRPr lang="it-IT"/>
          </a:p>
        </p:txBody>
      </p:sp>
      <p:sp>
        <p:nvSpPr>
          <p:cNvPr id="5" name="TextBox 4"/>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8400" y="219456"/>
            <a:ext cx="2743200" cy="25603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F62FE"/>
                </a:solidFill>
                <a:effectLst/>
                <a:uLnTx/>
                <a:uFillTx/>
                <a:latin typeface="IBM Plex Sans"/>
                <a:ea typeface="+mn-ea"/>
                <a:cs typeface="+mn-c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080" y="1280160"/>
            <a:ext cx="6217920" cy="64008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11233F"/>
                </a:solidFill>
                <a:effectLst/>
                <a:uLnTx/>
                <a:uFillTx/>
                <a:latin typeface="IBM Plex Sans"/>
                <a:ea typeface="+mn-ea"/>
                <a:cs typeface="+mn-c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080" y="2084831"/>
            <a:ext cx="1005840"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080" y="2423160"/>
            <a:ext cx="5897880" cy="43891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5B687A"/>
                </a:solidFill>
                <a:effectLst/>
                <a:uLnTx/>
                <a:uFillTx/>
                <a:latin typeface="IBM Plex Sans"/>
                <a:ea typeface="+mn-ea"/>
                <a:cs typeface="+mn-c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080" y="3822191"/>
            <a:ext cx="4206240" cy="27432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1233F"/>
                </a:solidFill>
                <a:effectLst/>
                <a:uLnTx/>
                <a:uFillTx/>
                <a:latin typeface="IBM Plex Sans"/>
                <a:ea typeface="+mn-ea"/>
                <a:cs typeface="+mn-c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080" y="4206240"/>
            <a:ext cx="512064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080" y="4517136"/>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080" y="5047488"/>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0F62FE"/>
                </a:solidFill>
                <a:effectLst/>
                <a:uLnTx/>
                <a:uFillTx/>
                <a:latin typeface="IBM Plex Sans"/>
                <a:ea typeface="+mn-ea"/>
                <a:cs typeface="+mn-cs"/>
              </a:rPr>
              <a:t>linkedin.com</a:t>
            </a:r>
            <a:r>
              <a:rPr kumimoji="0" sz="1400" b="1" i="0" u="none" strike="noStrike" kern="1200" cap="none" spc="0" normalizeH="0" baseline="0" noProof="0" dirty="0">
                <a:ln>
                  <a:noFill/>
                </a:ln>
                <a:solidFill>
                  <a:srgbClr val="0F62FE"/>
                </a:solidFill>
                <a:effectLst/>
                <a:uLnTx/>
                <a:uFillTx/>
                <a:latin typeface="IBM Plex Sans"/>
                <a:ea typeface="+mn-ea"/>
                <a:cs typeface="+mn-cs"/>
              </a:rPr>
              <a:t>/in/</a:t>
            </a:r>
            <a:r>
              <a:rPr kumimoji="0" sz="1400" b="1" i="0" u="none" strike="noStrike" kern="1200" cap="none" spc="0" normalizeH="0" baseline="0" noProof="0" dirty="0" err="1">
                <a:ln>
                  <a:noFill/>
                </a:ln>
                <a:solidFill>
                  <a:srgbClr val="0F62FE"/>
                </a:solidFill>
                <a:effectLst/>
                <a:uLnTx/>
                <a:uFillTx/>
                <a:latin typeface="IBM Plex Sans"/>
                <a:ea typeface="+mn-ea"/>
                <a:cs typeface="+mn-cs"/>
              </a:rPr>
              <a:t>fpetrignano</a:t>
            </a:r>
            <a:endParaRPr kumimoji="0" sz="1400" b="1" i="0" u="none" strike="noStrike" kern="1200" cap="none" spc="0" normalizeH="0" baseline="0" noProof="0" dirty="0">
              <a:ln>
                <a:noFill/>
              </a:ln>
              <a:solidFill>
                <a:srgbClr val="0F62FE"/>
              </a:solidFill>
              <a:effectLst/>
              <a:uLnTx/>
              <a:uFillTx/>
              <a:latin typeface="IBM Plex Sans"/>
              <a:ea typeface="+mn-ea"/>
              <a:cs typeface="+mn-c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240" y="640080"/>
            <a:ext cx="3794760" cy="544068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1000" y="1078992"/>
            <a:ext cx="3063240" cy="274320"/>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F62FE"/>
                </a:solidFill>
                <a:effectLst/>
                <a:uLnTx/>
                <a:uFillTx/>
                <a:latin typeface="IBM Plex Sans"/>
                <a:ea typeface="+mn-ea"/>
                <a:cs typeface="+mn-c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735" y="1600200"/>
            <a:ext cx="2529767" cy="315468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1000" y="5074920"/>
            <a:ext cx="3063240" cy="420624"/>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1233F"/>
                </a:solidFill>
                <a:effectLst/>
                <a:uLnTx/>
                <a:uFillTx/>
                <a:latin typeface="IBM Plex Sans"/>
                <a:ea typeface="+mn-ea"/>
                <a:cs typeface="+mn-c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519" y="176407"/>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6" tIns="0" rIns="36576"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libri"/>
                <a:cs typeface="Calibri"/>
              </a:rPr>
              <a:t>IBM Envizi</a:t>
            </a: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4" name="TextBox 1"/>
          <p:cNvSpPr txBox="1"/>
          <p:nvPr/>
        </p:nvSpPr>
        <p:spPr>
          <a:xfrm>
            <a:off x="640080" y="457200"/>
            <a:ext cx="10908792" cy="369332"/>
          </a:xfrm>
          <a:prstGeom prst="rect">
            <a:avLst/>
          </a:prstGeom>
          <a:noFill/>
        </p:spPr>
        <p:txBody>
          <a:bodyPr wrap="square" lIns="36576" tIns="0" rIns="36576"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073E31"/>
                </a:solidFill>
                <a:latin typeface="Calibri"/>
              </a:defRPr>
            </a:pPr>
            <a:r>
              <a:rPr kumimoji="0" sz="2400" b="1" i="0" u="none" strike="noStrike" kern="1200" cap="none" spc="0" normalizeH="0" baseline="0" noProof="0">
                <a:ln>
                  <a:noFill/>
                </a:ln>
                <a:solidFill>
                  <a:srgbClr val="073E31"/>
                </a:solidFill>
                <a:effectLst/>
                <a:uLnTx/>
                <a:uFillTx/>
                <a:latin typeface="Calibri"/>
                <a:cs typeface="Calibri"/>
              </a:rPr>
              <a:t>Documentazione IBM</a:t>
            </a:r>
            <a:r>
              <a:rPr kumimoji="0" lang="it-IT" sz="2400" b="1" i="0" u="none" strike="noStrike" kern="1200" cap="none" spc="0" normalizeH="0" baseline="0" noProof="0">
                <a:ln>
                  <a:noFill/>
                </a:ln>
                <a:solidFill>
                  <a:srgbClr val="073E31"/>
                </a:solidFill>
                <a:effectLst/>
                <a:uLnTx/>
                <a:uFillTx/>
                <a:latin typeface="Calibri"/>
                <a:cs typeface="Calibri"/>
              </a:rPr>
              <a:t>: utenti, ruoli e accessi</a:t>
            </a:r>
            <a:endParaRPr kumimoji="0" sz="2400" b="1" i="0" u="none" strike="noStrike" kern="1200" cap="none" spc="0" normalizeH="0" baseline="0" noProof="0">
              <a:ln>
                <a:noFill/>
              </a:ln>
              <a:solidFill>
                <a:srgbClr val="073E31"/>
              </a:solidFill>
              <a:effectLst/>
              <a:uLnTx/>
              <a:uFillTx/>
              <a:latin typeface="Calibri"/>
              <a:cs typeface="Calibri"/>
            </a:endParaRPr>
          </a:p>
        </p:txBody>
      </p:sp>
      <p:sp>
        <p:nvSpPr>
          <p:cNvPr id="5" name="TextBox 4"/>
          <p:cNvSpPr txBox="1"/>
          <p:nvPr/>
        </p:nvSpPr>
        <p:spPr>
          <a:xfrm>
            <a:off x="64008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3"/>
              </a:rPr>
              <a:t>Utenti e livelli di accesso</a:t>
            </a:r>
          </a:p>
        </p:txBody>
      </p:sp>
      <p:sp>
        <p:nvSpPr>
          <p:cNvPr id="6" name="TextBox 5"/>
          <p:cNvSpPr txBox="1"/>
          <p:nvPr/>
        </p:nvSpPr>
        <p:spPr>
          <a:xfrm>
            <a:off x="640080" y="1984248"/>
            <a:ext cx="5074920" cy="261610"/>
          </a:xfrm>
          <a:prstGeom prst="rect">
            <a:avLst/>
          </a:prstGeom>
          <a:noFill/>
        </p:spPr>
        <p:txBody>
          <a:bodyPr wrap="square" lIns="0" tIns="0" rIns="0" bIns="0">
            <a:spAutoFit/>
          </a:bodyPr>
          <a:lstStyle/>
          <a:p>
            <a:r>
              <a:rPr lang="it-IT" sz="1700" b="0">
                <a:solidFill>
                  <a:srgbClr val="333333"/>
                </a:solidFill>
                <a:latin typeface="Calibri"/>
              </a:rPr>
              <a:t>Contatti</a:t>
            </a:r>
            <a:r>
              <a:rPr sz="1700" b="0">
                <a:solidFill>
                  <a:srgbClr val="333333"/>
                </a:solidFill>
                <a:latin typeface="Calibri"/>
              </a:rPr>
              <a:t>, </a:t>
            </a:r>
            <a:r>
              <a:rPr lang="it-IT" sz="1700" b="0">
                <a:solidFill>
                  <a:srgbClr val="333333"/>
                </a:solidFill>
                <a:latin typeface="Calibri"/>
              </a:rPr>
              <a:t>login </a:t>
            </a:r>
            <a:r>
              <a:rPr sz="1700" b="0">
                <a:solidFill>
                  <a:srgbClr val="333333"/>
                </a:solidFill>
                <a:latin typeface="Calibri"/>
              </a:rPr>
              <a:t>e </a:t>
            </a:r>
            <a:r>
              <a:rPr lang="it-IT" sz="1700" b="0">
                <a:solidFill>
                  <a:srgbClr val="333333"/>
                </a:solidFill>
                <a:latin typeface="Calibri"/>
              </a:rPr>
              <a:t>visibilità dei dati nell’organizzazione</a:t>
            </a:r>
            <a:r>
              <a:rPr sz="1700" b="0">
                <a:solidFill>
                  <a:srgbClr val="333333"/>
                </a:solidFill>
                <a:latin typeface="Calibri"/>
              </a:rPr>
              <a:t>.</a:t>
            </a:r>
          </a:p>
        </p:txBody>
      </p:sp>
      <p:sp>
        <p:nvSpPr>
          <p:cNvPr id="7" name="TextBox 6"/>
          <p:cNvSpPr txBox="1"/>
          <p:nvPr/>
        </p:nvSpPr>
        <p:spPr>
          <a:xfrm>
            <a:off x="64008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4"/>
              </a:rPr>
              <a:t>Creazione di un nuovo utente</a:t>
            </a:r>
          </a:p>
        </p:txBody>
      </p:sp>
      <p:sp>
        <p:nvSpPr>
          <p:cNvPr id="8" name="TextBox 7"/>
          <p:cNvSpPr txBox="1"/>
          <p:nvPr/>
        </p:nvSpPr>
        <p:spPr>
          <a:xfrm>
            <a:off x="640080" y="3227832"/>
            <a:ext cx="5074920" cy="261610"/>
          </a:xfrm>
          <a:prstGeom prst="rect">
            <a:avLst/>
          </a:prstGeom>
          <a:noFill/>
        </p:spPr>
        <p:txBody>
          <a:bodyPr wrap="square" lIns="0" tIns="0" rIns="0" bIns="0">
            <a:spAutoFit/>
          </a:bodyPr>
          <a:lstStyle/>
          <a:p>
            <a:r>
              <a:rPr lang="it-IT" sz="1700" b="0">
                <a:solidFill>
                  <a:srgbClr val="333333"/>
                </a:solidFill>
                <a:latin typeface="Calibri"/>
              </a:rPr>
              <a:t>Anagrafica</a:t>
            </a:r>
            <a:r>
              <a:rPr sz="1700" b="0">
                <a:solidFill>
                  <a:srgbClr val="333333"/>
                </a:solidFill>
                <a:latin typeface="Calibri"/>
              </a:rPr>
              <a:t>, </a:t>
            </a:r>
            <a:r>
              <a:rPr lang="it-IT" sz="1700" b="0">
                <a:solidFill>
                  <a:srgbClr val="333333"/>
                </a:solidFill>
                <a:latin typeface="Calibri"/>
              </a:rPr>
              <a:t>login </a:t>
            </a:r>
            <a:r>
              <a:rPr sz="1700" b="0">
                <a:solidFill>
                  <a:srgbClr val="333333"/>
                </a:solidFill>
                <a:latin typeface="Calibri"/>
              </a:rPr>
              <a:t>e </a:t>
            </a:r>
            <a:r>
              <a:rPr lang="it-IT" sz="1700" b="0">
                <a:solidFill>
                  <a:srgbClr val="333333"/>
                </a:solidFill>
                <a:latin typeface="Calibri"/>
              </a:rPr>
              <a:t>accessi in un unico modulo</a:t>
            </a:r>
            <a:r>
              <a:rPr sz="1700" b="0">
                <a:solidFill>
                  <a:srgbClr val="333333"/>
                </a:solidFill>
                <a:latin typeface="Calibri"/>
              </a:rPr>
              <a:t>.</a:t>
            </a:r>
          </a:p>
        </p:txBody>
      </p:sp>
      <p:sp>
        <p:nvSpPr>
          <p:cNvPr id="9" name="TextBox 8"/>
          <p:cNvSpPr txBox="1"/>
          <p:nvPr/>
        </p:nvSpPr>
        <p:spPr>
          <a:xfrm>
            <a:off x="64008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5"/>
              </a:rPr>
              <a:t>Contatti e login</a:t>
            </a:r>
          </a:p>
        </p:txBody>
      </p:sp>
      <p:sp>
        <p:nvSpPr>
          <p:cNvPr id="10" name="TextBox 9"/>
          <p:cNvSpPr txBox="1"/>
          <p:nvPr/>
        </p:nvSpPr>
        <p:spPr>
          <a:xfrm>
            <a:off x="640080" y="4471416"/>
            <a:ext cx="5074920" cy="261610"/>
          </a:xfrm>
          <a:prstGeom prst="rect">
            <a:avLst/>
          </a:prstGeom>
          <a:noFill/>
        </p:spPr>
        <p:txBody>
          <a:bodyPr wrap="square" lIns="0" tIns="0" rIns="0" bIns="0">
            <a:spAutoFit/>
          </a:bodyPr>
          <a:lstStyle/>
          <a:p>
            <a:r>
              <a:rPr lang="it-IT" sz="1700" b="0">
                <a:solidFill>
                  <a:srgbClr val="333333"/>
                </a:solidFill>
                <a:latin typeface="Calibri"/>
              </a:rPr>
              <a:t>Creazione separata del contatto </a:t>
            </a:r>
            <a:r>
              <a:rPr sz="1700" b="0">
                <a:solidFill>
                  <a:srgbClr val="333333"/>
                </a:solidFill>
                <a:latin typeface="Calibri"/>
              </a:rPr>
              <a:t>e </a:t>
            </a:r>
            <a:r>
              <a:rPr lang="it-IT" sz="1700" b="0">
                <a:solidFill>
                  <a:srgbClr val="333333"/>
                </a:solidFill>
                <a:latin typeface="Calibri"/>
              </a:rPr>
              <a:t>delle credenziali</a:t>
            </a:r>
            <a:r>
              <a:rPr sz="1700" b="0">
                <a:solidFill>
                  <a:srgbClr val="333333"/>
                </a:solidFill>
                <a:latin typeface="Calibri"/>
              </a:rPr>
              <a:t>.</a:t>
            </a:r>
          </a:p>
        </p:txBody>
      </p:sp>
      <p:sp>
        <p:nvSpPr>
          <p:cNvPr id="11" name="TextBox 10"/>
          <p:cNvSpPr txBox="1"/>
          <p:nvPr/>
        </p:nvSpPr>
        <p:spPr>
          <a:xfrm>
            <a:off x="621792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6"/>
              </a:rPr>
              <a:t>Single Sign-On</a:t>
            </a:r>
          </a:p>
        </p:txBody>
      </p:sp>
      <p:sp>
        <p:nvSpPr>
          <p:cNvPr id="12" name="TextBox 11"/>
          <p:cNvSpPr txBox="1"/>
          <p:nvPr/>
        </p:nvSpPr>
        <p:spPr>
          <a:xfrm>
            <a:off x="6217920" y="1984248"/>
            <a:ext cx="5074920" cy="261610"/>
          </a:xfrm>
          <a:prstGeom prst="rect">
            <a:avLst/>
          </a:prstGeom>
          <a:noFill/>
        </p:spPr>
        <p:txBody>
          <a:bodyPr wrap="square" lIns="0" tIns="0" rIns="0" bIns="0">
            <a:spAutoFit/>
          </a:bodyPr>
          <a:lstStyle/>
          <a:p>
            <a:r>
              <a:rPr lang="it-IT" sz="1700" b="0">
                <a:solidFill>
                  <a:srgbClr val="333333"/>
                </a:solidFill>
                <a:latin typeface="Calibri"/>
              </a:rPr>
              <a:t>Autenticazione aziendale </a:t>
            </a:r>
            <a:r>
              <a:rPr sz="1700" b="0">
                <a:solidFill>
                  <a:srgbClr val="333333"/>
                </a:solidFill>
                <a:latin typeface="Calibri"/>
              </a:rPr>
              <a:t>e </a:t>
            </a:r>
            <a:r>
              <a:rPr lang="it-IT" sz="1700" b="0">
                <a:solidFill>
                  <a:srgbClr val="333333"/>
                </a:solidFill>
                <a:latin typeface="Calibri"/>
              </a:rPr>
              <a:t>gestione degli accessi SSO</a:t>
            </a:r>
            <a:r>
              <a:rPr sz="1700" b="0">
                <a:solidFill>
                  <a:srgbClr val="333333"/>
                </a:solidFill>
                <a:latin typeface="Calibri"/>
              </a:rPr>
              <a:t>.</a:t>
            </a:r>
          </a:p>
        </p:txBody>
      </p:sp>
      <p:sp>
        <p:nvSpPr>
          <p:cNvPr id="13" name="TextBox 12"/>
          <p:cNvSpPr txBox="1"/>
          <p:nvPr/>
        </p:nvSpPr>
        <p:spPr>
          <a:xfrm>
            <a:off x="621792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7"/>
              </a:rPr>
              <a:t>Ruoli di revisione e approvazione</a:t>
            </a:r>
          </a:p>
        </p:txBody>
      </p:sp>
      <p:sp>
        <p:nvSpPr>
          <p:cNvPr id="14" name="TextBox 13"/>
          <p:cNvSpPr txBox="1"/>
          <p:nvPr/>
        </p:nvSpPr>
        <p:spPr>
          <a:xfrm>
            <a:off x="6217920" y="3227832"/>
            <a:ext cx="5074920" cy="523220"/>
          </a:xfrm>
          <a:prstGeom prst="rect">
            <a:avLst/>
          </a:prstGeom>
          <a:noFill/>
        </p:spPr>
        <p:txBody>
          <a:bodyPr wrap="square" lIns="0" tIns="0" rIns="0" bIns="0">
            <a:spAutoFit/>
          </a:bodyPr>
          <a:lstStyle/>
          <a:p>
            <a:r>
              <a:rPr lang="it-IT" sz="1700" b="0">
                <a:solidFill>
                  <a:srgbClr val="333333"/>
                </a:solidFill>
                <a:latin typeface="Calibri"/>
              </a:rPr>
              <a:t>Assegnazione dei ruoli </a:t>
            </a:r>
            <a:r>
              <a:rPr sz="1700" b="0">
                <a:solidFill>
                  <a:srgbClr val="333333"/>
                </a:solidFill>
                <a:latin typeface="Calibri"/>
              </a:rPr>
              <a:t>e </a:t>
            </a:r>
            <a:r>
              <a:rPr lang="it-IT" sz="1700" b="0">
                <a:solidFill>
                  <a:srgbClr val="333333"/>
                </a:solidFill>
                <a:latin typeface="Calibri"/>
              </a:rPr>
              <a:t>restrizioni </a:t>
            </a:r>
            <a:r>
              <a:rPr sz="1700" b="0">
                <a:solidFill>
                  <a:srgbClr val="333333"/>
                </a:solidFill>
                <a:latin typeface="Calibri"/>
              </a:rPr>
              <a:t>per </a:t>
            </a:r>
            <a:r>
              <a:rPr lang="it-IT" sz="1700" b="0">
                <a:solidFill>
                  <a:srgbClr val="333333"/>
                </a:solidFill>
                <a:latin typeface="Calibri"/>
              </a:rPr>
              <a:t>ambito e tipo di dato</a:t>
            </a:r>
            <a:r>
              <a:rPr sz="1700" b="0">
                <a:solidFill>
                  <a:srgbClr val="333333"/>
                </a:solidFill>
                <a:latin typeface="Calibri"/>
              </a:rPr>
              <a:t>.</a:t>
            </a:r>
          </a:p>
        </p:txBody>
      </p:sp>
      <p:sp>
        <p:nvSpPr>
          <p:cNvPr id="15" name="TextBox 14"/>
          <p:cNvSpPr txBox="1"/>
          <p:nvPr/>
        </p:nvSpPr>
        <p:spPr>
          <a:xfrm>
            <a:off x="621792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8"/>
              </a:rPr>
              <a:t>Account Data Approvals</a:t>
            </a:r>
          </a:p>
        </p:txBody>
      </p:sp>
      <p:sp>
        <p:nvSpPr>
          <p:cNvPr id="16" name="TextBox 15"/>
          <p:cNvSpPr txBox="1"/>
          <p:nvPr/>
        </p:nvSpPr>
        <p:spPr>
          <a:xfrm>
            <a:off x="6217920" y="4471416"/>
            <a:ext cx="5074920" cy="523220"/>
          </a:xfrm>
          <a:prstGeom prst="rect">
            <a:avLst/>
          </a:prstGeom>
          <a:noFill/>
        </p:spPr>
        <p:txBody>
          <a:bodyPr wrap="square" lIns="0" tIns="0" rIns="0" bIns="0">
            <a:spAutoFit/>
          </a:bodyPr>
          <a:lstStyle/>
          <a:p>
            <a:r>
              <a:rPr lang="it-IT" sz="1700" b="0">
                <a:solidFill>
                  <a:srgbClr val="333333"/>
                </a:solidFill>
                <a:latin typeface="Calibri"/>
              </a:rPr>
              <a:t>Workflow di revisione, approvazione </a:t>
            </a:r>
            <a:r>
              <a:rPr sz="1700" b="0">
                <a:solidFill>
                  <a:srgbClr val="333333"/>
                </a:solidFill>
                <a:latin typeface="Calibri"/>
              </a:rPr>
              <a:t>e </a:t>
            </a:r>
            <a:r>
              <a:rPr lang="it-IT" sz="1700" b="0">
                <a:solidFill>
                  <a:srgbClr val="333333"/>
                </a:solidFill>
                <a:latin typeface="Calibri"/>
              </a:rPr>
              <a:t>separazione dei compiti</a:t>
            </a:r>
            <a:r>
              <a:rPr sz="1700" b="0">
                <a:solidFill>
                  <a:srgbClr val="333333"/>
                </a:solidFill>
                <a:latin typeface="Calibri"/>
              </a:rPr>
              <a:t>.</a:t>
            </a:r>
          </a:p>
        </p:txBody>
      </p:sp>
      <p:sp>
        <p:nvSpPr>
          <p:cNvPr id="17" name="TextBox 16"/>
          <p:cNvSpPr txBox="1"/>
          <p:nvPr/>
        </p:nvSpPr>
        <p:spPr>
          <a:xfrm>
            <a:off x="640080" y="5650992"/>
            <a:ext cx="10908792" cy="457200"/>
          </a:xfrm>
          <a:prstGeom prst="rect">
            <a:avLst/>
          </a:prstGeom>
          <a:noFill/>
        </p:spPr>
        <p:txBody>
          <a:bodyPr wrap="square" lIns="0" tIns="0" rIns="0" bIns="0">
            <a:spAutoFit/>
          </a:bodyPr>
          <a:lstStyle/>
          <a:p>
            <a:r>
              <a:rPr sz="1500" b="0">
                <a:solidFill>
                  <a:srgbClr val="333333"/>
                </a:solidFill>
                <a:latin typeface="Calibri"/>
              </a:rPr>
              <a:t>Collegamenti ai capitoli IBM Docs in inglese. Consultazione: 9 ottobre 2026.</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3531</Words>
  <Application>Microsoft Macintosh PowerPoint</Application>
  <PresentationFormat>Widescreen</PresentationFormat>
  <Paragraphs>418</Paragraphs>
  <Slides>29</Slides>
  <Notes>13</Notes>
  <HiddenSlides>0</HiddenSlides>
  <MMClips>0</MMClips>
  <ScaleCrop>false</ScaleCrop>
  <HeadingPairs>
    <vt:vector size="6" baseType="variant">
      <vt:variant>
        <vt:lpstr>Caratteri utilizzati</vt:lpstr>
      </vt:variant>
      <vt:variant>
        <vt:i4>9</vt:i4>
      </vt:variant>
      <vt:variant>
        <vt:lpstr>Tema</vt:lpstr>
      </vt:variant>
      <vt:variant>
        <vt:i4>2</vt:i4>
      </vt:variant>
      <vt:variant>
        <vt:lpstr>Titoli diapositive</vt:lpstr>
      </vt:variant>
      <vt:variant>
        <vt:i4>29</vt:i4>
      </vt:variant>
    </vt:vector>
  </HeadingPairs>
  <TitlesOfParts>
    <vt:vector size="40" baseType="lpstr">
      <vt:lpstr>Aptos</vt:lpstr>
      <vt:lpstr>Aptos Display</vt:lpstr>
      <vt:lpstr>Arial</vt:lpstr>
      <vt:lpstr>Calibri</vt:lpstr>
      <vt:lpstr>IBM Plex Sans</vt:lpstr>
      <vt:lpstr>IBM Plex Sans Light</vt:lpstr>
      <vt:lpstr>Symbol</vt:lpstr>
      <vt:lpstr>Times New Roman</vt:lpstr>
      <vt:lpstr>Wingdings</vt:lpstr>
      <vt:lpstr>Tema di Office</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6</cp:revision>
  <dcterms:created xsi:type="dcterms:W3CDTF">2026-10-09T13:31:22Z</dcterms:created>
  <dcterms:modified xsi:type="dcterms:W3CDTF">2026-10-14T09:17:47Z</dcterms:modified>
</cp:coreProperties>
</file>