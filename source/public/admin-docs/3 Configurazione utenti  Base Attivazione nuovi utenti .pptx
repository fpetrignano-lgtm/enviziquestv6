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</p:sldMasterIdLst>
  <p:notesMasterIdLst>
    <p:notesMasterId r:id="rId21"/>
  </p:notesMasterIdLst>
  <p:sldIdLst>
    <p:sldId id="635" r:id="rId3"/>
    <p:sldId id="524" r:id="rId4"/>
    <p:sldId id="437" r:id="rId5"/>
    <p:sldId id="689" r:id="rId6"/>
    <p:sldId id="692" r:id="rId7"/>
    <p:sldId id="442" r:id="rId8"/>
    <p:sldId id="758" r:id="rId9"/>
    <p:sldId id="759" r:id="rId10"/>
    <p:sldId id="760" r:id="rId11"/>
    <p:sldId id="536" r:id="rId12"/>
    <p:sldId id="541" r:id="rId13"/>
    <p:sldId id="538" r:id="rId14"/>
    <p:sldId id="761" r:id="rId15"/>
    <p:sldId id="543" r:id="rId16"/>
    <p:sldId id="544" r:id="rId17"/>
    <p:sldId id="2147478690" r:id="rId18"/>
    <p:sldId id="402" r:id="rId19"/>
    <p:sldId id="2147472656" r:id="rId20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33930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F7EE89-4BDF-4A13-1CBE-7385029C65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3" name="PlaceHolder 1">
            <a:extLst>
              <a:ext uri="{FF2B5EF4-FFF2-40B4-BE49-F238E27FC236}">
                <a16:creationId xmlns:a16="http://schemas.microsoft.com/office/drawing/2014/main" id="{0FC1C29E-C31A-687F-CDAF-D242CBC89A3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54" name="PlaceHolder 2">
            <a:extLst>
              <a:ext uri="{FF2B5EF4-FFF2-40B4-BE49-F238E27FC236}">
                <a16:creationId xmlns:a16="http://schemas.microsoft.com/office/drawing/2014/main" id="{691857AE-C190-C60B-BF49-21FABE880171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endParaRPr lang="it-IT"/>
          </a:p>
          <a:p>
            <a:r>
              <a:rPr lang="it-IT"/>
              <a:t>[Sources]</a:t>
            </a:r>
          </a:p>
          <a:p>
            <a:r>
              <a:rPr lang="it-IT"/>
              <a:t>https://www.ibm.com/docs/en/envizi-esg-suite?topic=administering-setting-up-users</a:t>
            </a:r>
          </a:p>
          <a:p>
            <a:r>
              <a:rPr lang="it-IT"/>
              <a:t>https://www.ibm.com/docs/en/envizi-esg-suite?topic=users-creating-in-single-form</a:t>
            </a:r>
          </a:p>
          <a:p>
            <a:r>
              <a:rPr lang="it-IT"/>
              <a:t>https://www.ibm.com/docs/en/envizi-esg-suite?topic=data-assigning-reviewer-approver-work-roles</a:t>
            </a:r>
          </a:p>
          <a:p>
            <a:r>
              <a:rPr lang="it-IT"/>
              <a:t>Consultazione: 9 ottobre 2026</a:t>
            </a:r>
          </a:p>
          <a:p>
            <a:r>
              <a:rPr lang="it-IT"/>
              <a:t>[/Sources]</a:t>
            </a:r>
          </a:p>
        </p:txBody>
      </p:sp>
      <p:sp>
        <p:nvSpPr>
          <p:cNvPr id="4255" name="PlaceHolder 3">
            <a:extLst>
              <a:ext uri="{FF2B5EF4-FFF2-40B4-BE49-F238E27FC236}">
                <a16:creationId xmlns:a16="http://schemas.microsoft.com/office/drawing/2014/main" id="{76DF4804-1DC9-30B7-43A0-15FD23AC73AE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165862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/>
          </a:p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</a:p>
          <a:p>
            <a:r>
              <a:rPr lang="it-IT"/>
              <a:t>https://www.ibm.com/docs/en/envizi-esg-suite?topic=users-creating-in-single-form</a:t>
            </a:r>
          </a:p>
          <a:p>
            <a:r>
              <a:t>https://www.ibm.com/docs/en/envizi-esg-suite?topic=</a:t>
            </a:r>
            <a:r>
              <a:rPr lang="it-IT"/>
              <a:t>data-assigning-reviewer-approver-work-roles</a:t>
            </a:r>
            <a:endParaRPr/>
          </a:p>
          <a:p>
            <a:r>
              <a:t>Consultazione: 9 ottobre 2026</a:t>
            </a:r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C0A78B-7ECB-A6E3-089B-88EDBC1D8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1" name="PlaceHolder 1">
            <a:extLst>
              <a:ext uri="{FF2B5EF4-FFF2-40B4-BE49-F238E27FC236}">
                <a16:creationId xmlns:a16="http://schemas.microsoft.com/office/drawing/2014/main" id="{06D7DF35-685F-8951-A50E-7C12269737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2" name="PlaceHolder 2">
            <a:extLst>
              <a:ext uri="{FF2B5EF4-FFF2-40B4-BE49-F238E27FC236}">
                <a16:creationId xmlns:a16="http://schemas.microsoft.com/office/drawing/2014/main" id="{550AEDB4-E185-747C-AA40-9D9AB17241CE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L’obiettivo del corso è rendere lo studente autonomo nella lettura e nella gestione della configurazione Envizi. Amministrare la piattaforma significa comprendere la relazione tra dati, account, location e gruppi; gestire i dati significa assicurare caricamenti coerenti, unità corrette e periodicità affidabili; analizzare significa utilizzare dashboard e report sapendo da quali configurazioni derivano i risultati. La sicurezza operativa nasce dalla tracciabilità: quando un totale non è corretto, l’amministratore deve poter risalire dalla vista organizzativa fino alla location, all’account e al record sorgente. Questa competenza riduce correzioni manuali e rende il reporting più affidabile.</a:t>
            </a:r>
          </a:p>
        </p:txBody>
      </p:sp>
      <p:sp>
        <p:nvSpPr>
          <p:cNvPr id="4273" name="PlaceHolder 3">
            <a:extLst>
              <a:ext uri="{FF2B5EF4-FFF2-40B4-BE49-F238E27FC236}">
                <a16:creationId xmlns:a16="http://schemas.microsoft.com/office/drawing/2014/main" id="{DE430B90-FEBB-EEAA-3551-5BEE224BB05C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00462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099894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1799521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9C503C-0DFD-39B3-7DE8-FC1BCCDEB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1" name="PlaceHolder 1">
            <a:extLst>
              <a:ext uri="{FF2B5EF4-FFF2-40B4-BE49-F238E27FC236}">
                <a16:creationId xmlns:a16="http://schemas.microsoft.com/office/drawing/2014/main" id="{40016899-BCAB-75E6-D7C2-F65C1CC3691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2" name="PlaceHolder 2">
            <a:extLst>
              <a:ext uri="{FF2B5EF4-FFF2-40B4-BE49-F238E27FC236}">
                <a16:creationId xmlns:a16="http://schemas.microsoft.com/office/drawing/2014/main" id="{71B7194D-9576-B85B-0584-12B55A9B2FA4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L’obiettivo del corso è rendere lo studente autonomo nella lettura e nella gestione della configurazione Envizi. Amministrare la piattaforma significa comprendere la relazione tra dati, account, location e gruppi; gestire i dati significa assicurare caricamenti coerenti, unità corrette e periodicità affidabili; analizzare significa utilizzare dashboard e report sapendo da quali configurazioni derivano i risultati. La sicurezza operativa nasce dalla tracciabilità: quando un totale non è corretto, l’amministratore deve poter risalire dalla vista organizzativa fino alla location, all’account e al record sorgente. Questa competenza riduce correzioni manuali e rende il reporting più affidabile.</a:t>
            </a:r>
          </a:p>
        </p:txBody>
      </p:sp>
      <p:sp>
        <p:nvSpPr>
          <p:cNvPr id="4273" name="PlaceHolder 3">
            <a:extLst>
              <a:ext uri="{FF2B5EF4-FFF2-40B4-BE49-F238E27FC236}">
                <a16:creationId xmlns:a16="http://schemas.microsoft.com/office/drawing/2014/main" id="{648EDC9E-CFFB-484E-7E4F-0DC7BB72C804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712317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5FA82A-1E34-838B-FFB1-D2818F7C8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1" name="PlaceHolder 1">
            <a:extLst>
              <a:ext uri="{FF2B5EF4-FFF2-40B4-BE49-F238E27FC236}">
                <a16:creationId xmlns:a16="http://schemas.microsoft.com/office/drawing/2014/main" id="{F6F6C1EC-94E2-A260-345D-E6F4B8BF29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2" name="PlaceHolder 2">
            <a:extLst>
              <a:ext uri="{FF2B5EF4-FFF2-40B4-BE49-F238E27FC236}">
                <a16:creationId xmlns:a16="http://schemas.microsoft.com/office/drawing/2014/main" id="{1B1DAFA5-7A39-A388-69D8-A463F31EF69A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L’obiettivo del corso è rendere lo studente autonomo nella lettura e nella gestione della configurazione Envizi. Amministrare la piattaforma significa comprendere la relazione tra dati, account, location e gruppi; gestire i dati significa assicurare caricamenti coerenti, unità corrette e periodicità affidabili; analizzare significa utilizzare dashboard e report sapendo da quali configurazioni derivano i risultati. La sicurezza operativa nasce dalla tracciabilità: quando un totale non è corretto, l’amministratore deve poter risalire dalla vista organizzativa fino alla location, all’account e al record sorgente. Questa competenza riduce correzioni manuali e rende il reporting più affidabile.</a:t>
            </a:r>
          </a:p>
        </p:txBody>
      </p:sp>
      <p:sp>
        <p:nvSpPr>
          <p:cNvPr id="4273" name="PlaceHolder 3">
            <a:extLst>
              <a:ext uri="{FF2B5EF4-FFF2-40B4-BE49-F238E27FC236}">
                <a16:creationId xmlns:a16="http://schemas.microsoft.com/office/drawing/2014/main" id="{65B1447D-6DF7-5E31-38BD-693DE90B9A0B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8205127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CB9F2-9FC6-E73E-A581-9DDF7AB5B8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1" name="PlaceHolder 1">
            <a:extLst>
              <a:ext uri="{FF2B5EF4-FFF2-40B4-BE49-F238E27FC236}">
                <a16:creationId xmlns:a16="http://schemas.microsoft.com/office/drawing/2014/main" id="{1902DA65-C767-1C96-F409-87BED5CC75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4272" name="PlaceHolder 2">
            <a:extLst>
              <a:ext uri="{FF2B5EF4-FFF2-40B4-BE49-F238E27FC236}">
                <a16:creationId xmlns:a16="http://schemas.microsoft.com/office/drawing/2014/main" id="{B0059837-EE76-6215-A125-09E143045FD6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indent="0" algn="l">
              <a:lnSpc>
                <a:spcPct val="100000"/>
              </a:lnSpc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L’obiettivo del corso è rendere lo studente autonomo nella lettura e nella gestione della configurazione Envizi. Amministrare la piattaforma significa comprendere la relazione tra dati, account, location e gruppi; gestire i dati significa assicurare caricamenti coerenti, unità corrette e periodicità affidabili; analizzare significa utilizzare dashboard e report sapendo da quali configurazioni derivano i risultati. La sicurezza operativa nasce dalla tracciabilità: quando un totale non è corretto, l’amministratore deve poter risalire dalla vista organizzativa fino alla location, all’account e al record sorgente. Questa competenza riduce correzioni manuali e rende il reporting più affidabile.</a:t>
            </a:r>
          </a:p>
        </p:txBody>
      </p:sp>
      <p:sp>
        <p:nvSpPr>
          <p:cNvPr id="4273" name="PlaceHolder 3">
            <a:extLst>
              <a:ext uri="{FF2B5EF4-FFF2-40B4-BE49-F238E27FC236}">
                <a16:creationId xmlns:a16="http://schemas.microsoft.com/office/drawing/2014/main" id="{DDE26857-FE77-0128-1554-E4481070A4A2}"/>
              </a:ext>
            </a:extLst>
          </p:cNvPr>
          <p:cNvSpPr>
            <a:spLocks noGrp="1"/>
          </p:cNvSpPr>
          <p:nvPr>
            <p:ph type="sldNum" idx="10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6008803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0016CD-9AF0-0D08-7CFA-34A464C819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C23859-3B47-6423-7748-EF81163E8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0D04F13-5AE6-3CFE-547A-9EA8DC4590B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Envizi consente di distribuire l’utilizzo della piattaforma mantenendo una governance centralizzata. L’Administrator organizza gli accessi in funzione delle responsabilità: chi deve operare dispone delle funzionalità necessarie, chi deve consultare può farlo senza modificare i dati, mentre chi svolge attività di verifica può essere indirizzato alle informazioni pertinenti.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62B0F2-D5F0-5255-2F37-3E481BF10E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6346947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341073-8778-CA0D-D373-9DAAB58827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B2A5F2-178B-E476-D7FC-0FA18B8AFE2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C4B737B-4111-1D86-33DD-5778D66773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Envizi consente di distribuire l’utilizzo della piattaforma mantenendo una governance centralizzata. L’Administrator organizza gli accessi in funzione delle responsabilità: chi deve operare dispone delle funzionalità necessarie, chi deve consultare può farlo senza modificare i dati, mentre chi svolge attività di verifica può essere indirizzato alle informazioni pertinenti.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9488189-3404-F49A-40AC-C2EB37AAAE0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2654036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it-IT"/>
          </a:p>
          <a:p>
            <a:r>
              <a:t>[Sources]</a:t>
            </a:r>
          </a:p>
          <a:p>
            <a:r>
              <a:t>https://www.ibm.com/docs/en/envizi-esg-suite?topic=</a:t>
            </a:r>
            <a:r>
              <a:rPr lang="it-IT"/>
              <a:t>administering-setting-up-users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users-creating-in-single-form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users-creating-contacts-logins</a:t>
            </a:r>
            <a:endParaRPr/>
          </a:p>
          <a:p>
            <a:r>
              <a:t>https://www.ibm.com/docs/en/envizi-esg-suite?topic=</a:t>
            </a:r>
            <a:r>
              <a:rPr lang="it-IT"/>
              <a:t>users-managing-single-sign</a:t>
            </a:r>
            <a:endParaRPr/>
          </a:p>
          <a:p>
            <a:r>
              <a:t>https://www.ibm.com/docs/en/envizi-esg-suite?topic=</a:t>
            </a:r>
            <a:r>
              <a:rPr lang="it-IT"/>
              <a:t>data-assigning-reviewer-approver-work-roles</a:t>
            </a:r>
            <a:endParaRPr/>
          </a:p>
          <a:p>
            <a:r>
              <a:t>https://www.ibm.com/docs/en/envizi-esg-suite?topic=</a:t>
            </a:r>
            <a:r>
              <a:rPr lang="it-IT"/>
              <a:t>managing-approving-account-data</a:t>
            </a:r>
          </a:p>
          <a:p>
            <a:r>
              <a:rPr lang="it-IT"/>
              <a:t>Consultazione: 9 ottobre 2026</a:t>
            </a:r>
            <a:endParaRPr/>
          </a:p>
          <a:p>
            <a:r>
              <a:t>[/Sources]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2CD5BE-E354-EA96-E64F-F0AC237329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F881D665-4F2A-B398-CF3B-E364636802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62C9EF8-4D18-94A5-2298-F4CF4888D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7BB4CE8-49F6-D42C-4392-EC366D961B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89CD48A-D0E6-FB05-1933-269EA049C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20510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1A41227-707B-840F-C5B6-326D4E7830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513DBE6-D642-FCBA-19A1-752B14C47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8BFD7EA-1030-8813-65B5-7A81C8D37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F140446-FFF6-17E5-ACF8-AAF75FF374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75132EE-4F7E-3128-8E7B-30843F245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5085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C166E11-7E16-C139-0F93-275D6EDC75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2ECBA044-A369-C235-DB9D-AE5A05E5E1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4E10939B-4D64-4D30-014F-39C4CA4519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44D1C52-4AE4-F41A-A00D-1D7882562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0DA93982-01C2-35D3-029E-EC975C6E8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39678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6F5A6AE-11FD-5A63-2E08-DF2C2B7D9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10F067A-E360-CAC1-1F32-DB72D71F4E8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DEBBD238-8593-B0CD-DBC2-CB69E64752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D8770B1B-0690-0BEC-B058-B0DBC7FD31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8806F3C-4249-4004-F93C-27862B6F64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0CB48D6-B592-58F5-C76E-CF741432A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753052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EDDB3F-EF4D-C16F-E98B-FD693A6DA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68E7AE9-A7F7-0347-42AB-8AD7BCE1CF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2D4C9A04-81F9-74C1-DB8D-1D5CDA6817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34057E23-D517-E2C4-48F8-812427F109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4194130F-0369-F665-444A-1AEEB290DE8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119CB378-0BBE-7A6A-9A27-169387006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298C14BD-DCA0-E70E-E566-FB849B7E8E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B3FE4936-13E5-3E5A-A8E0-8497C7CD6B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5921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8CAA408-E97E-B094-5112-817B204BB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B4FDFA8E-07AC-4B21-B497-CC9ADDF14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4A25898B-B35D-550D-EDEB-B7534B4ABD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EA0BEA91-934D-06ED-D3B7-5F4ED0DF1B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56085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C898587A-16A6-8E53-EDC2-DC408C313E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E84954C8-60E0-744B-BED1-4574E591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CB05B2A9-ACC0-F125-6C44-B9F7C50E6E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36508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64EE919-3668-774A-93E4-D3767B1E80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D4AB452-9D05-AE91-C6D4-1413437E1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A02CAF97-D7AC-F7AE-3B0D-5E4E1A2300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BD7664DB-3F60-869A-293D-E15D1FC2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185D03E-D3B8-FA59-A614-971B4252B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5D5BD76F-4DE0-6325-2725-EDF82A93E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11976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58C9AA3-452A-D8E6-4056-465331320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50485C4C-21FC-0A89-3F11-52803FA7FB4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F56574D-7784-A7EF-A94D-ABE6924217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DD79D49-DC4F-7E47-0AF0-00AA8919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C2482D1F-24A5-E115-5D77-0E0A4D3C49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DE02F41-E34F-5DA7-77B2-B33D4704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02620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65D44DA4-C384-685E-B6DE-4F509B83F9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8DBF331-686A-90F4-5621-81D1DA547C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B11B76D-A486-90B4-2B90-E9613066C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FE2F5F2-2D4D-B5C2-57AC-629A1285B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4FE253B1-35A4-6615-4536-77EA6DEC3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3867806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EBFDDA5C-3BB3-197C-3EBF-81F1DF4FBA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4641F594-5469-2400-E613-EF1DC0705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D906D95-E722-D35C-CA9C-77DBD69409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CD9CC98-F182-27F0-9D6F-D6D2310C0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0FA1D40-3A3E-B9DF-413C-78DFEA3BD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58033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021081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fondo leggero.png">
            <a:extLst>
              <a:ext uri="{FF2B5EF4-FFF2-40B4-BE49-F238E27FC236}">
                <a16:creationId xmlns:a16="http://schemas.microsoft.com/office/drawing/2014/main" id="{B6667F1F-51A6-7F2E-50D5-83472D04790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5273C7BB-B8F5-AF70-58A1-27484AE2341A}"/>
              </a:ext>
            </a:extLst>
          </p:cNvPr>
          <p:cNvSpPr txBox="1"/>
          <p:nvPr userDrawn="1"/>
        </p:nvSpPr>
        <p:spPr>
          <a:xfrm>
            <a:off x="471115" y="-23853"/>
            <a:ext cx="996894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it-IT" sz="2800" b="1" dirty="0">
              <a:solidFill>
                <a:srgbClr val="14433A"/>
              </a:solidFill>
              <a:latin typeface="IBM Plex Sans" panose="020B050305020300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21294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061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07890280"/>
      </p:ext>
    </p:extLst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F509EA-57CA-9A71-E391-10854E664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435E42-6EB0-A758-C7D1-BC518D2AFA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6EA591-A2B3-4B14-0740-EE8764D7F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E6BF0D-213E-F34D-93C6-37AB37C29CAE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7C7C6F-92F8-28B6-9CB9-837A13758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25189C-1C89-B914-D8D5-484BDDB24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D104AF-6D8B-754A-9FED-073057245C12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2642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4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122327299"/>
      </p:ext>
    </p:extLst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1" cy="762795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67910" y="6452316"/>
            <a:ext cx="136791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‹N›</a:t>
            </a:fld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8000" y="1714500"/>
            <a:ext cx="2477765" cy="428625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7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95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92" indent="-127997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8" y="282576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 dirty="0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80978470"/>
      </p:ext>
    </p:extLst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Data, 3 callouts,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192600"/>
            <a:ext cx="2474590" cy="953294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192600"/>
            <a:ext cx="2474590" cy="951707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192600"/>
            <a:ext cx="2475384" cy="953956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defRPr sz="6499" b="0" i="0">
                <a:solidFill>
                  <a:schemeClr val="accent1"/>
                </a:solidFill>
                <a:latin typeface="IBM Plex Sans Light" panose="020B0403050203000203" pitchFamily="34" charset="0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 dirty="0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600"/>
            <a:ext cx="2474590" cy="1429544"/>
          </a:xfrm>
        </p:spPr>
        <p:txBody>
          <a:bodyPr/>
          <a:lstStyle>
            <a:lvl1pPr>
              <a:lnSpc>
                <a:spcPct val="100000"/>
              </a:lnSpc>
              <a:defRPr sz="31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  <a:prstGeom prst="rect">
            <a:avLst/>
          </a:prstGeom>
        </p:spPr>
        <p:txBody>
          <a:bodyPr anchor="b"/>
          <a:lstStyle>
            <a:lvl1pPr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73137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146275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219412" indent="-73137">
              <a:lnSpc>
                <a:spcPct val="10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  <a:prstGeom prst="rect">
            <a:avLst/>
          </a:prstGeo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>
              <a:lnSpc>
                <a:spcPct val="100000"/>
              </a:lnSpc>
              <a:spcBef>
                <a:spcPts val="0"/>
              </a:spcBef>
              <a:defRPr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6036756"/>
      </p:ext>
    </p:extLst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(with footer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ESG Data &amp; Environmental Intelligence / © 2023 IBM Corporation</a:t>
            </a:r>
            <a:endParaRPr lang="en-US" dirty="0"/>
          </a:p>
        </p:txBody>
      </p:sp>
      <p:sp>
        <p:nvSpPr>
          <p:cNvPr id="4" name="Slide Number Placeholder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9395FB3-9C97-154F-86B2-7E381B951268}" type="slidenum">
              <a:rPr lang="en-US" smtClean="0"/>
              <a:pPr/>
              <a:t>‹N›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2180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ection 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4299" b="0" i="0">
                <a:solidFill>
                  <a:schemeClr val="tx2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 Light" panose="020B04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‹N›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>
            <a:lvl1pPr>
              <a:defRPr b="0" i="0">
                <a:latin typeface="IBM Plex Sans Light" panose="020B0403050203000203" pitchFamily="34" charset="0"/>
              </a:defRPr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842210"/>
      </p:ext>
    </p:extLst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495506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372202883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l">
              <a:buNone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>
              <a:buNone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432000" indent="-324000" algn="l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</a:p>
          <a:p>
            <a:pPr marL="864000" lvl="1" indent="-324000" algn="l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</a:p>
          <a:p>
            <a:pPr marL="1296000" lvl="2" indent="-288000" algn="l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</a:p>
          <a:p>
            <a:pPr marL="1728000" lvl="3" indent="-216000" algn="l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</a:p>
          <a:p>
            <a:pPr marL="2160000" lvl="4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</a:p>
          <a:p>
            <a:pPr marL="2592000" lvl="5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</a:p>
          <a:p>
            <a:pPr marL="3024000" lvl="6" indent="-216000" algn="l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200195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8390B64A-8642-221E-07D5-D63664D4F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0F4BC928-42BA-37B4-95A8-700FD0BA9F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07F09F2-0C7B-17C9-10BD-51D64AC0556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2EC6173-F612-4749-9A99-74C714A5253F}" type="datetimeFigureOut">
              <a:rPr lang="it-IT" smtClean="0"/>
              <a:t>14/10/26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0ABCAB8-7CC0-5919-3A46-44261402D6F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F1454EC-0176-B6DB-9F4C-489697EFD5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75C065-B770-1D45-B8C0-4B0EDA9DDAA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244925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278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dt="0"/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3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12.png"/><Relationship Id="rId7" Type="http://schemas.openxmlformats.org/officeDocument/2006/relationships/hyperlink" Target="mailto:nome.cognome@gmail.com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9.png"/><Relationship Id="rId5" Type="http://schemas.openxmlformats.org/officeDocument/2006/relationships/hyperlink" Target="mailto:messenger@envizi.com" TargetMode="Externa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24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bm.com/docs/en/envizi-esg-suite?topic=managing-approving-account-data" TargetMode="External"/><Relationship Id="rId3" Type="http://schemas.openxmlformats.org/officeDocument/2006/relationships/hyperlink" Target="https://www.ibm.com/docs/en/envizi-esg-suite?topic=administering-setting-up-users" TargetMode="External"/><Relationship Id="rId7" Type="http://schemas.openxmlformats.org/officeDocument/2006/relationships/hyperlink" Target="https://www.ibm.com/docs/en/envizi-esg-suite?topic=data-assigning-reviewer-approver-work-roles" TargetMode="Externa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Relationship Id="rId6" Type="http://schemas.openxmlformats.org/officeDocument/2006/relationships/hyperlink" Target="https://www.ibm.com/docs/en/envizi-esg-suite?topic=users-managing-single-sign" TargetMode="External"/><Relationship Id="rId5" Type="http://schemas.openxmlformats.org/officeDocument/2006/relationships/hyperlink" Target="https://www.ibm.com/docs/en/envizi-esg-suite?topic=users-creating-contacts-logins" TargetMode="External"/><Relationship Id="rId4" Type="http://schemas.openxmlformats.org/officeDocument/2006/relationships/hyperlink" Target="https://www.ibm.com/docs/en/envizi-esg-suite?topic=users-creating-in-single-for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8E94C1-566C-F582-C817-9E35FF694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K-1-img-2">
            <a:extLst>
              <a:ext uri="{FF2B5EF4-FFF2-40B4-BE49-F238E27FC236}">
                <a16:creationId xmlns:a16="http://schemas.microsoft.com/office/drawing/2014/main" id="{857ED53D-59A7-5D41-890D-F7114A35434A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547594" y="1097280"/>
            <a:ext cx="4953008" cy="3438102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7" name="SK-1-img-6">
            <a:extLst>
              <a:ext uri="{FF2B5EF4-FFF2-40B4-BE49-F238E27FC236}">
                <a16:creationId xmlns:a16="http://schemas.microsoft.com/office/drawing/2014/main" id="{5D56AC93-A688-6ECC-034F-E950D9F4CA2B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40080" y="6035040"/>
            <a:ext cx="10881360" cy="9144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8" name="SK-1-img-7">
            <a:extLst>
              <a:ext uri="{FF2B5EF4-FFF2-40B4-BE49-F238E27FC236}">
                <a16:creationId xmlns:a16="http://schemas.microsoft.com/office/drawing/2014/main" id="{4159CB6A-B84D-80D0-F0A2-0063A85ECD0A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010157" y="1097280"/>
            <a:ext cx="5490445" cy="49377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2" name="SK-1-text-11">
            <a:extLst>
              <a:ext uri="{FF2B5EF4-FFF2-40B4-BE49-F238E27FC236}">
                <a16:creationId xmlns:a16="http://schemas.microsoft.com/office/drawing/2014/main" id="{189C8CF6-A3DA-3FE8-27B2-730050E5FCB9}"/>
              </a:ext>
            </a:extLst>
          </p:cNvPr>
          <p:cNvSpPr/>
          <p:nvPr/>
        </p:nvSpPr>
        <p:spPr>
          <a:xfrm>
            <a:off x="640080" y="594360"/>
            <a:ext cx="5212080" cy="3657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1800" b="1">
                <a:solidFill>
                  <a:srgbClr val="2E7D4F"/>
                </a:solidFill>
                <a:latin typeface="Calibri"/>
              </a:rPr>
              <a:t>2026 ESG REPORTING</a:t>
            </a:r>
          </a:p>
        </p:txBody>
      </p:sp>
      <p:sp>
        <p:nvSpPr>
          <p:cNvPr id="23" name="SK-1-text-12">
            <a:extLst>
              <a:ext uri="{FF2B5EF4-FFF2-40B4-BE49-F238E27FC236}">
                <a16:creationId xmlns:a16="http://schemas.microsoft.com/office/drawing/2014/main" id="{8759690C-0B4B-284E-AD9B-87FB5185FDFC}"/>
              </a:ext>
            </a:extLst>
          </p:cNvPr>
          <p:cNvSpPr/>
          <p:nvPr/>
        </p:nvSpPr>
        <p:spPr>
          <a:xfrm>
            <a:off x="640080" y="1234440"/>
            <a:ext cx="5029200" cy="731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4400" b="1">
                <a:solidFill>
                  <a:srgbClr val="14433A"/>
                </a:solidFill>
                <a:latin typeface="Calibri"/>
              </a:rPr>
              <a:t>Envizi</a:t>
            </a:r>
          </a:p>
        </p:txBody>
      </p:sp>
      <p:sp>
        <p:nvSpPr>
          <p:cNvPr id="24" name="SK-1-text-13">
            <a:extLst>
              <a:ext uri="{FF2B5EF4-FFF2-40B4-BE49-F238E27FC236}">
                <a16:creationId xmlns:a16="http://schemas.microsoft.com/office/drawing/2014/main" id="{26CC8673-84D8-87CF-6C96-8DC5FF6EAD58}"/>
              </a:ext>
            </a:extLst>
          </p:cNvPr>
          <p:cNvSpPr/>
          <p:nvPr/>
        </p:nvSpPr>
        <p:spPr>
          <a:xfrm>
            <a:off x="640080" y="2331720"/>
            <a:ext cx="5029200" cy="333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0" anchor="t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>
                <a:solidFill>
                  <a:srgbClr val="5B6B70"/>
                </a:solidFill>
                <a:latin typeface="Calibri"/>
              </a:rPr>
              <a:t>Configurazione utenti, ruoli e segregazione degli accessi 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in </a:t>
            </a:r>
            <a:r>
              <a:rPr lang="it-IT" sz="2200" b="0">
                <a:solidFill>
                  <a:srgbClr val="5B6B70"/>
                </a:solidFill>
                <a:latin typeface="Calibri"/>
              </a:rPr>
              <a:t>Envizi</a:t>
            </a: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endParaRPr lang="it-IT" sz="2200" b="0" dirty="0">
              <a:solidFill>
                <a:srgbClr val="5B6B70"/>
              </a:solidFill>
              <a:latin typeface="Calibri"/>
            </a:endParaRP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Felice Petrignano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800"/>
              </a:spcAft>
            </a:pPr>
            <a:r>
              <a:rPr lang="it-IT" sz="2200" b="0" dirty="0">
                <a:solidFill>
                  <a:srgbClr val="5B6B70"/>
                </a:solidFill>
                <a:latin typeface="Calibri"/>
              </a:rPr>
              <a:t>SME </a:t>
            </a:r>
            <a:r>
              <a:rPr lang="it-IT" sz="2200" b="0" dirty="0" err="1">
                <a:solidFill>
                  <a:srgbClr val="5B6B70"/>
                </a:solidFill>
                <a:latin typeface="Calibri"/>
              </a:rPr>
              <a:t>Envizi</a:t>
            </a:r>
            <a:r>
              <a:rPr lang="it-IT" sz="2200" b="0" dirty="0">
                <a:solidFill>
                  <a:srgbClr val="5B6B70"/>
                </a:solidFill>
                <a:latin typeface="Calibri"/>
              </a:rPr>
              <a:t> IBM Italia</a:t>
            </a:r>
          </a:p>
        </p:txBody>
      </p:sp>
      <p:sp>
        <p:nvSpPr>
          <p:cNvPr id="2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6" name="Rettangolo 2">
            <a:extLst>
              <a:ext uri="{FF2B5EF4-FFF2-40B4-BE49-F238E27FC236}">
                <a16:creationId xmlns:a16="http://schemas.microsoft.com/office/drawing/2014/main" id="{B80EF3E5-EEB9-BD34-726E-465740FD31FE}"/>
              </a:ext>
            </a:extLst>
          </p:cNvPr>
          <p:cNvSpPr/>
          <p:nvPr/>
        </p:nvSpPr>
        <p:spPr>
          <a:xfrm>
            <a:off x="9035359" y="172244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it-IT"/>
              <a:t>IBM </a:t>
            </a:r>
            <a:r>
              <a:rPr lang="it-IT" err="1"/>
              <a:t>Envizi</a:t>
            </a: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828247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asellaDiTesto 8">
            <a:extLst>
              <a:ext uri="{FF2B5EF4-FFF2-40B4-BE49-F238E27FC236}">
                <a16:creationId xmlns:a16="http://schemas.microsoft.com/office/drawing/2014/main" id="{8A2D375A-93C6-74FE-EC20-720C31E7E94A}"/>
              </a:ext>
            </a:extLst>
          </p:cNvPr>
          <p:cNvSpPr txBox="1"/>
          <p:nvPr/>
        </p:nvSpPr>
        <p:spPr>
          <a:xfrm>
            <a:off x="353961" y="1058095"/>
            <a:ext cx="60960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00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Utente: Amministratore di sistema</a:t>
            </a: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1" i="0" u="sng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Creazione e attivazione delle utenze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it-IT" sz="1800" b="1" i="0" u="sng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Contatti e login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Attivazione, password e primo accesso</a:t>
            </a: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Credenziali locali o Single </a:t>
            </a:r>
            <a:r>
              <a:rPr kumimoji="0" lang="it-IT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Sign</a:t>
            </a:r>
            <a:r>
              <a:rPr kumimoji="0" lang="it-IT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rPr>
              <a:t>-On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pic>
        <p:nvPicPr>
          <p:cNvPr id="12" name="Immagine 11">
            <a:extLst>
              <a:ext uri="{FF2B5EF4-FFF2-40B4-BE49-F238E27FC236}">
                <a16:creationId xmlns:a16="http://schemas.microsoft.com/office/drawing/2014/main" id="{453B2D87-94E8-6593-7EBD-F52FA715BC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9504" y="2163774"/>
            <a:ext cx="3144058" cy="3770671"/>
          </a:xfrm>
          <a:prstGeom prst="rect">
            <a:avLst/>
          </a:prstGeom>
        </p:spPr>
      </p:pic>
      <p:sp>
        <p:nvSpPr>
          <p:cNvPr id="1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748E9DFA-B5A3-01AB-7A53-4C116A5597F1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L’Amministratore configura utenti e accessi</a:t>
            </a:r>
            <a:endParaRPr kumimoji="0" lang="it-IT" sz="2400" b="1" i="0" u="none" strike="noStrike" kern="1200" cap="none" spc="0" normalizeH="0" baseline="0" noProof="0" dirty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2" name="Ovale 1">
            <a:extLst>
              <a:ext uri="{FF2B5EF4-FFF2-40B4-BE49-F238E27FC236}">
                <a16:creationId xmlns:a16="http://schemas.microsoft.com/office/drawing/2014/main" id="{2B61D6AD-61ED-7124-3EC3-DCE5389539D9}"/>
              </a:ext>
            </a:extLst>
          </p:cNvPr>
          <p:cNvSpPr/>
          <p:nvPr/>
        </p:nvSpPr>
        <p:spPr>
          <a:xfrm>
            <a:off x="10417579" y="178507"/>
            <a:ext cx="1005841" cy="96754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2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2326313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5BADC8-CEB6-A392-3E13-6559E570F8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magine 11">
            <a:extLst>
              <a:ext uri="{FF2B5EF4-FFF2-40B4-BE49-F238E27FC236}">
                <a16:creationId xmlns:a16="http://schemas.microsoft.com/office/drawing/2014/main" id="{409F78FA-BBBE-B838-8999-397CFD7EF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8601" y="1400547"/>
            <a:ext cx="5905522" cy="4292388"/>
          </a:xfrm>
          <a:prstGeom prst="rect">
            <a:avLst/>
          </a:prstGeom>
        </p:spPr>
      </p:pic>
      <p:pic>
        <p:nvPicPr>
          <p:cNvPr id="31" name="Immagine 30">
            <a:extLst>
              <a:ext uri="{FF2B5EF4-FFF2-40B4-BE49-F238E27FC236}">
                <a16:creationId xmlns:a16="http://schemas.microsoft.com/office/drawing/2014/main" id="{22B7D3C8-FDDF-8F5A-9CAD-04512A7C8B0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2480" y="3675820"/>
            <a:ext cx="6825545" cy="2484529"/>
          </a:xfrm>
          <a:prstGeom prst="rect">
            <a:avLst/>
          </a:prstGeom>
        </p:spPr>
      </p:pic>
      <p:pic>
        <p:nvPicPr>
          <p:cNvPr id="162" name="Immagine 161">
            <a:extLst>
              <a:ext uri="{FF2B5EF4-FFF2-40B4-BE49-F238E27FC236}">
                <a16:creationId xmlns:a16="http://schemas.microsoft.com/office/drawing/2014/main" id="{DCA547E8-BA17-FA01-E67C-D8CDE33DCE88}"/>
              </a:ext>
            </a:extLst>
          </p:cNvPr>
          <p:cNvPicPr/>
          <p:nvPr/>
        </p:nvPicPr>
        <p:blipFill>
          <a:blip r:embed="rId5"/>
          <a:stretch/>
        </p:blipFill>
        <p:spPr>
          <a:xfrm>
            <a:off x="640123" y="5954821"/>
            <a:ext cx="624153" cy="23274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opic">
            <a:extLst>
              <a:ext uri="{FF2B5EF4-FFF2-40B4-BE49-F238E27FC236}">
                <a16:creationId xmlns:a16="http://schemas.microsoft.com/office/drawing/2014/main" id="{FF4534FB-87BE-B648-49CF-F766FD04FCB4}"/>
              </a:ext>
            </a:extLst>
          </p:cNvPr>
          <p:cNvSpPr/>
          <p:nvPr/>
        </p:nvSpPr>
        <p:spPr>
          <a:xfrm>
            <a:off x="7443737" y="6109712"/>
            <a:ext cx="4457520" cy="1557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682" b="1" i="0" u="none" strike="noStrike" kern="1200" cap="none" spc="0" normalizeH="0" baseline="0" noProof="0">
                <a:ln>
                  <a:noFill/>
                </a:ln>
                <a:solidFill>
                  <a:srgbClr val="6F778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Approfondimento · Comprendere Envizi per amministrarlo e usarlo con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Calibri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C209E739-9947-3E84-429A-453C087668FF}"/>
              </a:ext>
            </a:extLst>
          </p:cNvPr>
          <p:cNvSpPr txBox="1"/>
          <p:nvPr/>
        </p:nvSpPr>
        <p:spPr>
          <a:xfrm>
            <a:off x="7876089" y="829243"/>
            <a:ext cx="3029968" cy="277383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457200" indent="-457200" algn="l">
              <a:buFont typeface="+mj-lt"/>
              <a:buAutoNum type="arabicPeriod"/>
              <a:defRPr/>
            </a:pPr>
            <a:r>
              <a:rPr lang="it-IT" sz="1821">
                <a:solidFill>
                  <a:srgbClr val="161C24"/>
                </a:solidFill>
                <a:latin typeface="IBM Plex Sans" panose="020B0503050203000203" pitchFamily="34" charset="0"/>
              </a:rPr>
              <a:t>da Home Page, click </a:t>
            </a:r>
            <a:r>
              <a:rPr lang="it-IT" sz="1821" err="1">
                <a:solidFill>
                  <a:srgbClr val="161C24"/>
                </a:solidFill>
                <a:latin typeface="IBM Plex Sans" panose="020B0503050203000203" pitchFamily="34" charset="0"/>
              </a:rPr>
              <a:t>Manage</a:t>
            </a:r>
            <a:r>
              <a:rPr lang="it-IT" sz="1821">
                <a:solidFill>
                  <a:srgbClr val="161C24"/>
                </a:solidFill>
                <a:latin typeface="IBM Plex Sans" panose="020B0503050203000203" pitchFamily="34" charset="0"/>
              </a:rPr>
              <a:t>, </a:t>
            </a:r>
          </a:p>
          <a:p>
            <a:pPr marL="457200" indent="-457200" algn="l">
              <a:buFont typeface="+mj-lt"/>
              <a:buAutoNum type="arabicPeriod"/>
            </a:pPr>
            <a:endParaRPr lang="it-IT" sz="2000" dirty="0">
              <a:solidFill>
                <a:srgbClr val="161C24"/>
              </a:solidFill>
              <a:latin typeface="IBM Plex Sans" panose="020B0503050203000203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it-IT" sz="1821">
                <a:solidFill>
                  <a:srgbClr val="161C24"/>
                </a:solidFill>
                <a:latin typeface="IBM Plex Sans" panose="020B0503050203000203" pitchFamily="34" charset="0"/>
              </a:rPr>
              <a:t>2) Appare menu -&gt; click </a:t>
            </a:r>
            <a:r>
              <a:rPr lang="it-IT" sz="1821" err="1">
                <a:solidFill>
                  <a:srgbClr val="161C24"/>
                </a:solidFill>
                <a:latin typeface="IBM Plex Sans" panose="020B0503050203000203" pitchFamily="34" charset="0"/>
              </a:rPr>
              <a:t>contacts&amp;logins</a:t>
            </a:r>
            <a:endParaRPr lang="it-IT" sz="2000" dirty="0">
              <a:solidFill>
                <a:srgbClr val="161C24"/>
              </a:solidFill>
              <a:latin typeface="IBM Plex Sans" panose="020B0503050203000203" pitchFamily="34" charset="0"/>
            </a:endParaRPr>
          </a:p>
          <a:p>
            <a:pPr marL="457200" indent="-457200" algn="l">
              <a:buFont typeface="+mj-lt"/>
              <a:buAutoNum type="arabicPeriod"/>
            </a:pPr>
            <a:endParaRPr lang="it-IT" sz="2000" dirty="0">
              <a:solidFill>
                <a:srgbClr val="161C24"/>
              </a:solidFill>
              <a:latin typeface="IBM Plex Sans" panose="020B0503050203000203" pitchFamily="34" charset="0"/>
            </a:endParaRPr>
          </a:p>
          <a:p>
            <a:pPr marL="457200" indent="-457200" algn="l">
              <a:buFont typeface="+mj-lt"/>
              <a:buAutoNum type="arabicPeriod"/>
              <a:defRPr/>
            </a:pPr>
            <a:r>
              <a:rPr lang="it-IT" sz="1821">
                <a:solidFill>
                  <a:srgbClr val="161C24"/>
                </a:solidFill>
                <a:latin typeface="IBM Plex Sans" panose="020B0503050203000203" pitchFamily="34" charset="0"/>
              </a:rPr>
              <a:t>3) Click create new user</a:t>
            </a:r>
          </a:p>
          <a:p>
            <a:pPr algn="l"/>
            <a:endParaRPr sz="2500" b="1" dirty="0">
              <a:solidFill>
                <a:srgbClr val="161C24"/>
              </a:solidFill>
              <a:latin typeface="Aptos"/>
            </a:endParaRPr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ED30F1BC-AD3F-D29E-AD03-C84A3D8E5CAB}"/>
              </a:ext>
            </a:extLst>
          </p:cNvPr>
          <p:cNvGrpSpPr/>
          <p:nvPr/>
        </p:nvGrpSpPr>
        <p:grpSpPr>
          <a:xfrm>
            <a:off x="2260955" y="1259947"/>
            <a:ext cx="485332" cy="622111"/>
            <a:chOff x="8988250" y="2456822"/>
            <a:chExt cx="552659" cy="708412"/>
          </a:xfrm>
        </p:grpSpPr>
        <p:sp>
          <p:nvSpPr>
            <p:cNvPr id="13" name="Triangolo 12">
              <a:extLst>
                <a:ext uri="{FF2B5EF4-FFF2-40B4-BE49-F238E27FC236}">
                  <a16:creationId xmlns:a16="http://schemas.microsoft.com/office/drawing/2014/main" id="{41BCEFBD-85FA-2606-64C3-522CC71CCD3C}"/>
                </a:ext>
              </a:extLst>
            </p:cNvPr>
            <p:cNvSpPr/>
            <p:nvPr/>
          </p:nvSpPr>
          <p:spPr>
            <a:xfrm rot="5400000">
              <a:off x="8910374" y="2534698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CDC99E2B-0326-EB3E-B843-51191B180A47}"/>
                </a:ext>
              </a:extLst>
            </p:cNvPr>
            <p:cNvSpPr txBox="1"/>
            <p:nvPr/>
          </p:nvSpPr>
          <p:spPr>
            <a:xfrm>
              <a:off x="8988250" y="2626361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28" name="Gruppo 27">
            <a:extLst>
              <a:ext uri="{FF2B5EF4-FFF2-40B4-BE49-F238E27FC236}">
                <a16:creationId xmlns:a16="http://schemas.microsoft.com/office/drawing/2014/main" id="{381584B0-5DD9-D62D-94E2-5612F3054F45}"/>
              </a:ext>
            </a:extLst>
          </p:cNvPr>
          <p:cNvGrpSpPr/>
          <p:nvPr/>
        </p:nvGrpSpPr>
        <p:grpSpPr>
          <a:xfrm>
            <a:off x="1621115" y="4089078"/>
            <a:ext cx="485332" cy="622111"/>
            <a:chOff x="9140650" y="3251776"/>
            <a:chExt cx="552659" cy="708412"/>
          </a:xfrm>
        </p:grpSpPr>
        <p:sp>
          <p:nvSpPr>
            <p:cNvPr id="16" name="Triangolo 15">
              <a:extLst>
                <a:ext uri="{FF2B5EF4-FFF2-40B4-BE49-F238E27FC236}">
                  <a16:creationId xmlns:a16="http://schemas.microsoft.com/office/drawing/2014/main" id="{8EA5192F-4DB3-7BDF-D8E6-E8B3C4504742}"/>
                </a:ext>
              </a:extLst>
            </p:cNvPr>
            <p:cNvSpPr/>
            <p:nvPr/>
          </p:nvSpPr>
          <p:spPr>
            <a:xfrm rot="5400000">
              <a:off x="9062774" y="3329652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8" name="CasellaDiTesto 17">
              <a:extLst>
                <a:ext uri="{FF2B5EF4-FFF2-40B4-BE49-F238E27FC236}">
                  <a16:creationId xmlns:a16="http://schemas.microsoft.com/office/drawing/2014/main" id="{3AAC8931-0EE6-90CD-E27C-B01743945159}"/>
                </a:ext>
              </a:extLst>
            </p:cNvPr>
            <p:cNvSpPr txBox="1"/>
            <p:nvPr/>
          </p:nvSpPr>
          <p:spPr>
            <a:xfrm>
              <a:off x="9140650" y="3421315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29" name="Gruppo 28">
            <a:extLst>
              <a:ext uri="{FF2B5EF4-FFF2-40B4-BE49-F238E27FC236}">
                <a16:creationId xmlns:a16="http://schemas.microsoft.com/office/drawing/2014/main" id="{619B309A-9105-3980-4EEC-E37CFB208F90}"/>
              </a:ext>
            </a:extLst>
          </p:cNvPr>
          <p:cNvGrpSpPr/>
          <p:nvPr/>
        </p:nvGrpSpPr>
        <p:grpSpPr>
          <a:xfrm>
            <a:off x="8062849" y="4433781"/>
            <a:ext cx="485332" cy="622111"/>
            <a:chOff x="9293050" y="4281509"/>
            <a:chExt cx="552659" cy="708412"/>
          </a:xfrm>
        </p:grpSpPr>
        <p:sp>
          <p:nvSpPr>
            <p:cNvPr id="21" name="Triangolo 20">
              <a:extLst>
                <a:ext uri="{FF2B5EF4-FFF2-40B4-BE49-F238E27FC236}">
                  <a16:creationId xmlns:a16="http://schemas.microsoft.com/office/drawing/2014/main" id="{257CFA0C-671C-CDD2-276B-131ADD0AD07C}"/>
                </a:ext>
              </a:extLst>
            </p:cNvPr>
            <p:cNvSpPr/>
            <p:nvPr/>
          </p:nvSpPr>
          <p:spPr>
            <a:xfrm rot="5400000">
              <a:off x="9215174" y="4359385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D329FD59-F4D5-4714-37E3-1012F2785068}"/>
                </a:ext>
              </a:extLst>
            </p:cNvPr>
            <p:cNvSpPr txBox="1"/>
            <p:nvPr/>
          </p:nvSpPr>
          <p:spPr>
            <a:xfrm>
              <a:off x="9293050" y="4451048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>
                  <a:solidFill>
                    <a:schemeClr val="bg1"/>
                  </a:solidFill>
                </a:rPr>
                <a:t>3</a:t>
              </a:r>
            </a:p>
          </p:txBody>
        </p:sp>
      </p:grpSp>
      <p:pic>
        <p:nvPicPr>
          <p:cNvPr id="4" name="Immagine 3">
            <a:extLst>
              <a:ext uri="{FF2B5EF4-FFF2-40B4-BE49-F238E27FC236}">
                <a16:creationId xmlns:a16="http://schemas.microsoft.com/office/drawing/2014/main" id="{C061E338-90C7-EB9C-8521-8A0399A64BD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3669" y="4713393"/>
            <a:ext cx="1583704" cy="1550246"/>
          </a:xfrm>
          <a:prstGeom prst="rect">
            <a:avLst/>
          </a:prstGeom>
        </p:spPr>
      </p:pic>
      <p:sp>
        <p:nvSpPr>
          <p:cNvPr id="16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0AC6858A-9596-0497-3F7D-4A6C81482692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Anna (Admin user) attiva la creazione di un nuovo utente</a:t>
            </a:r>
          </a:p>
        </p:txBody>
      </p:sp>
    </p:spTree>
    <p:extLst>
      <p:ext uri="{BB962C8B-B14F-4D97-AF65-F5344CB8AC3E}">
        <p14:creationId xmlns:p14="http://schemas.microsoft.com/office/powerpoint/2010/main" val="13735480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32C07-1123-0287-E4FB-C1ACB2F38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ndaChiave"/>
          <p:cNvSpPr/>
          <p:nvPr/>
        </p:nvSpPr>
        <p:spPr>
          <a:xfrm>
            <a:off x="305752" y="6240465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it-IT" b="1" dirty="0">
                <a:solidFill>
                  <a:srgbClr val="FFFFFF"/>
                </a:solidFill>
                <a:latin typeface="Calibri"/>
              </a:rPr>
              <a:t>I</a:t>
            </a:r>
            <a:r>
              <a:rPr b="1" dirty="0">
                <a:solidFill>
                  <a:srgbClr val="FFFFFF"/>
                </a:solidFill>
                <a:latin typeface="Calibri"/>
              </a:rPr>
              <a:t>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profili</a:t>
            </a:r>
            <a:r>
              <a:rPr b="1" dirty="0">
                <a:solidFill>
                  <a:srgbClr val="FFFFFF"/>
                </a:solidFill>
                <a:latin typeface="Calibri"/>
              </a:rPr>
              <a:t>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che</a:t>
            </a:r>
            <a:r>
              <a:rPr b="1" dirty="0">
                <a:solidFill>
                  <a:srgbClr val="FFFFFF"/>
                </a:solidFill>
                <a:latin typeface="Calibri"/>
              </a:rPr>
              <a:t>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lavorano</a:t>
            </a:r>
            <a:r>
              <a:rPr b="1" dirty="0">
                <a:solidFill>
                  <a:srgbClr val="FFFFFF"/>
                </a:solidFill>
                <a:latin typeface="Calibri"/>
              </a:rPr>
              <a:t>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nella</a:t>
            </a:r>
            <a:r>
              <a:rPr b="1" dirty="0">
                <a:solidFill>
                  <a:srgbClr val="FFFFFF"/>
                </a:solidFill>
                <a:latin typeface="Calibri"/>
              </a:rPr>
              <a:t>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piattaforma</a:t>
            </a:r>
            <a:r>
              <a:rPr b="1" dirty="0">
                <a:solidFill>
                  <a:srgbClr val="FFFFFF"/>
                </a:solidFill>
                <a:latin typeface="Calibri"/>
              </a:rPr>
              <a:t>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richiedono</a:t>
            </a:r>
            <a:r>
              <a:rPr b="1" dirty="0">
                <a:solidFill>
                  <a:srgbClr val="FFFFFF"/>
                </a:solidFill>
                <a:latin typeface="Calibri"/>
              </a:rPr>
              <a:t> un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utente</a:t>
            </a:r>
            <a:r>
              <a:rPr b="1" dirty="0">
                <a:solidFill>
                  <a:srgbClr val="FFFFFF"/>
                </a:solidFill>
                <a:latin typeface="Calibri"/>
              </a:rPr>
              <a:t>. Per sole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comunicazioni</a:t>
            </a:r>
            <a:r>
              <a:rPr b="1" dirty="0">
                <a:solidFill>
                  <a:srgbClr val="FFFFFF"/>
                </a:solidFill>
                <a:latin typeface="Calibri"/>
              </a:rPr>
              <a:t> basta un </a:t>
            </a:r>
            <a:r>
              <a:rPr b="1" dirty="0" err="1">
                <a:solidFill>
                  <a:srgbClr val="FFFFFF"/>
                </a:solidFill>
                <a:latin typeface="Calibri"/>
              </a:rPr>
              <a:t>contatto</a:t>
            </a:r>
            <a:r>
              <a:rPr b="1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5" name="Card1"/>
          <p:cNvSpPr/>
          <p:nvPr/>
        </p:nvSpPr>
        <p:spPr>
          <a:xfrm>
            <a:off x="301752" y="1970875"/>
            <a:ext cx="3767328" cy="4002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600" b="1">
                <a:solidFill>
                  <a:srgbClr val="007D79"/>
                </a:solidFill>
                <a:latin typeface="Calibri"/>
              </a:rPr>
              <a:t>Quando serve un utente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0F4761"/>
                </a:solidFill>
                <a:latin typeface="Calibri"/>
              </a:rPr>
              <a:t>Accesso alla piattaforma.</a:t>
            </a:r>
            <a:br/>
            <a:br/>
            <a:r>
              <a:rPr sz="1600" b="0">
                <a:solidFill>
                  <a:srgbClr val="0F4761"/>
                </a:solidFill>
                <a:latin typeface="Calibri"/>
              </a:rPr>
              <a:t>Consultazione di dashboard e report.</a:t>
            </a:r>
            <a:br/>
            <a:br/>
            <a:r>
              <a:rPr sz="1600" b="0">
                <a:solidFill>
                  <a:srgbClr val="0F4761"/>
                </a:solidFill>
                <a:latin typeface="Calibri"/>
              </a:rPr>
              <a:t>Inserimento o modifica dei dati.</a:t>
            </a:r>
            <a:br/>
            <a:br/>
            <a:r>
              <a:rPr sz="1600" b="0">
                <a:solidFill>
                  <a:srgbClr val="0F4761"/>
                </a:solidFill>
                <a:latin typeface="Calibri"/>
              </a:rPr>
              <a:t>Approvazione dei dati.</a:t>
            </a:r>
            <a:br/>
            <a:br/>
            <a:r>
              <a:rPr sz="1600" b="0">
                <a:solidFill>
                  <a:srgbClr val="0F4761"/>
                </a:solidFill>
                <a:latin typeface="Calibri"/>
              </a:rPr>
              <a:t>Amministrazione di Envizi.</a:t>
            </a:r>
          </a:p>
        </p:txBody>
      </p:sp>
      <p:sp>
        <p:nvSpPr>
          <p:cNvPr id="6" name="Card2"/>
          <p:cNvSpPr/>
          <p:nvPr/>
        </p:nvSpPr>
        <p:spPr>
          <a:xfrm>
            <a:off x="4261104" y="1970875"/>
            <a:ext cx="3767328" cy="4002625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600" b="1">
                <a:solidFill>
                  <a:srgbClr val="007D79"/>
                </a:solidFill>
                <a:latin typeface="Calibri"/>
              </a:rPr>
              <a:t>Esempi di profilo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>
                <a:solidFill>
                  <a:srgbClr val="0F4761"/>
                </a:solidFill>
                <a:latin typeface="Calibri"/>
              </a:rPr>
              <a:t>Mario Bianchi</a:t>
            </a:r>
            <a:br/>
            <a:r>
              <a:rPr sz="1600" b="0">
                <a:solidFill>
                  <a:srgbClr val="0F4761"/>
                </a:solidFill>
                <a:latin typeface="Calibri"/>
              </a:rPr>
              <a:t>Energy Manager</a:t>
            </a:r>
            <a:br/>
            <a:br/>
            <a:r>
              <a:rPr sz="1600" b="0">
                <a:solidFill>
                  <a:srgbClr val="0F4761"/>
                </a:solidFill>
                <a:latin typeface="Calibri"/>
              </a:rPr>
              <a:t>Lara Verdi</a:t>
            </a:r>
            <a:br/>
            <a:r>
              <a:rPr sz="1600" b="0">
                <a:solidFill>
                  <a:srgbClr val="0F4761"/>
                </a:solidFill>
                <a:latin typeface="Calibri"/>
              </a:rPr>
              <a:t>Data Reviewer</a:t>
            </a:r>
            <a:br/>
            <a:br/>
            <a:r>
              <a:rPr sz="1600" b="0">
                <a:solidFill>
                  <a:srgbClr val="0F4761"/>
                </a:solidFill>
                <a:latin typeface="Calibri"/>
              </a:rPr>
              <a:t>Paolo Rossi</a:t>
            </a:r>
            <a:br/>
            <a:r>
              <a:rPr sz="1600" b="0">
                <a:solidFill>
                  <a:srgbClr val="0F4761"/>
                </a:solidFill>
                <a:latin typeface="Calibri"/>
              </a:rPr>
              <a:t>System Administrator</a:t>
            </a:r>
          </a:p>
        </p:txBody>
      </p:sp>
      <p:sp>
        <p:nvSpPr>
          <p:cNvPr id="7" name="Card1"/>
          <p:cNvSpPr/>
          <p:nvPr/>
        </p:nvSpPr>
        <p:spPr>
          <a:xfrm>
            <a:off x="8229600" y="1970875"/>
            <a:ext cx="3657600" cy="4002625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lang="it-IT" sz="1600" b="1" dirty="0">
                <a:solidFill>
                  <a:srgbClr val="007D79"/>
                </a:solidFill>
                <a:latin typeface="Calibri"/>
              </a:rPr>
              <a:t>Ruoli tipici</a:t>
            </a:r>
            <a:endParaRPr sz="1600" b="1" dirty="0">
              <a:solidFill>
                <a:srgbClr val="007D79"/>
              </a:solidFill>
              <a:latin typeface="Calibri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600" b="0" dirty="0">
                <a:solidFill>
                  <a:srgbClr val="0F4761"/>
                </a:solidFill>
                <a:latin typeface="Calibri"/>
              </a:rPr>
              <a:t>Energy Manager, Sustainability Manager, Data Reviewer e Data Approver </a:t>
            </a:r>
            <a:r>
              <a:rPr sz="1600" b="0" dirty="0" err="1">
                <a:solidFill>
                  <a:srgbClr val="0F4761"/>
                </a:solidFill>
                <a:latin typeface="Calibri"/>
              </a:rPr>
              <a:t>devono</a:t>
            </a:r>
            <a:r>
              <a:rPr sz="1600" b="0" dirty="0">
                <a:solidFill>
                  <a:srgbClr val="0F4761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0F4761"/>
                </a:solidFill>
                <a:latin typeface="Calibri"/>
              </a:rPr>
              <a:t>accedere</a:t>
            </a:r>
            <a:r>
              <a:rPr sz="1600" b="0" dirty="0">
                <a:solidFill>
                  <a:srgbClr val="0F4761"/>
                </a:solidFill>
                <a:latin typeface="Calibri"/>
              </a:rPr>
              <a:t> alla </a:t>
            </a:r>
            <a:r>
              <a:rPr sz="1600" b="0" dirty="0" err="1">
                <a:solidFill>
                  <a:srgbClr val="0F4761"/>
                </a:solidFill>
                <a:latin typeface="Calibri"/>
              </a:rPr>
              <a:t>piattaforma</a:t>
            </a:r>
            <a:r>
              <a:rPr sz="1600" b="0" dirty="0">
                <a:solidFill>
                  <a:srgbClr val="0F4761"/>
                </a:solidFill>
                <a:latin typeface="Calibri"/>
              </a:rPr>
              <a:t>.</a:t>
            </a:r>
            <a:br>
              <a:rPr dirty="0"/>
            </a:br>
            <a:br>
              <a:rPr dirty="0"/>
            </a:br>
            <a:r>
              <a:rPr sz="1600" b="0" dirty="0">
                <a:solidFill>
                  <a:srgbClr val="0F4761"/>
                </a:solidFill>
                <a:latin typeface="Calibri"/>
              </a:rPr>
              <a:t>I </a:t>
            </a:r>
            <a:r>
              <a:rPr sz="1600" b="0" dirty="0" err="1">
                <a:solidFill>
                  <a:srgbClr val="0F4761"/>
                </a:solidFill>
                <a:latin typeface="Calibri"/>
              </a:rPr>
              <a:t>contatti</a:t>
            </a:r>
            <a:r>
              <a:rPr sz="1600" b="0" dirty="0">
                <a:solidFill>
                  <a:srgbClr val="0F4761"/>
                </a:solidFill>
                <a:latin typeface="Calibri"/>
              </a:rPr>
              <a:t> </a:t>
            </a:r>
            <a:r>
              <a:rPr sz="1600" b="0" dirty="0" err="1">
                <a:solidFill>
                  <a:srgbClr val="0F4761"/>
                </a:solidFill>
                <a:latin typeface="Calibri"/>
              </a:rPr>
              <a:t>servono</a:t>
            </a:r>
            <a:r>
              <a:rPr sz="1600" b="0" dirty="0">
                <a:solidFill>
                  <a:srgbClr val="0F4761"/>
                </a:solidFill>
                <a:latin typeface="Calibri"/>
              </a:rPr>
              <a:t> per </a:t>
            </a:r>
            <a:r>
              <a:rPr sz="1600" b="0" dirty="0" err="1">
                <a:solidFill>
                  <a:srgbClr val="0F4761"/>
                </a:solidFill>
                <a:latin typeface="Calibri"/>
              </a:rPr>
              <a:t>persone</a:t>
            </a:r>
            <a:r>
              <a:rPr sz="1600" b="0" dirty="0">
                <a:solidFill>
                  <a:srgbClr val="0F4761"/>
                </a:solidFill>
                <a:latin typeface="Calibri"/>
              </a:rPr>
              <a:t> da </a:t>
            </a:r>
            <a:r>
              <a:rPr sz="1600" b="0" dirty="0" err="1">
                <a:solidFill>
                  <a:srgbClr val="0F4761"/>
                </a:solidFill>
                <a:latin typeface="Calibri"/>
              </a:rPr>
              <a:t>censire</a:t>
            </a:r>
            <a:r>
              <a:rPr sz="1600" b="0" dirty="0">
                <a:solidFill>
                  <a:srgbClr val="0F4761"/>
                </a:solidFill>
                <a:latin typeface="Calibri"/>
              </a:rPr>
              <a:t> o da </a:t>
            </a:r>
            <a:r>
              <a:rPr sz="1600" b="0" dirty="0" err="1">
                <a:solidFill>
                  <a:srgbClr val="0F4761"/>
                </a:solidFill>
                <a:latin typeface="Calibri"/>
              </a:rPr>
              <a:t>raggiungere</a:t>
            </a:r>
            <a:r>
              <a:rPr sz="1600" b="0" dirty="0">
                <a:solidFill>
                  <a:srgbClr val="0F4761"/>
                </a:solidFill>
                <a:latin typeface="Calibri"/>
              </a:rPr>
              <a:t> con </a:t>
            </a:r>
            <a:r>
              <a:rPr sz="1600" b="0" dirty="0" err="1">
                <a:solidFill>
                  <a:srgbClr val="0F4761"/>
                </a:solidFill>
                <a:latin typeface="Calibri"/>
              </a:rPr>
              <a:t>comunicazioni</a:t>
            </a:r>
            <a:r>
              <a:rPr sz="1600" b="0" dirty="0">
                <a:solidFill>
                  <a:srgbClr val="0F4761"/>
                </a:solidFill>
                <a:latin typeface="Calibri"/>
              </a:rPr>
              <a:t>, senza accesso </a:t>
            </a:r>
            <a:r>
              <a:rPr sz="1600" b="0" dirty="0" err="1">
                <a:solidFill>
                  <a:srgbClr val="0F4761"/>
                </a:solidFill>
                <a:latin typeface="Calibri"/>
              </a:rPr>
              <a:t>diretto</a:t>
            </a:r>
            <a:r>
              <a:rPr sz="1600" b="0" dirty="0">
                <a:solidFill>
                  <a:srgbClr val="0F4761"/>
                </a:solidFill>
                <a:latin typeface="Calibri"/>
              </a:rPr>
              <a:t>.</a:t>
            </a:r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itolo"/>
          <p:cNvSpPr txBox="1"/>
          <p:nvPr/>
        </p:nvSpPr>
        <p:spPr>
          <a:xfrm>
            <a:off x="627723" y="420129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La creazione di un nuovo utente o di un nuovo contatto</a:t>
            </a:r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7619915F-F694-8A93-549B-885BF4CA8A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199" y="740861"/>
            <a:ext cx="11480639" cy="1247312"/>
          </a:xfrm>
          <a:prstGeom prst="rect">
            <a:avLst/>
          </a:prstGeom>
        </p:spPr>
      </p:pic>
      <p:grpSp>
        <p:nvGrpSpPr>
          <p:cNvPr id="2" name="Gruppo 1">
            <a:extLst>
              <a:ext uri="{FF2B5EF4-FFF2-40B4-BE49-F238E27FC236}">
                <a16:creationId xmlns:a16="http://schemas.microsoft.com/office/drawing/2014/main" id="{A0DD48E8-D080-B1CA-DA79-288FA2B8D95E}"/>
              </a:ext>
            </a:extLst>
          </p:cNvPr>
          <p:cNvGrpSpPr/>
          <p:nvPr/>
        </p:nvGrpSpPr>
        <p:grpSpPr>
          <a:xfrm>
            <a:off x="7785766" y="1179773"/>
            <a:ext cx="485332" cy="622111"/>
            <a:chOff x="9293050" y="4281509"/>
            <a:chExt cx="552659" cy="708412"/>
          </a:xfrm>
        </p:grpSpPr>
        <p:sp>
          <p:nvSpPr>
            <p:cNvPr id="8" name="Triangolo 7">
              <a:extLst>
                <a:ext uri="{FF2B5EF4-FFF2-40B4-BE49-F238E27FC236}">
                  <a16:creationId xmlns:a16="http://schemas.microsoft.com/office/drawing/2014/main" id="{48BD6515-071D-3851-259B-D2D9F19C9B46}"/>
                </a:ext>
              </a:extLst>
            </p:cNvPr>
            <p:cNvSpPr/>
            <p:nvPr/>
          </p:nvSpPr>
          <p:spPr>
            <a:xfrm rot="5400000">
              <a:off x="9215174" y="4359385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1" name="CasellaDiTesto 10">
              <a:extLst>
                <a:ext uri="{FF2B5EF4-FFF2-40B4-BE49-F238E27FC236}">
                  <a16:creationId xmlns:a16="http://schemas.microsoft.com/office/drawing/2014/main" id="{60AC5BC9-3224-9A1C-A666-9238D3F3062A}"/>
                </a:ext>
              </a:extLst>
            </p:cNvPr>
            <p:cNvSpPr txBox="1"/>
            <p:nvPr/>
          </p:nvSpPr>
          <p:spPr>
            <a:xfrm>
              <a:off x="9293050" y="4451048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>
                  <a:solidFill>
                    <a:schemeClr val="bg1"/>
                  </a:solidFill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786429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65D634-936E-148D-66D1-E25392ECF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andaChiave"/>
          <p:cNvSpPr/>
          <p:nvPr/>
        </p:nvSpPr>
        <p:spPr>
          <a:xfrm>
            <a:off x="305752" y="5709123"/>
            <a:ext cx="11580496" cy="691676"/>
          </a:xfrm>
          <a:prstGeom prst="roundRect">
            <a:avLst>
              <a:gd name="adj" fmla="val 10000"/>
            </a:avLst>
          </a:prstGeom>
          <a:solidFill>
            <a:srgbClr val="0F4761"/>
          </a:solidFill>
          <a:ln>
            <a:noFill/>
          </a:ln>
        </p:spPr>
        <p:txBody>
          <a:bodyPr wrap="square" lIns="228600" tIns="27432" rIns="228600" bIns="27432" anchor="ctr"/>
          <a:lstStyle/>
          <a:p>
            <a:pPr algn="ctr"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400" b="1">
                <a:solidFill>
                  <a:srgbClr val="FFFFFF"/>
                </a:solidFill>
                <a:latin typeface="Calibri"/>
              </a:rPr>
              <a:t>Un contatto è una persona registrata nell’anagrafica, senza accesso alla piattaforma.</a:t>
            </a:r>
          </a:p>
        </p:txBody>
      </p:sp>
      <p:sp>
        <p:nvSpPr>
          <p:cNvPr id="5" name="Card1"/>
          <p:cNvSpPr/>
          <p:nvPr/>
        </p:nvSpPr>
        <p:spPr>
          <a:xfrm>
            <a:off x="301752" y="1439533"/>
            <a:ext cx="5650992" cy="3821921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800" b="1">
                <a:solidFill>
                  <a:srgbClr val="007D79"/>
                </a:solidFill>
                <a:latin typeface="Calibri"/>
              </a:rPr>
              <a:t>Quando usare Crea nuovo contatto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0F4761"/>
                </a:solidFill>
                <a:latin typeface="Calibri"/>
              </a:rPr>
              <a:t>La persona deve ricevere notifiche o report via e-mail.</a:t>
            </a:r>
            <a:br/>
            <a:br/>
            <a:r>
              <a:rPr sz="1800" b="0">
                <a:solidFill>
                  <a:srgbClr val="0F4761"/>
                </a:solidFill>
                <a:latin typeface="Calibri"/>
              </a:rPr>
              <a:t>Serve come referente di una sede o di un gruppo.</a:t>
            </a:r>
            <a:br/>
            <a:br/>
            <a:r>
              <a:rPr sz="1800" b="0">
                <a:solidFill>
                  <a:srgbClr val="0F4761"/>
                </a:solidFill>
                <a:latin typeface="Calibri"/>
              </a:rPr>
              <a:t>Non deve accedere a Envizi.</a:t>
            </a:r>
          </a:p>
        </p:txBody>
      </p:sp>
      <p:sp>
        <p:nvSpPr>
          <p:cNvPr id="6" name="Card2"/>
          <p:cNvSpPr/>
          <p:nvPr/>
        </p:nvSpPr>
        <p:spPr>
          <a:xfrm>
            <a:off x="6153912" y="1439533"/>
            <a:ext cx="5733288" cy="3821921"/>
          </a:xfrm>
          <a:prstGeom prst="roundRect">
            <a:avLst>
              <a:gd name="adj" fmla="val 6000"/>
            </a:avLst>
          </a:prstGeom>
          <a:solidFill>
            <a:srgbClr val="F2F7F7"/>
          </a:solidFill>
          <a:ln w="12700">
            <a:solidFill>
              <a:srgbClr val="9BD7D5"/>
            </a:solidFill>
          </a:ln>
        </p:spPr>
        <p:txBody>
          <a:bodyPr wrap="square" lIns="192024" tIns="27432" rIns="164592" bIns="27432" anchor="ctr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buNone/>
            </a:pPr>
            <a:r>
              <a:rPr sz="1800" b="1">
                <a:solidFill>
                  <a:srgbClr val="007D79"/>
                </a:solidFill>
                <a:latin typeface="Calibri"/>
              </a:rPr>
              <a:t>Esempi</a:t>
            </a: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</a:pPr>
            <a:r>
              <a:rPr sz="1800" b="0">
                <a:solidFill>
                  <a:srgbClr val="0F4761"/>
                </a:solidFill>
                <a:latin typeface="Calibri"/>
              </a:rPr>
              <a:t>Direttore di stabilimento che riceve il report mensile dei consumi.</a:t>
            </a:r>
            <a:br/>
            <a:br/>
            <a:r>
              <a:rPr sz="1800" b="0">
                <a:solidFill>
                  <a:srgbClr val="0F4761"/>
                </a:solidFill>
                <a:latin typeface="Calibri"/>
              </a:rPr>
              <a:t>Revisore esterno che riceve una notifica.</a:t>
            </a:r>
            <a:br/>
            <a:br/>
            <a:r>
              <a:rPr sz="1800" b="0">
                <a:solidFill>
                  <a:srgbClr val="0F4761"/>
                </a:solidFill>
                <a:latin typeface="Calibri"/>
              </a:rPr>
              <a:t>Referente di un fornitore.</a:t>
            </a:r>
          </a:p>
        </p:txBody>
      </p:sp>
      <p:sp>
        <p:nvSpPr>
          <p:cNvPr id="7" name="Testo originale sotto il titolo"/>
          <p:cNvSpPr txBox="1"/>
          <p:nvPr/>
        </p:nvSpPr>
        <p:spPr>
          <a:xfrm>
            <a:off x="640080" y="1005840"/>
            <a:ext cx="10908792" cy="361410"/>
          </a:xfrm>
          <a:prstGeom prst="rect">
            <a:avLst/>
          </a:prstGeom>
          <a:noFill/>
        </p:spPr>
        <p:txBody>
          <a:bodyPr wrap="square" lIns="18288" tIns="0" rIns="18288" bIns="27432" anchor="t"/>
          <a:lstStyle/>
          <a:p>
            <a:pPr>
              <a:lnSpc>
                <a:spcPct val="105000"/>
              </a:lnSpc>
              <a:spcBef>
                <a:spcPts val="0"/>
              </a:spcBef>
              <a:spcAft>
                <a:spcPts val="700"/>
              </a:spcAft>
              <a:defRPr sz="1400" b="0"/>
            </a:pPr>
            <a:r>
              <a:rPr sz="1400" b="0">
                <a:solidFill>
                  <a:srgbClr val="0F4761"/>
                </a:solidFill>
                <a:latin typeface="Calibri"/>
              </a:rPr>
              <a:t>Gestisci &gt; Contatti e Accessi propone Crea nuovo utente oppure Crea nuovo contatto</a:t>
            </a: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itolo"/>
          <p:cNvSpPr txBox="1"/>
          <p:nvPr/>
        </p:nvSpPr>
        <p:spPr>
          <a:xfrm>
            <a:off x="640080" y="457200"/>
            <a:ext cx="10908792" cy="43891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La creazione di un nuovo contatto</a:t>
            </a:r>
          </a:p>
        </p:txBody>
      </p:sp>
    </p:spTree>
    <p:extLst>
      <p:ext uri="{BB962C8B-B14F-4D97-AF65-F5344CB8AC3E}">
        <p14:creationId xmlns:p14="http://schemas.microsoft.com/office/powerpoint/2010/main" val="1579073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7A33EA-41C5-A18D-3E48-1AEA1D498B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magine 1">
            <a:extLst>
              <a:ext uri="{FF2B5EF4-FFF2-40B4-BE49-F238E27FC236}">
                <a16:creationId xmlns:a16="http://schemas.microsoft.com/office/drawing/2014/main" id="{5AEDE9E6-B5A3-429F-8A45-0DCAEDA32C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5" y="1559237"/>
            <a:ext cx="11927659" cy="466884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</p:pic>
      <p:pic>
        <p:nvPicPr>
          <p:cNvPr id="162" name="Immagine 161">
            <a:extLst>
              <a:ext uri="{FF2B5EF4-FFF2-40B4-BE49-F238E27FC236}">
                <a16:creationId xmlns:a16="http://schemas.microsoft.com/office/drawing/2014/main" id="{4A715661-2CE3-5604-5EAD-E0BDB583A848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09480" y="6267960"/>
            <a:ext cx="68544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opic">
            <a:extLst>
              <a:ext uri="{FF2B5EF4-FFF2-40B4-BE49-F238E27FC236}">
                <a16:creationId xmlns:a16="http://schemas.microsoft.com/office/drawing/2014/main" id="{05AA48EC-B954-A8F8-8087-CF9EE5DC053B}"/>
              </a:ext>
            </a:extLst>
          </p:cNvPr>
          <p:cNvSpPr/>
          <p:nvPr/>
        </p:nvSpPr>
        <p:spPr>
          <a:xfrm>
            <a:off x="7443737" y="6438060"/>
            <a:ext cx="4457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F778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Approfondimento · Comprendere Envizi per amministrarlo e usarlo con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Calibri"/>
            </a:endParaRPr>
          </a:p>
        </p:txBody>
      </p:sp>
      <p:grpSp>
        <p:nvGrpSpPr>
          <p:cNvPr id="27" name="Gruppo 26">
            <a:extLst>
              <a:ext uri="{FF2B5EF4-FFF2-40B4-BE49-F238E27FC236}">
                <a16:creationId xmlns:a16="http://schemas.microsoft.com/office/drawing/2014/main" id="{0BFEE92E-2B8C-30B2-A5F8-4F97AA14C8FD}"/>
              </a:ext>
            </a:extLst>
          </p:cNvPr>
          <p:cNvGrpSpPr/>
          <p:nvPr/>
        </p:nvGrpSpPr>
        <p:grpSpPr>
          <a:xfrm>
            <a:off x="3403712" y="2577869"/>
            <a:ext cx="552659" cy="708412"/>
            <a:chOff x="8988250" y="2456822"/>
            <a:chExt cx="552659" cy="708412"/>
          </a:xfrm>
        </p:grpSpPr>
        <p:sp>
          <p:nvSpPr>
            <p:cNvPr id="13" name="Triangolo 12">
              <a:extLst>
                <a:ext uri="{FF2B5EF4-FFF2-40B4-BE49-F238E27FC236}">
                  <a16:creationId xmlns:a16="http://schemas.microsoft.com/office/drawing/2014/main" id="{B84DE01B-4879-050D-4A2C-3A7F4A0EFA6B}"/>
                </a:ext>
              </a:extLst>
            </p:cNvPr>
            <p:cNvSpPr/>
            <p:nvPr/>
          </p:nvSpPr>
          <p:spPr>
            <a:xfrm rot="5400000">
              <a:off x="8910374" y="2534698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889C20DA-6C55-4288-B243-617EB2E0CFEF}"/>
                </a:ext>
              </a:extLst>
            </p:cNvPr>
            <p:cNvSpPr txBox="1"/>
            <p:nvPr/>
          </p:nvSpPr>
          <p:spPr>
            <a:xfrm>
              <a:off x="8988250" y="2626361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chemeClr val="bg1"/>
                  </a:solidFill>
                </a:rPr>
                <a:t>1</a:t>
              </a:r>
            </a:p>
          </p:txBody>
        </p:sp>
      </p:grpSp>
      <p:grpSp>
        <p:nvGrpSpPr>
          <p:cNvPr id="3" name="Gruppo 2">
            <a:extLst>
              <a:ext uri="{FF2B5EF4-FFF2-40B4-BE49-F238E27FC236}">
                <a16:creationId xmlns:a16="http://schemas.microsoft.com/office/drawing/2014/main" id="{9A932CC6-F55E-DAEA-E17C-7F198EF4CFD3}"/>
              </a:ext>
            </a:extLst>
          </p:cNvPr>
          <p:cNvGrpSpPr/>
          <p:nvPr/>
        </p:nvGrpSpPr>
        <p:grpSpPr>
          <a:xfrm>
            <a:off x="3341181" y="3387055"/>
            <a:ext cx="552659" cy="708412"/>
            <a:chOff x="9140650" y="3251776"/>
            <a:chExt cx="552659" cy="708412"/>
          </a:xfrm>
        </p:grpSpPr>
        <p:sp>
          <p:nvSpPr>
            <p:cNvPr id="4" name="Triangolo 3">
              <a:extLst>
                <a:ext uri="{FF2B5EF4-FFF2-40B4-BE49-F238E27FC236}">
                  <a16:creationId xmlns:a16="http://schemas.microsoft.com/office/drawing/2014/main" id="{F231B8EB-6F4A-2703-870C-967C128B9E24}"/>
                </a:ext>
              </a:extLst>
            </p:cNvPr>
            <p:cNvSpPr/>
            <p:nvPr/>
          </p:nvSpPr>
          <p:spPr>
            <a:xfrm rot="5400000">
              <a:off x="9062774" y="3329652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5" name="CasellaDiTesto 4">
              <a:extLst>
                <a:ext uri="{FF2B5EF4-FFF2-40B4-BE49-F238E27FC236}">
                  <a16:creationId xmlns:a16="http://schemas.microsoft.com/office/drawing/2014/main" id="{75D6520D-E8C9-D999-2296-E5C5D89203BB}"/>
                </a:ext>
              </a:extLst>
            </p:cNvPr>
            <p:cNvSpPr txBox="1"/>
            <p:nvPr/>
          </p:nvSpPr>
          <p:spPr>
            <a:xfrm>
              <a:off x="9140650" y="3421315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7" name="Gruppo 6">
            <a:extLst>
              <a:ext uri="{FF2B5EF4-FFF2-40B4-BE49-F238E27FC236}">
                <a16:creationId xmlns:a16="http://schemas.microsoft.com/office/drawing/2014/main" id="{653D191F-8346-E1B0-EB60-688CAB6B3F1A}"/>
              </a:ext>
            </a:extLst>
          </p:cNvPr>
          <p:cNvGrpSpPr/>
          <p:nvPr/>
        </p:nvGrpSpPr>
        <p:grpSpPr>
          <a:xfrm>
            <a:off x="3387231" y="4192896"/>
            <a:ext cx="552659" cy="708412"/>
            <a:chOff x="9140650" y="3251776"/>
            <a:chExt cx="552659" cy="708412"/>
          </a:xfrm>
        </p:grpSpPr>
        <p:sp>
          <p:nvSpPr>
            <p:cNvPr id="8" name="Triangolo 7">
              <a:extLst>
                <a:ext uri="{FF2B5EF4-FFF2-40B4-BE49-F238E27FC236}">
                  <a16:creationId xmlns:a16="http://schemas.microsoft.com/office/drawing/2014/main" id="{623C1201-541E-0CAA-4C41-9EB3987380E6}"/>
                </a:ext>
              </a:extLst>
            </p:cNvPr>
            <p:cNvSpPr/>
            <p:nvPr/>
          </p:nvSpPr>
          <p:spPr>
            <a:xfrm rot="5400000">
              <a:off x="9062774" y="3329652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 dirty="0"/>
            </a:p>
          </p:txBody>
        </p:sp>
        <p:sp>
          <p:nvSpPr>
            <p:cNvPr id="9" name="CasellaDiTesto 8">
              <a:extLst>
                <a:ext uri="{FF2B5EF4-FFF2-40B4-BE49-F238E27FC236}">
                  <a16:creationId xmlns:a16="http://schemas.microsoft.com/office/drawing/2014/main" id="{113C1B0C-55BF-43A3-94F7-EC7F0C81F576}"/>
                </a:ext>
              </a:extLst>
            </p:cNvPr>
            <p:cNvSpPr txBox="1"/>
            <p:nvPr/>
          </p:nvSpPr>
          <p:spPr>
            <a:xfrm>
              <a:off x="9140650" y="3421315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 dirty="0">
                  <a:solidFill>
                    <a:schemeClr val="bg1"/>
                  </a:solidFill>
                </a:rPr>
                <a:t>3</a:t>
              </a:r>
            </a:p>
          </p:txBody>
        </p:sp>
      </p:grp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5265A90-A8E6-A88E-A185-DD415B81519F}"/>
              </a:ext>
            </a:extLst>
          </p:cNvPr>
          <p:cNvSpPr txBox="1"/>
          <p:nvPr/>
        </p:nvSpPr>
        <p:spPr>
          <a:xfrm>
            <a:off x="6255367" y="4362435"/>
            <a:ext cx="4359965" cy="120032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r>
              <a:rPr lang="it-IT" dirty="0"/>
              <a:t>Nota per il </a:t>
            </a:r>
            <a:r>
              <a:rPr lang="it-IT" dirty="0" err="1"/>
              <a:t>Proof</a:t>
            </a:r>
            <a:r>
              <a:rPr lang="it-IT" dirty="0"/>
              <a:t> of concept</a:t>
            </a:r>
          </a:p>
          <a:p>
            <a:endParaRPr lang="it-IT" dirty="0"/>
          </a:p>
          <a:p>
            <a:r>
              <a:rPr lang="it-IT" dirty="0"/>
              <a:t>In istanza di test una stessa email può essere associata a più utenze</a:t>
            </a:r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339B2A99-E2F3-4161-511D-9716C2D1FF35}"/>
              </a:ext>
            </a:extLst>
          </p:cNvPr>
          <p:cNvSpPr txBox="1"/>
          <p:nvPr/>
        </p:nvSpPr>
        <p:spPr>
          <a:xfrm>
            <a:off x="8141269" y="1140809"/>
            <a:ext cx="3450293" cy="2015936"/>
          </a:xfrm>
          <a:prstGeom prst="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txBody>
          <a:bodyPr wrap="square" anchor="ctr">
            <a:spAutoFit/>
          </a:bodyPr>
          <a:lstStyle/>
          <a:p>
            <a:pPr marL="457200" indent="-457200" algn="l">
              <a:buFont typeface="+mj-lt"/>
              <a:buAutoNum type="arabicPeriod"/>
            </a:pPr>
            <a:r>
              <a:rPr lang="it-IT" sz="2000" dirty="0">
                <a:solidFill>
                  <a:srgbClr val="161C24"/>
                </a:solidFill>
                <a:latin typeface="IBM Plex Sans" panose="020B0503050203000203" pitchFamily="34" charset="0"/>
              </a:rPr>
              <a:t>Immette nome</a:t>
            </a:r>
          </a:p>
          <a:p>
            <a:pPr marL="457200" indent="-457200" algn="l">
              <a:buFont typeface="+mj-lt"/>
              <a:buAutoNum type="arabicPeriod"/>
            </a:pPr>
            <a:r>
              <a:rPr lang="it-IT" sz="2000" dirty="0">
                <a:solidFill>
                  <a:srgbClr val="161C24"/>
                </a:solidFill>
                <a:latin typeface="IBM Plex Sans" panose="020B0503050203000203" pitchFamily="34" charset="0"/>
              </a:rPr>
              <a:t>Immette cognome</a:t>
            </a:r>
          </a:p>
          <a:p>
            <a:pPr marL="457200" indent="-457200" algn="l">
              <a:buFont typeface="+mj-lt"/>
              <a:buAutoNum type="arabicPeriod"/>
            </a:pPr>
            <a:r>
              <a:rPr lang="it-IT" sz="2000" dirty="0">
                <a:solidFill>
                  <a:srgbClr val="161C24"/>
                </a:solidFill>
                <a:latin typeface="IBM Plex Sans" panose="020B0503050203000203" pitchFamily="34" charset="0"/>
              </a:rPr>
              <a:t>Immette l’email che riceverà le comunicazioni da </a:t>
            </a:r>
            <a:r>
              <a:rPr lang="it-IT" sz="2000" dirty="0" err="1">
                <a:solidFill>
                  <a:srgbClr val="161C24"/>
                </a:solidFill>
                <a:latin typeface="IBM Plex Sans" panose="020B0503050203000203" pitchFamily="34" charset="0"/>
              </a:rPr>
              <a:t>envizi</a:t>
            </a:r>
            <a:r>
              <a:rPr lang="it-IT" sz="2000" dirty="0">
                <a:solidFill>
                  <a:srgbClr val="161C24"/>
                </a:solidFill>
                <a:latin typeface="IBM Plex Sans" panose="020B0503050203000203" pitchFamily="34" charset="0"/>
              </a:rPr>
              <a:t> </a:t>
            </a:r>
          </a:p>
          <a:p>
            <a:pPr marL="457200" indent="-457200" algn="l">
              <a:buFont typeface="+mj-lt"/>
              <a:buAutoNum type="arabicPeriod"/>
            </a:pPr>
            <a:endParaRPr sz="2500" b="1" dirty="0">
              <a:solidFill>
                <a:srgbClr val="161C24"/>
              </a:solidFill>
              <a:latin typeface="Aptos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796263FB-99AC-485A-A2DA-96FCBD26C74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6878" y="4992430"/>
            <a:ext cx="1803400" cy="1765300"/>
          </a:xfrm>
          <a:prstGeom prst="rect">
            <a:avLst/>
          </a:prstGeom>
        </p:spPr>
      </p:pic>
      <p:sp>
        <p:nvSpPr>
          <p:cNvPr id="16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A9FDE3A3-7BE6-163E-DF28-F15095C6B9C9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Anna (Admin user) compila il modulo nuovo utente</a:t>
            </a:r>
          </a:p>
        </p:txBody>
      </p:sp>
    </p:spTree>
    <p:extLst>
      <p:ext uri="{BB962C8B-B14F-4D97-AF65-F5344CB8AC3E}">
        <p14:creationId xmlns:p14="http://schemas.microsoft.com/office/powerpoint/2010/main" val="24614397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84BCC9-230E-F2B1-6B3F-309B79358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magine 13">
            <a:extLst>
              <a:ext uri="{FF2B5EF4-FFF2-40B4-BE49-F238E27FC236}">
                <a16:creationId xmlns:a16="http://schemas.microsoft.com/office/drawing/2014/main" id="{39A60841-6344-88FB-EFD5-7458D96DA8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7700" y="1060704"/>
            <a:ext cx="3861209" cy="1023453"/>
          </a:xfrm>
          <a:prstGeom prst="rect">
            <a:avLst/>
          </a:prstGeom>
        </p:spPr>
      </p:pic>
      <p:pic>
        <p:nvPicPr>
          <p:cNvPr id="162" name="Immagine 161">
            <a:extLst>
              <a:ext uri="{FF2B5EF4-FFF2-40B4-BE49-F238E27FC236}">
                <a16:creationId xmlns:a16="http://schemas.microsoft.com/office/drawing/2014/main" id="{144BFA54-A326-8FF1-8CCD-49526AC788E5}"/>
              </a:ext>
            </a:extLst>
          </p:cNvPr>
          <p:cNvPicPr/>
          <p:nvPr/>
        </p:nvPicPr>
        <p:blipFill>
          <a:blip r:embed="rId4"/>
          <a:stretch/>
        </p:blipFill>
        <p:spPr>
          <a:xfrm>
            <a:off x="630146" y="6042449"/>
            <a:ext cx="644106" cy="240186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opic">
            <a:extLst>
              <a:ext uri="{FF2B5EF4-FFF2-40B4-BE49-F238E27FC236}">
                <a16:creationId xmlns:a16="http://schemas.microsoft.com/office/drawing/2014/main" id="{D33C8669-D899-8690-19E9-AD0FB00D155A}"/>
              </a:ext>
            </a:extLst>
          </p:cNvPr>
          <p:cNvSpPr/>
          <p:nvPr/>
        </p:nvSpPr>
        <p:spPr>
          <a:xfrm>
            <a:off x="7443737" y="6202292"/>
            <a:ext cx="4457520" cy="1606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704" b="1" i="0" u="none" strike="noStrike" kern="1200" cap="none" spc="0" normalizeH="0" baseline="0" noProof="0">
                <a:ln>
                  <a:noFill/>
                </a:ln>
                <a:solidFill>
                  <a:srgbClr val="6F778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Approfondimento · Comprendere Envizi per amministrarlo e usarlo con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Calibri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4CF99BA4-96C4-1AC2-6C2B-E760BA1FAF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3770" y="2660531"/>
            <a:ext cx="5111175" cy="1818483"/>
          </a:xfrm>
          <a:prstGeom prst="rect">
            <a:avLst/>
          </a:prstGeom>
        </p:spPr>
      </p:pic>
      <p:pic>
        <p:nvPicPr>
          <p:cNvPr id="9" name="Immagine 8">
            <a:extLst>
              <a:ext uri="{FF2B5EF4-FFF2-40B4-BE49-F238E27FC236}">
                <a16:creationId xmlns:a16="http://schemas.microsoft.com/office/drawing/2014/main" id="{B91F2197-65C5-CFFD-B0A4-0364DB809E0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2744" y="1604587"/>
            <a:ext cx="4754541" cy="3481291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A9C8F199-C0E3-E275-A81E-E1DC8A7B505E}"/>
              </a:ext>
            </a:extLst>
          </p:cNvPr>
          <p:cNvSpPr txBox="1"/>
          <p:nvPr/>
        </p:nvSpPr>
        <p:spPr>
          <a:xfrm>
            <a:off x="3532730" y="1157635"/>
            <a:ext cx="2449897" cy="259398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r>
              <a:rPr lang="it-IT" sz="1600" dirty="0"/>
              <a:t>1 Login User Id Inserire un identificativo univoco rispetto tutte le utenze in </a:t>
            </a:r>
            <a:r>
              <a:rPr lang="it-IT" sz="1600" dirty="0" err="1"/>
              <a:t>Envizi</a:t>
            </a:r>
            <a:r>
              <a:rPr lang="it-IT" sz="1600" dirty="0"/>
              <a:t>, ad esempio </a:t>
            </a:r>
          </a:p>
          <a:p>
            <a:r>
              <a:rPr lang="it-IT" sz="1600" dirty="0"/>
              <a:t> </a:t>
            </a:r>
            <a:r>
              <a:rPr lang="it-IT" sz="1600" dirty="0">
                <a:hlinkClick r:id="rId7"/>
              </a:rPr>
              <a:t>nome.cognome@gmail.com</a:t>
            </a:r>
            <a:endParaRPr lang="it-IT" sz="1600" dirty="0"/>
          </a:p>
          <a:p>
            <a:r>
              <a:rPr lang="it-IT" sz="1600" dirty="0"/>
              <a:t>Se l’utente ha accesso a una sola istanza di </a:t>
            </a:r>
            <a:r>
              <a:rPr lang="it-IT" sz="1600" dirty="0" err="1"/>
              <a:t>envizi</a:t>
            </a:r>
            <a:r>
              <a:rPr lang="it-IT" sz="1600" dirty="0"/>
              <a:t> sarà la sua email (default)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863BC7BD-958C-487B-A425-AA78F0231420}"/>
              </a:ext>
            </a:extLst>
          </p:cNvPr>
          <p:cNvSpPr txBox="1"/>
          <p:nvPr/>
        </p:nvSpPr>
        <p:spPr>
          <a:xfrm>
            <a:off x="3622890" y="2727540"/>
            <a:ext cx="387512" cy="3347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b="1" dirty="0">
                <a:solidFill>
                  <a:schemeClr val="bg1"/>
                </a:solidFill>
              </a:rPr>
              <a:t>1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8DE1B904-CA02-20DF-7A4B-BCB61F06D925}"/>
              </a:ext>
            </a:extLst>
          </p:cNvPr>
          <p:cNvSpPr txBox="1"/>
          <p:nvPr/>
        </p:nvSpPr>
        <p:spPr>
          <a:xfrm>
            <a:off x="3620160" y="4249145"/>
            <a:ext cx="2362467" cy="133883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r>
              <a:rPr lang="it-IT" sz="1600" dirty="0"/>
              <a:t>2 Selezionare - L’access </a:t>
            </a:r>
            <a:r>
              <a:rPr lang="it-IT" sz="1600" dirty="0" err="1"/>
              <a:t>level</a:t>
            </a:r>
            <a:r>
              <a:rPr lang="it-IT" sz="1600" dirty="0"/>
              <a:t> definisce quali sezioni di dati potrà accedere l’utente, Organization tutto.</a:t>
            </a:r>
          </a:p>
        </p:txBody>
      </p:sp>
      <p:grpSp>
        <p:nvGrpSpPr>
          <p:cNvPr id="4" name="Gruppo 3">
            <a:extLst>
              <a:ext uri="{FF2B5EF4-FFF2-40B4-BE49-F238E27FC236}">
                <a16:creationId xmlns:a16="http://schemas.microsoft.com/office/drawing/2014/main" id="{54D06BF3-3839-EF79-080E-2D245258E056}"/>
              </a:ext>
            </a:extLst>
          </p:cNvPr>
          <p:cNvGrpSpPr/>
          <p:nvPr/>
        </p:nvGrpSpPr>
        <p:grpSpPr>
          <a:xfrm>
            <a:off x="712572" y="1350530"/>
            <a:ext cx="500847" cy="641999"/>
            <a:chOff x="8988250" y="2456822"/>
            <a:chExt cx="552659" cy="708412"/>
          </a:xfrm>
        </p:grpSpPr>
        <p:sp>
          <p:nvSpPr>
            <p:cNvPr id="5" name="Triangolo 4">
              <a:extLst>
                <a:ext uri="{FF2B5EF4-FFF2-40B4-BE49-F238E27FC236}">
                  <a16:creationId xmlns:a16="http://schemas.microsoft.com/office/drawing/2014/main" id="{2F2FAB1D-CC78-2449-6D80-A215762361BD}"/>
                </a:ext>
              </a:extLst>
            </p:cNvPr>
            <p:cNvSpPr/>
            <p:nvPr/>
          </p:nvSpPr>
          <p:spPr>
            <a:xfrm rot="5400000">
              <a:off x="8910374" y="2534698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6" name="CasellaDiTesto 5">
              <a:extLst>
                <a:ext uri="{FF2B5EF4-FFF2-40B4-BE49-F238E27FC236}">
                  <a16:creationId xmlns:a16="http://schemas.microsoft.com/office/drawing/2014/main" id="{A6DB4CBB-CDE4-15CF-78DC-193A68878B05}"/>
                </a:ext>
              </a:extLst>
            </p:cNvPr>
            <p:cNvSpPr txBox="1"/>
            <p:nvPr/>
          </p:nvSpPr>
          <p:spPr>
            <a:xfrm>
              <a:off x="8988250" y="2626361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>
                  <a:solidFill>
                    <a:schemeClr val="bg1"/>
                  </a:solidFill>
                </a:rPr>
                <a:t>1</a:t>
              </a:r>
            </a:p>
          </p:txBody>
        </p:sp>
      </p:grp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E0946A77-8256-FE80-E441-81D81BABB0CC}"/>
              </a:ext>
            </a:extLst>
          </p:cNvPr>
          <p:cNvSpPr txBox="1"/>
          <p:nvPr/>
        </p:nvSpPr>
        <p:spPr>
          <a:xfrm>
            <a:off x="6901653" y="2454627"/>
            <a:ext cx="4131372" cy="585738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r>
              <a:rPr lang="it-IT" dirty="0"/>
              <a:t>Selezionare Il "Access Role"</a:t>
            </a:r>
          </a:p>
          <a:p>
            <a:r>
              <a:rPr lang="it-IT" dirty="0"/>
              <a:t>Per default General User </a:t>
            </a:r>
          </a:p>
        </p:txBody>
      </p:sp>
      <p:grpSp>
        <p:nvGrpSpPr>
          <p:cNvPr id="12" name="Gruppo 11">
            <a:extLst>
              <a:ext uri="{FF2B5EF4-FFF2-40B4-BE49-F238E27FC236}">
                <a16:creationId xmlns:a16="http://schemas.microsoft.com/office/drawing/2014/main" id="{4D86D56B-8667-38A2-50F7-CA8BAC0A64F6}"/>
              </a:ext>
            </a:extLst>
          </p:cNvPr>
          <p:cNvGrpSpPr/>
          <p:nvPr/>
        </p:nvGrpSpPr>
        <p:grpSpPr>
          <a:xfrm>
            <a:off x="604408" y="3623508"/>
            <a:ext cx="500847" cy="641999"/>
            <a:chOff x="8988250" y="2456822"/>
            <a:chExt cx="552659" cy="708412"/>
          </a:xfrm>
        </p:grpSpPr>
        <p:sp>
          <p:nvSpPr>
            <p:cNvPr id="13" name="Triangolo 12">
              <a:extLst>
                <a:ext uri="{FF2B5EF4-FFF2-40B4-BE49-F238E27FC236}">
                  <a16:creationId xmlns:a16="http://schemas.microsoft.com/office/drawing/2014/main" id="{BAA4FCEE-75B5-0DC1-C4EF-E8A0AC884BDF}"/>
                </a:ext>
              </a:extLst>
            </p:cNvPr>
            <p:cNvSpPr/>
            <p:nvPr/>
          </p:nvSpPr>
          <p:spPr>
            <a:xfrm rot="5400000">
              <a:off x="8910374" y="2534698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15" name="CasellaDiTesto 14">
              <a:extLst>
                <a:ext uri="{FF2B5EF4-FFF2-40B4-BE49-F238E27FC236}">
                  <a16:creationId xmlns:a16="http://schemas.microsoft.com/office/drawing/2014/main" id="{9F9CDFE0-CBBD-46AF-8A75-6241CA855904}"/>
                </a:ext>
              </a:extLst>
            </p:cNvPr>
            <p:cNvSpPr txBox="1"/>
            <p:nvPr/>
          </p:nvSpPr>
          <p:spPr>
            <a:xfrm>
              <a:off x="8988250" y="2626361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>
                  <a:solidFill>
                    <a:schemeClr val="bg1"/>
                  </a:solidFill>
                </a:rPr>
                <a:t>2</a:t>
              </a:r>
            </a:p>
          </p:txBody>
        </p:sp>
      </p:grpSp>
      <p:grpSp>
        <p:nvGrpSpPr>
          <p:cNvPr id="17" name="Gruppo 16">
            <a:extLst>
              <a:ext uri="{FF2B5EF4-FFF2-40B4-BE49-F238E27FC236}">
                <a16:creationId xmlns:a16="http://schemas.microsoft.com/office/drawing/2014/main" id="{24C95F48-E5D7-9868-FF1F-A27C304E0B22}"/>
              </a:ext>
            </a:extLst>
          </p:cNvPr>
          <p:cNvGrpSpPr/>
          <p:nvPr/>
        </p:nvGrpSpPr>
        <p:grpSpPr>
          <a:xfrm>
            <a:off x="6434868" y="2484376"/>
            <a:ext cx="500847" cy="641999"/>
            <a:chOff x="8988250" y="2456822"/>
            <a:chExt cx="552659" cy="708412"/>
          </a:xfrm>
        </p:grpSpPr>
        <p:sp>
          <p:nvSpPr>
            <p:cNvPr id="18" name="Triangolo 17">
              <a:extLst>
                <a:ext uri="{FF2B5EF4-FFF2-40B4-BE49-F238E27FC236}">
                  <a16:creationId xmlns:a16="http://schemas.microsoft.com/office/drawing/2014/main" id="{5722AA35-C823-7E94-3048-48C0A3C6E43F}"/>
                </a:ext>
              </a:extLst>
            </p:cNvPr>
            <p:cNvSpPr/>
            <p:nvPr/>
          </p:nvSpPr>
          <p:spPr>
            <a:xfrm rot="5400000">
              <a:off x="8910374" y="2534698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2" name="CasellaDiTesto 21">
              <a:extLst>
                <a:ext uri="{FF2B5EF4-FFF2-40B4-BE49-F238E27FC236}">
                  <a16:creationId xmlns:a16="http://schemas.microsoft.com/office/drawing/2014/main" id="{3B761EC1-2DE4-0B6C-D1E1-EE9A7232D72A}"/>
                </a:ext>
              </a:extLst>
            </p:cNvPr>
            <p:cNvSpPr txBox="1"/>
            <p:nvPr/>
          </p:nvSpPr>
          <p:spPr>
            <a:xfrm>
              <a:off x="8988250" y="2626361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>
                  <a:solidFill>
                    <a:schemeClr val="bg1"/>
                  </a:solidFill>
                </a:rPr>
                <a:t>3</a:t>
              </a:r>
            </a:p>
          </p:txBody>
        </p:sp>
      </p:grpSp>
      <p:grpSp>
        <p:nvGrpSpPr>
          <p:cNvPr id="23" name="Gruppo 22">
            <a:extLst>
              <a:ext uri="{FF2B5EF4-FFF2-40B4-BE49-F238E27FC236}">
                <a16:creationId xmlns:a16="http://schemas.microsoft.com/office/drawing/2014/main" id="{D4B71952-AA64-2C05-53D3-43D72B5F614B}"/>
              </a:ext>
            </a:extLst>
          </p:cNvPr>
          <p:cNvGrpSpPr/>
          <p:nvPr/>
        </p:nvGrpSpPr>
        <p:grpSpPr>
          <a:xfrm>
            <a:off x="8175337" y="4500142"/>
            <a:ext cx="500847" cy="641999"/>
            <a:chOff x="8988250" y="2456822"/>
            <a:chExt cx="552659" cy="708412"/>
          </a:xfrm>
        </p:grpSpPr>
        <p:sp>
          <p:nvSpPr>
            <p:cNvPr id="24" name="Triangolo 23">
              <a:extLst>
                <a:ext uri="{FF2B5EF4-FFF2-40B4-BE49-F238E27FC236}">
                  <a16:creationId xmlns:a16="http://schemas.microsoft.com/office/drawing/2014/main" id="{9E70347E-8105-834A-77C3-DE154694E37F}"/>
                </a:ext>
              </a:extLst>
            </p:cNvPr>
            <p:cNvSpPr/>
            <p:nvPr/>
          </p:nvSpPr>
          <p:spPr>
            <a:xfrm rot="5400000">
              <a:off x="8910374" y="2534698"/>
              <a:ext cx="708412" cy="552659"/>
            </a:xfrm>
            <a:prstGeom prst="triangle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t-IT"/>
            </a:p>
          </p:txBody>
        </p:sp>
        <p:sp>
          <p:nvSpPr>
            <p:cNvPr id="25" name="CasellaDiTesto 24">
              <a:extLst>
                <a:ext uri="{FF2B5EF4-FFF2-40B4-BE49-F238E27FC236}">
                  <a16:creationId xmlns:a16="http://schemas.microsoft.com/office/drawing/2014/main" id="{D24BB218-CB2B-A557-8FE9-B9B6F04B333B}"/>
                </a:ext>
              </a:extLst>
            </p:cNvPr>
            <p:cNvSpPr txBox="1"/>
            <p:nvPr/>
          </p:nvSpPr>
          <p:spPr>
            <a:xfrm>
              <a:off x="8988250" y="2626361"/>
              <a:ext cx="427599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it-IT" b="1">
                  <a:solidFill>
                    <a:schemeClr val="bg1"/>
                  </a:solidFill>
                </a:rPr>
                <a:t>4</a:t>
              </a:r>
            </a:p>
          </p:txBody>
        </p:sp>
      </p:grpSp>
      <p:pic>
        <p:nvPicPr>
          <p:cNvPr id="26" name="Immagine 25">
            <a:extLst>
              <a:ext uri="{FF2B5EF4-FFF2-40B4-BE49-F238E27FC236}">
                <a16:creationId xmlns:a16="http://schemas.microsoft.com/office/drawing/2014/main" id="{519D04A5-BCB7-E24B-63D6-E4AEDB09C42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62996" y="4663834"/>
            <a:ext cx="1634333" cy="1599805"/>
          </a:xfrm>
          <a:prstGeom prst="rect">
            <a:avLst/>
          </a:prstGeom>
        </p:spPr>
      </p:pic>
      <p:sp>
        <p:nvSpPr>
          <p:cNvPr id="16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A4D901F6-CAB4-4FB8-09F3-0DB6B3BC2383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Anna (Admin user) completa il modulo nuovo utente</a:t>
            </a:r>
          </a:p>
        </p:txBody>
      </p:sp>
    </p:spTree>
    <p:extLst>
      <p:ext uri="{BB962C8B-B14F-4D97-AF65-F5344CB8AC3E}">
        <p14:creationId xmlns:p14="http://schemas.microsoft.com/office/powerpoint/2010/main" val="1510119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53147A-536D-E703-A0E5-865E4031BA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Immagine 161">
            <a:extLst>
              <a:ext uri="{FF2B5EF4-FFF2-40B4-BE49-F238E27FC236}">
                <a16:creationId xmlns:a16="http://schemas.microsoft.com/office/drawing/2014/main" id="{69BF8E37-449E-0A8E-3B36-B13E69CC3D46}"/>
              </a:ext>
            </a:extLst>
          </p:cNvPr>
          <p:cNvPicPr/>
          <p:nvPr/>
        </p:nvPicPr>
        <p:blipFill>
          <a:blip r:embed="rId3"/>
          <a:stretch/>
        </p:blipFill>
        <p:spPr>
          <a:xfrm>
            <a:off x="609480" y="6267960"/>
            <a:ext cx="685440" cy="25560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topic">
            <a:extLst>
              <a:ext uri="{FF2B5EF4-FFF2-40B4-BE49-F238E27FC236}">
                <a16:creationId xmlns:a16="http://schemas.microsoft.com/office/drawing/2014/main" id="{418ACC8E-30D7-CDAB-1185-B9DDC492F2B2}"/>
              </a:ext>
            </a:extLst>
          </p:cNvPr>
          <p:cNvSpPr/>
          <p:nvPr/>
        </p:nvSpPr>
        <p:spPr>
          <a:xfrm>
            <a:off x="7443737" y="6438060"/>
            <a:ext cx="4457520" cy="171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0" algn="l"/>
              </a:tabLst>
              <a:defRPr/>
            </a:pPr>
            <a:r>
              <a:rPr kumimoji="0" lang="en-US" sz="750" b="1" i="0" u="none" strike="noStrike" kern="1200" cap="none" spc="0" normalizeH="0" baseline="0" noProof="0">
                <a:ln>
                  <a:noFill/>
                </a:ln>
                <a:solidFill>
                  <a:srgbClr val="6F7782"/>
                </a:solidFill>
                <a:effectLst/>
                <a:uLnTx/>
                <a:uFillTx/>
                <a:latin typeface="Calibri"/>
                <a:ea typeface="Calibri"/>
                <a:cs typeface="Calibri"/>
              </a:rPr>
              <a:t>Approfondimento · Comprendere Envizi per amministrarlo e usarlo con</a:t>
            </a:r>
            <a:endParaRPr kumimoji="0" lang="en-US" sz="7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Calibri"/>
            </a:endParaRPr>
          </a:p>
        </p:txBody>
      </p:sp>
      <p:pic>
        <p:nvPicPr>
          <p:cNvPr id="3" name="Immagine 2">
            <a:extLst>
              <a:ext uri="{FF2B5EF4-FFF2-40B4-BE49-F238E27FC236}">
                <a16:creationId xmlns:a16="http://schemas.microsoft.com/office/drawing/2014/main" id="{62644489-ABFA-002D-29F5-BF6EB1C4D6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398" y="1497099"/>
            <a:ext cx="11519242" cy="3750761"/>
          </a:xfrm>
          <a:prstGeom prst="rect">
            <a:avLst/>
          </a:prstGeom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6C859E19-9ACB-7712-2890-478E454FE69C}"/>
              </a:ext>
            </a:extLst>
          </p:cNvPr>
          <p:cNvSpPr txBox="1"/>
          <p:nvPr/>
        </p:nvSpPr>
        <p:spPr>
          <a:xfrm>
            <a:off x="3817235" y="3354562"/>
            <a:ext cx="6520072" cy="175432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>
            <a:defPPr>
              <a:defRPr lang="en-US"/>
            </a:defPPr>
            <a:lvl1pPr marR="0" lvl="0" indent="0" fontAlgn="auto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kumimoji="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cs typeface="Calibri"/>
              </a:defRPr>
            </a:lvl1pPr>
          </a:lstStyle>
          <a:p>
            <a:r>
              <a:rPr lang="it-IT" dirty="0"/>
              <a:t>Seleziono l’utente </a:t>
            </a:r>
          </a:p>
          <a:p>
            <a:r>
              <a:rPr lang="it-IT" dirty="0"/>
              <a:t>Tasto destro mouse appare menu azioni</a:t>
            </a:r>
          </a:p>
          <a:p>
            <a:r>
              <a:rPr lang="it-IT" dirty="0"/>
              <a:t>Reset login password</a:t>
            </a:r>
          </a:p>
          <a:p>
            <a:endParaRPr lang="it-IT" dirty="0"/>
          </a:p>
          <a:p>
            <a:r>
              <a:rPr lang="it-IT" dirty="0"/>
              <a:t>Il nuovo utente riceverà email di accesso</a:t>
            </a:r>
          </a:p>
          <a:p>
            <a:r>
              <a:rPr lang="it-IT" dirty="0"/>
              <a:t>Da </a:t>
            </a:r>
            <a:r>
              <a:rPr lang="it-IT" dirty="0">
                <a:hlinkClick r:id="rId5"/>
              </a:rPr>
              <a:t>messenger@envizi.com</a:t>
            </a:r>
            <a:r>
              <a:rPr lang="it-IT" dirty="0"/>
              <a:t> (spesso in </a:t>
            </a:r>
            <a:r>
              <a:rPr lang="it-IT" dirty="0" err="1"/>
              <a:t>other</a:t>
            </a:r>
            <a:r>
              <a:rPr lang="it-IT" dirty="0"/>
              <a:t> mails)</a:t>
            </a:r>
          </a:p>
        </p:txBody>
      </p:sp>
      <p:sp>
        <p:nvSpPr>
          <p:cNvPr id="12" name="Triangolo 11">
            <a:extLst>
              <a:ext uri="{FF2B5EF4-FFF2-40B4-BE49-F238E27FC236}">
                <a16:creationId xmlns:a16="http://schemas.microsoft.com/office/drawing/2014/main" id="{252E7AFD-0B35-1EB2-D8D6-F05F332A90F7}"/>
              </a:ext>
            </a:extLst>
          </p:cNvPr>
          <p:cNvSpPr/>
          <p:nvPr/>
        </p:nvSpPr>
        <p:spPr>
          <a:xfrm rot="5400000">
            <a:off x="3054" y="3518711"/>
            <a:ext cx="477056" cy="29763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riangolo 12">
            <a:extLst>
              <a:ext uri="{FF2B5EF4-FFF2-40B4-BE49-F238E27FC236}">
                <a16:creationId xmlns:a16="http://schemas.microsoft.com/office/drawing/2014/main" id="{671C646E-457F-38C3-8B8C-A8B7797E3544}"/>
              </a:ext>
            </a:extLst>
          </p:cNvPr>
          <p:cNvSpPr/>
          <p:nvPr/>
        </p:nvSpPr>
        <p:spPr>
          <a:xfrm rot="5400000">
            <a:off x="2077019" y="4267459"/>
            <a:ext cx="477056" cy="297633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8619F5E0-A29F-E91A-BC27-8EFA209D91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6878" y="4992430"/>
            <a:ext cx="1803400" cy="1765300"/>
          </a:xfrm>
          <a:prstGeom prst="rect">
            <a:avLst/>
          </a:prstGeom>
        </p:spPr>
      </p:pic>
      <p:sp>
        <p:nvSpPr>
          <p:cNvPr id="16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2" name="CasellaDiTesto 1">
            <a:extLst>
              <a:ext uri="{FF2B5EF4-FFF2-40B4-BE49-F238E27FC236}">
                <a16:creationId xmlns:a16="http://schemas.microsoft.com/office/drawing/2014/main" id="{9BECA68A-22DA-A03F-9321-9847548B00A7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Anna (Admin user) torno in pagina contacts&amp;logins e attiva l’utenza</a:t>
            </a:r>
          </a:p>
        </p:txBody>
      </p:sp>
    </p:spTree>
    <p:extLst>
      <p:ext uri="{BB962C8B-B14F-4D97-AF65-F5344CB8AC3E}">
        <p14:creationId xmlns:p14="http://schemas.microsoft.com/office/powerpoint/2010/main" val="22577243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A3F70721-1865-DEC8-36AA-0D498F9FF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799" y="1060704"/>
            <a:ext cx="9748479" cy="5177286"/>
          </a:xfrm>
          <a:prstGeom prst="rect">
            <a:avLst/>
          </a:prstGeom>
        </p:spPr>
      </p:pic>
      <p:sp>
        <p:nvSpPr>
          <p:cNvPr id="6" name="Triangolo 5">
            <a:extLst>
              <a:ext uri="{FF2B5EF4-FFF2-40B4-BE49-F238E27FC236}">
                <a16:creationId xmlns:a16="http://schemas.microsoft.com/office/drawing/2014/main" id="{46D2194F-B9A3-5C7B-6403-A242446D3D92}"/>
              </a:ext>
            </a:extLst>
          </p:cNvPr>
          <p:cNvSpPr/>
          <p:nvPr/>
        </p:nvSpPr>
        <p:spPr>
          <a:xfrm rot="5400000">
            <a:off x="5171913" y="4397658"/>
            <a:ext cx="477056" cy="276962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FFC6A8D4-5E27-1F46-9740-4FCC07F01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0415" y="4603705"/>
            <a:ext cx="1695760" cy="1659934"/>
          </a:xfrm>
          <a:prstGeom prst="rect">
            <a:avLst/>
          </a:prstGeom>
        </p:spPr>
      </p:pic>
      <p:sp>
        <p:nvSpPr>
          <p:cNvPr id="10" name="Testo originale sotto il titolo">
            <a:extLst>
              <a:ext uri="{FF2B5EF4-FFF2-40B4-BE49-F238E27FC236}">
                <a16:creationId xmlns:a16="http://schemas.microsoft.com/office/drawing/2014/main" id="{A8FF9448-396E-D180-4ED2-E7D1181B954C}"/>
              </a:ext>
            </a:extLst>
          </p:cNvPr>
          <p:cNvSpPr txBox="1"/>
          <p:nvPr/>
        </p:nvSpPr>
        <p:spPr>
          <a:xfrm>
            <a:off x="640080" y="1005840"/>
            <a:ext cx="10908792" cy="3403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0"/>
            </a:pPr>
            <a:r>
              <a:rPr lang="it-IT" sz="1400" b="0">
                <a:solidFill>
                  <a:srgbClr val="161C24"/>
                </a:solidFill>
                <a:latin typeface="IBM Plex Sans" panose="020B0503050203000203" pitchFamily="34" charset="0"/>
              </a:rPr>
              <a:t>al nuovo utente registrato. Anna click Yes</a:t>
            </a:r>
          </a:p>
        </p:txBody>
      </p:sp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CasellaDiTesto 4">
            <a:extLst>
              <a:ext uri="{FF2B5EF4-FFF2-40B4-BE49-F238E27FC236}">
                <a16:creationId xmlns:a16="http://schemas.microsoft.com/office/drawing/2014/main" id="{A8FF9448-396E-D180-4ED2-E7D1181B954C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Envizi chiede a Anna (Admin user) conferma invio email</a:t>
            </a:r>
          </a:p>
        </p:txBody>
      </p:sp>
    </p:spTree>
    <p:extLst>
      <p:ext uri="{BB962C8B-B14F-4D97-AF65-F5344CB8AC3E}">
        <p14:creationId xmlns:p14="http://schemas.microsoft.com/office/powerpoint/2010/main" val="14693731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CD77B00A-F10A-2128-5BD2-AD97E566FE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7758" y="1060704"/>
            <a:ext cx="4977002" cy="5202936"/>
          </a:xfrm>
          <a:prstGeom prst="rect">
            <a:avLst/>
          </a:prstGeom>
        </p:spPr>
      </p:pic>
      <p:pic>
        <p:nvPicPr>
          <p:cNvPr id="7" name="Picture 22" descr="IT">
            <a:extLst>
              <a:ext uri="{FF2B5EF4-FFF2-40B4-BE49-F238E27FC236}">
                <a16:creationId xmlns:a16="http://schemas.microsoft.com/office/drawing/2014/main" id="{FA17EF0C-72F5-A387-2D39-B33779A98E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2020" y="4064857"/>
            <a:ext cx="1082272" cy="108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6F06EF88-FC3C-7C83-6004-A50ECAA6CD64}"/>
              </a:ext>
            </a:extLst>
          </p:cNvPr>
          <p:cNvSpPr txBox="1"/>
          <p:nvPr/>
        </p:nvSpPr>
        <p:spPr>
          <a:xfrm>
            <a:off x="1696935" y="5147130"/>
            <a:ext cx="1738279" cy="28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Lugi New User</a:t>
            </a:r>
          </a:p>
        </p:txBody>
      </p:sp>
      <p:sp>
        <p:nvSpPr>
          <p:cNvPr id="15" name="Triangolo 14">
            <a:extLst>
              <a:ext uri="{FF2B5EF4-FFF2-40B4-BE49-F238E27FC236}">
                <a16:creationId xmlns:a16="http://schemas.microsoft.com/office/drawing/2014/main" id="{2986106A-6872-DFCF-CB3A-CDD042A7CC35}"/>
              </a:ext>
            </a:extLst>
          </p:cNvPr>
          <p:cNvSpPr/>
          <p:nvPr/>
        </p:nvSpPr>
        <p:spPr>
          <a:xfrm rot="5400000">
            <a:off x="4946674" y="4950378"/>
            <a:ext cx="477056" cy="230566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7" name="Testo originale sotto il titolo">
            <a:extLst>
              <a:ext uri="{FF2B5EF4-FFF2-40B4-BE49-F238E27FC236}">
                <a16:creationId xmlns:a16="http://schemas.microsoft.com/office/drawing/2014/main" id="{34937980-B09F-360B-552D-6339C79B48DD}"/>
              </a:ext>
            </a:extLst>
          </p:cNvPr>
          <p:cNvSpPr txBox="1"/>
          <p:nvPr/>
        </p:nvSpPr>
        <p:spPr>
          <a:xfrm>
            <a:off x="640080" y="1463040"/>
            <a:ext cx="3840480" cy="1386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it-IT" sz="1865" b="1">
                <a:solidFill>
                  <a:srgbClr val="161C24"/>
                </a:solidFill>
                <a:latin typeface="IBM Plex Sans" panose="020B0503050203000203" pitchFamily="34" charset="0"/>
              </a:rPr>
              <a:t>Riceve email </a:t>
            </a:r>
          </a:p>
          <a:p>
            <a:pPr>
              <a:defRPr/>
            </a:pPr>
            <a:endParaRPr lang="it-IT" sz="2800" b="1">
              <a:solidFill>
                <a:srgbClr val="161C24"/>
              </a:solidFill>
              <a:latin typeface="IBM Plex Sans" panose="020B0503050203000203" pitchFamily="34" charset="0"/>
            </a:endParaRPr>
          </a:p>
          <a:p>
            <a:pPr>
              <a:defRPr/>
            </a:pPr>
            <a:r>
              <a:rPr lang="it-IT" sz="1865" b="1">
                <a:solidFill>
                  <a:srgbClr val="161C24"/>
                </a:solidFill>
                <a:latin typeface="IBM Plex Sans" panose="020B0503050203000203" pitchFamily="34" charset="0"/>
              </a:rPr>
              <a:t>Click </a:t>
            </a:r>
            <a:r>
              <a:rPr lang="it-IT" sz="1865" b="1" err="1">
                <a:solidFill>
                  <a:srgbClr val="161C24"/>
                </a:solidFill>
                <a:latin typeface="IBM Plex Sans" panose="020B0503050203000203" pitchFamily="34" charset="0"/>
              </a:rPr>
              <a:t>Activate</a:t>
            </a:r>
            <a:r>
              <a:rPr lang="it-IT" sz="1865" b="1">
                <a:solidFill>
                  <a:srgbClr val="161C24"/>
                </a:solidFill>
                <a:latin typeface="IBM Plex Sans" panose="020B0503050203000203" pitchFamily="34" charset="0"/>
              </a:rPr>
              <a:t> Login </a:t>
            </a:r>
          </a:p>
          <a:p>
            <a:pPr>
              <a:defRPr/>
            </a:pPr>
            <a:endParaRPr lang="it-IT" sz="2800" b="1">
              <a:solidFill>
                <a:srgbClr val="161C24"/>
              </a:solidFill>
              <a:latin typeface="IBM Plex Sans" panose="020B0503050203000203" pitchFamily="34" charset="0"/>
            </a:endParaRPr>
          </a:p>
        </p:txBody>
      </p:sp>
      <p:sp>
        <p:nvSpPr>
          <p:cNvPr id="1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4937980-B09F-360B-552D-6339C79B48DD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Luigi nuovo utente</a:t>
            </a:r>
          </a:p>
        </p:txBody>
      </p:sp>
    </p:spTree>
    <p:extLst>
      <p:ext uri="{BB962C8B-B14F-4D97-AF65-F5344CB8AC3E}">
        <p14:creationId xmlns:p14="http://schemas.microsoft.com/office/powerpoint/2010/main" val="32908116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magine 5">
            <a:extLst>
              <a:ext uri="{FF2B5EF4-FFF2-40B4-BE49-F238E27FC236}">
                <a16:creationId xmlns:a16="http://schemas.microsoft.com/office/drawing/2014/main" id="{4DAB275D-17B4-3BEB-D464-A9E7D60189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9227" y="1060704"/>
            <a:ext cx="4942478" cy="5202936"/>
          </a:xfrm>
          <a:prstGeom prst="rect">
            <a:avLst/>
          </a:prstGeom>
        </p:spPr>
      </p:pic>
      <p:pic>
        <p:nvPicPr>
          <p:cNvPr id="8" name="Picture 22" descr="IT">
            <a:extLst>
              <a:ext uri="{FF2B5EF4-FFF2-40B4-BE49-F238E27FC236}">
                <a16:creationId xmlns:a16="http://schemas.microsoft.com/office/drawing/2014/main" id="{CA888716-9046-E154-EA42-30DE6D06B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95073" y="4064857"/>
            <a:ext cx="1082272" cy="1082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CasellaDiTesto 8">
            <a:extLst>
              <a:ext uri="{FF2B5EF4-FFF2-40B4-BE49-F238E27FC236}">
                <a16:creationId xmlns:a16="http://schemas.microsoft.com/office/drawing/2014/main" id="{BE408833-6508-3C1F-C2FD-7BD1CA574DE4}"/>
              </a:ext>
            </a:extLst>
          </p:cNvPr>
          <p:cNvSpPr txBox="1"/>
          <p:nvPr/>
        </p:nvSpPr>
        <p:spPr>
          <a:xfrm>
            <a:off x="1659988" y="5147130"/>
            <a:ext cx="1738279" cy="2801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Lugi New User</a:t>
            </a:r>
          </a:p>
        </p:txBody>
      </p:sp>
      <p:sp>
        <p:nvSpPr>
          <p:cNvPr id="10" name="Testo originale sotto il titolo">
            <a:extLst>
              <a:ext uri="{FF2B5EF4-FFF2-40B4-BE49-F238E27FC236}">
                <a16:creationId xmlns:a16="http://schemas.microsoft.com/office/drawing/2014/main" id="{AF25AEDB-26A9-7E24-B2FF-53C1CAED2C8B}"/>
              </a:ext>
            </a:extLst>
          </p:cNvPr>
          <p:cNvSpPr txBox="1"/>
          <p:nvPr/>
        </p:nvSpPr>
        <p:spPr>
          <a:xfrm>
            <a:off x="640080" y="1463040"/>
            <a:ext cx="3840480" cy="1720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it-IT" sz="1865" b="1">
                <a:solidFill>
                  <a:srgbClr val="161C24"/>
                </a:solidFill>
                <a:latin typeface="IBM Plex Sans" panose="020B0503050203000203" pitchFamily="34" charset="0"/>
              </a:rPr>
              <a:t>Riceve email </a:t>
            </a:r>
          </a:p>
          <a:p>
            <a:pPr>
              <a:defRPr/>
            </a:pPr>
            <a:endParaRPr lang="it-IT" sz="2800" b="1">
              <a:solidFill>
                <a:srgbClr val="161C24"/>
              </a:solidFill>
              <a:latin typeface="IBM Plex Sans" panose="020B0503050203000203" pitchFamily="34" charset="0"/>
            </a:endParaRPr>
          </a:p>
          <a:p>
            <a:pPr>
              <a:defRPr/>
            </a:pPr>
            <a:r>
              <a:rPr lang="it-IT" sz="1865" b="1">
                <a:solidFill>
                  <a:srgbClr val="161C24"/>
                </a:solidFill>
                <a:latin typeface="IBM Plex Sans" panose="020B0503050203000203" pitchFamily="34" charset="0"/>
              </a:rPr>
              <a:t>Click Reset password</a:t>
            </a:r>
          </a:p>
          <a:p>
            <a:pPr>
              <a:defRPr/>
            </a:pPr>
            <a:endParaRPr lang="it-IT" sz="2800" b="1">
              <a:solidFill>
                <a:srgbClr val="161C24"/>
              </a:solidFill>
              <a:latin typeface="IBM Plex Sans" panose="020B0503050203000203" pitchFamily="34" charset="0"/>
            </a:endParaRPr>
          </a:p>
          <a:p>
            <a:pPr>
              <a:defRPr/>
            </a:pPr>
            <a:endParaRPr lang="it-IT" sz="2800" b="1">
              <a:solidFill>
                <a:srgbClr val="161C24"/>
              </a:solidFill>
              <a:latin typeface="IBM Plex Sans" panose="020B0503050203000203" pitchFamily="34" charset="0"/>
            </a:endParaRPr>
          </a:p>
        </p:txBody>
      </p:sp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AF25AEDB-26A9-7E24-B2FF-53C1CAED2C8B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Luigi nuovo utente</a:t>
            </a:r>
          </a:p>
        </p:txBody>
      </p:sp>
    </p:spTree>
    <p:extLst>
      <p:ext uri="{BB962C8B-B14F-4D97-AF65-F5344CB8AC3E}">
        <p14:creationId xmlns:p14="http://schemas.microsoft.com/office/powerpoint/2010/main" val="56300872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magine 3">
            <a:extLst>
              <a:ext uri="{FF2B5EF4-FFF2-40B4-BE49-F238E27FC236}">
                <a16:creationId xmlns:a16="http://schemas.microsoft.com/office/drawing/2014/main" id="{245BB980-D334-33BF-F041-10E4A06D05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2059" y="1060704"/>
            <a:ext cx="9927576" cy="520293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D71FB53F-A786-65C1-CD71-F41D1A4CF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6353" y="4545887"/>
            <a:ext cx="1271565" cy="1716096"/>
          </a:xfrm>
          <a:prstGeom prst="rect">
            <a:avLst/>
          </a:prstGeom>
        </p:spPr>
      </p:pic>
      <p:sp>
        <p:nvSpPr>
          <p:cNvPr id="6" name="Triangolo 5">
            <a:extLst>
              <a:ext uri="{FF2B5EF4-FFF2-40B4-BE49-F238E27FC236}">
                <a16:creationId xmlns:a16="http://schemas.microsoft.com/office/drawing/2014/main" id="{9A3CAC48-9AFA-BBE6-F62C-C030308D534B}"/>
              </a:ext>
            </a:extLst>
          </p:cNvPr>
          <p:cNvSpPr/>
          <p:nvPr/>
        </p:nvSpPr>
        <p:spPr>
          <a:xfrm rot="5400000">
            <a:off x="357817" y="3202153"/>
            <a:ext cx="477056" cy="24738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7" name="Triangolo 6">
            <a:extLst>
              <a:ext uri="{FF2B5EF4-FFF2-40B4-BE49-F238E27FC236}">
                <a16:creationId xmlns:a16="http://schemas.microsoft.com/office/drawing/2014/main" id="{4DD1551B-491C-E995-C310-F25054387147}"/>
              </a:ext>
            </a:extLst>
          </p:cNvPr>
          <p:cNvSpPr/>
          <p:nvPr/>
        </p:nvSpPr>
        <p:spPr>
          <a:xfrm rot="5400000">
            <a:off x="2212410" y="3270981"/>
            <a:ext cx="477056" cy="247385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C3DEE9A0-83D4-80B6-7A4C-9E00EDC01F30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Luigi atterra su pagina cambio password, inserisce pw</a:t>
            </a:r>
          </a:p>
        </p:txBody>
      </p:sp>
    </p:spTree>
    <p:extLst>
      <p:ext uri="{BB962C8B-B14F-4D97-AF65-F5344CB8AC3E}">
        <p14:creationId xmlns:p14="http://schemas.microsoft.com/office/powerpoint/2010/main" val="41691447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96468-1863-16D8-4487-93449ABFE5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99A303C-F435-61A8-70D4-D43FB86684FC}"/>
              </a:ext>
            </a:extLst>
          </p:cNvPr>
          <p:cNvSpPr/>
          <p:nvPr/>
        </p:nvSpPr>
        <p:spPr>
          <a:xfrm>
            <a:off x="333015" y="3508503"/>
            <a:ext cx="2487168" cy="1339404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BE7D4E4E-657D-F71F-379D-58FC3A7E753C}"/>
              </a:ext>
            </a:extLst>
          </p:cNvPr>
          <p:cNvSpPr/>
          <p:nvPr/>
        </p:nvSpPr>
        <p:spPr>
          <a:xfrm>
            <a:off x="594360" y="2857504"/>
            <a:ext cx="64008" cy="133940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366912A-73EB-57BD-8F4E-922C696FC2E9}"/>
              </a:ext>
            </a:extLst>
          </p:cNvPr>
          <p:cNvSpPr txBox="1"/>
          <p:nvPr/>
        </p:nvSpPr>
        <p:spPr>
          <a:xfrm>
            <a:off x="1386705" y="2839702"/>
            <a:ext cx="1377300" cy="31040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17" b="1" i="0" u="none" strike="noStrike" kern="1200" cap="none" spc="0" normalizeH="0" baseline="0" noProof="0">
                <a:ln>
                  <a:noFill/>
                </a:ln>
                <a:solidFill>
                  <a:srgbClr val="161C24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Administrator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10E440-D173-BAB0-AB9F-73C8C0E2EC6D}"/>
              </a:ext>
            </a:extLst>
          </p:cNvPr>
          <p:cNvSpPr txBox="1"/>
          <p:nvPr/>
        </p:nvSpPr>
        <p:spPr>
          <a:xfrm>
            <a:off x="1386705" y="3229005"/>
            <a:ext cx="1937077" cy="703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Configura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e </a:t>
            </a: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governa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</a:t>
            </a: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525E6C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piattaforma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, </a:t>
            </a: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utenti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e </a:t>
            </a: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accessi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5EFC4E6-18F1-C1E7-10D3-9A981790427B}"/>
              </a:ext>
            </a:extLst>
          </p:cNvPr>
          <p:cNvSpPr/>
          <p:nvPr/>
        </p:nvSpPr>
        <p:spPr>
          <a:xfrm>
            <a:off x="3429000" y="2857504"/>
            <a:ext cx="2487168" cy="1339404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6F28AF1-0B6D-8B4D-80D6-556A2CE06FDA}"/>
              </a:ext>
            </a:extLst>
          </p:cNvPr>
          <p:cNvSpPr/>
          <p:nvPr/>
        </p:nvSpPr>
        <p:spPr>
          <a:xfrm>
            <a:off x="3429000" y="2857504"/>
            <a:ext cx="64008" cy="133940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84227A2-B588-1C8D-7E85-29B852AAC5E9}"/>
              </a:ext>
            </a:extLst>
          </p:cNvPr>
          <p:cNvSpPr txBox="1"/>
          <p:nvPr/>
        </p:nvSpPr>
        <p:spPr>
          <a:xfrm>
            <a:off x="4056529" y="2839702"/>
            <a:ext cx="1300356" cy="310406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417" b="1" i="0" u="none" strike="noStrike" kern="1200" cap="none" spc="0" normalizeH="0" baseline="0" noProof="0">
                <a:ln>
                  <a:noFill/>
                </a:ln>
                <a:solidFill>
                  <a:srgbClr val="161C24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General User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5800A9A-F6E7-7059-2C9A-8226120AFA89}"/>
              </a:ext>
            </a:extLst>
          </p:cNvPr>
          <p:cNvSpPr txBox="1"/>
          <p:nvPr/>
        </p:nvSpPr>
        <p:spPr>
          <a:xfrm>
            <a:off x="4056529" y="3229005"/>
            <a:ext cx="2220189" cy="70307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Opera sui </a:t>
            </a: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dati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e </a:t>
            </a: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utilizza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le </a:t>
            </a: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525E6C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funzioni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</a:t>
            </a: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necessarie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alle </a:t>
            </a: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attività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</a:t>
            </a:r>
            <a:r>
              <a:rPr kumimoji="0" lang="it-IT" sz="1323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assegnate</a:t>
            </a:r>
            <a:r>
              <a:rPr kumimoji="0" lang="it-IT" sz="1323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F9F13D7-965E-4850-E00B-542B8071CB5F}"/>
              </a:ext>
            </a:extLst>
          </p:cNvPr>
          <p:cNvSpPr/>
          <p:nvPr/>
        </p:nvSpPr>
        <p:spPr>
          <a:xfrm>
            <a:off x="9098280" y="2857504"/>
            <a:ext cx="2487168" cy="1339404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pic>
        <p:nvPicPr>
          <p:cNvPr id="41" name="Picture 13" descr="CHRO">
            <a:extLst>
              <a:ext uri="{FF2B5EF4-FFF2-40B4-BE49-F238E27FC236}">
                <a16:creationId xmlns:a16="http://schemas.microsoft.com/office/drawing/2014/main" id="{8B08B178-5573-540B-5475-F4BAEEF84B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6855" y="1353847"/>
            <a:ext cx="1240480" cy="12404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2" descr="IT">
            <a:extLst>
              <a:ext uri="{FF2B5EF4-FFF2-40B4-BE49-F238E27FC236}">
                <a16:creationId xmlns:a16="http://schemas.microsoft.com/office/drawing/2014/main" id="{2EA4B3B3-A94A-8638-AC7D-DF3A99E719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3498" y="1285964"/>
            <a:ext cx="1343601" cy="1343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45309031-7D93-DB3B-E296-3285DE9A5E8B}"/>
              </a:ext>
            </a:extLst>
          </p:cNvPr>
          <p:cNvSpPr txBox="1"/>
          <p:nvPr/>
        </p:nvSpPr>
        <p:spPr>
          <a:xfrm>
            <a:off x="1779337" y="1005840"/>
            <a:ext cx="11178539" cy="349028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pic>
        <p:nvPicPr>
          <p:cNvPr id="8" name="Immagine 7">
            <a:extLst>
              <a:ext uri="{FF2B5EF4-FFF2-40B4-BE49-F238E27FC236}">
                <a16:creationId xmlns:a16="http://schemas.microsoft.com/office/drawing/2014/main" id="{D0B9D1E7-6372-37F2-3074-95C899F356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4327" y="1060704"/>
            <a:ext cx="10123041" cy="5202935"/>
          </a:xfrm>
          <a:prstGeom prst="rect">
            <a:avLst/>
          </a:prstGeom>
        </p:spPr>
      </p:pic>
      <p:sp>
        <p:nvSpPr>
          <p:cNvPr id="9" name="Triangolo 8">
            <a:extLst>
              <a:ext uri="{FF2B5EF4-FFF2-40B4-BE49-F238E27FC236}">
                <a16:creationId xmlns:a16="http://schemas.microsoft.com/office/drawing/2014/main" id="{C720FFA8-1596-22DA-9250-BB5C1C73A280}"/>
              </a:ext>
            </a:extLst>
          </p:cNvPr>
          <p:cNvSpPr/>
          <p:nvPr/>
        </p:nvSpPr>
        <p:spPr>
          <a:xfrm rot="5400000">
            <a:off x="710522" y="2636724"/>
            <a:ext cx="477056" cy="281270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174F5778-C005-C03E-A033-A1CACC24B11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58940" y="4270823"/>
            <a:ext cx="1471273" cy="1985621"/>
          </a:xfrm>
          <a:prstGeom prst="rect">
            <a:avLst/>
          </a:prstGeom>
        </p:spPr>
      </p:pic>
      <p:sp>
        <p:nvSpPr>
          <p:cNvPr id="4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B1183-8190-69A9-9863-FD39B7A1C653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Appare link login</a:t>
            </a:r>
          </a:p>
        </p:txBody>
      </p:sp>
    </p:spTree>
    <p:extLst>
      <p:ext uri="{BB962C8B-B14F-4D97-AF65-F5344CB8AC3E}">
        <p14:creationId xmlns:p14="http://schemas.microsoft.com/office/powerpoint/2010/main" val="29630162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61856-6C51-BBB5-080B-A09C1EC880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E8FDBB8-F527-7668-4B00-3DFD380CC159}"/>
              </a:ext>
            </a:extLst>
          </p:cNvPr>
          <p:cNvSpPr txBox="1"/>
          <p:nvPr/>
        </p:nvSpPr>
        <p:spPr>
          <a:xfrm>
            <a:off x="1778919" y="1421516"/>
            <a:ext cx="8313031" cy="38440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1898" b="1" i="0" u="none" strike="noStrike" kern="1200" cap="none" spc="0" normalizeH="0" baseline="0" noProof="0">
                <a:ln>
                  <a:noFill/>
                </a:ln>
                <a:solidFill>
                  <a:srgbClr val="161C24"/>
                </a:solidFill>
                <a:effectLst/>
                <a:uLnTx/>
                <a:uFillTx/>
                <a:latin typeface="Aptos"/>
                <a:cs typeface="Calibri"/>
              </a:rPr>
              <a:t>Appare </a:t>
            </a:r>
            <a:r>
              <a:rPr lang="it-IT" sz="1898" b="1">
                <a:solidFill>
                  <a:srgbClr val="161C24"/>
                </a:solidFill>
                <a:latin typeface="Aptos"/>
                <a:cs typeface="Calibri"/>
              </a:rPr>
              <a:t>link login</a:t>
            </a:r>
            <a:endParaRPr kumimoji="0" sz="2500" b="1" i="0" u="none" strike="noStrike" kern="1200" cap="none" spc="0" normalizeH="0" baseline="0" noProof="0" dirty="0">
              <a:ln>
                <a:noFill/>
              </a:ln>
              <a:solidFill>
                <a:srgbClr val="161C24"/>
              </a:solidFill>
              <a:effectLst/>
              <a:uLnTx/>
              <a:uFillTx/>
              <a:latin typeface="Aptos"/>
              <a:cs typeface="Calibri"/>
            </a:endParaRP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032F02E5-6CA9-B577-5EAD-873251D2AFED}"/>
              </a:ext>
            </a:extLst>
          </p:cNvPr>
          <p:cNvSpPr/>
          <p:nvPr/>
        </p:nvSpPr>
        <p:spPr>
          <a:xfrm>
            <a:off x="333015" y="4012092"/>
            <a:ext cx="2487168" cy="928283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609630C6-C9AD-26AC-BB91-86388FE4DBE0}"/>
              </a:ext>
            </a:extLst>
          </p:cNvPr>
          <p:cNvSpPr/>
          <p:nvPr/>
        </p:nvSpPr>
        <p:spPr>
          <a:xfrm>
            <a:off x="594360" y="3560913"/>
            <a:ext cx="64008" cy="92828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46701B0-53E6-6102-BCE3-9F951121978C}"/>
              </a:ext>
            </a:extLst>
          </p:cNvPr>
          <p:cNvSpPr txBox="1"/>
          <p:nvPr/>
        </p:nvSpPr>
        <p:spPr>
          <a:xfrm>
            <a:off x="1996476" y="3478267"/>
            <a:ext cx="1011815" cy="2434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82" b="1" i="0" u="none" strike="noStrike" kern="1200" cap="none" spc="0" normalizeH="0" baseline="0" noProof="0">
                <a:ln>
                  <a:noFill/>
                </a:ln>
                <a:solidFill>
                  <a:srgbClr val="161C24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Administrator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9F8CEDF-A829-3F57-9199-6440D4991FEF}"/>
              </a:ext>
            </a:extLst>
          </p:cNvPr>
          <p:cNvSpPr txBox="1"/>
          <p:nvPr/>
        </p:nvSpPr>
        <p:spPr>
          <a:xfrm>
            <a:off x="1996476" y="3800547"/>
            <a:ext cx="1515288" cy="515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Configura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e </a:t>
            </a: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governa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</a:t>
            </a: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525E6C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piattaforma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, </a:t>
            </a: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utenti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e </a:t>
            </a: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accessi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.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F872A8-7CB3-BDCD-74E2-B0F4D4E436D2}"/>
              </a:ext>
            </a:extLst>
          </p:cNvPr>
          <p:cNvSpPr/>
          <p:nvPr/>
        </p:nvSpPr>
        <p:spPr>
          <a:xfrm>
            <a:off x="3429000" y="3560913"/>
            <a:ext cx="2487168" cy="928283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358A5D57-D5C8-9286-F217-A4CFCDCC9C9E}"/>
              </a:ext>
            </a:extLst>
          </p:cNvPr>
          <p:cNvSpPr/>
          <p:nvPr/>
        </p:nvSpPr>
        <p:spPr>
          <a:xfrm>
            <a:off x="3429000" y="3560913"/>
            <a:ext cx="64008" cy="928283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31713E8-708A-918C-016F-1D793CB67EC5}"/>
              </a:ext>
            </a:extLst>
          </p:cNvPr>
          <p:cNvSpPr txBox="1"/>
          <p:nvPr/>
        </p:nvSpPr>
        <p:spPr>
          <a:xfrm>
            <a:off x="4084959" y="3478267"/>
            <a:ext cx="957313" cy="243465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82" b="1" i="0" u="none" strike="noStrike" kern="1200" cap="none" spc="0" normalizeH="0" baseline="0" noProof="0">
                <a:ln>
                  <a:noFill/>
                </a:ln>
                <a:solidFill>
                  <a:srgbClr val="161C24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General User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0848F93C-F77C-C523-BA0E-293CE7BCACAC}"/>
              </a:ext>
            </a:extLst>
          </p:cNvPr>
          <p:cNvSpPr txBox="1"/>
          <p:nvPr/>
        </p:nvSpPr>
        <p:spPr>
          <a:xfrm>
            <a:off x="4084959" y="3800547"/>
            <a:ext cx="1736754" cy="515141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Opera sui </a:t>
            </a: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dati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e </a:t>
            </a: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utilizza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le </a:t>
            </a:r>
            <a:endParaRPr kumimoji="0" lang="it-IT" sz="1400" b="0" i="0" u="none" strike="noStrike" kern="1200" cap="none" spc="0" normalizeH="0" baseline="0" noProof="0" dirty="0">
              <a:ln>
                <a:noFill/>
              </a:ln>
              <a:solidFill>
                <a:srgbClr val="525E6C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funzioni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</a:t>
            </a: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necessarie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alle </a:t>
            </a: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attività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 </a:t>
            </a:r>
            <a:r>
              <a:rPr kumimoji="0" lang="it-IT" sz="916" b="0" i="0" u="none" strike="noStrike" kern="1200" cap="none" spc="0" normalizeH="0" baseline="0" noProof="0" err="1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assegnate</a:t>
            </a:r>
            <a:r>
              <a:rPr kumimoji="0" lang="it-IT" sz="916" b="0" i="0" u="none" strike="noStrike" kern="1200" cap="none" spc="0" normalizeH="0" baseline="0" noProof="0">
                <a:ln>
                  <a:noFill/>
                </a:ln>
                <a:solidFill>
                  <a:srgbClr val="525E6C"/>
                </a:solidFill>
                <a:effectLst/>
                <a:uLnTx/>
                <a:uFillTx/>
                <a:latin typeface="IBM Plex Sans" panose="020B0503050203000203" pitchFamily="34" charset="0"/>
                <a:cs typeface="Calibri"/>
              </a:rPr>
              <a:t>.</a:t>
            </a:r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1048F22-B3D4-D8A4-E4D1-CBC72D77EC86}"/>
              </a:ext>
            </a:extLst>
          </p:cNvPr>
          <p:cNvSpPr/>
          <p:nvPr/>
        </p:nvSpPr>
        <p:spPr>
          <a:xfrm>
            <a:off x="9098280" y="3560913"/>
            <a:ext cx="2487168" cy="928283"/>
          </a:xfrm>
          <a:prstGeom prst="roundRect">
            <a:avLst/>
          </a:prstGeom>
          <a:solidFill>
            <a:srgbClr val="FFFFFF"/>
          </a:solidFill>
          <a:ln>
            <a:solidFill>
              <a:srgbClr val="DD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pic>
        <p:nvPicPr>
          <p:cNvPr id="41" name="Picture 13" descr="CHRO">
            <a:extLst>
              <a:ext uri="{FF2B5EF4-FFF2-40B4-BE49-F238E27FC236}">
                <a16:creationId xmlns:a16="http://schemas.microsoft.com/office/drawing/2014/main" id="{4BA52CDF-B644-2449-5BDE-BCEDAC52C3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0463" y="2316274"/>
            <a:ext cx="970372" cy="9703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3" name="Picture 22" descr="IT">
            <a:extLst>
              <a:ext uri="{FF2B5EF4-FFF2-40B4-BE49-F238E27FC236}">
                <a16:creationId xmlns:a16="http://schemas.microsoft.com/office/drawing/2014/main" id="{0E8C701B-F724-4454-1BAC-352F066F81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4684" y="2263172"/>
            <a:ext cx="1051038" cy="1051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sellaDiTesto 3">
            <a:extLst>
              <a:ext uri="{FF2B5EF4-FFF2-40B4-BE49-F238E27FC236}">
                <a16:creationId xmlns:a16="http://schemas.microsoft.com/office/drawing/2014/main" id="{34E4B117-C14F-5A88-FE36-798F860F6BA6}"/>
              </a:ext>
            </a:extLst>
          </p:cNvPr>
          <p:cNvSpPr txBox="1"/>
          <p:nvPr/>
        </p:nvSpPr>
        <p:spPr>
          <a:xfrm>
            <a:off x="1779337" y="2277604"/>
            <a:ext cx="11178539" cy="241895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cs typeface="Calibri"/>
            </a:endParaRPr>
          </a:p>
        </p:txBody>
      </p:sp>
      <p:sp>
        <p:nvSpPr>
          <p:cNvPr id="9" name="Triangolo 8">
            <a:extLst>
              <a:ext uri="{FF2B5EF4-FFF2-40B4-BE49-F238E27FC236}">
                <a16:creationId xmlns:a16="http://schemas.microsoft.com/office/drawing/2014/main" id="{03A25EEB-495A-0CA6-EDB1-C98D92F7BDF9}"/>
              </a:ext>
            </a:extLst>
          </p:cNvPr>
          <p:cNvSpPr/>
          <p:nvPr/>
        </p:nvSpPr>
        <p:spPr>
          <a:xfrm rot="5400000">
            <a:off x="710522" y="3407899"/>
            <a:ext cx="477056" cy="194936"/>
          </a:xfrm>
          <a:prstGeom prst="triangl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pic>
        <p:nvPicPr>
          <p:cNvPr id="10" name="Immagine 9">
            <a:extLst>
              <a:ext uri="{FF2B5EF4-FFF2-40B4-BE49-F238E27FC236}">
                <a16:creationId xmlns:a16="http://schemas.microsoft.com/office/drawing/2014/main" id="{22BA5FFE-4B6B-5BBB-FB3F-750A6EFEE7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40080" y="4598093"/>
            <a:ext cx="1150911" cy="1553262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9C16A199-5DF2-A2EF-58F5-9A919DB3A7E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0353" y="1371600"/>
            <a:ext cx="9370988" cy="4851761"/>
          </a:xfrm>
          <a:prstGeom prst="rect">
            <a:avLst/>
          </a:prstGeom>
        </p:spPr>
      </p:pic>
      <p:pic>
        <p:nvPicPr>
          <p:cNvPr id="2" name="Immagine 1">
            <a:extLst>
              <a:ext uri="{FF2B5EF4-FFF2-40B4-BE49-F238E27FC236}">
                <a16:creationId xmlns:a16="http://schemas.microsoft.com/office/drawing/2014/main" id="{B5F801D2-9CE2-9DB7-54E6-BB313CCEC6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2364" y="4710377"/>
            <a:ext cx="1150911" cy="1553262"/>
          </a:xfrm>
          <a:prstGeom prst="rect">
            <a:avLst/>
          </a:prstGeom>
        </p:spPr>
      </p:pic>
      <p:sp>
        <p:nvSpPr>
          <p:cNvPr id="44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9DE3C21A-D7F2-F4EF-E1E2-72032ED9C69A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Al primo accesso envizi chiede time zone-&gt; imposta o not now</a:t>
            </a:r>
          </a:p>
        </p:txBody>
      </p:sp>
    </p:spTree>
    <p:extLst>
      <p:ext uri="{BB962C8B-B14F-4D97-AF65-F5344CB8AC3E}">
        <p14:creationId xmlns:p14="http://schemas.microsoft.com/office/powerpoint/2010/main" val="17845731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magine 7">
            <a:extLst>
              <a:ext uri="{FF2B5EF4-FFF2-40B4-BE49-F238E27FC236}">
                <a16:creationId xmlns:a16="http://schemas.microsoft.com/office/drawing/2014/main" id="{F95F6FA7-E036-C69B-E442-4D5E5C23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3383" y="1060704"/>
            <a:ext cx="10424928" cy="4501672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CF0B5863-40F3-4C37-7202-A185A784BE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720" y="4454009"/>
            <a:ext cx="1340870" cy="1809630"/>
          </a:xfrm>
          <a:prstGeom prst="rect">
            <a:avLst/>
          </a:prstGeom>
        </p:spPr>
      </p:pic>
      <p:sp>
        <p:nvSpPr>
          <p:cNvPr id="11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9" name="TextBox 2">
            <a:extLst>
              <a:ext uri="{FF2B5EF4-FFF2-40B4-BE49-F238E27FC236}">
                <a16:creationId xmlns:a16="http://schemas.microsoft.com/office/drawing/2014/main" id="{B49E8852-3983-9DDE-A4BB-D4DC1A84A35B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Il nuovo user può ora accedere a Envizi</a:t>
            </a:r>
          </a:p>
        </p:txBody>
      </p:sp>
    </p:spTree>
    <p:extLst>
      <p:ext uri="{BB962C8B-B14F-4D97-AF65-F5344CB8AC3E}">
        <p14:creationId xmlns:p14="http://schemas.microsoft.com/office/powerpoint/2010/main" val="8511302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1045D3-2EAD-4F66-7477-2BA7C960C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sto originale sotto il titolo">
            <a:extLst>
              <a:ext uri="{FF2B5EF4-FFF2-40B4-BE49-F238E27FC236}">
                <a16:creationId xmlns:a16="http://schemas.microsoft.com/office/drawing/2014/main" id="{DA8BA681-F62E-1882-DA2E-BB29F5250EFC}"/>
              </a:ext>
            </a:extLst>
          </p:cNvPr>
          <p:cNvSpPr txBox="1"/>
          <p:nvPr/>
        </p:nvSpPr>
        <p:spPr>
          <a:xfrm>
            <a:off x="613373" y="1005840"/>
            <a:ext cx="921869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IBM </a:t>
            </a:r>
            <a:r>
              <a:rPr kumimoji="0" lang="it-IT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Envizi</a:t>
            </a: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 può integrarsi con il sistema di autenticazione aziendale tramite 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Single </a:t>
            </a:r>
            <a:r>
              <a:rPr kumimoji="0" lang="it-IT" b="1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Sign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-On (SSO)</a:t>
            </a: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, consentendo agli utenti di accedere alla piattaforma utilizzando le stesse credenziali già impiegate per gli altri servizi aziendali.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it-IT" dirty="0">
              <a:solidFill>
                <a:srgbClr val="000000"/>
              </a:solidFill>
              <a:latin typeface="Calibri"/>
              <a:ea typeface="Times New Roman" panose="02020603050405020304" pitchFamily="18" charset="0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Questa modalità semplifica l’esperienza degli utenti, riduce la gestione delle password e permette di applicare le politiche di sicurezza e di gestione delle identità già adottate dall’organizzazione.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Times New Roman" panose="02020603050405020304" pitchFamily="18" charset="0"/>
              <a:cs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In alternativa, qualora il Single </a:t>
            </a:r>
            <a:r>
              <a:rPr kumimoji="0" lang="it-IT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Sign</a:t>
            </a: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-On non sia disponibile o non venga utilizzato, </a:t>
            </a:r>
            <a:r>
              <a:rPr kumimoji="0" lang="it-IT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Envizi</a:t>
            </a: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 supporta anche la gestione di </a:t>
            </a:r>
            <a:r>
              <a:rPr kumimoji="0" lang="it-IT" b="1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utenze locali</a:t>
            </a: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, amministrate direttamente all’interno della piattaforma.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it-IT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Times New Roman" panose="02020603050405020304" pitchFamily="18" charset="0"/>
                <a:cs typeface="Calibri"/>
              </a:rPr>
              <a:t> </a:t>
            </a:r>
            <a:endParaRPr kumimoji="0" lang="it-IT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Times New Roman" panose="02020603050405020304" pitchFamily="18" charset="0"/>
              <a:cs typeface="Calibri"/>
            </a:endParaRPr>
          </a:p>
        </p:txBody>
      </p:sp>
      <p:sp>
        <p:nvSpPr>
          <p:cNvPr id="5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DA8BA681-F62E-1882-DA2E-BB29F5250EFC}"/>
              </a:ext>
            </a:extLst>
          </p:cNvPr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 dirty="0">
                <a:solidFill>
                  <a:srgbClr val="073E31"/>
                </a:solidFill>
                <a:latin typeface="Calibri"/>
              </a:rPr>
              <a:t>Nota: Gestione delle credenziali e Single </a:t>
            </a:r>
            <a:r>
              <a:rPr lang="it-IT" sz="2400" b="1" dirty="0" err="1">
                <a:solidFill>
                  <a:srgbClr val="073E31"/>
                </a:solidFill>
                <a:latin typeface="Calibri"/>
              </a:rPr>
              <a:t>Sign</a:t>
            </a:r>
            <a:r>
              <a:rPr lang="it-IT" sz="2400" b="1" dirty="0">
                <a:solidFill>
                  <a:srgbClr val="073E31"/>
                </a:solidFill>
                <a:latin typeface="Calibri"/>
              </a:rPr>
              <a:t>-On</a:t>
            </a:r>
          </a:p>
        </p:txBody>
      </p:sp>
    </p:spTree>
    <p:extLst>
      <p:ext uri="{BB962C8B-B14F-4D97-AF65-F5344CB8AC3E}">
        <p14:creationId xmlns:p14="http://schemas.microsoft.com/office/powerpoint/2010/main" val="6649031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1" cy="1"/>
          <a:chOff x="0" y="0"/>
          <a:chExt cx="1" cy="1"/>
        </a:xfrm>
      </p:grpSpPr>
      <p:sp>
        <p:nvSpPr>
          <p:cNvPr id="7" name="Testo originale sotto il titolo"/>
          <p:cNvSpPr txBox="1"/>
          <p:nvPr/>
        </p:nvSpPr>
        <p:spPr>
          <a:xfrm>
            <a:off x="548640" y="5641848"/>
            <a:ext cx="10881360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defRPr sz="2000">
                <a:solidFill>
                  <a:srgbClr val="073E31"/>
                </a:solidFill>
              </a:defRPr>
            </a:pPr>
            <a:r>
              <a:rPr sz="2000" b="0" i="0" dirty="0">
                <a:solidFill>
                  <a:srgbClr val="073E31"/>
                </a:solidFill>
                <a:latin typeface="Calibri"/>
              </a:rPr>
              <a:t> </a:t>
            </a:r>
            <a:endParaRPr sz="2400" b="0" i="0" dirty="0">
              <a:solidFill>
                <a:srgbClr val="D8E8DC"/>
              </a:solidFill>
              <a:latin typeface="Calibri"/>
            </a:endParaRPr>
          </a:p>
        </p:txBody>
      </p:sp>
      <p:sp>
        <p:nvSpPr>
          <p:cNvPr id="8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>
              <a:defRPr sz="2000">
                <a:solidFill>
                  <a:srgbClr val="073E31"/>
                </a:solidFill>
              </a:defRPr>
            </a:pPr>
            <a:endParaRPr lang="it-IT"/>
          </a:p>
        </p:txBody>
      </p:sp>
      <p:sp>
        <p:nvSpPr>
          <p:cNvPr id="5" name="TextBox 4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  <a:buNone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lang="it-IT" sz="2400" b="1">
                <a:solidFill>
                  <a:srgbClr val="073E31"/>
                </a:solidFill>
                <a:latin typeface="Calibri"/>
              </a:rPr>
              <a:t>Grazie</a:t>
            </a:r>
          </a:p>
        </p:txBody>
      </p:sp>
      <p:sp>
        <p:nvSpPr>
          <p:cNvPr id="2" name="TextBox 3">
            <a:extLst>
              <a:ext uri="{FF2B5EF4-FFF2-40B4-BE49-F238E27FC236}">
                <a16:creationId xmlns:a16="http://schemas.microsoft.com/office/drawing/2014/main" id="{6EF24286-BAAB-56CB-EE5D-375D369C0873}"/>
              </a:ext>
            </a:extLst>
          </p:cNvPr>
          <p:cNvSpPr txBox="1"/>
          <p:nvPr/>
        </p:nvSpPr>
        <p:spPr>
          <a:xfrm>
            <a:off x="10058400" y="219456"/>
            <a:ext cx="2743200" cy="25603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ENVIZI</a:t>
            </a:r>
          </a:p>
        </p:txBody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8CDF11D0-1C53-0547-9873-8FB7E1E39671}"/>
              </a:ext>
            </a:extLst>
          </p:cNvPr>
          <p:cNvSpPr txBox="1"/>
          <p:nvPr/>
        </p:nvSpPr>
        <p:spPr>
          <a:xfrm>
            <a:off x="640080" y="1280160"/>
            <a:ext cx="6217920" cy="64008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38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Thank you</a:t>
            </a:r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CC8070-723C-29F9-6B8C-870A277CC8CE}"/>
              </a:ext>
            </a:extLst>
          </p:cNvPr>
          <p:cNvSpPr/>
          <p:nvPr/>
        </p:nvSpPr>
        <p:spPr>
          <a:xfrm>
            <a:off x="640080" y="2084831"/>
            <a:ext cx="1005840" cy="54864"/>
          </a:xfrm>
          <a:prstGeom prst="rect">
            <a:avLst/>
          </a:prstGeom>
          <a:solidFill>
            <a:srgbClr val="0F6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Box 6">
            <a:extLst>
              <a:ext uri="{FF2B5EF4-FFF2-40B4-BE49-F238E27FC236}">
                <a16:creationId xmlns:a16="http://schemas.microsoft.com/office/drawing/2014/main" id="{C5511781-77E8-AB51-35E5-D1D2C2451BA2}"/>
              </a:ext>
            </a:extLst>
          </p:cNvPr>
          <p:cNvSpPr txBox="1"/>
          <p:nvPr/>
        </p:nvSpPr>
        <p:spPr>
          <a:xfrm>
            <a:off x="640080" y="2423160"/>
            <a:ext cx="5897880" cy="438912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700" b="0" i="0" u="none" strike="noStrike" kern="1200" cap="none" spc="0" normalizeH="0" baseline="0" noProof="0">
                <a:ln>
                  <a:noFill/>
                </a:ln>
                <a:solidFill>
                  <a:srgbClr val="5B687A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Sustainability data that supports reporting, decisions and business value.</a:t>
            </a: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CE9F074-FDBC-705B-960A-8459F4BC17DE}"/>
              </a:ext>
            </a:extLst>
          </p:cNvPr>
          <p:cNvSpPr txBox="1"/>
          <p:nvPr/>
        </p:nvSpPr>
        <p:spPr>
          <a:xfrm>
            <a:off x="640080" y="3822191"/>
            <a:ext cx="4206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 dirty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Felice Petrignano</a:t>
            </a:r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434EFB8C-0790-AAB3-DB53-C9B2F350C225}"/>
              </a:ext>
            </a:extLst>
          </p:cNvPr>
          <p:cNvSpPr txBox="1"/>
          <p:nvPr/>
        </p:nvSpPr>
        <p:spPr>
          <a:xfrm>
            <a:off x="640080" y="4206240"/>
            <a:ext cx="512064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Senior Technology Specialist</a:t>
            </a:r>
          </a:p>
        </p:txBody>
      </p:sp>
      <p:sp>
        <p:nvSpPr>
          <p:cNvPr id="11" name="TextBox 9">
            <a:extLst>
              <a:ext uri="{FF2B5EF4-FFF2-40B4-BE49-F238E27FC236}">
                <a16:creationId xmlns:a16="http://schemas.microsoft.com/office/drawing/2014/main" id="{6BEDC525-C44E-79D2-F7A4-4D024636405B}"/>
              </a:ext>
            </a:extLst>
          </p:cNvPr>
          <p:cNvSpPr txBox="1"/>
          <p:nvPr/>
        </p:nvSpPr>
        <p:spPr>
          <a:xfrm>
            <a:off x="640080" y="4517136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1200" cap="none" spc="0" normalizeH="0" baseline="0" noProof="0">
                <a:ln>
                  <a:noFill/>
                </a:ln>
                <a:solidFill>
                  <a:srgbClr val="1F252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IBM Italy</a:t>
            </a:r>
          </a:p>
        </p:txBody>
      </p:sp>
      <p:sp>
        <p:nvSpPr>
          <p:cNvPr id="12" name="TextBox 10">
            <a:extLst>
              <a:ext uri="{FF2B5EF4-FFF2-40B4-BE49-F238E27FC236}">
                <a16:creationId xmlns:a16="http://schemas.microsoft.com/office/drawing/2014/main" id="{F621139D-38E0-2953-A093-2FC128265975}"/>
              </a:ext>
            </a:extLst>
          </p:cNvPr>
          <p:cNvSpPr txBox="1"/>
          <p:nvPr/>
        </p:nvSpPr>
        <p:spPr>
          <a:xfrm>
            <a:off x="640080" y="5047488"/>
            <a:ext cx="5303520" cy="23774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linkedin.com</a:t>
            </a:r>
            <a:r>
              <a:rPr kumimoji="0" sz="1400" b="1" i="0" u="none" strike="noStrike" kern="1200" cap="none" spc="0" normalizeH="0" baseline="0" noProof="0" dirty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/in/</a:t>
            </a:r>
            <a:r>
              <a:rPr kumimoji="0" sz="1400" b="1" i="0" u="none" strike="noStrike" kern="1200" cap="none" spc="0" normalizeH="0" baseline="0" noProof="0" dirty="0" err="1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fpetrignano</a:t>
            </a:r>
            <a:endParaRPr kumimoji="0" sz="1400" b="1" i="0" u="none" strike="noStrike" kern="1200" cap="none" spc="0" normalizeH="0" baseline="0" noProof="0" dirty="0">
              <a:ln>
                <a:noFill/>
              </a:ln>
              <a:solidFill>
                <a:srgbClr val="0F62FE"/>
              </a:solidFill>
              <a:effectLst/>
              <a:uLnTx/>
              <a:uFillTx/>
              <a:latin typeface="IBM Plex Sans"/>
              <a:ea typeface="+mn-ea"/>
              <a:cs typeface="+mn-cs"/>
            </a:endParaRPr>
          </a:p>
        </p:txBody>
      </p:sp>
      <p:sp>
        <p:nvSpPr>
          <p:cNvPr id="13" name="Rectangle 11">
            <a:extLst>
              <a:ext uri="{FF2B5EF4-FFF2-40B4-BE49-F238E27FC236}">
                <a16:creationId xmlns:a16="http://schemas.microsoft.com/office/drawing/2014/main" id="{306529D3-89C5-8762-7A9F-5369BAAECD79}"/>
              </a:ext>
            </a:extLst>
          </p:cNvPr>
          <p:cNvSpPr/>
          <p:nvPr/>
        </p:nvSpPr>
        <p:spPr>
          <a:xfrm>
            <a:off x="7635240" y="640080"/>
            <a:ext cx="3794760" cy="5440680"/>
          </a:xfrm>
          <a:prstGeom prst="rect">
            <a:avLst/>
          </a:prstGeom>
          <a:solidFill>
            <a:srgbClr val="F6F9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Box 12">
            <a:extLst>
              <a:ext uri="{FF2B5EF4-FFF2-40B4-BE49-F238E27FC236}">
                <a16:creationId xmlns:a16="http://schemas.microsoft.com/office/drawing/2014/main" id="{9DED0332-C7E5-AB26-11BC-B0241C7CD2B4}"/>
              </a:ext>
            </a:extLst>
          </p:cNvPr>
          <p:cNvSpPr txBox="1"/>
          <p:nvPr/>
        </p:nvSpPr>
        <p:spPr>
          <a:xfrm>
            <a:off x="8001000" y="1078992"/>
            <a:ext cx="3063240" cy="274320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0F62FE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LET’S CONNECT</a:t>
            </a:r>
          </a:p>
        </p:txBody>
      </p:sp>
      <p:pic>
        <p:nvPicPr>
          <p:cNvPr id="15" name="Picture 13" descr="linkedin_qr_original.png">
            <a:extLst>
              <a:ext uri="{FF2B5EF4-FFF2-40B4-BE49-F238E27FC236}">
                <a16:creationId xmlns:a16="http://schemas.microsoft.com/office/drawing/2014/main" id="{5488A219-564D-1AA5-DC0B-80CAF2A9B2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67735" y="1600200"/>
            <a:ext cx="2529767" cy="3154680"/>
          </a:xfrm>
          <a:prstGeom prst="rect">
            <a:avLst/>
          </a:prstGeom>
        </p:spPr>
      </p:pic>
      <p:sp>
        <p:nvSpPr>
          <p:cNvPr id="16" name="TextBox 14">
            <a:extLst>
              <a:ext uri="{FF2B5EF4-FFF2-40B4-BE49-F238E27FC236}">
                <a16:creationId xmlns:a16="http://schemas.microsoft.com/office/drawing/2014/main" id="{D4866AE4-DC69-6812-12BF-9F23A0B9733F}"/>
              </a:ext>
            </a:extLst>
          </p:cNvPr>
          <p:cNvSpPr txBox="1"/>
          <p:nvPr/>
        </p:nvSpPr>
        <p:spPr>
          <a:xfrm>
            <a:off x="8001000" y="5074920"/>
            <a:ext cx="3063240" cy="420624"/>
          </a:xfrm>
          <a:prstGeom prst="rect">
            <a:avLst/>
          </a:prstGeom>
          <a:noFill/>
        </p:spPr>
        <p:txBody>
          <a:bodyPr wrap="square" lIns="18288" tIns="9144" rIns="18288" bIns="9144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1" i="0" u="none" strike="noStrike" kern="1200" cap="none" spc="0" normalizeH="0" baseline="0" noProof="0">
                <a:ln>
                  <a:noFill/>
                </a:ln>
                <a:solidFill>
                  <a:srgbClr val="11233F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Scan the QR code to connect on LinkedIn</a:t>
            </a:r>
          </a:p>
        </p:txBody>
      </p:sp>
    </p:spTree>
    <p:extLst>
      <p:ext uri="{BB962C8B-B14F-4D97-AF65-F5344CB8AC3E}">
        <p14:creationId xmlns:p14="http://schemas.microsoft.com/office/powerpoint/2010/main" val="3904177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tangolo 2">
            <a:extLst>
              <a:ext uri="{FF2B5EF4-FFF2-40B4-BE49-F238E27FC236}">
                <a16:creationId xmlns:a16="http://schemas.microsoft.com/office/drawing/2014/main" id="{E5692321-2990-921A-697F-F435F6803838}"/>
              </a:ext>
            </a:extLst>
          </p:cNvPr>
          <p:cNvSpPr/>
          <p:nvPr/>
        </p:nvSpPr>
        <p:spPr>
          <a:xfrm>
            <a:off x="9062519" y="176407"/>
            <a:ext cx="3029561" cy="26707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36576" tIns="0" rIns="36576" bIns="0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</a:rPr>
              <a:t>IBM Envizi</a:t>
            </a: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3" name="Linea verde titolo">
            <a:extLst>
              <a:ext uri="{FF2B5EF4-FFF2-40B4-BE49-F238E27FC236}">
                <a16:creationId xmlns:a16="http://schemas.microsoft.com/office/drawing/2014/main" id="{A6678BFC-6560-E5C2-2666-C334E1932CBD}"/>
              </a:ext>
            </a:extLst>
          </p:cNvPr>
          <p:cNvSpPr/>
          <p:nvPr/>
        </p:nvSpPr>
        <p:spPr>
          <a:xfrm>
            <a:off x="640080" y="274320"/>
            <a:ext cx="1005840" cy="73152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t-IT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4" name="TextBox 1"/>
          <p:cNvSpPr txBox="1"/>
          <p:nvPr/>
        </p:nvSpPr>
        <p:spPr>
          <a:xfrm>
            <a:off x="640080" y="457200"/>
            <a:ext cx="10908792" cy="369332"/>
          </a:xfrm>
          <a:prstGeom prst="rect">
            <a:avLst/>
          </a:prstGeom>
          <a:noFill/>
        </p:spPr>
        <p:txBody>
          <a:bodyPr wrap="square" lIns="36576" tIns="0" rIns="36576" bIns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1">
                <a:solidFill>
                  <a:srgbClr val="073E31"/>
                </a:solidFill>
                <a:latin typeface="Calibri"/>
              </a:defRPr>
            </a:pPr>
            <a:r>
              <a:rPr kumimoji="0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Documentazione IBM</a:t>
            </a:r>
            <a:r>
              <a:rPr kumimoji="0" lang="it-IT" sz="2400" b="1" i="0" u="none" strike="noStrike" kern="1200" cap="none" spc="0" normalizeH="0" baseline="0" noProof="0">
                <a:ln>
                  <a:noFill/>
                </a:ln>
                <a:solidFill>
                  <a:srgbClr val="073E31"/>
                </a:solidFill>
                <a:effectLst/>
                <a:uLnTx/>
                <a:uFillTx/>
                <a:latin typeface="Calibri"/>
                <a:cs typeface="Calibri"/>
              </a:rPr>
              <a:t>: utenti, ruoli e accessi</a:t>
            </a:r>
            <a:endParaRPr kumimoji="0" sz="2400" b="1" i="0" u="none" strike="noStrike" kern="1200" cap="none" spc="0" normalizeH="0" baseline="0" noProof="0">
              <a:ln>
                <a:noFill/>
              </a:ln>
              <a:solidFill>
                <a:srgbClr val="073E31"/>
              </a:solidFill>
              <a:effectLst/>
              <a:uLnTx/>
              <a:uFillTx/>
              <a:latin typeface="Calibri"/>
              <a:cs typeface="Calibr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3"/>
              </a:rPr>
              <a:t>Utenti e livelli di accesso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Contatti</a:t>
            </a:r>
            <a:r>
              <a:rPr sz="1700" b="0">
                <a:solidFill>
                  <a:srgbClr val="333333"/>
                </a:solidFill>
                <a:latin typeface="Calibri"/>
              </a:rPr>
              <a:t>, </a:t>
            </a:r>
            <a:r>
              <a:rPr lang="it-IT" sz="1700" b="0">
                <a:solidFill>
                  <a:srgbClr val="333333"/>
                </a:solidFill>
                <a:latin typeface="Calibri"/>
              </a:rPr>
              <a:t>login </a:t>
            </a:r>
            <a:r>
              <a:rPr sz="1700" b="0">
                <a:solidFill>
                  <a:srgbClr val="333333"/>
                </a:solidFill>
                <a:latin typeface="Calibri"/>
              </a:rPr>
              <a:t>e </a:t>
            </a:r>
            <a:r>
              <a:rPr lang="it-IT" sz="1700" b="0">
                <a:solidFill>
                  <a:srgbClr val="333333"/>
                </a:solidFill>
                <a:latin typeface="Calibri"/>
              </a:rPr>
              <a:t>visibilità dei dati nell’organizzazione</a:t>
            </a:r>
            <a:r>
              <a:rPr sz="1700" b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4"/>
              </a:rPr>
              <a:t>Creazione di un nuovo utente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227832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Anagrafica</a:t>
            </a:r>
            <a:r>
              <a:rPr sz="1700" b="0">
                <a:solidFill>
                  <a:srgbClr val="333333"/>
                </a:solidFill>
                <a:latin typeface="Calibri"/>
              </a:rPr>
              <a:t>, </a:t>
            </a:r>
            <a:r>
              <a:rPr lang="it-IT" sz="1700" b="0">
                <a:solidFill>
                  <a:srgbClr val="333333"/>
                </a:solidFill>
                <a:latin typeface="Calibri"/>
              </a:rPr>
              <a:t>login </a:t>
            </a:r>
            <a:r>
              <a:rPr sz="1700" b="0">
                <a:solidFill>
                  <a:srgbClr val="333333"/>
                </a:solidFill>
                <a:latin typeface="Calibri"/>
              </a:rPr>
              <a:t>e </a:t>
            </a:r>
            <a:r>
              <a:rPr lang="it-IT" sz="1700" b="0">
                <a:solidFill>
                  <a:srgbClr val="333333"/>
                </a:solidFill>
                <a:latin typeface="Calibri"/>
              </a:rPr>
              <a:t>accessi in un unico modulo</a:t>
            </a:r>
            <a:r>
              <a:rPr sz="1700" b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5"/>
              </a:rPr>
              <a:t>Contatti e login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471416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Creazione separata del contatto </a:t>
            </a:r>
            <a:r>
              <a:rPr sz="1700" b="0">
                <a:solidFill>
                  <a:srgbClr val="333333"/>
                </a:solidFill>
                <a:latin typeface="Calibri"/>
              </a:rPr>
              <a:t>e </a:t>
            </a:r>
            <a:r>
              <a:rPr lang="it-IT" sz="1700" b="0">
                <a:solidFill>
                  <a:srgbClr val="333333"/>
                </a:solidFill>
                <a:latin typeface="Calibri"/>
              </a:rPr>
              <a:t>delle credenziali</a:t>
            </a:r>
            <a:r>
              <a:rPr sz="1700" b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1508760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6"/>
              </a:rPr>
              <a:t>Single Sign-On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984248"/>
            <a:ext cx="5074920" cy="26161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Autenticazione aziendale </a:t>
            </a:r>
            <a:r>
              <a:rPr sz="1700" b="0">
                <a:solidFill>
                  <a:srgbClr val="333333"/>
                </a:solidFill>
                <a:latin typeface="Calibri"/>
              </a:rPr>
              <a:t>e </a:t>
            </a:r>
            <a:r>
              <a:rPr lang="it-IT" sz="1700" b="0">
                <a:solidFill>
                  <a:srgbClr val="333333"/>
                </a:solidFill>
                <a:latin typeface="Calibri"/>
              </a:rPr>
              <a:t>gestione degli accessi SSO</a:t>
            </a:r>
            <a:r>
              <a:rPr sz="1700" b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752344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7"/>
              </a:rPr>
              <a:t>Ruoli di revisione e approvazione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3227832"/>
            <a:ext cx="507492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Assegnazione dei ruoli </a:t>
            </a:r>
            <a:r>
              <a:rPr sz="1700" b="0">
                <a:solidFill>
                  <a:srgbClr val="333333"/>
                </a:solidFill>
                <a:latin typeface="Calibri"/>
              </a:rPr>
              <a:t>e </a:t>
            </a:r>
            <a:r>
              <a:rPr lang="it-IT" sz="1700" b="0">
                <a:solidFill>
                  <a:srgbClr val="333333"/>
                </a:solidFill>
                <a:latin typeface="Calibri"/>
              </a:rPr>
              <a:t>restrizioni </a:t>
            </a:r>
            <a:r>
              <a:rPr sz="1700" b="0">
                <a:solidFill>
                  <a:srgbClr val="333333"/>
                </a:solidFill>
                <a:latin typeface="Calibri"/>
              </a:rPr>
              <a:t>per </a:t>
            </a:r>
            <a:r>
              <a:rPr lang="it-IT" sz="1700" b="0">
                <a:solidFill>
                  <a:srgbClr val="333333"/>
                </a:solidFill>
                <a:latin typeface="Calibri"/>
              </a:rPr>
              <a:t>ambito e tipo di dato</a:t>
            </a:r>
            <a:r>
              <a:rPr sz="1700" b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95928"/>
            <a:ext cx="5074920" cy="32316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2100" b="0" u="sng">
                <a:solidFill>
                  <a:srgbClr val="144D40"/>
                </a:solidFill>
                <a:latin typeface="Calibri"/>
                <a:hlinkClick r:id="rId8"/>
              </a:rPr>
              <a:t>Account Data Approvals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4471416"/>
            <a:ext cx="5074920" cy="5232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it-IT" sz="1700" b="0">
                <a:solidFill>
                  <a:srgbClr val="333333"/>
                </a:solidFill>
                <a:latin typeface="Calibri"/>
              </a:rPr>
              <a:t>Workflow di revisione, approvazione </a:t>
            </a:r>
            <a:r>
              <a:rPr sz="1700" b="0">
                <a:solidFill>
                  <a:srgbClr val="333333"/>
                </a:solidFill>
                <a:latin typeface="Calibri"/>
              </a:rPr>
              <a:t>e </a:t>
            </a:r>
            <a:r>
              <a:rPr lang="it-IT" sz="1700" b="0">
                <a:solidFill>
                  <a:srgbClr val="333333"/>
                </a:solidFill>
                <a:latin typeface="Calibri"/>
              </a:rPr>
              <a:t>separazione dei compiti</a:t>
            </a:r>
            <a:r>
              <a:rPr sz="1700" b="0">
                <a:solidFill>
                  <a:srgbClr val="333333"/>
                </a:solidFill>
                <a:latin typeface="Calibri"/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50992"/>
            <a:ext cx="10908792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500" b="0">
                <a:solidFill>
                  <a:srgbClr val="333333"/>
                </a:solidFill>
                <a:latin typeface="Calibri"/>
              </a:rPr>
              <a:t>Collegamenti ai capitoli IBM Docs in inglese. Consultazione: 9 ottobre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1646</Words>
  <Application>Microsoft Macintosh PowerPoint</Application>
  <PresentationFormat>Widescreen</PresentationFormat>
  <Paragraphs>168</Paragraphs>
  <Slides>18</Slides>
  <Notes>11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9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18</vt:i4>
      </vt:variant>
    </vt:vector>
  </HeadingPairs>
  <TitlesOfParts>
    <vt:vector size="29" baseType="lpstr">
      <vt:lpstr>Aptos</vt:lpstr>
      <vt:lpstr>Aptos Display</vt:lpstr>
      <vt:lpstr>Arial</vt:lpstr>
      <vt:lpstr>Calibri</vt:lpstr>
      <vt:lpstr>IBM Plex Sans</vt:lpstr>
      <vt:lpstr>IBM Plex Sans Light</vt:lpstr>
      <vt:lpstr>Symbol</vt:lpstr>
      <vt:lpstr>Times New Roman</vt:lpstr>
      <vt:lpstr>Wingdings</vt:lpstr>
      <vt:lpstr>Tema di Office</vt:lpstr>
      <vt:lpstr>ChatGPT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Felice Petrignano</dc:creator>
  <cp:lastModifiedBy>Felice Petrignano</cp:lastModifiedBy>
  <cp:revision>5</cp:revision>
  <dcterms:created xsi:type="dcterms:W3CDTF">2026-10-09T13:31:22Z</dcterms:created>
  <dcterms:modified xsi:type="dcterms:W3CDTF">2026-10-14T09:17:07Z</dcterms:modified>
</cp:coreProperties>
</file>