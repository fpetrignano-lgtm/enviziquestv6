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3"/>
  </p:notesMasterIdLst>
  <p:sldIdLst>
    <p:sldId id="635" r:id="rId3"/>
    <p:sldId id="260" r:id="rId4"/>
    <p:sldId id="268" r:id="rId5"/>
    <p:sldId id="524" r:id="rId6"/>
    <p:sldId id="647" r:id="rId7"/>
    <p:sldId id="2147472643" r:id="rId8"/>
    <p:sldId id="2147472651" r:id="rId9"/>
    <p:sldId id="2147472644" r:id="rId10"/>
    <p:sldId id="2147472649" r:id="rId11"/>
    <p:sldId id="2147472647" r:id="rId12"/>
    <p:sldId id="2147472650" r:id="rId13"/>
    <p:sldId id="2147472655" r:id="rId14"/>
    <p:sldId id="506" r:id="rId15"/>
    <p:sldId id="512" r:id="rId16"/>
    <p:sldId id="503" r:id="rId17"/>
    <p:sldId id="507" r:id="rId18"/>
    <p:sldId id="508" r:id="rId19"/>
    <p:sldId id="505" r:id="rId20"/>
    <p:sldId id="402" r:id="rId21"/>
    <p:sldId id="2147472656" r:id="rId2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3520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7EE89-4BDF-4A13-1CBE-7385029C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PlaceHolder 1">
            <a:extLst>
              <a:ext uri="{FF2B5EF4-FFF2-40B4-BE49-F238E27FC236}">
                <a16:creationId xmlns:a16="http://schemas.microsoft.com/office/drawing/2014/main" id="{0FC1C29E-C31A-687F-CDAF-D242CBC89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4" name="PlaceHolder 2">
            <a:extLst>
              <a:ext uri="{FF2B5EF4-FFF2-40B4-BE49-F238E27FC236}">
                <a16:creationId xmlns:a16="http://schemas.microsoft.com/office/drawing/2014/main" id="{691857AE-C190-C60B-BF49-21FABE88017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endParaRPr lang="it-IT"/>
          </a:p>
          <a:p>
            <a:r>
              <a:rPr lang="it-IT"/>
              <a:t>[Sources]</a:t>
            </a:r>
          </a:p>
          <a:p>
            <a:r>
              <a:rPr lang="it-IT"/>
              <a:t>https://www.ibm.com/docs/en/envizi-esg-suite?topic=glossary</a:t>
            </a:r>
          </a:p>
          <a:p>
            <a:r>
              <a:rPr lang="it-IT"/>
              <a:t>https://www.ibm.com/docs/en/envizi-esg-suite?topic=bulk-loading-account-data-in</a:t>
            </a:r>
          </a:p>
          <a:p>
            <a:r>
              <a:rPr lang="it-IT"/>
              <a:t>Consultazione: 9 ottobre 2026</a:t>
            </a:r>
          </a:p>
          <a:p>
            <a:r>
              <a:rPr lang="it-IT"/>
              <a:t>[/Sources]</a:t>
            </a:r>
          </a:p>
        </p:txBody>
      </p:sp>
      <p:sp>
        <p:nvSpPr>
          <p:cNvPr id="4255" name="PlaceHolder 3">
            <a:extLst>
              <a:ext uri="{FF2B5EF4-FFF2-40B4-BE49-F238E27FC236}">
                <a16:creationId xmlns:a16="http://schemas.microsoft.com/office/drawing/2014/main" id="{76DF4804-1DC9-30B7-43A0-15FD23AC73A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586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https://www.ibm.com/docs/en/envizi-esg-suite?topic=glossary</a:t>
            </a:r>
          </a:p>
          <a:p>
            <a:r>
              <a:t>https://www.ibm.com/docs/en/envizi-esg-suite?topic=bulk-loading-account-data-in</a:t>
            </a:r>
          </a:p>
          <a:p>
            <a:r>
              <a:t>https://www.ibm.com/docs/en/envizi-esg-suite?topic=tutorials-data-accuracy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https://www.ibm.com/docs/en/envizi-esg-suite?topic=glossary</a:t>
            </a:r>
          </a:p>
          <a:p>
            <a:r>
              <a:t>https://www.ibm.com/docs/en/envizi-esg-suite?topic=bulk-loading-account-data-in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https://www.ibm.com/docs/en/envizi-esg-suite?topic=configuring-account-styles</a:t>
            </a:r>
          </a:p>
          <a:p>
            <a:r>
              <a:t>https://www.ibm.com/docs/en/envizi-esg-suite?topic=cases-configuring-data-loading-into-accounts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https://www.ibm.com/docs/en/envizi-esg-suite?topic=bulk-loading-account-data-in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https://www.ibm.com/docs/en/envizi-esg-suite?topic=styles-creating-account-style</a:t>
            </a:r>
          </a:p>
          <a:p>
            <a:r>
              <a:t>https://www.ibm.com/docs/en/envizi-esg-suite?topic=managing-account-style-field-extract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07A33-DD97-1551-1B04-DF95B41C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C139C-075F-D62E-DFBA-5917B04CE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C7B1B-8B4F-96B4-9D30-3E9840A6C6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  <a:p>
            <a:r>
              <a:rPr lang="it-IT"/>
              <a:t>[Sources]</a:t>
            </a:r>
          </a:p>
          <a:p>
            <a:r>
              <a:rPr lang="it-IT"/>
              <a:t>https://www.ibm.com/docs/en/envizi-esg-suite?topic=configuring-account-styles</a:t>
            </a:r>
          </a:p>
          <a:p>
            <a:r>
              <a:rPr lang="it-IT"/>
              <a:t>https://www.ibm.com/docs/en/envizi-esg-suite?topic=glossary</a:t>
            </a:r>
          </a:p>
          <a:p>
            <a:r>
              <a:rPr lang="it-IT"/>
              <a:t>Consultazione: 9 ottobre 2026</a:t>
            </a:r>
          </a:p>
          <a:p>
            <a:r>
              <a:rPr lang="it-IT"/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77923-1CEF-C14F-E605-6F5CE0F65C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2E38B8-B0B4-AD41-AC6E-B781F46A9FD3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675FA-030C-7E9D-6DF3-D7034D61CA8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Footer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9677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https://www.ibm.com/docs/en/envizi-esg-suite?topic=configuring-account-styles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https://www.ibm.com/docs/en/envizi-esg-suite?topic=glossary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https://www.ibm.com/docs/en/envizi-esg-suite?topic=configuring-account-styles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https://www.ibm.com/docs/en/envizi-esg-suite?topic=glossary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https://www.ibm.com/docs/en/envizi-esg-suite?topic=bulk-loading-account-data-in</a:t>
            </a:r>
          </a:p>
          <a:p>
            <a:r>
              <a:t>https://www.ibm.com/docs/en/envizi-esg-suite?topic=managing-account-style-field-extract</a:t>
            </a:r>
          </a:p>
          <a:p>
            <a:r>
              <a:t>https://www.ibm.com/docs/en/envizi-esg-suite?topic=cases-configuring-data-loading-into-accounts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https://www.ibm.com/docs/en/envizi-esg-suite?topic=bulk-loading-account-data-in</a:t>
            </a:r>
          </a:p>
          <a:p>
            <a:r>
              <a:t>https://www.ibm.com/docs/en/envizi-esg-suite?topic=style-account-setup-data-load-faq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https://www.ibm.com/docs/en/envizi-esg-suite?topic=cases-configuring-data-loading-into-accounts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https://www.ibm.com/docs/en/envizi-esg-suite?topic=glossary</a:t>
            </a:r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  <a:p>
            <a:r>
              <a:rPr lang="it-IT"/>
              <a:t>[Sources]</a:t>
            </a:r>
          </a:p>
          <a:p>
            <a:r>
              <a:rPr lang="it-IT"/>
              <a:t>https://www.ibm.com/docs/en/envizi-esg-suite?topic=tutorials-data-accuracy</a:t>
            </a:r>
          </a:p>
          <a:p>
            <a:r>
              <a:rPr lang="it-IT"/>
              <a:t>https://www.ibm.com/docs/en/envizi-esg-suite?topic=accruals-calculating</a:t>
            </a:r>
          </a:p>
          <a:p>
            <a:r>
              <a:rPr lang="it-IT"/>
              <a:t>https://www.ibm.com/docs/en/envizi-esg-suite?topic=glossary</a:t>
            </a:r>
          </a:p>
          <a:p>
            <a:r>
              <a:rPr lang="it-IT"/>
              <a:t>Consultazione: 9 ottobre 2026</a:t>
            </a:r>
          </a:p>
          <a:p>
            <a:r>
              <a:rPr lang="it-IT"/>
              <a:t>[/Sources]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92594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La pagina Account Summary rappresenta la vista completa di un singolo Account di IBM Envizi, cioè una specifica tipologia di dato gestita dalla piattaforma (ad esempio elettricità, gas, acqua o rifiuti).</a:t>
            </a:r>
          </a:p>
          <a:p>
            <a:r>
              <a:rPr lang="it-IT"/>
              <a:t>Elementi principali della pagina</a:t>
            </a:r>
          </a:p>
          <a:p>
            <a:r>
              <a:rPr lang="it-IT"/>
              <a:t>Identità dell’Account: nome, Account Style, fornitore e Location a cui il dato è associato.</a:t>
            </a:r>
          </a:p>
          <a:p>
            <a:r>
              <a:rPr lang="it-IT"/>
              <a:t>Metriche cumulative: consumo totale, costo totale e qualità del dato (Actual, Accrued, Estimated).</a:t>
            </a:r>
          </a:p>
          <a:p>
            <a:r>
              <a:rPr lang="it-IT"/>
              <a:t>Trend temporale: il grafico mostra l’andamento mensile dei consumi e dei costi, consentendo di individuare rapidamente variazioni e anomalie.</a:t>
            </a:r>
          </a:p>
          <a:p>
            <a:r>
              <a:rPr lang="it-IT"/>
              <a:t>Indicatori medi: nella parte inferiore sono riportati i consumi e i costi medi mensili, utili per confronti e benchmark.</a:t>
            </a:r>
          </a:p>
          <a:p>
            <a:r>
              <a:rPr lang="it-IT"/>
              <a:t>Navigazione: dalla stessa pagina è possibile accedere ai dati mensili, ai dettagli delle bollette, alle analisi e ai report collegati.</a:t>
            </a:r>
          </a:p>
          <a:p>
            <a:r>
              <a:rPr lang="it-IT"/>
              <a:t>Messaggio chiave</a:t>
            </a:r>
          </a:p>
          <a:p>
            <a:r>
              <a:rPr lang="it-IT"/>
              <a:t>L’Account rappresenta l’unità fondamentale del modello dati Envizi. Tutte le funzionalità della piattaforma — raccolta dati, controlli di qualità, workflow di approvazione, dashboard, KPI, reporting ESG e calcolo delle emissioni — si basano sulle informazioni memorizzate negli Account. Una corretta progettazione degli Account è quindi essenziale per garantire qualità del dato, flessibilità del modello e affidabilità delle analisi.</a:t>
            </a:r>
          </a:p>
          <a:p>
            <a:endParaRPr lang="it-IT"/>
          </a:p>
          <a:p>
            <a:r>
              <a:rPr lang="it-IT"/>
              <a:t>[Sources]</a:t>
            </a:r>
          </a:p>
          <a:p>
            <a:r>
              <a:rPr lang="it-IT"/>
              <a:t>https://www.ibm.com/docs/en/envizi-esg-suite?topic=accruals-calculating</a:t>
            </a:r>
          </a:p>
          <a:p>
            <a:r>
              <a:rPr lang="it-IT"/>
              <a:t>Consultazione: 9 ottobre 2026</a:t>
            </a:r>
          </a:p>
          <a:p>
            <a:r>
              <a:rPr lang="it-IT"/>
              <a:t>[/Sources]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37420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https://www.ibm.com/docs/en/envizi-esg-suite?topic=glossary</a:t>
            </a:r>
          </a:p>
          <a:p>
            <a:r>
              <a:t>https://www.ibm.com/docs/en/envizi-esg-suite?topic=configuring-account-styles</a:t>
            </a:r>
          </a:p>
          <a:p>
            <a:r>
              <a:t>https://www.ibm.com/docs/en/envizi-esg-suite?topic=bulk-loading-account-data-in</a:t>
            </a:r>
          </a:p>
          <a:p>
            <a:r>
              <a:t>https://www.ibm.com/docs/en/envizi-esg-suite?topic=style-account-setup-data-load-faq</a:t>
            </a:r>
          </a:p>
          <a:p>
            <a:r>
              <a:t>https://www.ibm.com/docs/en/envizi-esg-suite?topic=cases-configuring-data-loading-into-accounts</a:t>
            </a:r>
          </a:p>
          <a:p>
            <a:r>
              <a:t>https://www.ibm.com/docs/en/envizi-esg-suite?topic=accruals-calculating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2CD5BE-E354-EA96-E64F-F0AC23732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881D665-4F2A-B398-CF3B-E36463680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2C9EF8-4D18-94A5-2298-F4CF4888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BB4CE8-49F6-D42C-4392-EC366D96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89CD48A-D0E6-FB05-1933-269EA049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051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A41227-707B-840F-C5B6-326D4E78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13DBE6-D642-FCBA-19A1-752B14C47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BFD7EA-1030-8813-65B5-7A81C8D3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140446-FFF6-17E5-ACF8-AAF75FF37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5132EE-4F7E-3128-8E7B-30843F245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085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166E11-7E16-C139-0F93-275D6EDC7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ECBA044-A369-C235-DB9D-AE5A05E5E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10939B-4D64-4D30-014F-39C4CA451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4D1C52-4AE4-F41A-A00D-1D788256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A93982-01C2-35D3-029E-EC975C6E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3967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F5A6AE-11FD-5A63-2E08-DF2C2B7D9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0F067A-E360-CAC1-1F32-DB72D71F4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EBBD238-8593-B0CD-DBC2-CB69E6475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8770B1B-0690-0BEC-B058-B0DBC7FD3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8806F3C-4249-4004-F93C-27862B6F6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0CB48D6-B592-58F5-C76E-CF741432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5305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EDDB3F-EF4D-C16F-E98B-FD693A6DA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8E7AE9-A7F7-0347-42AB-8AD7BCE1C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D4C9A04-81F9-74C1-DB8D-1D5CDA681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4057E23-D517-E2C4-48F8-812427F10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194130F-0369-F665-444A-1AEEB290D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19CB378-0BBE-7A6A-9A27-16938700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98C14BD-DCA0-E70E-E566-FB849B7E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3FE4936-13E5-3E5A-A8E0-8497C7CD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5921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CAA408-E97E-B094-5112-817B204B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4FDFA8E-07AC-4B21-B497-CC9ADDF14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A25898B-B35D-550D-EDEB-B7534B4AB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A0BEA91-934D-06ED-D3B7-5F4ED0DF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5608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898587A-16A6-8E53-EDC2-DC408C31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84954C8-60E0-744B-BED1-4574E591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B05B2A9-ACC0-F125-6C44-B9F7C50E6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650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4EE919-3668-774A-93E4-D3767B1E8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4AB452-9D05-AE91-C6D4-1413437E1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02CAF97-D7AC-F7AE-3B0D-5E4E1A230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D7664DB-3F60-869A-293D-E15D1FC2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85D03E-D3B8-FA59-A614-971B4252B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D5BD76F-4DE0-6325-2725-EDF82A93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197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8C9AA3-452A-D8E6-4056-465331320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0485C4C-21FC-0A89-3F11-52803FA7FB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F56574D-7784-A7EF-A94D-ABE692421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DD79D49-DC4F-7E47-0AF0-00AA89197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2482D1F-24A5-E115-5D77-0E0A4D3C4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DE02F41-E34F-5DA7-77B2-B33D4704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026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D44DA4-C384-685E-B6DE-4F509B83F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8DBF331-686A-90F4-5621-81D1DA54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11B76D-A486-90B4-2B90-E9613066C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E2F5F2-2D4D-B5C2-57AC-629A1285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FE253B1-35A4-6615-4536-77EA6DEC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678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BFDDA5C-3BB3-197C-3EBF-81F1DF4FB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641F594-5469-2400-E613-EF1DC0705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906D95-E722-D35C-CA9C-77DBD694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D9CC98-F182-27F0-9D6F-D6D2310C0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0FA1D40-3A3E-B9DF-413C-78DFEA3BD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803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210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129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61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89028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509EA-57CA-9A71-E391-10854E664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35E42-6EB0-A758-C7D1-BC518D2AF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EA591-A2B3-4B14-0740-EE8764D7F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BF0D-213E-F34D-93C6-37AB37C29CA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C7C6F-92F8-28B6-9CB9-837A1375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5189C-1C89-B914-D8D5-484BDDB24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04AF-6D8B-754A-9FED-073057245C1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64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1" cy="76279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67910" y="6452316"/>
            <a:ext cx="136791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8000" y="1714500"/>
            <a:ext cx="2477765" cy="42862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7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95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92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4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4122327299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1" cy="76279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67910" y="6452316"/>
            <a:ext cx="136791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8000" y="1714500"/>
            <a:ext cx="2477765" cy="42862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7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95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92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8" y="282576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8809784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, 3 callouts,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192600"/>
            <a:ext cx="2474590" cy="9532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192600"/>
            <a:ext cx="2474590" cy="95170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92600"/>
            <a:ext cx="2475384" cy="95395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142954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73137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46275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19412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4"/>
            <a:ext cx="2475384" cy="4836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036756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ESG Data &amp; Environmental Intelligence / © 2023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218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842210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550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3722028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00195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390B64A-8642-221E-07D5-D63664D4F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4BC928-42BA-37B4-95A8-700FD0BA9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7F09F2-0C7B-17C9-10BD-51D64AC05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EC6173-F612-4749-9A99-74C714A5253F}" type="datetimeFigureOut">
              <a:rPr lang="it-IT" smtClean="0"/>
              <a:t>09/10/26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ABCAB8-7CC0-5919-3A46-44261402D6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F1454EC-0176-B6DB-9F4C-489697EF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449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278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emf"/><Relationship Id="rId4" Type="http://schemas.openxmlformats.org/officeDocument/2006/relationships/package" Target="../embeddings/Foglio_di_lavoro_di_Microsoft_Excel.xls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bm.com/docs/en/envizi-esg-suite?topic=accruals-calculating" TargetMode="External"/><Relationship Id="rId3" Type="http://schemas.openxmlformats.org/officeDocument/2006/relationships/hyperlink" Target="https://www.ibm.com/docs/en/envizi-esg-suite?topic=glossary" TargetMode="External"/><Relationship Id="rId7" Type="http://schemas.openxmlformats.org/officeDocument/2006/relationships/hyperlink" Target="https://www.ibm.com/docs/en/envizi-esg-suite?topic=cases-configuring-data-loading-into-account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ibm.com/docs/en/envizi-esg-suite?topic=style-account-setup-data-load-faq" TargetMode="External"/><Relationship Id="rId5" Type="http://schemas.openxmlformats.org/officeDocument/2006/relationships/hyperlink" Target="https://www.ibm.com/docs/en/envizi-esg-suite?topic=bulk-loading-account-data-in" TargetMode="External"/><Relationship Id="rId4" Type="http://schemas.openxmlformats.org/officeDocument/2006/relationships/hyperlink" Target="https://www.ibm.com/docs/en/envizi-esg-suite?topic=configuring-account-styl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94C1-566C-F582-C817-9E35FF69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K-1-img-2">
            <a:extLst>
              <a:ext uri="{FF2B5EF4-FFF2-40B4-BE49-F238E27FC236}">
                <a16:creationId xmlns:a16="http://schemas.microsoft.com/office/drawing/2014/main" id="{857ED53D-59A7-5D41-890D-F7114A35434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547594" y="1097280"/>
            <a:ext cx="4953008" cy="343810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SK-1-img-6">
            <a:extLst>
              <a:ext uri="{FF2B5EF4-FFF2-40B4-BE49-F238E27FC236}">
                <a16:creationId xmlns:a16="http://schemas.microsoft.com/office/drawing/2014/main" id="{5D56AC93-A688-6ECC-034F-E950D9F4CA2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40080" y="6035040"/>
            <a:ext cx="10881360" cy="914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SK-1-img-7">
            <a:extLst>
              <a:ext uri="{FF2B5EF4-FFF2-40B4-BE49-F238E27FC236}">
                <a16:creationId xmlns:a16="http://schemas.microsoft.com/office/drawing/2014/main" id="{4159CB6A-B84D-80D0-F0A2-0063A85ECD0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010157" y="1097280"/>
            <a:ext cx="5490445" cy="49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SK-1-text-11">
            <a:extLst>
              <a:ext uri="{FF2B5EF4-FFF2-40B4-BE49-F238E27FC236}">
                <a16:creationId xmlns:a16="http://schemas.microsoft.com/office/drawing/2014/main" id="{189C8CF6-A3DA-3FE8-27B2-730050E5FCB9}"/>
              </a:ext>
            </a:extLst>
          </p:cNvPr>
          <p:cNvSpPr/>
          <p:nvPr/>
        </p:nvSpPr>
        <p:spPr>
          <a:xfrm>
            <a:off x="640080" y="594360"/>
            <a:ext cx="521208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1">
                <a:solidFill>
                  <a:srgbClr val="2E7D4F"/>
                </a:solidFill>
                <a:latin typeface="Calibri"/>
              </a:rPr>
              <a:t>2026 ESG REPORTING</a:t>
            </a:r>
          </a:p>
        </p:txBody>
      </p:sp>
      <p:sp>
        <p:nvSpPr>
          <p:cNvPr id="23" name="SK-1-text-12">
            <a:extLst>
              <a:ext uri="{FF2B5EF4-FFF2-40B4-BE49-F238E27FC236}">
                <a16:creationId xmlns:a16="http://schemas.microsoft.com/office/drawing/2014/main" id="{8759690C-0B4B-284E-AD9B-87FB5185FDFC}"/>
              </a:ext>
            </a:extLst>
          </p:cNvPr>
          <p:cNvSpPr/>
          <p:nvPr/>
        </p:nvSpPr>
        <p:spPr>
          <a:xfrm>
            <a:off x="640080" y="1234440"/>
            <a:ext cx="5029200" cy="73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4400" b="1">
                <a:solidFill>
                  <a:srgbClr val="14433A"/>
                </a:solidFill>
                <a:latin typeface="Calibri"/>
              </a:rPr>
              <a:t>Envizi</a:t>
            </a:r>
          </a:p>
        </p:txBody>
      </p:sp>
      <p:sp>
        <p:nvSpPr>
          <p:cNvPr id="24" name="SK-1-text-13">
            <a:extLst>
              <a:ext uri="{FF2B5EF4-FFF2-40B4-BE49-F238E27FC236}">
                <a16:creationId xmlns:a16="http://schemas.microsoft.com/office/drawing/2014/main" id="{26CC8673-84D8-87CF-6C96-8DC5FF6EAD58}"/>
              </a:ext>
            </a:extLst>
          </p:cNvPr>
          <p:cNvSpPr/>
          <p:nvPr/>
        </p:nvSpPr>
        <p:spPr>
          <a:xfrm>
            <a:off x="640080" y="2331720"/>
            <a:ext cx="5029200" cy="33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Modello dati, caricamento e consultazione degli Account 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in </a:t>
            </a:r>
            <a:r>
              <a:rPr lang="it-IT" sz="2200" b="0">
                <a:solidFill>
                  <a:srgbClr val="5B6B70"/>
                </a:solidFill>
                <a:latin typeface="Calibri"/>
              </a:rPr>
              <a:t>Envizi</a:t>
            </a: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Felice Petrignano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SME </a:t>
            </a:r>
            <a:r>
              <a:rPr lang="it-IT" sz="2200" b="0" dirty="0" err="1">
                <a:solidFill>
                  <a:srgbClr val="5B6B70"/>
                </a:solidFill>
                <a:latin typeface="Calibri"/>
              </a:rPr>
              <a:t>Envizi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 IBM Italia</a:t>
            </a:r>
          </a:p>
        </p:txBody>
      </p:sp>
      <p:sp>
        <p:nvSpPr>
          <p:cNvPr id="2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2824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80F8A9A7-20A7-FD31-DED9-EC0EABB50AB7}"/>
              </a:ext>
            </a:extLst>
          </p:cNvPr>
          <p:cNvSpPr txBox="1"/>
          <p:nvPr/>
        </p:nvSpPr>
        <p:spPr>
          <a:xfrm>
            <a:off x="797442" y="325213"/>
            <a:ext cx="10217888" cy="4299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Obiettivi del capitolo</a:t>
            </a:r>
          </a:p>
          <a:p>
            <a:endParaRPr lang="en-US" b="1"/>
          </a:p>
          <a:p>
            <a:r>
              <a:rPr lang="en-US"/>
              <a:t>Questo capitolo spiega il modello dati di IBM Envizi e mostra come caricare dati negli Account e consultarli nella piattaforma.</a:t>
            </a:r>
          </a:p>
          <a:p>
            <a:endParaRPr lang="en-US"/>
          </a:p>
          <a:p>
            <a:endParaRPr lang="en-US"/>
          </a:p>
          <a:p>
            <a:r>
              <a:rPr lang="en-US" b="1"/>
              <a:t>Al termine del capitolo il partecipante sarà in grado di:</a:t>
            </a:r>
          </a:p>
          <a:p>
            <a:endParaRPr lang="en-US" b="1"/>
          </a:p>
          <a:p>
            <a:pPr lvl="0"/>
            <a:r>
              <a:rPr lang="en-US"/>
              <a:t>distinguere Category, Data Type, Account Style, Account e Record</a:t>
            </a:r>
          </a:p>
          <a:p>
            <a:pPr lvl="0">
              <a:lnSpc>
                <a:spcPct val="150000"/>
              </a:lnSpc>
            </a:pPr>
            <a:r>
              <a:rPr lang="en-US"/>
              <a:t>riconoscere campi, unità di misura e regole degli Account Styles</a:t>
            </a:r>
          </a:p>
          <a:p>
            <a:pPr lvl="0">
              <a:lnSpc>
                <a:spcPct val="150000"/>
              </a:lnSpc>
            </a:pPr>
            <a:r>
              <a:rPr lang="en-US"/>
              <a:t>compilare il template e distinguere nuovi record e aggiornamenti</a:t>
            </a:r>
          </a:p>
          <a:p>
            <a:pPr lvl="0">
              <a:lnSpc>
                <a:spcPct val="150000"/>
              </a:lnSpc>
            </a:pPr>
            <a:r>
              <a:rPr lang="en-US"/>
              <a:t>verificare il caricamento e raggiungere la dashboard di un Account</a:t>
            </a:r>
          </a:p>
          <a:p>
            <a:pPr lvl="0">
              <a:lnSpc>
                <a:spcPct val="150000"/>
              </a:lnSpc>
            </a:pPr>
            <a:r>
              <a:rPr lang="en-US"/>
              <a:t>interpretare i dati Actual, Accrued ed Estimated</a:t>
            </a:r>
          </a:p>
        </p:txBody>
      </p:sp>
    </p:spTree>
    <p:extLst>
      <p:ext uri="{BB962C8B-B14F-4D97-AF65-F5344CB8AC3E}">
        <p14:creationId xmlns:p14="http://schemas.microsoft.com/office/powerpoint/2010/main" val="1128939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9FEDFCF0-D0EA-512A-921C-1CD9FD4A6078}"/>
              </a:ext>
            </a:extLst>
          </p:cNvPr>
          <p:cNvSpPr txBox="1"/>
          <p:nvPr/>
        </p:nvSpPr>
        <p:spPr>
          <a:xfrm>
            <a:off x="542260" y="272878"/>
            <a:ext cx="1115355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Contenuti</a:t>
            </a:r>
          </a:p>
          <a:p>
            <a:endParaRPr lang="en-US" sz="2400" b="1"/>
          </a:p>
          <a:p>
            <a:pPr lvl="0">
              <a:lnSpc>
                <a:spcPct val="150000"/>
              </a:lnSpc>
            </a:pPr>
            <a:r>
              <a:rPr lang="en-US"/>
              <a:t>Ruolo dell’Amministratore e autorizzazioni degli utenti</a:t>
            </a:r>
          </a:p>
          <a:p>
            <a:pPr lvl="0">
              <a:lnSpc>
                <a:spcPct val="150000"/>
              </a:lnSpc>
            </a:pPr>
            <a:r>
              <a:rPr lang="en-US"/>
              <a:t>Data Types: categorie, unità di misura e Scope</a:t>
            </a:r>
          </a:p>
          <a:p>
            <a:pPr lvl="0">
              <a:lnSpc>
                <a:spcPct val="150000"/>
              </a:lnSpc>
            </a:pPr>
            <a:r>
              <a:rPr lang="en-US"/>
              <a:t>Account Styles: campi di raccolta e regole</a:t>
            </a:r>
          </a:p>
          <a:p>
            <a:pPr lvl="0">
              <a:lnSpc>
                <a:spcPct val="150000"/>
              </a:lnSpc>
            </a:pPr>
            <a:r>
              <a:rPr lang="en-US"/>
              <a:t>Account e Record nel modello dati</a:t>
            </a:r>
          </a:p>
          <a:p>
            <a:pPr lvl="0">
              <a:lnSpc>
                <a:spcPct val="150000"/>
              </a:lnSpc>
            </a:pPr>
            <a:r>
              <a:rPr lang="en-US"/>
              <a:t>Template di configurazione e caricamento dati</a:t>
            </a:r>
          </a:p>
          <a:p>
            <a:pPr lvl="0">
              <a:lnSpc>
                <a:spcPct val="150000"/>
              </a:lnSpc>
            </a:pPr>
            <a:r>
              <a:rPr lang="en-US"/>
              <a:t>Aggiunta e aggiornamento dei record: controlli e precauzioni</a:t>
            </a:r>
          </a:p>
          <a:p>
            <a:pPr lvl="0">
              <a:lnSpc>
                <a:spcPct val="150000"/>
              </a:lnSpc>
            </a:pPr>
            <a:r>
              <a:rPr lang="en-US"/>
              <a:t>Caricamento dei file e verifica dell’esito</a:t>
            </a:r>
          </a:p>
          <a:p>
            <a:pPr lvl="0">
              <a:lnSpc>
                <a:spcPct val="150000"/>
              </a:lnSpc>
            </a:pPr>
            <a:r>
              <a:rPr lang="en-US"/>
              <a:t>Gerarchia organizzativa, dashboard e qualità del dato</a:t>
            </a:r>
          </a:p>
          <a:p>
            <a:r>
              <a:rPr lang="en-US"/>
              <a:t>Riferimenti alla documentazione ufficiale IBM</a:t>
            </a:r>
          </a:p>
          <a:p>
            <a:endParaRPr lang="en-US"/>
          </a:p>
          <a:p>
            <a:r>
              <a:rPr lang="en-US" b="1"/>
              <a:t>Le schermate illustrano l’ambiente demo. Menu, campi e template possono variare in base alla configurazione dell’istanza.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77159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8A2D375A-93C6-74FE-EC20-720C31E7E94A}"/>
              </a:ext>
            </a:extLst>
          </p:cNvPr>
          <p:cNvSpPr txBox="1"/>
          <p:nvPr/>
        </p:nvSpPr>
        <p:spPr>
          <a:xfrm>
            <a:off x="353961" y="1058095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Utente: Amministratore di sistema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Struttura </a:t>
            </a:r>
            <a:r>
              <a:rPr kumimoji="0" lang="it-IT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organizzativa</a:t>
            </a:r>
            <a:r>
              <a:rPr kumimoji="0" lang="it-IT" sz="18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e raccolta dati</a:t>
            </a:r>
            <a:endParaRPr kumimoji="0" lang="it-IT" sz="18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t-IT" sz="18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Location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e gruppi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Account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e Account Styles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Template e canali di caricamento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Accesso degli utenti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Ruoli e autorizzazioni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Accesso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alle sedi e ai dati di competenza</a:t>
            </a:r>
            <a:br>
              <a:rPr lang="it-IT"/>
            </a:br>
            <a:r>
              <a:rPr lang="it-IT"/>
              <a:t>Separazione delle responsabilità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453B2D87-94E8-6593-7EBD-F52FA715B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504" y="2163774"/>
            <a:ext cx="3144058" cy="3770671"/>
          </a:xfrm>
          <a:prstGeom prst="rect">
            <a:avLst/>
          </a:prstGeom>
        </p:spPr>
      </p:pic>
      <p:sp>
        <p:nvSpPr>
          <p:cNvPr id="1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48E9DFA-B5A3-01AB-7A53-4C116A5597F1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Ruolo dell’Amministratore</a:t>
            </a:r>
            <a:endParaRPr kumimoji="0" lang="it-IT" sz="2400" b="1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2B61D6AD-61ED-7124-3EC3-DCE5389539D9}"/>
              </a:ext>
            </a:extLst>
          </p:cNvPr>
          <p:cNvSpPr/>
          <p:nvPr/>
        </p:nvSpPr>
        <p:spPr>
          <a:xfrm>
            <a:off x="10417579" y="178507"/>
            <a:ext cx="1005841" cy="9675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32631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507D6-6AED-92FE-7674-E07F2DC28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rd 115">
            <a:extLst>
              <a:ext uri="{FF2B5EF4-FFF2-40B4-BE49-F238E27FC236}">
                <a16:creationId xmlns:a16="http://schemas.microsoft.com/office/drawing/2014/main" id="{02FBB2D9-D576-A45D-4FD9-847C9FCA7171}"/>
              </a:ext>
            </a:extLst>
          </p:cNvPr>
          <p:cNvSpPr/>
          <p:nvPr/>
        </p:nvSpPr>
        <p:spPr>
          <a:xfrm>
            <a:off x="640080" y="1554480"/>
            <a:ext cx="2587752" cy="251460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35000"/>
              </a:srgbClr>
            </a:solidFill>
          </a:ln>
          <a:effectLst>
            <a:outerShdw blurRad="152400" dist="38100" dir="5400000" algn="t" rotWithShape="0">
              <a:srgbClr val="0E2841">
                <a:alpha val="12000"/>
              </a:srgbClr>
            </a:outerShdw>
          </a:effectLst>
        </p:spPr>
        <p:txBody>
          <a:bodyPr lIns="137160" tIns="914400" rIns="137160" bIns="118872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5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alibri"/>
                <a:cs typeface="Calibri"/>
              </a:rPr>
              <a:t>Administrator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Configura la struttura e governa l’accesso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ai 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dati secondo i </a:t>
            </a: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permessi assegnati.</a:t>
            </a:r>
          </a:p>
        </p:txBody>
      </p:sp>
      <p:pic>
        <p:nvPicPr>
          <p:cNvPr id="4" name="Icona 150">
            <a:extLst>
              <a:ext uri="{FF2B5EF4-FFF2-40B4-BE49-F238E27FC236}">
                <a16:creationId xmlns:a16="http://schemas.microsoft.com/office/drawing/2014/main" id="{63BD4BA0-BD78-5196-11F3-4DA21EF63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37360"/>
            <a:ext cx="566928" cy="566928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261B61FF-E539-66FE-D1E2-B68848BC5423}"/>
              </a:ext>
            </a:extLst>
          </p:cNvPr>
          <p:cNvSpPr txBox="1"/>
          <p:nvPr/>
        </p:nvSpPr>
        <p:spPr>
          <a:xfrm>
            <a:off x="3818299" y="1582340"/>
            <a:ext cx="733556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Nota per il lettore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Il 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capitolo 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si rivolge soprattutto 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agli Amministratori 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che gestiscono la configurazione e il caricamento dei dati in IBM Envizi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L’Amministratore configura la struttura organizzativa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gli accessi. Le attività disponibili dipendono dal ruolo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dall’ambito assegnato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Anche gli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utenti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general possono caricare dati Account in blocco. Il processo può creare nuovi Account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se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il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file contiene dati per Account non ancora esistenti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Prima 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della 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demo, verificare permessi, template 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 </a:t>
            </a: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canale di caricamento nell’istanza utilizzata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</p:txBody>
      </p:sp>
      <p:sp>
        <p:nvSpPr>
          <p:cNvPr id="7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Titolo">
            <a:extLst>
              <a:ext uri="{FF2B5EF4-FFF2-40B4-BE49-F238E27FC236}">
                <a16:creationId xmlns:a16="http://schemas.microsoft.com/office/drawing/2014/main" id="{64F5BEF3-1DE3-39CD-FBC0-E4E7B552E5B8}"/>
              </a:ext>
            </a:extLst>
          </p:cNvPr>
          <p:cNvSpPr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Destinatari e ambito del capitolo</a:t>
            </a:r>
          </a:p>
        </p:txBody>
      </p:sp>
    </p:spTree>
    <p:extLst>
      <p:ext uri="{BB962C8B-B14F-4D97-AF65-F5344CB8AC3E}">
        <p14:creationId xmlns:p14="http://schemas.microsoft.com/office/powerpoint/2010/main" val="3206342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61104-3FFE-D0FE-9C64-6928F3678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E5692321-2990-921A-697F-F435F6803838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Modello dati Envizi</a:t>
            </a: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120640" cy="36576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cs typeface="Calibri"/>
              </a:rPr>
              <a:t>Elementi definiti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645920"/>
            <a:ext cx="5394960" cy="36576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cs typeface="Calibri"/>
              </a:rPr>
              <a:t>Configurazione e libreria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120640" cy="438912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Categoria del dato, ad esempio Electricity</a:t>
            </a:r>
          </a:p>
        </p:txBody>
      </p:sp>
      <p:sp>
        <p:nvSpPr>
          <p:cNvPr id="6" name="Rounded Rectangle 4"/>
          <p:cNvSpPr/>
          <p:nvPr/>
        </p:nvSpPr>
        <p:spPr>
          <a:xfrm>
            <a:off x="640080" y="2606039"/>
            <a:ext cx="5120640" cy="438912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Unità primaria</a:t>
            </a:r>
            <a:r>
              <a:rPr kumimoji="0" lang="it-IT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del dato, ad esempio kWh</a:t>
            </a: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Rounded Rectangle 4"/>
          <p:cNvSpPr/>
          <p:nvPr/>
        </p:nvSpPr>
        <p:spPr>
          <a:xfrm>
            <a:off x="640080" y="3108960"/>
            <a:ext cx="5120640" cy="438912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Scope associato al dato</a:t>
            </a:r>
          </a:p>
        </p:txBody>
      </p:sp>
      <p:sp>
        <p:nvSpPr>
          <p:cNvPr id="8" name="Rounded Rectangle 4"/>
          <p:cNvSpPr/>
          <p:nvPr/>
        </p:nvSpPr>
        <p:spPr>
          <a:xfrm>
            <a:off x="640080" y="3611880"/>
            <a:ext cx="5120640" cy="438912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Assegnazione del fattore, se applicabile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103120"/>
            <a:ext cx="5440680" cy="82296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5080" y="2185415"/>
            <a:ext cx="4983480" cy="25603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14433A"/>
                </a:solidFill>
                <a:effectLst/>
                <a:uLnTx/>
                <a:uFillTx/>
                <a:latin typeface="Georgia"/>
                <a:cs typeface="Calibri"/>
              </a:rPr>
              <a:t>Selezione del Data Type</a:t>
            </a: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srgbClr val="14433A"/>
              </a:solidFill>
              <a:effectLst/>
              <a:uLnTx/>
              <a:uFillTx/>
              <a:latin typeface="Georgia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55080" y="2441448"/>
            <a:ext cx="4983480" cy="43891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Il wizard consente di filtrare per categoria, unità, Scope e fattori</a:t>
            </a: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</p:txBody>
      </p:sp>
      <p:sp>
        <p:nvSpPr>
          <p:cNvPr id="9" name="Rounded Rectangle 14"/>
          <p:cNvSpPr/>
          <p:nvPr/>
        </p:nvSpPr>
        <p:spPr>
          <a:xfrm>
            <a:off x="6126480" y="3063240"/>
            <a:ext cx="5440680" cy="82296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6355080" y="3145536"/>
            <a:ext cx="4983480" cy="25603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14433A"/>
                </a:solidFill>
                <a:effectLst/>
                <a:uLnTx/>
                <a:uFillTx/>
                <a:latin typeface="Georgia"/>
                <a:cs typeface="Calibri"/>
              </a:rPr>
              <a:t>Catalogo disponibile</a:t>
            </a: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srgbClr val="14433A"/>
              </a:solidFill>
              <a:effectLst/>
              <a:uLnTx/>
              <a:uFillTx/>
              <a:latin typeface="Georgia"/>
              <a:cs typeface="Calibri"/>
            </a:endParaRPr>
          </a:p>
        </p:txBody>
      </p:sp>
      <p:sp>
        <p:nvSpPr>
          <p:cNvPr id="11" name="TextBox 16"/>
          <p:cNvSpPr txBox="1"/>
          <p:nvPr/>
        </p:nvSpPr>
        <p:spPr>
          <a:xfrm>
            <a:off x="6355080" y="3401568"/>
            <a:ext cx="4983480" cy="43891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Include </a:t>
            </a: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Data Types</a:t>
            </a:r>
            <a:r>
              <a:rPr kumimoji="0" lang="it-IT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 pubblici e quelli privati della propria organizzazione</a:t>
            </a: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715000"/>
            <a:ext cx="10927080" cy="914400"/>
          </a:xfrm>
          <a:prstGeom prst="roundRect">
            <a:avLst/>
          </a:prstGeom>
          <a:solidFill>
            <a:srgbClr val="14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60120" y="5852160"/>
            <a:ext cx="3657600" cy="26161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7CB342"/>
                </a:solidFill>
                <a:effectLst/>
                <a:uLnTx/>
                <a:uFillTx/>
                <a:latin typeface="Georgia"/>
                <a:cs typeface="Calibri"/>
              </a:rPr>
              <a:t>In sintesi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6126480"/>
            <a:ext cx="10287000" cy="45720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Il Data Type stabilisce come classificare e misurare un dato Envizi.</a:t>
            </a:r>
          </a:p>
        </p:txBody>
      </p:sp>
    </p:spTree>
    <p:extLst>
      <p:ext uri="{BB962C8B-B14F-4D97-AF65-F5344CB8AC3E}">
        <p14:creationId xmlns:p14="http://schemas.microsoft.com/office/powerpoint/2010/main" val="2786390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28621-D5DC-DAC8-7EE0-FD01E894E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09DA668-D9D6-E9C0-CCBB-A49BB60FE0E0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1307592"/>
          <a:ext cx="10927080" cy="414223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904910065"/>
                    </a:ext>
                  </a:extLst>
                </a:gridCol>
                <a:gridCol w="6519672">
                  <a:extLst>
                    <a:ext uri="{9D8B030D-6E8A-4147-A177-3AD203B41FA5}">
                      <a16:colId xmlns:a16="http://schemas.microsoft.com/office/drawing/2014/main" val="91257325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517734114"/>
                    </a:ext>
                  </a:extLst>
                </a:gridCol>
                <a:gridCol w="1847088">
                  <a:extLst>
                    <a:ext uri="{9D8B030D-6E8A-4147-A177-3AD203B41FA5}">
                      <a16:colId xmlns:a16="http://schemas.microsoft.com/office/drawing/2014/main" val="3988391770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300" b="1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Categoria</a:t>
                      </a:r>
                      <a:endParaRPr lang="en-AU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14433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300" b="1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Nome Data Type</a:t>
                      </a:r>
                      <a:endParaRPr lang="en-AU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14433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300" b="1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Unità</a:t>
                      </a:r>
                      <a:endParaRPr lang="en-AU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14433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300" b="1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Scope</a:t>
                      </a:r>
                      <a:endParaRPr lang="en-AU" sz="10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144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37233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highlight>
                            <a:srgbClr val="B8FFFE"/>
                          </a:highlight>
                          <a:latin typeface="Calibri"/>
                        </a:rPr>
                        <a:t>Electricity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highlight>
                          <a:srgbClr val="B8FFFE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highlight>
                            <a:srgbClr val="B8FFFE"/>
                          </a:highlight>
                          <a:latin typeface="Calibri"/>
                        </a:rPr>
                        <a:t>Electricity [kWh]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highlight>
                          <a:srgbClr val="B8FFFE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highlight>
                            <a:srgbClr val="B8FFFE"/>
                          </a:highlight>
                          <a:latin typeface="Calibri"/>
                        </a:rPr>
                        <a:t>kWh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highlight>
                          <a:srgbClr val="B8FFFE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highlight>
                            <a:srgbClr val="B8FFFE"/>
                          </a:highlight>
                          <a:latin typeface="Calibri"/>
                        </a:rPr>
                        <a:t>Scope 2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highlight>
                          <a:srgbClr val="B8FFFE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3062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 - Consumed (not combusted) [kWh]</a:t>
                      </a:r>
                      <a:endParaRPr lang="en-GB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kWh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Scope 1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85829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 - Data and Cloud services [kWh]</a:t>
                      </a:r>
                      <a:endParaRPr lang="en-GB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kWh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Scope 3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37964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 - Data and Cloud services [t CO2e]</a:t>
                      </a:r>
                      <a:endParaRPr lang="en-GB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t CO2e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Scope 3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14866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 - Embedded Network [kWh]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kWh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Scope 2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31357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 - IT Equipment [kWh]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kWh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Scope 2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781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 - LPO [kWh]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kWh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Scope 3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80072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 - Offsite Renewables [kWh]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kWh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Scope 2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3499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 - Onsite Renewables [kWh]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kWh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Scope 2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49534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 - Onsite Renewables [MMBtu]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MMBtu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Scope 2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90469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 - Purchased - Emissions [MWh]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MWh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Scope 2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3971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 - Purchased [MMBtu]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MMBtu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Scope 2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42702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 - Transmission and distribution [kWh]</a:t>
                      </a:r>
                      <a:endParaRPr lang="en-GB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kWh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Scope 3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75307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Electricity - Trigen [kWh]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kWh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200" b="0" u="none" strike="noStrike">
                          <a:solidFill>
                            <a:srgbClr val="14433A"/>
                          </a:solidFill>
                          <a:effectLst/>
                          <a:latin typeface="Calibri"/>
                        </a:rPr>
                        <a:t>Scope 2</a:t>
                      </a:r>
                      <a:endParaRPr lang="en-AU" sz="9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152" marR="45720" marT="4572" marB="0" anchor="b">
                    <a:solidFill>
                      <a:srgbClr val="E9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773373"/>
                  </a:ext>
                </a:extLst>
              </a:tr>
            </a:tbl>
          </a:graphicData>
        </a:graphic>
      </p:graphicFrame>
      <p:sp>
        <p:nvSpPr>
          <p:cNvPr id="3" name="Rettangolo 2">
            <a:extLst>
              <a:ext uri="{FF2B5EF4-FFF2-40B4-BE49-F238E27FC236}">
                <a16:creationId xmlns:a16="http://schemas.microsoft.com/office/drawing/2014/main" id="{E5692321-2990-921A-697F-F435F6803838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Modello dati Envizi</a:t>
            </a: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Data Types per Electricity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715000"/>
            <a:ext cx="10927080" cy="914400"/>
          </a:xfrm>
          <a:prstGeom prst="roundRect">
            <a:avLst/>
          </a:prstGeom>
          <a:solidFill>
            <a:srgbClr val="14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60120" y="5852160"/>
            <a:ext cx="3657600" cy="26161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7CB342"/>
                </a:solidFill>
                <a:effectLst/>
                <a:uLnTx/>
                <a:uFillTx/>
                <a:latin typeface="Georgia"/>
                <a:cs typeface="Calibri"/>
              </a:rPr>
              <a:t>Esempio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6126480"/>
            <a:ext cx="10287000" cy="45720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I Data Types Electricity riportano unità e Scope differenti.</a:t>
            </a:r>
          </a:p>
        </p:txBody>
      </p:sp>
    </p:spTree>
    <p:extLst>
      <p:ext uri="{BB962C8B-B14F-4D97-AF65-F5344CB8AC3E}">
        <p14:creationId xmlns:p14="http://schemas.microsoft.com/office/powerpoint/2010/main" val="1311984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21DB5-9D33-E61A-4E26-2262EB4B1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E5692321-2990-921A-697F-F435F6803838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Modello dati Envizi</a:t>
            </a: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Account Styles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120640" cy="36576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cs typeface="Calibri"/>
              </a:rPr>
              <a:t>Schema del dato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645920"/>
            <a:ext cx="5394960" cy="36576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cs typeface="Calibri"/>
              </a:rPr>
              <a:t>Regole di configurazione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120640" cy="45720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Configurato su un Data Type</a:t>
            </a:r>
          </a:p>
        </p:txBody>
      </p:sp>
      <p:sp>
        <p:nvSpPr>
          <p:cNvPr id="6" name="Rounded Rectangle 4"/>
          <p:cNvSpPr/>
          <p:nvPr/>
        </p:nvSpPr>
        <p:spPr>
          <a:xfrm>
            <a:off x="640080" y="2633472"/>
            <a:ext cx="5120640" cy="45720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Misura primaria </a:t>
            </a: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e costo</a:t>
            </a:r>
            <a:r>
              <a:rPr kumimoji="0" lang="it-IT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, se previsti</a:t>
            </a: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Rounded Rectangle 4"/>
          <p:cNvSpPr/>
          <p:nvPr/>
        </p:nvSpPr>
        <p:spPr>
          <a:xfrm>
            <a:off x="640080" y="3163824"/>
            <a:ext cx="5120640" cy="45720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Campi secondari e </a:t>
            </a:r>
            <a:r>
              <a:rPr kumimoji="0" lang="it-IT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conversioni di </a:t>
            </a: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unità</a:t>
            </a:r>
          </a:p>
        </p:txBody>
      </p:sp>
      <p:sp>
        <p:nvSpPr>
          <p:cNvPr id="8" name="Rounded Rectangle 4"/>
          <p:cNvSpPr/>
          <p:nvPr/>
        </p:nvSpPr>
        <p:spPr>
          <a:xfrm>
            <a:off x="640080" y="3694175"/>
            <a:ext cx="5120640" cy="45720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Valute e menu a discesa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103120"/>
            <a:ext cx="5440680" cy="77724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5080" y="2185415"/>
            <a:ext cx="4983480" cy="25603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433A"/>
                </a:solidFill>
                <a:effectLst/>
                <a:uLnTx/>
                <a:uFillTx/>
                <a:latin typeface="Georgia"/>
                <a:cs typeface="Calibri"/>
              </a:rPr>
              <a:t>Campi obbligatori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441448"/>
            <a:ext cx="4983480" cy="39319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Le regole </a:t>
            </a:r>
            <a:r>
              <a:rPr kumimoji="0" lang="it-IT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definiscono i campi obbligatori</a:t>
            </a: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</p:txBody>
      </p:sp>
      <p:sp>
        <p:nvSpPr>
          <p:cNvPr id="9" name="Rounded Rectangle 14"/>
          <p:cNvSpPr/>
          <p:nvPr/>
        </p:nvSpPr>
        <p:spPr>
          <a:xfrm>
            <a:off x="6126480" y="3017520"/>
            <a:ext cx="5440680" cy="77724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6355080" y="3099815"/>
            <a:ext cx="4983480" cy="25603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433A"/>
                </a:solidFill>
                <a:effectLst/>
                <a:uLnTx/>
                <a:uFillTx/>
                <a:latin typeface="Georgia"/>
                <a:cs typeface="Calibri"/>
              </a:rPr>
              <a:t>Valori predefiniti</a:t>
            </a:r>
          </a:p>
        </p:txBody>
      </p:sp>
      <p:sp>
        <p:nvSpPr>
          <p:cNvPr id="11" name="TextBox 16"/>
          <p:cNvSpPr txBox="1"/>
          <p:nvPr/>
        </p:nvSpPr>
        <p:spPr>
          <a:xfrm>
            <a:off x="6355080" y="3355848"/>
            <a:ext cx="4983480" cy="39319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L’Account Style può precompilare alcuni campi.</a:t>
            </a:r>
          </a:p>
        </p:txBody>
      </p:sp>
      <p:sp>
        <p:nvSpPr>
          <p:cNvPr id="12" name="Rounded Rectangle 14"/>
          <p:cNvSpPr/>
          <p:nvPr/>
        </p:nvSpPr>
        <p:spPr>
          <a:xfrm>
            <a:off x="6126480" y="3931920"/>
            <a:ext cx="5440680" cy="77724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3" name="TextBox 15"/>
          <p:cNvSpPr txBox="1"/>
          <p:nvPr/>
        </p:nvSpPr>
        <p:spPr>
          <a:xfrm>
            <a:off x="6355080" y="4014215"/>
            <a:ext cx="4983480" cy="25603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433A"/>
                </a:solidFill>
                <a:effectLst/>
                <a:uLnTx/>
                <a:uFillTx/>
                <a:latin typeface="Georgia"/>
                <a:cs typeface="Calibri"/>
              </a:rPr>
              <a:t>Calcoli semplici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6355080" y="4270248"/>
            <a:ext cx="4983480" cy="39319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Le regole possono eseguire calcoli sui valori inseriti.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715000"/>
            <a:ext cx="10927080" cy="914400"/>
          </a:xfrm>
          <a:prstGeom prst="roundRect">
            <a:avLst/>
          </a:prstGeom>
          <a:solidFill>
            <a:srgbClr val="14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60120" y="5852160"/>
            <a:ext cx="3657600" cy="26161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7CB342"/>
                </a:solidFill>
                <a:effectLst/>
                <a:uLnTx/>
                <a:uFillTx/>
                <a:latin typeface="Georgia"/>
                <a:cs typeface="Calibri"/>
              </a:rPr>
              <a:t>In sintesi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6126480"/>
            <a:ext cx="10287000" cy="45720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L’Account Style adatta la raccolta dati alle esigenze del cliente.</a:t>
            </a:r>
          </a:p>
        </p:txBody>
      </p:sp>
    </p:spTree>
    <p:extLst>
      <p:ext uri="{BB962C8B-B14F-4D97-AF65-F5344CB8AC3E}">
        <p14:creationId xmlns:p14="http://schemas.microsoft.com/office/powerpoint/2010/main" val="3749935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D3A42-9AD5-3CD4-8D01-556B1CCC7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729DDE2-AE75-B966-286B-5D29BBA23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88720"/>
            <a:ext cx="2350008" cy="4462272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023A00B-B5DF-3C23-A5DB-00F33A2CC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88720"/>
            <a:ext cx="2487168" cy="4462272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E5692321-2990-921A-697F-F435F6803838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Modello dati Envizi</a:t>
            </a: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Account Styles per Electricity [kWh]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645920"/>
            <a:ext cx="5394960" cy="36576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cs typeface="Calibri"/>
              </a:rPr>
              <a:t>Campi mostrati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993392"/>
            <a:ext cx="5440680" cy="850392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5080" y="2075688"/>
            <a:ext cx="4983480" cy="25603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433A"/>
                </a:solidFill>
                <a:effectLst/>
                <a:uLnTx/>
                <a:uFillTx/>
                <a:latin typeface="Georgia"/>
                <a:cs typeface="Calibri"/>
              </a:rPr>
              <a:t>Campo primario: consumo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331720"/>
            <a:ext cx="4983480" cy="466344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L’interfaccia acquisisce il valore di consumo.</a:t>
            </a:r>
          </a:p>
        </p:txBody>
      </p:sp>
      <p:sp>
        <p:nvSpPr>
          <p:cNvPr id="4" name="Rounded Rectangle 14"/>
          <p:cNvSpPr/>
          <p:nvPr/>
        </p:nvSpPr>
        <p:spPr>
          <a:xfrm>
            <a:off x="6126480" y="2990088"/>
            <a:ext cx="5440680" cy="850392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TextBox 15"/>
          <p:cNvSpPr txBox="1"/>
          <p:nvPr/>
        </p:nvSpPr>
        <p:spPr>
          <a:xfrm>
            <a:off x="6355080" y="3072384"/>
            <a:ext cx="4983480" cy="25603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433A"/>
                </a:solidFill>
                <a:effectLst/>
                <a:uLnTx/>
                <a:uFillTx/>
                <a:latin typeface="Georgia"/>
                <a:cs typeface="Calibri"/>
              </a:rPr>
              <a:t>Campo primario: costo</a:t>
            </a:r>
          </a:p>
        </p:txBody>
      </p:sp>
      <p:sp>
        <p:nvSpPr>
          <p:cNvPr id="6" name="TextBox 16"/>
          <p:cNvSpPr txBox="1"/>
          <p:nvPr/>
        </p:nvSpPr>
        <p:spPr>
          <a:xfrm>
            <a:off x="6355080" y="3328416"/>
            <a:ext cx="4983480" cy="466344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Un campo separato raccoglie il costo.</a:t>
            </a:r>
          </a:p>
        </p:txBody>
      </p:sp>
      <p:sp>
        <p:nvSpPr>
          <p:cNvPr id="7" name="Rounded Rectangle 14"/>
          <p:cNvSpPr/>
          <p:nvPr/>
        </p:nvSpPr>
        <p:spPr>
          <a:xfrm>
            <a:off x="6126480" y="3986784"/>
            <a:ext cx="5440680" cy="850392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6355080" y="4069080"/>
            <a:ext cx="4983480" cy="25603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433A"/>
                </a:solidFill>
                <a:effectLst/>
                <a:uLnTx/>
                <a:uFillTx/>
                <a:latin typeface="Georgia"/>
                <a:cs typeface="Calibri"/>
              </a:rPr>
              <a:t>Campi secondari</a:t>
            </a:r>
          </a:p>
        </p:txBody>
      </p:sp>
      <p:sp>
        <p:nvSpPr>
          <p:cNvPr id="10" name="TextBox 16"/>
          <p:cNvSpPr txBox="1"/>
          <p:nvPr/>
        </p:nvSpPr>
        <p:spPr>
          <a:xfrm>
            <a:off x="6355080" y="4325112"/>
            <a:ext cx="4983480" cy="466344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I due Account Styles mostrano campi diversi.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715000"/>
            <a:ext cx="10927080" cy="914400"/>
          </a:xfrm>
          <a:prstGeom prst="roundRect">
            <a:avLst/>
          </a:prstGeom>
          <a:solidFill>
            <a:srgbClr val="14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60120" y="5852160"/>
            <a:ext cx="3657600" cy="26161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7CB342"/>
                </a:solidFill>
                <a:effectLst/>
                <a:uLnTx/>
                <a:uFillTx/>
                <a:latin typeface="Georgia"/>
                <a:cs typeface="Calibri"/>
              </a:rPr>
              <a:t>Esempio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6126480"/>
            <a:ext cx="10287000" cy="45720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Due Account Styles per lo stesso Data Type Electricity [kWh].</a:t>
            </a:r>
          </a:p>
        </p:txBody>
      </p:sp>
    </p:spTree>
    <p:extLst>
      <p:ext uri="{BB962C8B-B14F-4D97-AF65-F5344CB8AC3E}">
        <p14:creationId xmlns:p14="http://schemas.microsoft.com/office/powerpoint/2010/main" val="8333746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FB8D8-A225-0C5E-C967-6A6AFCF5E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E5692321-2990-921A-697F-F435F6803838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Modello dati Envizi</a:t>
            </a: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120640" cy="36576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cs typeface="Calibri"/>
              </a:rPr>
              <a:t>Identità e configurazione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645920"/>
            <a:ext cx="5394960" cy="36576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cs typeface="Calibri"/>
              </a:rPr>
              <a:t>Ruolo nel modello dati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120640" cy="45720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Nome </a:t>
            </a:r>
            <a:r>
              <a:rPr kumimoji="0" lang="it-IT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dell’Account </a:t>
            </a: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e ID </a:t>
            </a:r>
            <a:r>
              <a:rPr kumimoji="0" lang="it-IT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di sistema</a:t>
            </a: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Rounded Rectangle 4"/>
          <p:cNvSpPr/>
          <p:nvPr/>
        </p:nvSpPr>
        <p:spPr>
          <a:xfrm>
            <a:off x="640080" y="2624327"/>
            <a:ext cx="5120640" cy="45720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Configurato a livello di Location</a:t>
            </a:r>
          </a:p>
        </p:txBody>
      </p:sp>
      <p:sp>
        <p:nvSpPr>
          <p:cNvPr id="7" name="Rounded Rectangle 4"/>
          <p:cNvSpPr/>
          <p:nvPr/>
        </p:nvSpPr>
        <p:spPr>
          <a:xfrm>
            <a:off x="640080" y="3145535"/>
            <a:ext cx="5120640" cy="45720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Associato a un Data Type</a:t>
            </a:r>
          </a:p>
        </p:txBody>
      </p:sp>
      <p:sp>
        <p:nvSpPr>
          <p:cNvPr id="8" name="Rounded Rectangle 4"/>
          <p:cNvSpPr/>
          <p:nvPr/>
        </p:nvSpPr>
        <p:spPr>
          <a:xfrm>
            <a:off x="640080" y="3666744"/>
            <a:ext cx="5120640" cy="45720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Associato a un Account Style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103120"/>
            <a:ext cx="5440680" cy="82296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5080" y="2185415"/>
            <a:ext cx="4983480" cy="25603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433A"/>
                </a:solidFill>
                <a:effectLst/>
                <a:uLnTx/>
                <a:uFillTx/>
                <a:latin typeface="Georgia"/>
                <a:cs typeface="Calibri"/>
              </a:rPr>
              <a:t>Raccolta e archiviazione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441448"/>
            <a:ext cx="4983480" cy="43891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L’Account </a:t>
            </a:r>
            <a:r>
              <a:rPr kumimoji="0" lang="it-IT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raccoglie record riferiti a periodi di attività</a:t>
            </a: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</p:txBody>
      </p:sp>
      <p:sp>
        <p:nvSpPr>
          <p:cNvPr id="9" name="Rounded Rectangle 14"/>
          <p:cNvSpPr/>
          <p:nvPr/>
        </p:nvSpPr>
        <p:spPr>
          <a:xfrm>
            <a:off x="6126480" y="3072384"/>
            <a:ext cx="5440680" cy="82296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6355080" y="3154679"/>
            <a:ext cx="4983480" cy="25603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433A"/>
                </a:solidFill>
                <a:effectLst/>
                <a:uLnTx/>
                <a:uFillTx/>
                <a:latin typeface="Georgia"/>
                <a:cs typeface="Calibri"/>
              </a:rPr>
              <a:t>Reporting</a:t>
            </a:r>
          </a:p>
        </p:txBody>
      </p:sp>
      <p:sp>
        <p:nvSpPr>
          <p:cNvPr id="11" name="TextBox 16"/>
          <p:cNvSpPr txBox="1"/>
          <p:nvPr/>
        </p:nvSpPr>
        <p:spPr>
          <a:xfrm>
            <a:off x="6355080" y="3410712"/>
            <a:ext cx="4983480" cy="43891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I dati si aggregano lungo la gerarchia dei Group.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715000"/>
            <a:ext cx="10927080" cy="914400"/>
          </a:xfrm>
          <a:prstGeom prst="roundRect">
            <a:avLst/>
          </a:prstGeom>
          <a:solidFill>
            <a:srgbClr val="14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60120" y="5852160"/>
            <a:ext cx="3657600" cy="26161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7CB342"/>
                </a:solidFill>
                <a:effectLst/>
                <a:uLnTx/>
                <a:uFillTx/>
                <a:latin typeface="Georgia"/>
                <a:cs typeface="Calibri"/>
              </a:rPr>
              <a:t>In sintesi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6126480"/>
            <a:ext cx="10287000" cy="45720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Ogni Account collega la Location alla struttura di raccolta e reporting.</a:t>
            </a:r>
          </a:p>
        </p:txBody>
      </p:sp>
    </p:spTree>
    <p:extLst>
      <p:ext uri="{BB962C8B-B14F-4D97-AF65-F5344CB8AC3E}">
        <p14:creationId xmlns:p14="http://schemas.microsoft.com/office/powerpoint/2010/main" val="1694791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201C8-B1B8-3457-BCF3-77BD582C0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972E839-4C8D-87D0-A564-0C91EEA0E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730" y="1344168"/>
            <a:ext cx="2242244" cy="4251960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E5692321-2990-921A-697F-F435F6803838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Modello dati Envizi</a:t>
            </a: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Un Account nella piattaforma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645920"/>
            <a:ext cx="5394960" cy="36576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cs typeface="Calibri"/>
              </a:rPr>
              <a:t>Elementi visibili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1965960"/>
            <a:ext cx="6766560" cy="841248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0" y="2048255"/>
            <a:ext cx="6309360" cy="25603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433A"/>
                </a:solidFill>
                <a:effectLst/>
                <a:uLnTx/>
                <a:uFillTx/>
                <a:latin typeface="Georgia"/>
                <a:cs typeface="Calibri"/>
              </a:rPr>
              <a:t>Identificazione</a:t>
            </a:r>
          </a:p>
        </p:txBody>
      </p:sp>
      <p:sp>
        <p:nvSpPr>
          <p:cNvPr id="4" name="TextBox 16"/>
          <p:cNvSpPr txBox="1"/>
          <p:nvPr/>
        </p:nvSpPr>
        <p:spPr>
          <a:xfrm>
            <a:off x="5029200" y="2304288"/>
            <a:ext cx="6309360" cy="45720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Nome dell’Account e Location associata.</a:t>
            </a:r>
          </a:p>
        </p:txBody>
      </p:sp>
      <p:sp>
        <p:nvSpPr>
          <p:cNvPr id="5" name="Rounded Rectangle 14"/>
          <p:cNvSpPr/>
          <p:nvPr/>
        </p:nvSpPr>
        <p:spPr>
          <a:xfrm>
            <a:off x="4800600" y="2962656"/>
            <a:ext cx="6766560" cy="841248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TextBox 15"/>
          <p:cNvSpPr txBox="1"/>
          <p:nvPr/>
        </p:nvSpPr>
        <p:spPr>
          <a:xfrm>
            <a:off x="5029200" y="3044952"/>
            <a:ext cx="6309360" cy="25603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433A"/>
                </a:solidFill>
                <a:effectLst/>
                <a:uLnTx/>
                <a:uFillTx/>
                <a:latin typeface="Georgia"/>
                <a:cs typeface="Calibri"/>
              </a:rPr>
              <a:t>Valori principali</a:t>
            </a:r>
          </a:p>
        </p:txBody>
      </p:sp>
      <p:sp>
        <p:nvSpPr>
          <p:cNvPr id="7" name="TextBox 16"/>
          <p:cNvSpPr txBox="1"/>
          <p:nvPr/>
        </p:nvSpPr>
        <p:spPr>
          <a:xfrm>
            <a:off x="5029200" y="3300984"/>
            <a:ext cx="6309360" cy="45720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Campi primari per consumo e costo.</a:t>
            </a:r>
          </a:p>
        </p:txBody>
      </p:sp>
      <p:sp>
        <p:nvSpPr>
          <p:cNvPr id="8" name="Rounded Rectangle 14"/>
          <p:cNvSpPr/>
          <p:nvPr/>
        </p:nvSpPr>
        <p:spPr>
          <a:xfrm>
            <a:off x="4800600" y="3959352"/>
            <a:ext cx="6766560" cy="841248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TextBox 15"/>
          <p:cNvSpPr txBox="1"/>
          <p:nvPr/>
        </p:nvSpPr>
        <p:spPr>
          <a:xfrm>
            <a:off x="5029200" y="4041648"/>
            <a:ext cx="6309360" cy="25603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433A"/>
                </a:solidFill>
                <a:effectLst/>
                <a:uLnTx/>
                <a:uFillTx/>
                <a:latin typeface="Georgia"/>
                <a:cs typeface="Calibri"/>
              </a:rPr>
              <a:t>Dati aggiuntivi</a:t>
            </a:r>
          </a:p>
        </p:txBody>
      </p:sp>
      <p:sp>
        <p:nvSpPr>
          <p:cNvPr id="10" name="TextBox 16"/>
          <p:cNvSpPr txBox="1"/>
          <p:nvPr/>
        </p:nvSpPr>
        <p:spPr>
          <a:xfrm>
            <a:off x="5029200" y="4297680"/>
            <a:ext cx="6309360" cy="45720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Campi secondari definiti dall’Account Style.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715000"/>
            <a:ext cx="10927080" cy="914400"/>
          </a:xfrm>
          <a:prstGeom prst="roundRect">
            <a:avLst/>
          </a:prstGeom>
          <a:solidFill>
            <a:srgbClr val="14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60120" y="5852160"/>
            <a:ext cx="3657600" cy="26161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7CB342"/>
                </a:solidFill>
                <a:effectLst/>
                <a:uLnTx/>
                <a:uFillTx/>
                <a:latin typeface="Georgia"/>
                <a:cs typeface="Calibri"/>
              </a:rPr>
              <a:t>Esempio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6126480"/>
            <a:ext cx="10287000" cy="45720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La schermata mostra i campi disponibili per l’inserimento del dato.</a:t>
            </a:r>
          </a:p>
        </p:txBody>
      </p:sp>
    </p:spTree>
    <p:extLst>
      <p:ext uri="{BB962C8B-B14F-4D97-AF65-F5344CB8AC3E}">
        <p14:creationId xmlns:p14="http://schemas.microsoft.com/office/powerpoint/2010/main" val="975461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86D4-63FD-E219-1B64-F889F1C43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E5692321-2990-921A-697F-F435F6803838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Modello dati Envizi</a:t>
            </a: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Riepilogo del modello dati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120640" cy="36576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cs typeface="Calibri"/>
              </a:rPr>
              <a:t>Caratteristiche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645920"/>
            <a:ext cx="5394960" cy="36576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2E7D4F"/>
                </a:solidFill>
                <a:effectLst/>
                <a:uLnTx/>
                <a:uFillTx/>
                <a:latin typeface="Georgia"/>
                <a:cs typeface="Calibri"/>
              </a:rPr>
              <a:t>Struttura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120640" cy="530352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Flessibile</a:t>
            </a:r>
          </a:p>
        </p:txBody>
      </p:sp>
      <p:sp>
        <p:nvSpPr>
          <p:cNvPr id="6" name="Rounded Rectangle 4"/>
          <p:cNvSpPr/>
          <p:nvPr/>
        </p:nvSpPr>
        <p:spPr>
          <a:xfrm>
            <a:off x="640080" y="2734056"/>
            <a:ext cx="5120640" cy="530352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Gerarchico</a:t>
            </a:r>
          </a:p>
        </p:txBody>
      </p:sp>
      <p:sp>
        <p:nvSpPr>
          <p:cNvPr id="7" name="Rounded Rectangle 4"/>
          <p:cNvSpPr/>
          <p:nvPr/>
        </p:nvSpPr>
        <p:spPr>
          <a:xfrm>
            <a:off x="640080" y="3364991"/>
            <a:ext cx="5120640" cy="530352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Configurato sulle esigenze del cliente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103120"/>
            <a:ext cx="5440680" cy="658368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5080" y="2185415"/>
            <a:ext cx="4983480" cy="25603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433A"/>
                </a:solidFill>
                <a:effectLst/>
                <a:uLnTx/>
                <a:uFillTx/>
                <a:latin typeface="Georgia"/>
                <a:cs typeface="Calibri"/>
              </a:rPr>
              <a:t>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441448"/>
            <a:ext cx="4983480" cy="27432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Raggruppamento di Data Types.</a:t>
            </a:r>
          </a:p>
        </p:txBody>
      </p:sp>
      <p:sp>
        <p:nvSpPr>
          <p:cNvPr id="8" name="Rounded Rectangle 14"/>
          <p:cNvSpPr/>
          <p:nvPr/>
        </p:nvSpPr>
        <p:spPr>
          <a:xfrm>
            <a:off x="6126480" y="2862072"/>
            <a:ext cx="5440680" cy="658368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TextBox 15"/>
          <p:cNvSpPr txBox="1"/>
          <p:nvPr/>
        </p:nvSpPr>
        <p:spPr>
          <a:xfrm>
            <a:off x="6355080" y="2944368"/>
            <a:ext cx="4983480" cy="25603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433A"/>
                </a:solidFill>
                <a:effectLst/>
                <a:uLnTx/>
                <a:uFillTx/>
                <a:latin typeface="Georgia"/>
                <a:cs typeface="Calibri"/>
              </a:rPr>
              <a:t>Data Type</a:t>
            </a:r>
          </a:p>
        </p:txBody>
      </p:sp>
      <p:sp>
        <p:nvSpPr>
          <p:cNvPr id="10" name="TextBox 16"/>
          <p:cNvSpPr txBox="1"/>
          <p:nvPr/>
        </p:nvSpPr>
        <p:spPr>
          <a:xfrm>
            <a:off x="6355080" y="3200400"/>
            <a:ext cx="4983480" cy="27432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Categoria, unità primaria e Scope.</a:t>
            </a:r>
          </a:p>
        </p:txBody>
      </p:sp>
      <p:sp>
        <p:nvSpPr>
          <p:cNvPr id="11" name="Rounded Rectangle 14"/>
          <p:cNvSpPr/>
          <p:nvPr/>
        </p:nvSpPr>
        <p:spPr>
          <a:xfrm>
            <a:off x="6126480" y="3621024"/>
            <a:ext cx="5440680" cy="658368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2" name="TextBox 15"/>
          <p:cNvSpPr txBox="1"/>
          <p:nvPr/>
        </p:nvSpPr>
        <p:spPr>
          <a:xfrm>
            <a:off x="6355080" y="3703320"/>
            <a:ext cx="4983480" cy="25603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433A"/>
                </a:solidFill>
                <a:effectLst/>
                <a:uLnTx/>
                <a:uFillTx/>
                <a:latin typeface="Georgia"/>
                <a:cs typeface="Calibri"/>
              </a:rPr>
              <a:t>Account Style</a:t>
            </a:r>
          </a:p>
        </p:txBody>
      </p:sp>
      <p:sp>
        <p:nvSpPr>
          <p:cNvPr id="13" name="TextBox 16"/>
          <p:cNvSpPr txBox="1"/>
          <p:nvPr/>
        </p:nvSpPr>
        <p:spPr>
          <a:xfrm>
            <a:off x="6355080" y="3959352"/>
            <a:ext cx="4983480" cy="27432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Campi e regole per la raccolta dei dati.</a:t>
            </a:r>
          </a:p>
        </p:txBody>
      </p:sp>
      <p:sp>
        <p:nvSpPr>
          <p:cNvPr id="18" name="Rounded Rectangle 14"/>
          <p:cNvSpPr/>
          <p:nvPr/>
        </p:nvSpPr>
        <p:spPr>
          <a:xfrm>
            <a:off x="6126480" y="4379976"/>
            <a:ext cx="5440680" cy="658368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9" name="TextBox 15"/>
          <p:cNvSpPr txBox="1"/>
          <p:nvPr/>
        </p:nvSpPr>
        <p:spPr>
          <a:xfrm>
            <a:off x="6355080" y="4462272"/>
            <a:ext cx="4983480" cy="256032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14433A"/>
                </a:solidFill>
                <a:effectLst/>
                <a:uLnTx/>
                <a:uFillTx/>
                <a:latin typeface="Georgia"/>
                <a:cs typeface="Calibri"/>
              </a:rPr>
              <a:t>Account</a:t>
            </a:r>
          </a:p>
        </p:txBody>
      </p:sp>
      <p:sp>
        <p:nvSpPr>
          <p:cNvPr id="20" name="TextBox 16"/>
          <p:cNvSpPr txBox="1"/>
          <p:nvPr/>
        </p:nvSpPr>
        <p:spPr>
          <a:xfrm>
            <a:off x="6355080" y="4718304"/>
            <a:ext cx="4983480" cy="27432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Raccolta </a:t>
            </a: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dei </a:t>
            </a:r>
            <a:r>
              <a:rPr kumimoji="0" lang="it-IT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record presso una Location</a:t>
            </a: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715000"/>
            <a:ext cx="10927080" cy="914400"/>
          </a:xfrm>
          <a:prstGeom prst="roundRect">
            <a:avLst/>
          </a:prstGeom>
          <a:solidFill>
            <a:srgbClr val="14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60120" y="5852160"/>
            <a:ext cx="3657600" cy="26161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7CB342"/>
                </a:solidFill>
                <a:effectLst/>
                <a:uLnTx/>
                <a:uFillTx/>
                <a:latin typeface="Georgia"/>
                <a:cs typeface="Calibri"/>
              </a:rPr>
              <a:t>In sintesi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6126480"/>
            <a:ext cx="10287000" cy="457200"/>
          </a:xfrm>
          <a:prstGeom prst="rect">
            <a:avLst/>
          </a:prstGeom>
          <a:noFill/>
        </p:spPr>
        <p:txBody>
          <a:bodyPr wrap="square" lIns="36576" tIns="0" rIns="36576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Gli </a:t>
            </a: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Account </a:t>
            </a:r>
            <a:r>
              <a:rPr kumimoji="0" lang="it-IT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raccolgono i record secondo i campi definiti dall’Account </a:t>
            </a: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Style.</a:t>
            </a:r>
          </a:p>
        </p:txBody>
      </p:sp>
    </p:spTree>
    <p:extLst>
      <p:ext uri="{BB962C8B-B14F-4D97-AF65-F5344CB8AC3E}">
        <p14:creationId xmlns:p14="http://schemas.microsoft.com/office/powerpoint/2010/main" val="2178548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B4243-807C-EBE1-C7FC-40E7C0B4A8A4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2914F366-7242-9987-13C8-EAE95241A3A1}"/>
              </a:ext>
            </a:extLst>
          </p:cNvPr>
          <p:cNvSpPr txBox="1"/>
          <p:nvPr/>
        </p:nvSpPr>
        <p:spPr>
          <a:xfrm>
            <a:off x="316169" y="3127338"/>
            <a:ext cx="11126801" cy="326711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Esempio POC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: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verificare il template supportato nell’istanza prima del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caricamento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8AEEEE2-881D-9507-6E1A-8C0C7DE5432A}"/>
              </a:ext>
            </a:extLst>
          </p:cNvPr>
          <p:cNvSpPr txBox="1"/>
          <p:nvPr/>
        </p:nvSpPr>
        <p:spPr>
          <a:xfrm>
            <a:off x="640080" y="5513832"/>
            <a:ext cx="10908792" cy="79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Demo: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Manage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&gt; Upload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, con il template previsto per l’istanza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3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Nome file: rispettare il formato richiesto dal loader. L’esempio POC non è una regola universale.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392B02FA-68E8-B7ED-D3E0-46D142A11C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21" y="1353312"/>
            <a:ext cx="10497727" cy="1707708"/>
          </a:xfrm>
          <a:prstGeom prst="rect">
            <a:avLst/>
          </a:prstGeom>
        </p:spPr>
      </p:pic>
      <p:graphicFrame>
        <p:nvGraphicFramePr>
          <p:cNvPr id="11" name="Oggetto 10">
            <a:extLst>
              <a:ext uri="{FF2B5EF4-FFF2-40B4-BE49-F238E27FC236}">
                <a16:creationId xmlns:a16="http://schemas.microsoft.com/office/drawing/2014/main" id="{009DBC37-E698-1DCE-17B2-6D4ECBF1A0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32329" y="5264020"/>
          <a:ext cx="965200" cy="582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glio di lavoro" showAsIcon="1" r:id="rId4" imgW="965200" imgH="609600" progId="Excel.Sheet.12">
                  <p:embed/>
                </p:oleObj>
              </mc:Choice>
              <mc:Fallback>
                <p:oleObj name="Foglio di lavoro" showAsIcon="1" r:id="rId4" imgW="965200" imgH="609600" progId="Excel.Sheet.12">
                  <p:embed/>
                  <p:pic>
                    <p:nvPicPr>
                      <p:cNvPr id="11" name="Oggetto 10">
                        <a:extLst>
                          <a:ext uri="{FF2B5EF4-FFF2-40B4-BE49-F238E27FC236}">
                            <a16:creationId xmlns:a16="http://schemas.microsoft.com/office/drawing/2014/main" id="{009DBC37-E698-1DCE-17B2-6D4ECBF1A0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32329" y="5264020"/>
                        <a:ext cx="965200" cy="5825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598DD7B-3C73-3491-9A41-1A7E8DC12C1B}"/>
              </a:ext>
            </a:extLst>
          </p:cNvPr>
          <p:cNvSpPr txBox="1"/>
          <p:nvPr/>
        </p:nvSpPr>
        <p:spPr>
          <a:xfrm>
            <a:off x="457199" y="3440544"/>
            <a:ext cx="11418631" cy="1532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it-IT" sz="133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Organization: usare il nome dell’organizzazione previsto dal template.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it-IT" sz="133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Location: riportare il nome esatto della sede a cui appartiene l’Account.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it-IT" sz="133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Account Style: scegliere uno stile supportato dal file e verificare campi obbligatori e unità. Il catalogo varia per organizzazione.</a:t>
            </a:r>
            <a:endParaRPr kumimoji="0" lang="it-IT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it-IT" sz="133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Account Number: usare un identificativo coerente per l’Account da creare o aggiornare.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it-IT" sz="133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Date: rispettare il formato richiesto per inizio e fine del periodo.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it-IT" sz="133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Campi opzionali: compilarli solo se pertinenti allo stile selezionato.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it-IT" sz="133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Quantità e costo: inserire valori nelle unità previste. Le lettere delle colonne dipendono dal template.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6DE47A5-B895-661F-BCB2-5461B81AEC39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Modello dati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Envizi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670E1920-544F-1D5A-63A4-AA8DD6AE4523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Demo: template POC Account Setup and Data Load</a:t>
            </a:r>
          </a:p>
        </p:txBody>
      </p:sp>
    </p:spTree>
    <p:extLst>
      <p:ext uri="{BB962C8B-B14F-4D97-AF65-F5344CB8AC3E}">
        <p14:creationId xmlns:p14="http://schemas.microsoft.com/office/powerpoint/2010/main" val="2102646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B95913E-6B3D-5DD6-72F5-42FB8C5D0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78" y="1353312"/>
            <a:ext cx="9985613" cy="162440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EE9C0EB-36C1-82BC-AEF2-00FA0A5EF07D}"/>
              </a:ext>
            </a:extLst>
          </p:cNvPr>
          <p:cNvSpPr txBox="1"/>
          <p:nvPr/>
        </p:nvSpPr>
        <p:spPr>
          <a:xfrm>
            <a:off x="640080" y="3291840"/>
            <a:ext cx="109087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Ogni riga del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template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rappresenta un record di un Account.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Nuovi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record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: aggiungere le righe nel formato previsto dal loader.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Aggiornamenti: verificare le chiavi di corrispondenza del template utilizzato.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Attenzione: Account Setup and Data Load sovrascrive anche note e allegati del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record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aggiornato.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Per conservarli, aggiornare il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record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dall’interfaccia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.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Gestire le cancellazioni separatamente.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Esempio: “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Elettricità Milano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”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è un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Account. La bolletta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di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aprile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è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uno dei suoi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record.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FADDE605-3C6C-1BD7-3AC7-C3F5115F0AF2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Modello dati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Envizi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D5C2169-3896-45E1-0E27-44C5CF24BBC4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Caricamento: nuovi record e aggiornamenti</a:t>
            </a:r>
          </a:p>
        </p:txBody>
      </p:sp>
    </p:spTree>
    <p:extLst>
      <p:ext uri="{BB962C8B-B14F-4D97-AF65-F5344CB8AC3E}">
        <p14:creationId xmlns:p14="http://schemas.microsoft.com/office/powerpoint/2010/main" val="3789184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AAB12E9B-3331-98F9-D22C-A576FAF406DE}"/>
              </a:ext>
            </a:extLst>
          </p:cNvPr>
          <p:cNvSpPr txBox="1"/>
          <p:nvPr/>
        </p:nvSpPr>
        <p:spPr>
          <a:xfrm>
            <a:off x="5978770" y="1385136"/>
            <a:ext cx="6096000" cy="34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17" b="0" i="0" u="sng" strike="noStrike" kern="1200" cap="none" spc="12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Email o integrazione, se abilitate nell’istanza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CF5C669-AAA3-7735-081C-1889460BF1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7490" y="2776106"/>
            <a:ext cx="8099511" cy="362469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234D9F7-265E-1E04-0F2E-8EAF80C78030}"/>
              </a:ext>
            </a:extLst>
          </p:cNvPr>
          <p:cNvSpPr txBox="1"/>
          <p:nvPr/>
        </p:nvSpPr>
        <p:spPr>
          <a:xfrm>
            <a:off x="5952744" y="1865376"/>
            <a:ext cx="5559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Usare l’indirizzo e le istruzioni del servizio attivo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Non ricavare il destinatario dal solo URL di accesso.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0BEC1D2-6CF2-5076-CA54-89DE9004782B}"/>
              </a:ext>
            </a:extLst>
          </p:cNvPr>
          <p:cNvSpPr txBox="1"/>
          <p:nvPr/>
        </p:nvSpPr>
        <p:spPr>
          <a:xfrm>
            <a:off x="5980176" y="1051560"/>
            <a:ext cx="5559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Invio tramite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il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canale configurato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FBBC7C5-3233-6A6D-8F02-51B8E78E7A5F}"/>
              </a:ext>
            </a:extLst>
          </p:cNvPr>
          <p:cNvSpPr txBox="1"/>
          <p:nvPr/>
        </p:nvSpPr>
        <p:spPr>
          <a:xfrm>
            <a:off x="621322" y="1013670"/>
            <a:ext cx="6412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Manage</a:t>
            </a:r>
            <a:r>
              <a:rPr kumimoji="0" lang="it-IT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&gt; Upload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C2EF29F-D7AB-74A2-B18C-42F6307BB2A6}"/>
              </a:ext>
            </a:extLst>
          </p:cNvPr>
          <p:cNvSpPr txBox="1"/>
          <p:nvPr/>
        </p:nvSpPr>
        <p:spPr>
          <a:xfrm>
            <a:off x="3827583" y="1005840"/>
            <a:ext cx="1160586" cy="331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Oppure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89F706A-5433-565D-D85E-C65350F3522A}"/>
              </a:ext>
            </a:extLst>
          </p:cNvPr>
          <p:cNvSpPr txBox="1"/>
          <p:nvPr/>
        </p:nvSpPr>
        <p:spPr>
          <a:xfrm>
            <a:off x="550982" y="1822111"/>
            <a:ext cx="50174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Verifica dell’esito nell’ambiente demo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Admin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&gt;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Data Flow Automation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&gt;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File Delivery Status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943418C9-759F-F108-6216-876E0982A3B5}"/>
              </a:ext>
            </a:extLst>
          </p:cNvPr>
          <p:cNvSpPr/>
          <p:nvPr/>
        </p:nvSpPr>
        <p:spPr>
          <a:xfrm>
            <a:off x="9941169" y="3083055"/>
            <a:ext cx="844062" cy="236981"/>
          </a:xfrm>
          <a:prstGeom prst="rect">
            <a:avLst/>
          </a:prstGeom>
          <a:solidFill>
            <a:srgbClr val="FFFF00">
              <a:alpha val="29535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5AA81890-56F0-EE86-70D9-E7AF8135C294}"/>
              </a:ext>
            </a:extLst>
          </p:cNvPr>
          <p:cNvSpPr/>
          <p:nvPr/>
        </p:nvSpPr>
        <p:spPr>
          <a:xfrm>
            <a:off x="8604739" y="4385701"/>
            <a:ext cx="844062" cy="236981"/>
          </a:xfrm>
          <a:prstGeom prst="rect">
            <a:avLst/>
          </a:prstGeom>
          <a:solidFill>
            <a:srgbClr val="FFFF00">
              <a:alpha val="29535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6D0BB49F-020B-74BB-A91A-CAE1555F961F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Modello dati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Envizi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EFA8897-5522-F1DF-1CF0-8362CDAE9C18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Come caricare un template con i dati</a:t>
            </a:r>
          </a:p>
        </p:txBody>
      </p:sp>
    </p:spTree>
    <p:extLst>
      <p:ext uri="{BB962C8B-B14F-4D97-AF65-F5344CB8AC3E}">
        <p14:creationId xmlns:p14="http://schemas.microsoft.com/office/powerpoint/2010/main" val="232440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D50A2171-CDE4-0BAF-3790-2135C14D17D6}"/>
              </a:ext>
            </a:extLst>
          </p:cNvPr>
          <p:cNvSpPr txBox="1"/>
          <p:nvPr/>
        </p:nvSpPr>
        <p:spPr>
          <a:xfrm>
            <a:off x="640080" y="936260"/>
            <a:ext cx="470647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Demo: Home Page &gt; Organization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hierarchy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Espandere l’albero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organizzativo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Aprire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gruppi e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la Location di interesse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Visualizzare gli Account della Location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Selezionare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l’Account da consultare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Aprire il collegamento sul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nome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Controllare la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dashboard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 il periodo visualizzato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D5C046BB-2B35-FC39-1E98-6BDEFF7073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9403" y="826532"/>
            <a:ext cx="732117" cy="823632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DEBB438-9331-9350-5198-ACD795ABAE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320" y="4610425"/>
            <a:ext cx="2392200" cy="2097638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1F837DAD-4FEB-1D28-8864-9226A6AAE4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827" y="4256757"/>
            <a:ext cx="5276529" cy="2464634"/>
          </a:xfrm>
          <a:prstGeom prst="rect">
            <a:avLst/>
          </a:prstGeom>
        </p:spPr>
      </p:pic>
      <p:sp>
        <p:nvSpPr>
          <p:cNvPr id="3" name="Ovale 2">
            <a:extLst>
              <a:ext uri="{FF2B5EF4-FFF2-40B4-BE49-F238E27FC236}">
                <a16:creationId xmlns:a16="http://schemas.microsoft.com/office/drawing/2014/main" id="{71EB19A7-151E-41E6-B3E9-6B5944EF0D58}"/>
              </a:ext>
            </a:extLst>
          </p:cNvPr>
          <p:cNvSpPr/>
          <p:nvPr/>
        </p:nvSpPr>
        <p:spPr>
          <a:xfrm>
            <a:off x="4160711" y="5887287"/>
            <a:ext cx="2030809" cy="4225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Freccia destra 3">
            <a:extLst>
              <a:ext uri="{FF2B5EF4-FFF2-40B4-BE49-F238E27FC236}">
                <a16:creationId xmlns:a16="http://schemas.microsoft.com/office/drawing/2014/main" id="{C8435C0D-6963-0F7A-B918-84F67A6D0B27}"/>
              </a:ext>
            </a:extLst>
          </p:cNvPr>
          <p:cNvSpPr/>
          <p:nvPr/>
        </p:nvSpPr>
        <p:spPr>
          <a:xfrm>
            <a:off x="6082145" y="5599912"/>
            <a:ext cx="409827" cy="3117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D9FE51FB-470D-7AB6-A913-E05BCE75EA42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Modello dati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Envizi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2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C5D8A009-9C8B-D484-3108-181A2F968FC1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Consultazione degli Account nella gerarchia organizzativa</a:t>
            </a:r>
          </a:p>
        </p:txBody>
      </p:sp>
    </p:spTree>
    <p:extLst>
      <p:ext uri="{BB962C8B-B14F-4D97-AF65-F5344CB8AC3E}">
        <p14:creationId xmlns:p14="http://schemas.microsoft.com/office/powerpoint/2010/main" val="3090470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AE14DEF4-597D-DD1F-9095-BA75CA157AAF}"/>
              </a:ext>
            </a:extLst>
          </p:cNvPr>
          <p:cNvSpPr txBox="1"/>
          <p:nvPr/>
        </p:nvSpPr>
        <p:spPr>
          <a:xfrm>
            <a:off x="640080" y="1122883"/>
            <a:ext cx="4480560" cy="230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Elementi da controllare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Nome Account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Data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Type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Unit of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measure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Periodo visualizzato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Serie Actual,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Accrued ed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Estimated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BC648EE-9CD5-E309-C6F9-78CCB001D683}"/>
              </a:ext>
            </a:extLst>
          </p:cNvPr>
          <p:cNvSpPr txBox="1"/>
          <p:nvPr/>
        </p:nvSpPr>
        <p:spPr>
          <a:xfrm>
            <a:off x="5444836" y="149912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Qualità del dato nel reporting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Actual</a:t>
            </a:r>
            <a:r>
              <a:rPr kumimoji="0" lang="it-IT" sz="18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lang="it-IT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dati effettivi acquisiti da bollette, misure o sistemi sorgente.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Accrued</a:t>
            </a:r>
            <a:r>
              <a:rPr kumimoji="0" lang="it-IT" sz="18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lang="it-IT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stime che Envizi calcola per coprire periodi senza dati di consumo o costo, secondo le impostazioni dell’Account.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Estimated</a:t>
            </a:r>
            <a:r>
              <a:rPr kumimoji="0" lang="it-IT" sz="18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lang="it-IT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 dati contrassegnati come stimati, per esempio una stima del fornitore. Non sono necessariamente inserimenti manuali.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Quando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si caricano o modificano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i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record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Envizi ricalcola gli accruals. La sostituzione di un record Estimated dipende dalle regole di aggiornamento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E9BC059C-FEF0-62FC-69D0-E0DFDB2E77A7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Modello dati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Envizi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0B52EC-8F08-3E86-2A37-ED15333A247F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Dashboard Account: lettura e qualità del dato</a:t>
            </a:r>
          </a:p>
        </p:txBody>
      </p:sp>
    </p:spTree>
    <p:extLst>
      <p:ext uri="{BB962C8B-B14F-4D97-AF65-F5344CB8AC3E}">
        <p14:creationId xmlns:p14="http://schemas.microsoft.com/office/powerpoint/2010/main" val="1120753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166207B1-C847-9AF3-DD80-7AFC295E0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915" y="1005840"/>
            <a:ext cx="9535259" cy="4650254"/>
          </a:xfrm>
          <a:prstGeom prst="rect">
            <a:avLst/>
          </a:prstGeom>
        </p:spPr>
      </p:pic>
      <p:sp>
        <p:nvSpPr>
          <p:cNvPr id="100" name="Rif 1"/>
          <p:cNvSpPr/>
          <p:nvPr/>
        </p:nvSpPr>
        <p:spPr>
          <a:xfrm>
            <a:off x="1766453" y="2468098"/>
            <a:ext cx="310896" cy="280389"/>
          </a:xfrm>
          <a:prstGeom prst="ellipse">
            <a:avLst/>
          </a:prstGeom>
          <a:solidFill>
            <a:srgbClr val="E97132"/>
          </a:solidFill>
          <a:ln w="12700">
            <a:solidFill>
              <a:srgbClr val="FFFFFF"/>
            </a:solidFill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82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</a:p>
        </p:txBody>
      </p:sp>
      <p:sp>
        <p:nvSpPr>
          <p:cNvPr id="101" name="Rif 2"/>
          <p:cNvSpPr/>
          <p:nvPr/>
        </p:nvSpPr>
        <p:spPr>
          <a:xfrm>
            <a:off x="1617931" y="3907529"/>
            <a:ext cx="310896" cy="280389"/>
          </a:xfrm>
          <a:prstGeom prst="ellipse">
            <a:avLst/>
          </a:prstGeom>
          <a:solidFill>
            <a:srgbClr val="E97132"/>
          </a:solidFill>
          <a:ln w="12700">
            <a:solidFill>
              <a:srgbClr val="FFFFFF"/>
            </a:solidFill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82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</a:p>
        </p:txBody>
      </p:sp>
      <p:sp>
        <p:nvSpPr>
          <p:cNvPr id="102" name="Rif 3"/>
          <p:cNvSpPr/>
          <p:nvPr/>
        </p:nvSpPr>
        <p:spPr>
          <a:xfrm>
            <a:off x="7104888" y="2854694"/>
            <a:ext cx="310896" cy="280389"/>
          </a:xfrm>
          <a:prstGeom prst="ellipse">
            <a:avLst/>
          </a:prstGeom>
          <a:solidFill>
            <a:srgbClr val="E97132"/>
          </a:solidFill>
          <a:ln w="12700">
            <a:solidFill>
              <a:srgbClr val="FFFFFF"/>
            </a:solidFill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82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</a:p>
        </p:txBody>
      </p:sp>
      <p:sp>
        <p:nvSpPr>
          <p:cNvPr id="103" name="Rif 4"/>
          <p:cNvSpPr/>
          <p:nvPr/>
        </p:nvSpPr>
        <p:spPr>
          <a:xfrm>
            <a:off x="3218688" y="5266870"/>
            <a:ext cx="310896" cy="280389"/>
          </a:xfrm>
          <a:prstGeom prst="ellipse">
            <a:avLst/>
          </a:prstGeom>
          <a:solidFill>
            <a:srgbClr val="E97132"/>
          </a:solidFill>
          <a:ln w="12700">
            <a:solidFill>
              <a:srgbClr val="FFFFFF"/>
            </a:solidFill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82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4</a:t>
            </a:r>
          </a:p>
        </p:txBody>
      </p:sp>
      <p:sp>
        <p:nvSpPr>
          <p:cNvPr id="99" name="Fascia legenda"/>
          <p:cNvSpPr/>
          <p:nvPr/>
        </p:nvSpPr>
        <p:spPr>
          <a:xfrm>
            <a:off x="457200" y="5774046"/>
            <a:ext cx="11274552" cy="626753"/>
          </a:xfrm>
          <a:prstGeom prst="roundRect">
            <a:avLst>
              <a:gd name="adj" fmla="val 18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56082">
                <a:alpha val="25000"/>
              </a:srgbClr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0" name="Legenda 1"/>
          <p:cNvSpPr/>
          <p:nvPr/>
        </p:nvSpPr>
        <p:spPr>
          <a:xfrm>
            <a:off x="640080" y="5947228"/>
            <a:ext cx="310896" cy="280389"/>
          </a:xfrm>
          <a:prstGeom prst="ellipse">
            <a:avLst/>
          </a:prstGeom>
          <a:solidFill>
            <a:srgbClr val="E97132"/>
          </a:solidFill>
          <a:ln w="12700">
            <a:solidFill>
              <a:srgbClr val="FFFFFF"/>
            </a:solidFill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82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</a:p>
        </p:txBody>
      </p:sp>
      <p:sp>
        <p:nvSpPr>
          <p:cNvPr id="130" name="Testo legenda 1"/>
          <p:cNvSpPr txBox="1"/>
          <p:nvPr/>
        </p:nvSpPr>
        <p:spPr>
          <a:xfrm>
            <a:off x="1042416" y="5840020"/>
            <a:ext cx="2331720" cy="49480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62" b="0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bri"/>
                <a:cs typeface="Calibri"/>
              </a:rPr>
              <a:t>Identità Account: nome, style, fornitore e Location</a:t>
            </a:r>
          </a:p>
        </p:txBody>
      </p:sp>
      <p:sp>
        <p:nvSpPr>
          <p:cNvPr id="111" name="Legenda 2"/>
          <p:cNvSpPr/>
          <p:nvPr/>
        </p:nvSpPr>
        <p:spPr>
          <a:xfrm>
            <a:off x="3456432" y="5947228"/>
            <a:ext cx="310896" cy="280389"/>
          </a:xfrm>
          <a:prstGeom prst="ellipse">
            <a:avLst/>
          </a:prstGeom>
          <a:solidFill>
            <a:srgbClr val="E97132"/>
          </a:solidFill>
          <a:ln w="12700">
            <a:solidFill>
              <a:srgbClr val="FFFFFF"/>
            </a:solidFill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82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</a:p>
        </p:txBody>
      </p:sp>
      <p:sp>
        <p:nvSpPr>
          <p:cNvPr id="131" name="Testo legenda 2"/>
          <p:cNvSpPr txBox="1"/>
          <p:nvPr/>
        </p:nvSpPr>
        <p:spPr>
          <a:xfrm>
            <a:off x="3858768" y="5840020"/>
            <a:ext cx="2331720" cy="49480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62" b="0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bri"/>
                <a:cs typeface="Calibri"/>
              </a:rPr>
              <a:t>Totali: consumo, costo e qualità del dato</a:t>
            </a:r>
          </a:p>
        </p:txBody>
      </p:sp>
      <p:sp>
        <p:nvSpPr>
          <p:cNvPr id="112" name="Legenda 3"/>
          <p:cNvSpPr/>
          <p:nvPr/>
        </p:nvSpPr>
        <p:spPr>
          <a:xfrm>
            <a:off x="6272784" y="5947228"/>
            <a:ext cx="310896" cy="280389"/>
          </a:xfrm>
          <a:prstGeom prst="ellipse">
            <a:avLst/>
          </a:prstGeom>
          <a:solidFill>
            <a:srgbClr val="E97132"/>
          </a:solidFill>
          <a:ln w="12700">
            <a:solidFill>
              <a:srgbClr val="FFFFFF"/>
            </a:solidFill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82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</a:p>
        </p:txBody>
      </p:sp>
      <p:sp>
        <p:nvSpPr>
          <p:cNvPr id="132" name="Testo legenda 3"/>
          <p:cNvSpPr txBox="1"/>
          <p:nvPr/>
        </p:nvSpPr>
        <p:spPr>
          <a:xfrm>
            <a:off x="6675120" y="5840020"/>
            <a:ext cx="2331720" cy="49480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62" b="0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bri"/>
                <a:cs typeface="Calibri"/>
              </a:rPr>
              <a:t>Trend mensile: consumi e costo unitario</a:t>
            </a:r>
          </a:p>
        </p:txBody>
      </p:sp>
      <p:sp>
        <p:nvSpPr>
          <p:cNvPr id="113" name="Legenda 4"/>
          <p:cNvSpPr/>
          <p:nvPr/>
        </p:nvSpPr>
        <p:spPr>
          <a:xfrm>
            <a:off x="9089136" y="5947228"/>
            <a:ext cx="310896" cy="280389"/>
          </a:xfrm>
          <a:prstGeom prst="ellipse">
            <a:avLst/>
          </a:prstGeom>
          <a:solidFill>
            <a:srgbClr val="E97132"/>
          </a:solidFill>
          <a:ln w="12700">
            <a:solidFill>
              <a:srgbClr val="FFFFFF"/>
            </a:solidFill>
          </a:ln>
          <a:effectLst>
            <a:outerShdw blurRad="76200" dist="25400" dir="5400000" algn="t" rotWithShape="0">
              <a:srgbClr val="000000">
                <a:alpha val="25000"/>
              </a:srgbClr>
            </a:outerShdw>
          </a:effectLst>
        </p:spPr>
        <p:txBody>
          <a:bodyPr lIns="0" tIns="0" rIns="0" bIns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82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4</a:t>
            </a:r>
          </a:p>
        </p:txBody>
      </p:sp>
      <p:sp>
        <p:nvSpPr>
          <p:cNvPr id="133" name="Testo legenda 4"/>
          <p:cNvSpPr txBox="1"/>
          <p:nvPr/>
        </p:nvSpPr>
        <p:spPr>
          <a:xfrm>
            <a:off x="9491472" y="5840020"/>
            <a:ext cx="2331720" cy="49480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62" b="0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bri"/>
                <a:cs typeface="Calibri"/>
              </a:rPr>
              <a:t>Medie mensili e giornaliere di consumi e costi</a:t>
            </a:r>
          </a:p>
        </p:txBody>
      </p:sp>
      <p:sp>
        <p:nvSpPr>
          <p:cNvPr id="5" name="Testo legenda 2">
            <a:extLst>
              <a:ext uri="{FF2B5EF4-FFF2-40B4-BE49-F238E27FC236}">
                <a16:creationId xmlns:a16="http://schemas.microsoft.com/office/drawing/2014/main" id="{C7718617-2289-B95E-4945-BA30FCDD214E}"/>
              </a:ext>
            </a:extLst>
          </p:cNvPr>
          <p:cNvSpPr txBox="1"/>
          <p:nvPr/>
        </p:nvSpPr>
        <p:spPr>
          <a:xfrm>
            <a:off x="8632500" y="2898427"/>
            <a:ext cx="2331720" cy="49480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62" b="0" i="0" u="none" strike="noStrike" kern="1200" cap="none" spc="0" normalizeH="0" baseline="0" noProof="0" err="1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bri"/>
                <a:cs typeface="Calibri"/>
              </a:rPr>
              <a:t>Actual</a:t>
            </a:r>
            <a:endParaRPr kumimoji="0" lang="it-IT" sz="1400" b="0" i="0" u="none" strike="noStrike" kern="1200" cap="none" spc="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Testo legenda 2">
            <a:extLst>
              <a:ext uri="{FF2B5EF4-FFF2-40B4-BE49-F238E27FC236}">
                <a16:creationId xmlns:a16="http://schemas.microsoft.com/office/drawing/2014/main" id="{3C1D40A1-6BAE-A17E-7690-76237C19C6B2}"/>
              </a:ext>
            </a:extLst>
          </p:cNvPr>
          <p:cNvSpPr txBox="1"/>
          <p:nvPr/>
        </p:nvSpPr>
        <p:spPr>
          <a:xfrm>
            <a:off x="9914839" y="3211372"/>
            <a:ext cx="1691640" cy="54864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62" b="0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Calibri"/>
                <a:cs typeface="Calibri"/>
              </a:rPr>
              <a:t>Accrued</a:t>
            </a:r>
            <a:br>
              <a:rPr lang="it-IT"/>
            </a:br>
            <a:r>
              <a:rPr lang="it-IT"/>
              <a:t>(stima sistema)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0" i="0" u="none" strike="noStrike" kern="1200" cap="none" spc="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E04E538-F070-B9A6-ACFE-79D35092D53D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Modello dati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Envizi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34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F233E212-92D8-FAE0-709B-222EE8296ACE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Visualizzazione dashboard dell’account selezionato</a:t>
            </a:r>
          </a:p>
        </p:txBody>
      </p:sp>
    </p:spTree>
    <p:extLst>
      <p:ext uri="{BB962C8B-B14F-4D97-AF65-F5344CB8AC3E}">
        <p14:creationId xmlns:p14="http://schemas.microsoft.com/office/powerpoint/2010/main" val="3283982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7" name="Testo originale sotto il titolo"/>
          <p:cNvSpPr txBox="1"/>
          <p:nvPr/>
        </p:nvSpPr>
        <p:spPr>
          <a:xfrm>
            <a:off x="548640" y="5641848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>
                <a:solidFill>
                  <a:srgbClr val="073E31"/>
                </a:solidFill>
              </a:defRPr>
            </a:pPr>
            <a:r>
              <a:rPr sz="2000" b="0" i="0" dirty="0">
                <a:solidFill>
                  <a:srgbClr val="073E31"/>
                </a:solidFill>
                <a:latin typeface="Calibri"/>
              </a:rPr>
              <a:t> </a:t>
            </a:r>
            <a:endParaRPr sz="2400" b="0" i="0" dirty="0">
              <a:solidFill>
                <a:srgbClr val="D8E8DC"/>
              </a:solidFill>
              <a:latin typeface="Calibri"/>
            </a:endParaRP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>
              <a:defRPr sz="2000">
                <a:solidFill>
                  <a:srgbClr val="073E31"/>
                </a:solidFill>
              </a:defRPr>
            </a:pPr>
            <a:endParaRPr lang="it-IT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Grazie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EF24286-BAAB-56CB-EE5D-375D369C0873}"/>
              </a:ext>
            </a:extLst>
          </p:cNvPr>
          <p:cNvSpPr txBox="1"/>
          <p:nvPr/>
        </p:nvSpPr>
        <p:spPr>
          <a:xfrm>
            <a:off x="10058400" y="219456"/>
            <a:ext cx="27432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ENVIZI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8CDF11D0-1C53-0547-9873-8FB7E1E39671}"/>
              </a:ext>
            </a:extLst>
          </p:cNvPr>
          <p:cNvSpPr txBox="1"/>
          <p:nvPr/>
        </p:nvSpPr>
        <p:spPr>
          <a:xfrm>
            <a:off x="640080" y="1280160"/>
            <a:ext cx="62179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Thank you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CC8070-723C-29F9-6B8C-870A277CC8CE}"/>
              </a:ext>
            </a:extLst>
          </p:cNvPr>
          <p:cNvSpPr/>
          <p:nvPr/>
        </p:nvSpPr>
        <p:spPr>
          <a:xfrm>
            <a:off x="640080" y="2084831"/>
            <a:ext cx="100584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5511781-77E8-AB51-35E5-D1D2C2451BA2}"/>
              </a:ext>
            </a:extLst>
          </p:cNvPr>
          <p:cNvSpPr txBox="1"/>
          <p:nvPr/>
        </p:nvSpPr>
        <p:spPr>
          <a:xfrm>
            <a:off x="640080" y="2423160"/>
            <a:ext cx="589788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5B687A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Sustainability data that supports reporting, decisions and business value.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8CE9F074-FDBC-705B-960A-8459F4BC17DE}"/>
              </a:ext>
            </a:extLst>
          </p:cNvPr>
          <p:cNvSpPr txBox="1"/>
          <p:nvPr/>
        </p:nvSpPr>
        <p:spPr>
          <a:xfrm>
            <a:off x="640080" y="3822191"/>
            <a:ext cx="4206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Felice Petrignano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434EFB8C-0790-AAB3-DB53-C9B2F350C225}"/>
              </a:ext>
            </a:extLst>
          </p:cNvPr>
          <p:cNvSpPr txBox="1"/>
          <p:nvPr/>
        </p:nvSpPr>
        <p:spPr>
          <a:xfrm>
            <a:off x="640080" y="4206240"/>
            <a:ext cx="512064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Senior Technology Specialist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6BEDC525-C44E-79D2-F7A4-4D024636405B}"/>
              </a:ext>
            </a:extLst>
          </p:cNvPr>
          <p:cNvSpPr txBox="1"/>
          <p:nvPr/>
        </p:nvSpPr>
        <p:spPr>
          <a:xfrm>
            <a:off x="640080" y="4517136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Italy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F621139D-38E0-2953-A093-2FC128265975}"/>
              </a:ext>
            </a:extLst>
          </p:cNvPr>
          <p:cNvSpPr txBox="1"/>
          <p:nvPr/>
        </p:nvSpPr>
        <p:spPr>
          <a:xfrm>
            <a:off x="640080" y="5047488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linkedin.com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/in/</a:t>
            </a: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fpetrignano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306529D3-89C5-8762-7A9F-5369BAAECD79}"/>
              </a:ext>
            </a:extLst>
          </p:cNvPr>
          <p:cNvSpPr/>
          <p:nvPr/>
        </p:nvSpPr>
        <p:spPr>
          <a:xfrm>
            <a:off x="7635240" y="640080"/>
            <a:ext cx="3794760" cy="544068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9DED0332-C7E5-AB26-11BC-B0241C7CD2B4}"/>
              </a:ext>
            </a:extLst>
          </p:cNvPr>
          <p:cNvSpPr txBox="1"/>
          <p:nvPr/>
        </p:nvSpPr>
        <p:spPr>
          <a:xfrm>
            <a:off x="8001000" y="1078992"/>
            <a:ext cx="3063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LET’S CONNECT</a:t>
            </a:r>
          </a:p>
        </p:txBody>
      </p:sp>
      <p:pic>
        <p:nvPicPr>
          <p:cNvPr id="15" name="Picture 13" descr="linkedin_qr_original.png">
            <a:extLst>
              <a:ext uri="{FF2B5EF4-FFF2-40B4-BE49-F238E27FC236}">
                <a16:creationId xmlns:a16="http://schemas.microsoft.com/office/drawing/2014/main" id="{5488A219-564D-1AA5-DC0B-80CAF2A9B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35" y="1600200"/>
            <a:ext cx="2529767" cy="3154680"/>
          </a:xfrm>
          <a:prstGeom prst="rect">
            <a:avLst/>
          </a:prstGeom>
        </p:spPr>
      </p:pic>
      <p:sp>
        <p:nvSpPr>
          <p:cNvPr id="16" name="TextBox 14">
            <a:extLst>
              <a:ext uri="{FF2B5EF4-FFF2-40B4-BE49-F238E27FC236}">
                <a16:creationId xmlns:a16="http://schemas.microsoft.com/office/drawing/2014/main" id="{D4866AE4-DC69-6812-12BF-9F23A0B9733F}"/>
              </a:ext>
            </a:extLst>
          </p:cNvPr>
          <p:cNvSpPr txBox="1"/>
          <p:nvPr/>
        </p:nvSpPr>
        <p:spPr>
          <a:xfrm>
            <a:off x="8001000" y="5074920"/>
            <a:ext cx="306324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Scan the QR code to connect on LinkedIn</a:t>
            </a:r>
          </a:p>
        </p:txBody>
      </p:sp>
    </p:spTree>
    <p:extLst>
      <p:ext uri="{BB962C8B-B14F-4D97-AF65-F5344CB8AC3E}">
        <p14:creationId xmlns:p14="http://schemas.microsoft.com/office/powerpoint/2010/main" val="390417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2">
            <a:extLst>
              <a:ext uri="{FF2B5EF4-FFF2-40B4-BE49-F238E27FC236}">
                <a16:creationId xmlns:a16="http://schemas.microsoft.com/office/drawing/2014/main" id="{E5692321-2990-921A-697F-F435F6803838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IBM Envizi</a:t>
            </a: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Documentazione ufficiale 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07492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 u="sng">
                <a:solidFill>
                  <a:srgbClr val="144D40"/>
                </a:solidFill>
                <a:latin typeface="Calibri"/>
                <a:hlinkClick r:id="rId3"/>
              </a:rPr>
              <a:t>Glossario e modello dati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507492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333333"/>
                </a:solidFill>
                <a:latin typeface="Calibri"/>
              </a:rPr>
              <a:t>Account, Account Style e definizioni fondamentali.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52344"/>
            <a:ext cx="507492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 u="sng">
                <a:solidFill>
                  <a:srgbClr val="144D40"/>
                </a:solidFill>
                <a:latin typeface="Calibri"/>
                <a:hlinkClick r:id="rId4"/>
              </a:rPr>
              <a:t>Account Styles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7832"/>
            <a:ext cx="507492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333333"/>
                </a:solidFill>
                <a:latin typeface="Calibri"/>
              </a:rPr>
              <a:t>Campi di raccolta, unità e regole di configurazione.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95928"/>
            <a:ext cx="507492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 u="sng">
                <a:solidFill>
                  <a:srgbClr val="144D40"/>
                </a:solidFill>
                <a:latin typeface="Calibri"/>
                <a:hlinkClick r:id="rId5"/>
              </a:rPr>
              <a:t>Caricamento in blocco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71416"/>
            <a:ext cx="507492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333333"/>
                </a:solidFill>
                <a:latin typeface="Calibri"/>
              </a:rPr>
              <a:t>Scelta dei template e creazione degli Account.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507492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 u="sng">
                <a:solidFill>
                  <a:srgbClr val="144D40"/>
                </a:solidFill>
                <a:latin typeface="Calibri"/>
                <a:hlinkClick r:id="rId6"/>
              </a:rPr>
              <a:t>Aggiornamento dei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84248"/>
            <a:ext cx="507492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333333"/>
                </a:solidFill>
                <a:latin typeface="Calibri"/>
              </a:rPr>
              <a:t>FAQ su sovrascrittura, note e allegati.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52344"/>
            <a:ext cx="507492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 u="sng">
                <a:solidFill>
                  <a:srgbClr val="144D40"/>
                </a:solidFill>
                <a:latin typeface="Calibri"/>
                <a:hlinkClick r:id="rId7"/>
              </a:rPr>
              <a:t>Configurazione dei flussi dati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27832"/>
            <a:ext cx="507492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333333"/>
                </a:solidFill>
                <a:latin typeface="Calibri"/>
              </a:rPr>
              <a:t>Template, servizi e integrazioni per il caricamento.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95928"/>
            <a:ext cx="507492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 u="sng">
                <a:solidFill>
                  <a:srgbClr val="144D40"/>
                </a:solidFill>
                <a:latin typeface="Calibri"/>
                <a:hlinkClick r:id="rId8"/>
              </a:rPr>
              <a:t>Calcolo degli accruals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471416"/>
            <a:ext cx="507492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333333"/>
                </a:solidFill>
                <a:latin typeface="Calibri"/>
              </a:rPr>
              <a:t>Lacune nei dati e stime generate dal sistema.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509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333333"/>
                </a:solidFill>
                <a:latin typeface="Calibri"/>
              </a:rPr>
              <a:t>Collegamenti ai capitoli IBM Docs in inglese. Consultazione: 9 ottobre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2571</Words>
  <Application>Microsoft Macintosh PowerPoint</Application>
  <PresentationFormat>Widescreen</PresentationFormat>
  <Paragraphs>431</Paragraphs>
  <Slides>20</Slides>
  <Notes>18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2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Georgia</vt:lpstr>
      <vt:lpstr>IBM Plex Sans</vt:lpstr>
      <vt:lpstr>IBM Plex Sans Light</vt:lpstr>
      <vt:lpstr>Symbol</vt:lpstr>
      <vt:lpstr>Times New Roman</vt:lpstr>
      <vt:lpstr>Wingdings</vt:lpstr>
      <vt:lpstr>Tema di Office</vt:lpstr>
      <vt:lpstr>ChatGPT</vt:lpstr>
      <vt:lpstr>Foglio di lavoro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Felice Petrignano</dc:creator>
  <cp:lastModifiedBy>Felice Petrignano</cp:lastModifiedBy>
  <cp:revision>2</cp:revision>
  <dcterms:created xsi:type="dcterms:W3CDTF">2026-10-09T13:31:22Z</dcterms:created>
  <dcterms:modified xsi:type="dcterms:W3CDTF">2026-10-09T13:40:35Z</dcterms:modified>
</cp:coreProperties>
</file>